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306" r:id="rId16"/>
    <p:sldId id="326" r:id="rId17"/>
    <p:sldId id="270" r:id="rId18"/>
    <p:sldId id="327" r:id="rId19"/>
    <p:sldId id="271" r:id="rId20"/>
    <p:sldId id="328" r:id="rId21"/>
    <p:sldId id="313" r:id="rId22"/>
    <p:sldId id="314" r:id="rId23"/>
    <p:sldId id="315" r:id="rId24"/>
    <p:sldId id="273" r:id="rId25"/>
    <p:sldId id="274" r:id="rId26"/>
    <p:sldId id="329" r:id="rId27"/>
    <p:sldId id="275" r:id="rId28"/>
    <p:sldId id="276" r:id="rId29"/>
    <p:sldId id="277" r:id="rId30"/>
    <p:sldId id="278" r:id="rId31"/>
    <p:sldId id="279" r:id="rId32"/>
    <p:sldId id="330" r:id="rId33"/>
    <p:sldId id="331" r:id="rId34"/>
    <p:sldId id="280" r:id="rId35"/>
    <p:sldId id="281" r:id="rId36"/>
    <p:sldId id="282" r:id="rId37"/>
    <p:sldId id="332" r:id="rId38"/>
    <p:sldId id="333" r:id="rId39"/>
    <p:sldId id="334" r:id="rId40"/>
    <p:sldId id="335" r:id="rId41"/>
    <p:sldId id="336" r:id="rId42"/>
    <p:sldId id="337" r:id="rId43"/>
    <p:sldId id="338" r:id="rId44"/>
    <p:sldId id="283" r:id="rId45"/>
    <p:sldId id="284" r:id="rId46"/>
    <p:sldId id="285" r:id="rId47"/>
    <p:sldId id="286" r:id="rId48"/>
    <p:sldId id="287" r:id="rId49"/>
    <p:sldId id="288" r:id="rId50"/>
    <p:sldId id="339" r:id="rId51"/>
    <p:sldId id="289" r:id="rId52"/>
    <p:sldId id="290" r:id="rId53"/>
    <p:sldId id="291" r:id="rId54"/>
    <p:sldId id="292" r:id="rId55"/>
    <p:sldId id="293" r:id="rId56"/>
    <p:sldId id="294" r:id="rId57"/>
    <p:sldId id="295" r:id="rId58"/>
    <p:sldId id="296" r:id="rId59"/>
    <p:sldId id="297" r:id="rId60"/>
    <p:sldId id="298" r:id="rId61"/>
    <p:sldId id="299" r:id="rId62"/>
    <p:sldId id="300" r:id="rId63"/>
    <p:sldId id="301" r:id="rId64"/>
    <p:sldId id="302" r:id="rId65"/>
    <p:sldId id="303" r:id="rId66"/>
    <p:sldId id="304" r:id="rId67"/>
    <p:sldId id="305" r:id="rId68"/>
  </p:sldIdLst>
  <p:sldSz cx="12192000" cy="6858000"/>
  <p:notesSz cx="12192000" cy="6858000"/>
  <p:defaultTextStyle>
    <a:defPPr>
      <a:defRPr lang="ar-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666" autoAdjust="0"/>
  </p:normalViewPr>
  <p:slideViewPr>
    <p:cSldViewPr>
      <p:cViewPr varScale="1">
        <p:scale>
          <a:sx n="58" d="100"/>
          <a:sy n="58" d="100"/>
        </p:scale>
        <p:origin x="1116"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407BBCE4-733E-4EF8-8EAF-ACA867791C26}" type="datetimeFigureOut">
              <a:rPr lang="en-US" smtClean="0"/>
              <a:t>21/06/2023</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5D8AEEF-8EB0-46DE-8D92-1E177D5D5D09}" type="slidenum">
              <a:rPr lang="en-US" smtClean="0"/>
              <a:t>‹#›</a:t>
            </a:fld>
            <a:endParaRPr lang="en-US"/>
          </a:p>
        </p:txBody>
      </p:sp>
    </p:spTree>
    <p:extLst>
      <p:ext uri="{BB962C8B-B14F-4D97-AF65-F5344CB8AC3E}">
        <p14:creationId xmlns:p14="http://schemas.microsoft.com/office/powerpoint/2010/main" val="3413830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Isolation: Every transaction is individual, and One transaction can’t access the result of other transactions until the transaction completed. Or, you can’t perform the same operation using multiple transactions at the same time. We will explain this SQL acid property in a separate article.</a:t>
            </a:r>
          </a:p>
          <a:p>
            <a:r>
              <a:rPr lang="en-US" sz="1200" b="0" i="0" kern="1200" dirty="0" smtClean="0">
                <a:solidFill>
                  <a:schemeClr val="tx1"/>
                </a:solidFill>
                <a:effectLst/>
                <a:latin typeface="+mn-lt"/>
                <a:ea typeface="+mn-ea"/>
                <a:cs typeface="+mn-cs"/>
              </a:rPr>
              <a:t>Durability: Once the transaction completed, then the changes it has made to the database will be permanent. Even if there is a system failure, or any abnormal changes also, this property will safeguard the committed data.</a:t>
            </a:r>
          </a:p>
          <a:p>
            <a:pPr fontAlgn="base"/>
            <a:r>
              <a:rPr lang="en-US" sz="1200" b="0" i="0" kern="1200" dirty="0" smtClean="0">
                <a:solidFill>
                  <a:schemeClr val="tx1"/>
                </a:solidFill>
                <a:effectLst/>
                <a:latin typeface="+mn-lt"/>
                <a:ea typeface="+mn-ea"/>
                <a:cs typeface="+mn-cs"/>
              </a:rPr>
              <a:t>Atomicity</a:t>
            </a:r>
          </a:p>
          <a:p>
            <a:pPr fontAlgn="base"/>
            <a:r>
              <a:rPr lang="en-US" sz="1200" b="0" i="0" kern="1200" dirty="0" smtClean="0">
                <a:solidFill>
                  <a:schemeClr val="tx1"/>
                </a:solidFill>
                <a:effectLst/>
                <a:latin typeface="+mn-lt"/>
                <a:ea typeface="+mn-ea"/>
                <a:cs typeface="+mn-cs"/>
              </a:rPr>
              <a:t>A transaction must be </a:t>
            </a:r>
            <a:r>
              <a:rPr lang="en-US" sz="1200" b="0" i="1" kern="1200" dirty="0" smtClean="0">
                <a:solidFill>
                  <a:schemeClr val="tx1"/>
                </a:solidFill>
                <a:effectLst/>
                <a:latin typeface="+mn-lt"/>
                <a:ea typeface="+mn-ea"/>
                <a:cs typeface="+mn-cs"/>
              </a:rPr>
              <a:t>Atomic</a:t>
            </a:r>
            <a:r>
              <a:rPr lang="en-US" sz="1200" b="0" i="0" kern="1200" dirty="0" smtClean="0">
                <a:solidFill>
                  <a:schemeClr val="tx1"/>
                </a:solidFill>
                <a:effectLst/>
                <a:latin typeface="+mn-lt"/>
                <a:ea typeface="+mn-ea"/>
                <a:cs typeface="+mn-cs"/>
              </a:rPr>
              <a:t>, meaning all changes made by the transaction are completed as a single unit, or none of the changes are made. If a partial transaction were committed, the atomic property is violated, and the database is left in an inconsistent state. The ability to commit or roll back transactions is required for </a:t>
            </a:r>
            <a:r>
              <a:rPr lang="en-US" sz="1200" b="0" i="1" kern="1200" dirty="0" smtClean="0">
                <a:solidFill>
                  <a:schemeClr val="tx1"/>
                </a:solidFill>
                <a:effectLst/>
                <a:latin typeface="+mn-lt"/>
                <a:ea typeface="+mn-ea"/>
                <a:cs typeface="+mn-cs"/>
              </a:rPr>
              <a:t>Atomicity</a:t>
            </a:r>
            <a:r>
              <a:rPr lang="en-US" sz="1200" b="0" i="0" kern="1200" dirty="0" smtClean="0">
                <a:solidFill>
                  <a:schemeClr val="tx1"/>
                </a:solidFill>
                <a:effectLst/>
                <a:latin typeface="+mn-lt"/>
                <a:ea typeface="+mn-ea"/>
                <a:cs typeface="+mn-cs"/>
              </a:rPr>
              <a:t>.</a:t>
            </a:r>
          </a:p>
          <a:p>
            <a:pPr fontAlgn="base"/>
            <a:r>
              <a:rPr lang="en-US" sz="1200" b="0" i="0" kern="1200" dirty="0" smtClean="0">
                <a:solidFill>
                  <a:schemeClr val="tx1"/>
                </a:solidFill>
                <a:effectLst/>
                <a:latin typeface="+mn-lt"/>
                <a:ea typeface="+mn-ea"/>
                <a:cs typeface="+mn-cs"/>
              </a:rPr>
              <a:t>Consistency</a:t>
            </a:r>
          </a:p>
          <a:p>
            <a:pPr fontAlgn="base"/>
            <a:r>
              <a:rPr lang="en-US" sz="1200" b="0" i="0" kern="1200" dirty="0" smtClean="0">
                <a:solidFill>
                  <a:schemeClr val="tx1"/>
                </a:solidFill>
                <a:effectLst/>
                <a:latin typeface="+mn-lt"/>
                <a:ea typeface="+mn-ea"/>
                <a:cs typeface="+mn-cs"/>
              </a:rPr>
              <a:t>The transaction must preserve database </a:t>
            </a:r>
            <a:r>
              <a:rPr lang="en-US" sz="1200" b="0" i="1" kern="1200" dirty="0" smtClean="0">
                <a:solidFill>
                  <a:schemeClr val="tx1"/>
                </a:solidFill>
                <a:effectLst/>
                <a:latin typeface="+mn-lt"/>
                <a:ea typeface="+mn-ea"/>
                <a:cs typeface="+mn-cs"/>
              </a:rPr>
              <a:t>Consistency</a:t>
            </a:r>
            <a:r>
              <a:rPr lang="en-US" sz="1200" b="0" i="0" kern="1200" dirty="0" smtClean="0">
                <a:solidFill>
                  <a:schemeClr val="tx1"/>
                </a:solidFill>
                <a:effectLst/>
                <a:latin typeface="+mn-lt"/>
                <a:ea typeface="+mn-ea"/>
                <a:cs typeface="+mn-cs"/>
              </a:rPr>
              <a:t>, which means that the database must begin the transaction in a state of consistency and return to a state of consistency when the transaction is complete.</a:t>
            </a:r>
          </a:p>
          <a:p>
            <a:r>
              <a:rPr lang="en-US" dirty="0" smtClean="0"/>
              <a:t/>
            </a:r>
            <a:br>
              <a:rPr lang="en-US" dirty="0" smtClean="0"/>
            </a:br>
            <a:endParaRPr lang="en-US" dirty="0" smtClean="0"/>
          </a:p>
          <a:p>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65D8AEEF-8EB0-46DE-8D92-1E177D5D5D09}" type="slidenum">
              <a:rPr lang="en-US" smtClean="0"/>
              <a:t>49</a:t>
            </a:fld>
            <a:endParaRPr lang="en-US"/>
          </a:p>
        </p:txBody>
      </p:sp>
    </p:spTree>
    <p:extLst>
      <p:ext uri="{BB962C8B-B14F-4D97-AF65-F5344CB8AC3E}">
        <p14:creationId xmlns:p14="http://schemas.microsoft.com/office/powerpoint/2010/main" val="12334505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17" name="bg object 17"/>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18" name="bg object 18"/>
          <p:cNvSpPr/>
          <p:nvPr/>
        </p:nvSpPr>
        <p:spPr>
          <a:xfrm>
            <a:off x="1030986" y="1349502"/>
            <a:ext cx="2160270" cy="0"/>
          </a:xfrm>
          <a:custGeom>
            <a:avLst/>
            <a:gdLst/>
            <a:ahLst/>
            <a:cxnLst/>
            <a:rect l="l" t="t" r="r" b="b"/>
            <a:pathLst>
              <a:path w="2160270">
                <a:moveTo>
                  <a:pt x="2160016" y="0"/>
                </a:moveTo>
                <a:lnTo>
                  <a:pt x="0" y="0"/>
                </a:lnTo>
              </a:path>
            </a:pathLst>
          </a:custGeom>
          <a:ln w="28956">
            <a:solidFill>
              <a:srgbClr val="C6000A"/>
            </a:solidFill>
          </a:ln>
        </p:spPr>
        <p:txBody>
          <a:bodyPr wrap="square" lIns="0" tIns="0" rIns="0" bIns="0" rtlCol="0"/>
          <a:lstStyle/>
          <a:p>
            <a:endParaRPr/>
          </a:p>
        </p:txBody>
      </p:sp>
      <p:sp>
        <p:nvSpPr>
          <p:cNvPr id="2" name="Holder 2"/>
          <p:cNvSpPr>
            <a:spLocks noGrp="1"/>
          </p:cNvSpPr>
          <p:nvPr>
            <p:ph type="ctrTitle"/>
          </p:nvPr>
        </p:nvSpPr>
        <p:spPr>
          <a:xfrm>
            <a:off x="997711" y="640537"/>
            <a:ext cx="10196576" cy="63500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21/06/2023</a:t>
            </a:fld>
            <a:endParaRPr lang="en-US"/>
          </a:p>
        </p:txBody>
      </p:sp>
      <p:sp>
        <p:nvSpPr>
          <p:cNvPr id="6" name="Holder 6"/>
          <p:cNvSpPr>
            <a:spLocks noGrp="1"/>
          </p:cNvSpPr>
          <p:nvPr>
            <p:ph type="sldNum" sz="quarter" idx="7"/>
          </p:nvPr>
        </p:nvSpPr>
        <p:spPr/>
        <p:txBody>
          <a:bodyPr lIns="0" tIns="0" rIns="0" bIns="0"/>
          <a:lstStyle>
            <a:lvl1pPr>
              <a:defRPr sz="950" b="0" i="0">
                <a:solidFill>
                  <a:srgbClr val="1D1D1B"/>
                </a:solidFill>
                <a:latin typeface="Trebuchet MS"/>
                <a:cs typeface="Trebuchet MS"/>
              </a:defRPr>
            </a:lvl1pPr>
          </a:lstStyle>
          <a:p>
            <a:pPr marL="38100">
              <a:lnSpc>
                <a:spcPct val="100000"/>
              </a:lnSpc>
              <a:spcBef>
                <a:spcPts val="55"/>
              </a:spcBef>
              <a:tabLst>
                <a:tab pos="490855" algn="l"/>
              </a:tabLst>
            </a:pPr>
            <a:fld id="{81D60167-4931-47E6-BA6A-407CBD079E47}" type="slidenum">
              <a:rPr spc="45" dirty="0"/>
              <a:t>‹#›</a:t>
            </a:fld>
            <a:r>
              <a:rPr spc="45" dirty="0"/>
              <a:t>	</a:t>
            </a:r>
            <a:r>
              <a:rPr spc="30" dirty="0"/>
              <a:t>Huawei</a:t>
            </a:r>
            <a:r>
              <a:rPr spc="-10" dirty="0"/>
              <a:t> </a:t>
            </a:r>
            <a:r>
              <a:rPr spc="5" dirty="0"/>
              <a:t>Confidential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950" b="0" i="0">
                <a:solidFill>
                  <a:srgbClr val="1D1D1A"/>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2200" b="0" i="0">
                <a:solidFill>
                  <a:schemeClr val="tx1"/>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21/06/2023</a:t>
            </a:fld>
            <a:endParaRPr lang="en-US"/>
          </a:p>
        </p:txBody>
      </p:sp>
      <p:sp>
        <p:nvSpPr>
          <p:cNvPr id="6" name="Holder 6"/>
          <p:cNvSpPr>
            <a:spLocks noGrp="1"/>
          </p:cNvSpPr>
          <p:nvPr>
            <p:ph type="sldNum" sz="quarter" idx="7"/>
          </p:nvPr>
        </p:nvSpPr>
        <p:spPr/>
        <p:txBody>
          <a:bodyPr lIns="0" tIns="0" rIns="0" bIns="0"/>
          <a:lstStyle>
            <a:lvl1pPr>
              <a:defRPr sz="950" b="0" i="0">
                <a:solidFill>
                  <a:srgbClr val="1D1D1B"/>
                </a:solidFill>
                <a:latin typeface="Trebuchet MS"/>
                <a:cs typeface="Trebuchet MS"/>
              </a:defRPr>
            </a:lvl1pPr>
          </a:lstStyle>
          <a:p>
            <a:pPr marL="38100">
              <a:lnSpc>
                <a:spcPct val="100000"/>
              </a:lnSpc>
              <a:spcBef>
                <a:spcPts val="55"/>
              </a:spcBef>
              <a:tabLst>
                <a:tab pos="490855" algn="l"/>
              </a:tabLst>
            </a:pPr>
            <a:fld id="{81D60167-4931-47E6-BA6A-407CBD079E47}" type="slidenum">
              <a:rPr spc="45" dirty="0"/>
              <a:t>‹#›</a:t>
            </a:fld>
            <a:r>
              <a:rPr spc="45" dirty="0"/>
              <a:t>	</a:t>
            </a:r>
            <a:r>
              <a:rPr spc="30" dirty="0"/>
              <a:t>Huawei</a:t>
            </a:r>
            <a:r>
              <a:rPr spc="-10" dirty="0"/>
              <a:t> </a:t>
            </a:r>
            <a:r>
              <a:rPr spc="5" dirty="0"/>
              <a:t>Confidential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950" b="0" i="0">
                <a:solidFill>
                  <a:srgbClr val="1D1D1A"/>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21/06/2023</a:t>
            </a:fld>
            <a:endParaRPr lang="en-US"/>
          </a:p>
        </p:txBody>
      </p:sp>
      <p:sp>
        <p:nvSpPr>
          <p:cNvPr id="7" name="Holder 7"/>
          <p:cNvSpPr>
            <a:spLocks noGrp="1"/>
          </p:cNvSpPr>
          <p:nvPr>
            <p:ph type="sldNum" sz="quarter" idx="7"/>
          </p:nvPr>
        </p:nvSpPr>
        <p:spPr/>
        <p:txBody>
          <a:bodyPr lIns="0" tIns="0" rIns="0" bIns="0"/>
          <a:lstStyle>
            <a:lvl1pPr>
              <a:defRPr sz="950" b="0" i="0">
                <a:solidFill>
                  <a:srgbClr val="1D1D1B"/>
                </a:solidFill>
                <a:latin typeface="Trebuchet MS"/>
                <a:cs typeface="Trebuchet MS"/>
              </a:defRPr>
            </a:lvl1pPr>
          </a:lstStyle>
          <a:p>
            <a:pPr marL="38100">
              <a:lnSpc>
                <a:spcPct val="100000"/>
              </a:lnSpc>
              <a:spcBef>
                <a:spcPts val="55"/>
              </a:spcBef>
              <a:tabLst>
                <a:tab pos="490855" algn="l"/>
              </a:tabLst>
            </a:pPr>
            <a:fld id="{81D60167-4931-47E6-BA6A-407CBD079E47}" type="slidenum">
              <a:rPr spc="45" dirty="0"/>
              <a:t>‹#›</a:t>
            </a:fld>
            <a:r>
              <a:rPr spc="45" dirty="0"/>
              <a:t>	</a:t>
            </a:r>
            <a:r>
              <a:rPr spc="30" dirty="0"/>
              <a:t>Huawei</a:t>
            </a:r>
            <a:r>
              <a:rPr spc="-10" dirty="0"/>
              <a:t> </a:t>
            </a:r>
            <a:r>
              <a:rPr spc="5" dirty="0"/>
              <a:t>Confidential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203435" y="5975603"/>
            <a:ext cx="2257044" cy="483108"/>
          </a:xfrm>
          <a:prstGeom prst="rect">
            <a:avLst/>
          </a:prstGeom>
          <a:blipFill>
            <a:blip r:embed="rId2" cstate="print"/>
            <a:stretch>
              <a:fillRect/>
            </a:stretch>
          </a:blipFill>
        </p:spPr>
        <p:txBody>
          <a:bodyPr wrap="square" lIns="0" tIns="0" rIns="0" bIns="0" rtlCol="0"/>
          <a:lstStyle/>
          <a:p>
            <a:endParaRPr/>
          </a:p>
        </p:txBody>
      </p:sp>
      <p:sp>
        <p:nvSpPr>
          <p:cNvPr id="17" name="bg object 17"/>
          <p:cNvSpPr/>
          <p:nvPr/>
        </p:nvSpPr>
        <p:spPr>
          <a:xfrm>
            <a:off x="0" y="0"/>
            <a:ext cx="12192000" cy="5602224"/>
          </a:xfrm>
          <a:prstGeom prst="rect">
            <a:avLst/>
          </a:prstGeom>
          <a:blipFill>
            <a:blip r:embed="rId3" cstate="print"/>
            <a:stretch>
              <a:fillRect/>
            </a:stretch>
          </a:blipFill>
        </p:spPr>
        <p:txBody>
          <a:bodyPr wrap="square" lIns="0" tIns="0" rIns="0" bIns="0" rtlCol="0"/>
          <a:lstStyle/>
          <a:p>
            <a:endParaRPr/>
          </a:p>
        </p:txBody>
      </p:sp>
      <p:sp>
        <p:nvSpPr>
          <p:cNvPr id="18" name="bg object 18"/>
          <p:cNvSpPr/>
          <p:nvPr/>
        </p:nvSpPr>
        <p:spPr>
          <a:xfrm>
            <a:off x="6626352" y="2585719"/>
            <a:ext cx="718185" cy="701040"/>
          </a:xfrm>
          <a:custGeom>
            <a:avLst/>
            <a:gdLst/>
            <a:ahLst/>
            <a:cxnLst/>
            <a:rect l="l" t="t" r="r" b="b"/>
            <a:pathLst>
              <a:path w="718184" h="701039">
                <a:moveTo>
                  <a:pt x="717804" y="0"/>
                </a:moveTo>
                <a:lnTo>
                  <a:pt x="0" y="0"/>
                </a:lnTo>
                <a:lnTo>
                  <a:pt x="0" y="21590"/>
                </a:lnTo>
                <a:lnTo>
                  <a:pt x="695071" y="21590"/>
                </a:lnTo>
                <a:lnTo>
                  <a:pt x="695071" y="701040"/>
                </a:lnTo>
                <a:lnTo>
                  <a:pt x="717804" y="701040"/>
                </a:lnTo>
                <a:lnTo>
                  <a:pt x="717804" y="21590"/>
                </a:lnTo>
                <a:lnTo>
                  <a:pt x="717804" y="0"/>
                </a:lnTo>
                <a:close/>
              </a:path>
            </a:pathLst>
          </a:custGeom>
          <a:solidFill>
            <a:srgbClr val="C6000A"/>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950" b="0" i="0">
                <a:solidFill>
                  <a:srgbClr val="1D1D1A"/>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21/06/2023</a:t>
            </a:fld>
            <a:endParaRPr lang="en-US"/>
          </a:p>
        </p:txBody>
      </p:sp>
      <p:sp>
        <p:nvSpPr>
          <p:cNvPr id="5" name="Holder 5"/>
          <p:cNvSpPr>
            <a:spLocks noGrp="1"/>
          </p:cNvSpPr>
          <p:nvPr>
            <p:ph type="sldNum" sz="quarter" idx="7"/>
          </p:nvPr>
        </p:nvSpPr>
        <p:spPr/>
        <p:txBody>
          <a:bodyPr lIns="0" tIns="0" rIns="0" bIns="0"/>
          <a:lstStyle>
            <a:lvl1pPr>
              <a:defRPr sz="950" b="0" i="0">
                <a:solidFill>
                  <a:srgbClr val="1D1D1B"/>
                </a:solidFill>
                <a:latin typeface="Trebuchet MS"/>
                <a:cs typeface="Trebuchet MS"/>
              </a:defRPr>
            </a:lvl1pPr>
          </a:lstStyle>
          <a:p>
            <a:pPr marL="38100">
              <a:lnSpc>
                <a:spcPct val="100000"/>
              </a:lnSpc>
              <a:spcBef>
                <a:spcPts val="55"/>
              </a:spcBef>
              <a:tabLst>
                <a:tab pos="490855" algn="l"/>
              </a:tabLst>
            </a:pPr>
            <a:fld id="{81D60167-4931-47E6-BA6A-407CBD079E47}" type="slidenum">
              <a:rPr spc="45" dirty="0"/>
              <a:t>‹#›</a:t>
            </a:fld>
            <a:r>
              <a:rPr spc="45" dirty="0"/>
              <a:t>	</a:t>
            </a:r>
            <a:r>
              <a:rPr spc="30" dirty="0"/>
              <a:t>Huawei</a:t>
            </a:r>
            <a:r>
              <a:rPr spc="-10" dirty="0"/>
              <a:t> </a:t>
            </a:r>
            <a:r>
              <a:rPr spc="5" dirty="0"/>
              <a:t>Confidential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21/06/2023</a:t>
            </a:fld>
            <a:endParaRPr lang="en-US"/>
          </a:p>
        </p:txBody>
      </p:sp>
      <p:sp>
        <p:nvSpPr>
          <p:cNvPr id="4" name="Holder 4"/>
          <p:cNvSpPr>
            <a:spLocks noGrp="1"/>
          </p:cNvSpPr>
          <p:nvPr>
            <p:ph type="sldNum" sz="quarter" idx="7"/>
          </p:nvPr>
        </p:nvSpPr>
        <p:spPr/>
        <p:txBody>
          <a:bodyPr lIns="0" tIns="0" rIns="0" bIns="0"/>
          <a:lstStyle>
            <a:lvl1pPr>
              <a:defRPr sz="950" b="0" i="0">
                <a:solidFill>
                  <a:srgbClr val="1D1D1B"/>
                </a:solidFill>
                <a:latin typeface="Trebuchet MS"/>
                <a:cs typeface="Trebuchet MS"/>
              </a:defRPr>
            </a:lvl1pPr>
          </a:lstStyle>
          <a:p>
            <a:pPr marL="38100">
              <a:lnSpc>
                <a:spcPct val="100000"/>
              </a:lnSpc>
              <a:spcBef>
                <a:spcPts val="55"/>
              </a:spcBef>
              <a:tabLst>
                <a:tab pos="490855" algn="l"/>
              </a:tabLst>
            </a:pPr>
            <a:fld id="{81D60167-4931-47E6-BA6A-407CBD079E47}" type="slidenum">
              <a:rPr spc="45" dirty="0"/>
              <a:t>‹#›</a:t>
            </a:fld>
            <a:r>
              <a:rPr spc="45" dirty="0"/>
              <a:t>	</a:t>
            </a:r>
            <a:r>
              <a:rPr spc="30" dirty="0"/>
              <a:t>Huawei</a:t>
            </a:r>
            <a:r>
              <a:rPr spc="-10" dirty="0"/>
              <a:t> </a:t>
            </a:r>
            <a:r>
              <a:rPr spc="5" dirty="0"/>
              <a:t>Confidential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0195559" y="6320028"/>
            <a:ext cx="1269492" cy="271272"/>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686206" y="1406778"/>
            <a:ext cx="10819587" cy="779144"/>
          </a:xfrm>
          <a:prstGeom prst="rect">
            <a:avLst/>
          </a:prstGeom>
        </p:spPr>
        <p:txBody>
          <a:bodyPr wrap="square" lIns="0" tIns="0" rIns="0" bIns="0">
            <a:spAutoFit/>
          </a:bodyPr>
          <a:lstStyle>
            <a:lvl1pPr>
              <a:defRPr sz="4950" b="0" i="0">
                <a:solidFill>
                  <a:srgbClr val="1D1D1A"/>
                </a:solidFill>
                <a:latin typeface="Trebuchet MS"/>
                <a:cs typeface="Trebuchet MS"/>
              </a:defRPr>
            </a:lvl1pPr>
          </a:lstStyle>
          <a:p>
            <a:endParaRPr/>
          </a:p>
        </p:txBody>
      </p:sp>
      <p:sp>
        <p:nvSpPr>
          <p:cNvPr id="3" name="Holder 3"/>
          <p:cNvSpPr>
            <a:spLocks noGrp="1"/>
          </p:cNvSpPr>
          <p:nvPr>
            <p:ph type="body" idx="1"/>
          </p:nvPr>
        </p:nvSpPr>
        <p:spPr>
          <a:xfrm>
            <a:off x="798245" y="2056841"/>
            <a:ext cx="10595508" cy="3395345"/>
          </a:xfrm>
          <a:prstGeom prst="rect">
            <a:avLst/>
          </a:prstGeom>
        </p:spPr>
        <p:txBody>
          <a:bodyPr wrap="square" lIns="0" tIns="0" rIns="0" bIns="0">
            <a:spAutoFit/>
          </a:bodyPr>
          <a:lstStyle>
            <a:lvl1pPr>
              <a:defRPr sz="2200" b="0" i="0">
                <a:solidFill>
                  <a:schemeClr val="tx1"/>
                </a:solidFill>
                <a:latin typeface="Trebuchet MS"/>
                <a:cs typeface="Trebuchet MS"/>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21/06/2023</a:t>
            </a:fld>
            <a:endParaRPr lang="en-US"/>
          </a:p>
        </p:txBody>
      </p:sp>
      <p:sp>
        <p:nvSpPr>
          <p:cNvPr id="6" name="Holder 6"/>
          <p:cNvSpPr>
            <a:spLocks noGrp="1"/>
          </p:cNvSpPr>
          <p:nvPr>
            <p:ph type="sldNum" sz="quarter" idx="7"/>
          </p:nvPr>
        </p:nvSpPr>
        <p:spPr>
          <a:xfrm>
            <a:off x="696163" y="6393994"/>
            <a:ext cx="1649730" cy="170815"/>
          </a:xfrm>
          <a:prstGeom prst="rect">
            <a:avLst/>
          </a:prstGeom>
        </p:spPr>
        <p:txBody>
          <a:bodyPr wrap="square" lIns="0" tIns="0" rIns="0" bIns="0">
            <a:spAutoFit/>
          </a:bodyPr>
          <a:lstStyle>
            <a:lvl1pPr>
              <a:defRPr sz="950" b="0" i="0">
                <a:solidFill>
                  <a:srgbClr val="1D1D1B"/>
                </a:solidFill>
                <a:latin typeface="Trebuchet MS"/>
                <a:cs typeface="Trebuchet MS"/>
              </a:defRPr>
            </a:lvl1pPr>
          </a:lstStyle>
          <a:p>
            <a:pPr marL="38100">
              <a:lnSpc>
                <a:spcPct val="100000"/>
              </a:lnSpc>
              <a:spcBef>
                <a:spcPts val="55"/>
              </a:spcBef>
              <a:tabLst>
                <a:tab pos="490855" algn="l"/>
              </a:tabLst>
            </a:pPr>
            <a:fld id="{81D60167-4931-47E6-BA6A-407CBD079E47}" type="slidenum">
              <a:rPr spc="45" dirty="0"/>
              <a:t>‹#›</a:t>
            </a:fld>
            <a:r>
              <a:rPr spc="45" dirty="0"/>
              <a:t>	</a:t>
            </a:r>
            <a:r>
              <a:rPr spc="30" dirty="0"/>
              <a:t>Huawei</a:t>
            </a:r>
            <a:r>
              <a:rPr spc="-10" dirty="0"/>
              <a:t> </a:t>
            </a:r>
            <a:r>
              <a:rPr spc="5" dirty="0"/>
              <a:t>Confidential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www.huaweicloud.com/intl/en-us/"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https://e.huawei.com/en/talent/#/" TargetMode="External"/><Relationship Id="rId4" Type="http://schemas.openxmlformats.org/officeDocument/2006/relationships/hyperlink" Target="https://www.huaweicloud.com/intl/en-us/product/mrs.html" TargetMode="External"/></Relationships>
</file>

<file path=ppt/slides/_rels/slide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1447800"/>
            <a:ext cx="7782967" cy="1490793"/>
          </a:xfrm>
          <a:prstGeom prst="rect">
            <a:avLst/>
          </a:prstGeom>
        </p:spPr>
        <p:txBody>
          <a:bodyPr vert="horz" wrap="square" lIns="0" tIns="13335" rIns="0" bIns="0" rtlCol="0">
            <a:spAutoFit/>
          </a:bodyPr>
          <a:lstStyle/>
          <a:p>
            <a:pPr marL="12700">
              <a:spcBef>
                <a:spcPts val="105"/>
              </a:spcBef>
            </a:pPr>
            <a:r>
              <a:rPr sz="3200" spc="15" dirty="0">
                <a:solidFill>
                  <a:srgbClr val="000000"/>
                </a:solidFill>
              </a:rPr>
              <a:t>Chapter </a:t>
            </a:r>
            <a:r>
              <a:rPr sz="3200" spc="110" dirty="0">
                <a:solidFill>
                  <a:srgbClr val="000000"/>
                </a:solidFill>
              </a:rPr>
              <a:t>4 </a:t>
            </a:r>
            <a:r>
              <a:rPr sz="3200" spc="100" dirty="0">
                <a:solidFill>
                  <a:srgbClr val="000000"/>
                </a:solidFill>
              </a:rPr>
              <a:t>HBase </a:t>
            </a:r>
            <a:r>
              <a:rPr sz="3200" spc="-25" dirty="0">
                <a:solidFill>
                  <a:srgbClr val="000000"/>
                </a:solidFill>
              </a:rPr>
              <a:t>Technical</a:t>
            </a:r>
            <a:r>
              <a:rPr sz="3200" spc="-155" dirty="0">
                <a:solidFill>
                  <a:srgbClr val="000000"/>
                </a:solidFill>
              </a:rPr>
              <a:t> </a:t>
            </a:r>
            <a:r>
              <a:rPr sz="3200" spc="-25" dirty="0" smtClean="0">
                <a:solidFill>
                  <a:srgbClr val="000000"/>
                </a:solidFill>
              </a:rPr>
              <a:t>Principles</a:t>
            </a:r>
            <a:r>
              <a:rPr lang="en-US" sz="3200" spc="-25" dirty="0" smtClean="0">
                <a:solidFill>
                  <a:srgbClr val="000000"/>
                </a:solidFill>
              </a:rPr>
              <a:t/>
            </a:r>
            <a:br>
              <a:rPr lang="en-US" sz="3200" spc="-25" dirty="0" smtClean="0">
                <a:solidFill>
                  <a:srgbClr val="000000"/>
                </a:solidFill>
              </a:rPr>
            </a:br>
            <a:r>
              <a:rPr lang="en-US" sz="3200" dirty="0" smtClean="0"/>
              <a:t>Presented </a:t>
            </a:r>
            <a:r>
              <a:rPr lang="en-US" sz="3200" dirty="0"/>
              <a:t>By: </a:t>
            </a:r>
            <a:r>
              <a:rPr lang="en-US" sz="3200" dirty="0" err="1"/>
              <a:t>Dr.Randa</a:t>
            </a:r>
            <a:r>
              <a:rPr lang="en-US" sz="3200" dirty="0"/>
              <a:t> </a:t>
            </a:r>
            <a:r>
              <a:rPr lang="en-US" sz="3200" dirty="0" err="1"/>
              <a:t>Moamed</a:t>
            </a:r>
            <a:r>
              <a:rPr lang="en-US" sz="3200" dirty="0"/>
              <a:t/>
            </a:r>
            <a:br>
              <a:rPr lang="en-US" sz="3200" dirty="0"/>
            </a:br>
            <a:endParaRPr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97711" y="640537"/>
            <a:ext cx="2216785" cy="635000"/>
          </a:xfrm>
          <a:prstGeom prst="rect">
            <a:avLst/>
          </a:prstGeom>
        </p:spPr>
        <p:txBody>
          <a:bodyPr vert="horz" wrap="square" lIns="0" tIns="12065" rIns="0" bIns="0" rtlCol="0">
            <a:spAutoFit/>
          </a:bodyPr>
          <a:lstStyle/>
          <a:p>
            <a:pPr marL="12700">
              <a:lnSpc>
                <a:spcPct val="100000"/>
              </a:lnSpc>
              <a:spcBef>
                <a:spcPts val="95"/>
              </a:spcBef>
            </a:pPr>
            <a:r>
              <a:rPr sz="4000" spc="40" dirty="0">
                <a:solidFill>
                  <a:srgbClr val="404040"/>
                </a:solidFill>
                <a:latin typeface="Trebuchet MS"/>
                <a:cs typeface="Trebuchet MS"/>
              </a:rPr>
              <a:t>Foreword</a:t>
            </a:r>
            <a:endParaRPr sz="4000">
              <a:latin typeface="Trebuchet MS"/>
              <a:cs typeface="Trebuchet MS"/>
            </a:endParaRPr>
          </a:p>
        </p:txBody>
      </p:sp>
      <p:sp>
        <p:nvSpPr>
          <p:cNvPr id="5" name="object 5"/>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1	</a:t>
            </a:r>
            <a:r>
              <a:rPr spc="30" dirty="0"/>
              <a:t>Huawei</a:t>
            </a:r>
            <a:r>
              <a:rPr spc="-10" dirty="0"/>
              <a:t> </a:t>
            </a:r>
            <a:r>
              <a:rPr spc="5" dirty="0"/>
              <a:t>Confidential</a:t>
            </a:r>
          </a:p>
        </p:txBody>
      </p:sp>
      <p:sp>
        <p:nvSpPr>
          <p:cNvPr id="3" name="object 3"/>
          <p:cNvSpPr txBox="1"/>
          <p:nvPr/>
        </p:nvSpPr>
        <p:spPr>
          <a:xfrm>
            <a:off x="1097991" y="2088642"/>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399794" y="1875123"/>
            <a:ext cx="9692640" cy="1433830"/>
          </a:xfrm>
          <a:prstGeom prst="rect">
            <a:avLst/>
          </a:prstGeom>
        </p:spPr>
        <p:txBody>
          <a:bodyPr vert="horz" wrap="square" lIns="0" tIns="12065" rIns="0" bIns="0" rtlCol="0">
            <a:spAutoFit/>
          </a:bodyPr>
          <a:lstStyle/>
          <a:p>
            <a:pPr marL="12700" marR="5080" algn="just">
              <a:lnSpc>
                <a:spcPct val="140000"/>
              </a:lnSpc>
              <a:spcBef>
                <a:spcPts val="95"/>
              </a:spcBef>
            </a:pPr>
            <a:r>
              <a:rPr sz="2200" dirty="0">
                <a:latin typeface="Trebuchet MS"/>
                <a:cs typeface="Trebuchet MS"/>
              </a:rPr>
              <a:t>This </a:t>
            </a:r>
            <a:r>
              <a:rPr sz="2200" spc="5" dirty="0">
                <a:latin typeface="Trebuchet MS"/>
                <a:cs typeface="Trebuchet MS"/>
              </a:rPr>
              <a:t>course </a:t>
            </a:r>
            <a:r>
              <a:rPr sz="2200" spc="-15" dirty="0">
                <a:latin typeface="Trebuchet MS"/>
                <a:cs typeface="Trebuchet MS"/>
              </a:rPr>
              <a:t>describes the </a:t>
            </a:r>
            <a:r>
              <a:rPr sz="2200" u="sng" spc="15" dirty="0">
                <a:latin typeface="Trebuchet MS"/>
                <a:cs typeface="Trebuchet MS"/>
              </a:rPr>
              <a:t>non-relational </a:t>
            </a:r>
            <a:r>
              <a:rPr sz="2200" u="sng" spc="-15" dirty="0">
                <a:latin typeface="Trebuchet MS"/>
                <a:cs typeface="Trebuchet MS"/>
              </a:rPr>
              <a:t>distributed </a:t>
            </a:r>
            <a:r>
              <a:rPr sz="2200" u="sng" spc="15" dirty="0">
                <a:latin typeface="Trebuchet MS"/>
                <a:cs typeface="Trebuchet MS"/>
              </a:rPr>
              <a:t>database </a:t>
            </a:r>
            <a:r>
              <a:rPr sz="2200" spc="-25" dirty="0">
                <a:latin typeface="Trebuchet MS"/>
                <a:cs typeface="Trebuchet MS"/>
              </a:rPr>
              <a:t>called </a:t>
            </a:r>
            <a:r>
              <a:rPr sz="2200" spc="65" dirty="0">
                <a:latin typeface="Trebuchet MS"/>
                <a:cs typeface="Trebuchet MS"/>
              </a:rPr>
              <a:t>HBase  </a:t>
            </a:r>
            <a:r>
              <a:rPr sz="2200" spc="5" dirty="0">
                <a:latin typeface="Trebuchet MS"/>
                <a:cs typeface="Trebuchet MS"/>
              </a:rPr>
              <a:t>in </a:t>
            </a:r>
            <a:r>
              <a:rPr sz="2200" spc="-15" dirty="0">
                <a:latin typeface="Trebuchet MS"/>
                <a:cs typeface="Trebuchet MS"/>
              </a:rPr>
              <a:t>the </a:t>
            </a:r>
            <a:r>
              <a:rPr sz="2200" spc="80" dirty="0">
                <a:latin typeface="Trebuchet MS"/>
                <a:cs typeface="Trebuchet MS"/>
              </a:rPr>
              <a:t>Hadoop </a:t>
            </a:r>
            <a:r>
              <a:rPr sz="2200" spc="20" dirty="0">
                <a:latin typeface="Trebuchet MS"/>
                <a:cs typeface="Trebuchet MS"/>
              </a:rPr>
              <a:t>open-source </a:t>
            </a:r>
            <a:r>
              <a:rPr sz="2200" dirty="0">
                <a:latin typeface="Trebuchet MS"/>
                <a:cs typeface="Trebuchet MS"/>
              </a:rPr>
              <a:t>community, </a:t>
            </a:r>
            <a:r>
              <a:rPr sz="2200" spc="15" dirty="0">
                <a:latin typeface="Trebuchet MS"/>
                <a:cs typeface="Trebuchet MS"/>
              </a:rPr>
              <a:t>which can </a:t>
            </a:r>
            <a:r>
              <a:rPr sz="2200" spc="-5" dirty="0">
                <a:latin typeface="Trebuchet MS"/>
                <a:cs typeface="Trebuchet MS"/>
              </a:rPr>
              <a:t>meet </a:t>
            </a:r>
            <a:r>
              <a:rPr sz="2200" spc="-15" dirty="0">
                <a:latin typeface="Trebuchet MS"/>
                <a:cs typeface="Trebuchet MS"/>
              </a:rPr>
              <a:t>the </a:t>
            </a:r>
            <a:r>
              <a:rPr sz="2200" dirty="0">
                <a:latin typeface="Trebuchet MS"/>
                <a:cs typeface="Trebuchet MS"/>
              </a:rPr>
              <a:t>requirements  </a:t>
            </a:r>
            <a:r>
              <a:rPr sz="2200" spc="15" dirty="0">
                <a:latin typeface="Trebuchet MS"/>
                <a:cs typeface="Trebuchet MS"/>
              </a:rPr>
              <a:t>of </a:t>
            </a:r>
            <a:r>
              <a:rPr sz="2200" u="sng" spc="5" dirty="0">
                <a:latin typeface="Trebuchet MS"/>
                <a:cs typeface="Trebuchet MS"/>
              </a:rPr>
              <a:t>large-scale </a:t>
            </a:r>
            <a:r>
              <a:rPr sz="2200" spc="55" dirty="0">
                <a:latin typeface="Trebuchet MS"/>
                <a:cs typeface="Trebuchet MS"/>
              </a:rPr>
              <a:t>and </a:t>
            </a:r>
            <a:r>
              <a:rPr sz="2200" u="sng" spc="-10" dirty="0">
                <a:latin typeface="Trebuchet MS"/>
                <a:cs typeface="Trebuchet MS"/>
              </a:rPr>
              <a:t>real-time </a:t>
            </a:r>
            <a:r>
              <a:rPr sz="2200" u="sng" spc="15" dirty="0">
                <a:latin typeface="Trebuchet MS"/>
                <a:cs typeface="Trebuchet MS"/>
              </a:rPr>
              <a:t>data </a:t>
            </a:r>
            <a:r>
              <a:rPr sz="2200" u="sng" spc="20" dirty="0">
                <a:latin typeface="Trebuchet MS"/>
                <a:cs typeface="Trebuchet MS"/>
              </a:rPr>
              <a:t>processing</a:t>
            </a:r>
            <a:r>
              <a:rPr sz="2200" u="sng" spc="70" dirty="0">
                <a:latin typeface="Trebuchet MS"/>
                <a:cs typeface="Trebuchet MS"/>
              </a:rPr>
              <a:t> </a:t>
            </a:r>
            <a:r>
              <a:rPr sz="2200" u="sng" spc="-25" dirty="0">
                <a:latin typeface="Trebuchet MS"/>
                <a:cs typeface="Trebuchet MS"/>
              </a:rPr>
              <a:t>applications</a:t>
            </a:r>
            <a:r>
              <a:rPr sz="2200" spc="-25" dirty="0">
                <a:latin typeface="Trebuchet MS"/>
                <a:cs typeface="Trebuchet MS"/>
              </a:rPr>
              <a:t>.</a:t>
            </a:r>
            <a:endParaRPr sz="2200" dirty="0">
              <a:latin typeface="Trebuchet MS"/>
              <a:cs typeface="Trebuchet MS"/>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2339975" cy="0"/>
          </a:xfrm>
          <a:custGeom>
            <a:avLst/>
            <a:gdLst/>
            <a:ahLst/>
            <a:cxnLst/>
            <a:rect l="l" t="t" r="r" b="b"/>
            <a:pathLst>
              <a:path w="2339975">
                <a:moveTo>
                  <a:pt x="2339975"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2391410" cy="635000"/>
          </a:xfrm>
          <a:prstGeom prst="rect">
            <a:avLst/>
          </a:prstGeom>
        </p:spPr>
        <p:txBody>
          <a:bodyPr vert="horz" wrap="square" lIns="0" tIns="12065" rIns="0" bIns="0" rtlCol="0">
            <a:spAutoFit/>
          </a:bodyPr>
          <a:lstStyle/>
          <a:p>
            <a:pPr marL="12700">
              <a:lnSpc>
                <a:spcPct val="100000"/>
              </a:lnSpc>
              <a:spcBef>
                <a:spcPts val="95"/>
              </a:spcBef>
            </a:pPr>
            <a:r>
              <a:rPr sz="4000" spc="-50" dirty="0">
                <a:solidFill>
                  <a:srgbClr val="404040"/>
                </a:solidFill>
              </a:rPr>
              <a:t>Objectives</a:t>
            </a:r>
            <a:endParaRPr sz="4000"/>
          </a:p>
        </p:txBody>
      </p:sp>
      <p:sp>
        <p:nvSpPr>
          <p:cNvPr id="13" name="object 13"/>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2	</a:t>
            </a:r>
            <a:r>
              <a:rPr spc="30" dirty="0"/>
              <a:t>Huawei</a:t>
            </a:r>
            <a:r>
              <a:rPr spc="-10" dirty="0"/>
              <a:t> </a:t>
            </a:r>
            <a:r>
              <a:rPr spc="5" dirty="0"/>
              <a:t>Confidential</a:t>
            </a:r>
          </a:p>
        </p:txBody>
      </p:sp>
      <p:sp>
        <p:nvSpPr>
          <p:cNvPr id="6" name="object 6"/>
          <p:cNvSpPr txBox="1"/>
          <p:nvPr/>
        </p:nvSpPr>
        <p:spPr>
          <a:xfrm>
            <a:off x="1097991" y="2088642"/>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7" name="object 7"/>
          <p:cNvSpPr txBox="1"/>
          <p:nvPr/>
        </p:nvSpPr>
        <p:spPr>
          <a:xfrm>
            <a:off x="1440941" y="2009393"/>
            <a:ext cx="8404225" cy="360680"/>
          </a:xfrm>
          <a:prstGeom prst="rect">
            <a:avLst/>
          </a:prstGeom>
        </p:spPr>
        <p:txBody>
          <a:bodyPr vert="horz" wrap="square" lIns="0" tIns="12065" rIns="0" bIns="0" rtlCol="0">
            <a:spAutoFit/>
          </a:bodyPr>
          <a:lstStyle/>
          <a:p>
            <a:pPr marL="12700">
              <a:lnSpc>
                <a:spcPct val="100000"/>
              </a:lnSpc>
              <a:spcBef>
                <a:spcPts val="95"/>
              </a:spcBef>
            </a:pPr>
            <a:r>
              <a:rPr sz="2200" spc="160" dirty="0">
                <a:latin typeface="Trebuchet MS"/>
                <a:cs typeface="Trebuchet MS"/>
              </a:rPr>
              <a:t>On </a:t>
            </a:r>
            <a:r>
              <a:rPr sz="2200" spc="10" dirty="0">
                <a:latin typeface="Trebuchet MS"/>
                <a:cs typeface="Trebuchet MS"/>
              </a:rPr>
              <a:t>completion </a:t>
            </a:r>
            <a:r>
              <a:rPr sz="2200" spc="15" dirty="0">
                <a:latin typeface="Trebuchet MS"/>
                <a:cs typeface="Trebuchet MS"/>
              </a:rPr>
              <a:t>of </a:t>
            </a:r>
            <a:r>
              <a:rPr sz="2200" spc="-10" dirty="0">
                <a:latin typeface="Trebuchet MS"/>
                <a:cs typeface="Trebuchet MS"/>
              </a:rPr>
              <a:t>this </a:t>
            </a:r>
            <a:r>
              <a:rPr sz="2200" spc="-35" dirty="0">
                <a:latin typeface="Trebuchet MS"/>
                <a:cs typeface="Trebuchet MS"/>
              </a:rPr>
              <a:t>course, </a:t>
            </a:r>
            <a:r>
              <a:rPr sz="2200" spc="50" dirty="0">
                <a:latin typeface="Trebuchet MS"/>
                <a:cs typeface="Trebuchet MS"/>
              </a:rPr>
              <a:t>you </a:t>
            </a:r>
            <a:r>
              <a:rPr sz="2200" spc="-20" dirty="0">
                <a:latin typeface="Trebuchet MS"/>
                <a:cs typeface="Trebuchet MS"/>
              </a:rPr>
              <a:t>will </a:t>
            </a:r>
            <a:r>
              <a:rPr sz="2200" spc="-10" dirty="0">
                <a:latin typeface="Trebuchet MS"/>
                <a:cs typeface="Trebuchet MS"/>
              </a:rPr>
              <a:t>be </a:t>
            </a:r>
            <a:r>
              <a:rPr sz="2200" spc="-5" dirty="0">
                <a:latin typeface="Trebuchet MS"/>
                <a:cs typeface="Trebuchet MS"/>
              </a:rPr>
              <a:t>able </a:t>
            </a:r>
            <a:r>
              <a:rPr sz="2200" dirty="0">
                <a:latin typeface="Trebuchet MS"/>
                <a:cs typeface="Trebuchet MS"/>
              </a:rPr>
              <a:t>to </a:t>
            </a:r>
            <a:r>
              <a:rPr sz="2200" spc="-10" dirty="0">
                <a:latin typeface="Trebuchet MS"/>
                <a:cs typeface="Trebuchet MS"/>
              </a:rPr>
              <a:t>be </a:t>
            </a:r>
            <a:r>
              <a:rPr sz="2200" spc="-5" dirty="0">
                <a:latin typeface="Trebuchet MS"/>
                <a:cs typeface="Trebuchet MS"/>
              </a:rPr>
              <a:t>familiar</a:t>
            </a:r>
            <a:r>
              <a:rPr sz="2200" spc="260" dirty="0">
                <a:latin typeface="Trebuchet MS"/>
                <a:cs typeface="Trebuchet MS"/>
              </a:rPr>
              <a:t> </a:t>
            </a:r>
            <a:r>
              <a:rPr sz="2200" spc="-60" dirty="0">
                <a:latin typeface="Trebuchet MS"/>
                <a:cs typeface="Trebuchet MS"/>
              </a:rPr>
              <a:t>with:</a:t>
            </a:r>
            <a:endParaRPr sz="2200">
              <a:latin typeface="Trebuchet MS"/>
              <a:cs typeface="Trebuchet MS"/>
            </a:endParaRPr>
          </a:p>
        </p:txBody>
      </p:sp>
      <p:sp>
        <p:nvSpPr>
          <p:cNvPr id="8" name="object 8"/>
          <p:cNvSpPr txBox="1"/>
          <p:nvPr/>
        </p:nvSpPr>
        <p:spPr>
          <a:xfrm>
            <a:off x="1501902" y="2626613"/>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9" name="object 9"/>
          <p:cNvSpPr txBox="1"/>
          <p:nvPr/>
        </p:nvSpPr>
        <p:spPr>
          <a:xfrm>
            <a:off x="1501902" y="3141979"/>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10" name="object 10"/>
          <p:cNvSpPr txBox="1"/>
          <p:nvPr/>
        </p:nvSpPr>
        <p:spPr>
          <a:xfrm>
            <a:off x="1501902" y="3658615"/>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11" name="object 11"/>
          <p:cNvSpPr txBox="1"/>
          <p:nvPr/>
        </p:nvSpPr>
        <p:spPr>
          <a:xfrm>
            <a:off x="1501902" y="4173982"/>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12" name="object 12"/>
          <p:cNvSpPr txBox="1"/>
          <p:nvPr/>
        </p:nvSpPr>
        <p:spPr>
          <a:xfrm>
            <a:off x="1753361" y="2554681"/>
            <a:ext cx="5573395" cy="1878964"/>
          </a:xfrm>
          <a:prstGeom prst="rect">
            <a:avLst/>
          </a:prstGeom>
        </p:spPr>
        <p:txBody>
          <a:bodyPr vert="horz" wrap="square" lIns="0" tIns="13335" rIns="0" bIns="0" rtlCol="0">
            <a:spAutoFit/>
          </a:bodyPr>
          <a:lstStyle/>
          <a:p>
            <a:pPr marL="12700">
              <a:lnSpc>
                <a:spcPct val="100000"/>
              </a:lnSpc>
              <a:spcBef>
                <a:spcPts val="105"/>
              </a:spcBef>
            </a:pPr>
            <a:r>
              <a:rPr sz="2000" spc="65" dirty="0">
                <a:latin typeface="Trebuchet MS"/>
                <a:cs typeface="Trebuchet MS"/>
              </a:rPr>
              <a:t>HBase </a:t>
            </a:r>
            <a:r>
              <a:rPr sz="2000" spc="20" dirty="0">
                <a:latin typeface="Trebuchet MS"/>
                <a:cs typeface="Trebuchet MS"/>
              </a:rPr>
              <a:t>system </a:t>
            </a:r>
            <a:r>
              <a:rPr sz="2000" spc="-25" dirty="0">
                <a:latin typeface="Trebuchet MS"/>
                <a:cs typeface="Trebuchet MS"/>
              </a:rPr>
              <a:t>architecture </a:t>
            </a:r>
            <a:r>
              <a:rPr sz="2000" spc="55" dirty="0">
                <a:latin typeface="Trebuchet MS"/>
                <a:cs typeface="Trebuchet MS"/>
              </a:rPr>
              <a:t>and </a:t>
            </a:r>
            <a:r>
              <a:rPr sz="2000" spc="-15" dirty="0">
                <a:latin typeface="Trebuchet MS"/>
                <a:cs typeface="Trebuchet MS"/>
              </a:rPr>
              <a:t>related</a:t>
            </a:r>
            <a:r>
              <a:rPr sz="2000" spc="-160" dirty="0">
                <a:latin typeface="Trebuchet MS"/>
                <a:cs typeface="Trebuchet MS"/>
              </a:rPr>
              <a:t> </a:t>
            </a:r>
            <a:r>
              <a:rPr sz="2000" spc="-10" dirty="0">
                <a:latin typeface="Trebuchet MS"/>
                <a:cs typeface="Trebuchet MS"/>
              </a:rPr>
              <a:t>concepts</a:t>
            </a:r>
            <a:endParaRPr sz="2000" dirty="0">
              <a:latin typeface="Trebuchet MS"/>
              <a:cs typeface="Trebuchet MS"/>
            </a:endParaRPr>
          </a:p>
          <a:p>
            <a:pPr marL="12700" marR="363855">
              <a:lnSpc>
                <a:spcPts val="4070"/>
              </a:lnSpc>
              <a:spcBef>
                <a:spcPts val="400"/>
              </a:spcBef>
            </a:pPr>
            <a:r>
              <a:rPr sz="2000" spc="60" dirty="0">
                <a:latin typeface="Trebuchet MS"/>
                <a:cs typeface="Trebuchet MS"/>
              </a:rPr>
              <a:t>HBase </a:t>
            </a:r>
            <a:r>
              <a:rPr sz="2000" spc="5" dirty="0">
                <a:latin typeface="Trebuchet MS"/>
                <a:cs typeface="Trebuchet MS"/>
              </a:rPr>
              <a:t>key </a:t>
            </a:r>
            <a:r>
              <a:rPr sz="2000" dirty="0">
                <a:latin typeface="Trebuchet MS"/>
                <a:cs typeface="Trebuchet MS"/>
              </a:rPr>
              <a:t>processes </a:t>
            </a:r>
            <a:r>
              <a:rPr sz="2000" spc="50" dirty="0">
                <a:latin typeface="Trebuchet MS"/>
                <a:cs typeface="Trebuchet MS"/>
              </a:rPr>
              <a:t>and </a:t>
            </a:r>
            <a:r>
              <a:rPr sz="2000" spc="20" dirty="0">
                <a:latin typeface="Trebuchet MS"/>
                <a:cs typeface="Trebuchet MS"/>
              </a:rPr>
              <a:t>prominent </a:t>
            </a:r>
            <a:r>
              <a:rPr sz="2000" spc="-10" dirty="0">
                <a:latin typeface="Trebuchet MS"/>
                <a:cs typeface="Trebuchet MS"/>
              </a:rPr>
              <a:t>features  </a:t>
            </a:r>
            <a:r>
              <a:rPr sz="2000" spc="60" dirty="0">
                <a:latin typeface="Trebuchet MS"/>
                <a:cs typeface="Trebuchet MS"/>
              </a:rPr>
              <a:t>HBase </a:t>
            </a:r>
            <a:r>
              <a:rPr sz="2000" spc="10" dirty="0">
                <a:latin typeface="Trebuchet MS"/>
                <a:cs typeface="Trebuchet MS"/>
              </a:rPr>
              <a:t>performance</a:t>
            </a:r>
            <a:r>
              <a:rPr sz="2000" spc="-80" dirty="0">
                <a:latin typeface="Trebuchet MS"/>
                <a:cs typeface="Trebuchet MS"/>
              </a:rPr>
              <a:t> </a:t>
            </a:r>
            <a:r>
              <a:rPr sz="2000" spc="40" dirty="0">
                <a:latin typeface="Trebuchet MS"/>
                <a:cs typeface="Trebuchet MS"/>
              </a:rPr>
              <a:t>tuning</a:t>
            </a:r>
            <a:endParaRPr sz="2000" dirty="0">
              <a:latin typeface="Trebuchet MS"/>
              <a:cs typeface="Trebuchet MS"/>
            </a:endParaRPr>
          </a:p>
          <a:p>
            <a:pPr marL="12700">
              <a:lnSpc>
                <a:spcPct val="100000"/>
              </a:lnSpc>
              <a:spcBef>
                <a:spcPts val="1245"/>
              </a:spcBef>
            </a:pPr>
            <a:r>
              <a:rPr sz="2000" spc="5" dirty="0">
                <a:latin typeface="Trebuchet MS"/>
                <a:cs typeface="Trebuchet MS"/>
              </a:rPr>
              <a:t>Basic </a:t>
            </a:r>
            <a:r>
              <a:rPr sz="2000" spc="-5" dirty="0">
                <a:latin typeface="Trebuchet MS"/>
                <a:cs typeface="Trebuchet MS"/>
              </a:rPr>
              <a:t>shell </a:t>
            </a:r>
            <a:r>
              <a:rPr sz="2000" spc="15" dirty="0">
                <a:latin typeface="Trebuchet MS"/>
                <a:cs typeface="Trebuchet MS"/>
              </a:rPr>
              <a:t>operations of</a:t>
            </a:r>
            <a:r>
              <a:rPr sz="2000" spc="-15" dirty="0">
                <a:latin typeface="Trebuchet MS"/>
                <a:cs typeface="Trebuchet MS"/>
              </a:rPr>
              <a:t> </a:t>
            </a:r>
            <a:r>
              <a:rPr sz="2000" spc="60" dirty="0">
                <a:latin typeface="Trebuchet MS"/>
                <a:cs typeface="Trebuchet MS"/>
              </a:rPr>
              <a:t>HBase</a:t>
            </a:r>
            <a:endParaRPr sz="2000" dirty="0">
              <a:latin typeface="Trebuchet MS"/>
              <a:cs typeface="Trebuchet MS"/>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2016125" cy="0"/>
          </a:xfrm>
          <a:custGeom>
            <a:avLst/>
            <a:gdLst/>
            <a:ahLst/>
            <a:cxnLst/>
            <a:rect l="l" t="t" r="r" b="b"/>
            <a:pathLst>
              <a:path w="2016125">
                <a:moveTo>
                  <a:pt x="2015997"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2072639" cy="635000"/>
          </a:xfrm>
          <a:prstGeom prst="rect">
            <a:avLst/>
          </a:prstGeom>
        </p:spPr>
        <p:txBody>
          <a:bodyPr vert="horz" wrap="square" lIns="0" tIns="12065" rIns="0" bIns="0" rtlCol="0">
            <a:spAutoFit/>
          </a:bodyPr>
          <a:lstStyle/>
          <a:p>
            <a:pPr marL="12700">
              <a:lnSpc>
                <a:spcPct val="100000"/>
              </a:lnSpc>
              <a:spcBef>
                <a:spcPts val="95"/>
              </a:spcBef>
            </a:pPr>
            <a:r>
              <a:rPr sz="4000" spc="40" dirty="0">
                <a:solidFill>
                  <a:srgbClr val="404040"/>
                </a:solidFill>
              </a:rPr>
              <a:t>Conte</a:t>
            </a:r>
            <a:r>
              <a:rPr sz="4000" spc="55" dirty="0">
                <a:solidFill>
                  <a:srgbClr val="404040"/>
                </a:solidFill>
              </a:rPr>
              <a:t>n</a:t>
            </a:r>
            <a:r>
              <a:rPr sz="4000" spc="-40" dirty="0">
                <a:solidFill>
                  <a:srgbClr val="404040"/>
                </a:solidFill>
              </a:rPr>
              <a:t>ts</a:t>
            </a:r>
            <a:endParaRPr sz="4000"/>
          </a:p>
        </p:txBody>
      </p:sp>
      <p:sp>
        <p:nvSpPr>
          <p:cNvPr id="7" name="object 7"/>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3	</a:t>
            </a:r>
            <a:r>
              <a:rPr spc="30" dirty="0"/>
              <a:t>Huawei</a:t>
            </a:r>
            <a:r>
              <a:rPr spc="-10" dirty="0"/>
              <a:t> </a:t>
            </a:r>
            <a:r>
              <a:rPr spc="5" dirty="0"/>
              <a:t>Confidential</a:t>
            </a:r>
          </a:p>
        </p:txBody>
      </p:sp>
      <p:sp>
        <p:nvSpPr>
          <p:cNvPr id="6" name="object 6"/>
          <p:cNvSpPr txBox="1"/>
          <p:nvPr/>
        </p:nvSpPr>
        <p:spPr>
          <a:xfrm>
            <a:off x="1097991" y="2009393"/>
            <a:ext cx="4744720" cy="3779520"/>
          </a:xfrm>
          <a:prstGeom prst="rect">
            <a:avLst/>
          </a:prstGeom>
        </p:spPr>
        <p:txBody>
          <a:bodyPr vert="horz" wrap="square" lIns="0" tIns="12065" rIns="0" bIns="0" rtlCol="0">
            <a:spAutoFit/>
          </a:bodyPr>
          <a:lstStyle/>
          <a:p>
            <a:pPr marL="469900" indent="-457834">
              <a:lnSpc>
                <a:spcPct val="100000"/>
              </a:lnSpc>
              <a:spcBef>
                <a:spcPts val="95"/>
              </a:spcBef>
              <a:buAutoNum type="arabicPeriod"/>
              <a:tabLst>
                <a:tab pos="469265" algn="l"/>
                <a:tab pos="470534" algn="l"/>
              </a:tabLst>
            </a:pPr>
            <a:r>
              <a:rPr sz="2200" b="1" spc="25" dirty="0">
                <a:latin typeface="Arial"/>
                <a:cs typeface="Arial"/>
              </a:rPr>
              <a:t>Introduction </a:t>
            </a:r>
            <a:r>
              <a:rPr sz="2200" b="1" spc="60" dirty="0">
                <a:latin typeface="Arial"/>
                <a:cs typeface="Arial"/>
              </a:rPr>
              <a:t>to</a:t>
            </a:r>
            <a:r>
              <a:rPr sz="2200" b="1" spc="125" dirty="0">
                <a:latin typeface="Arial"/>
                <a:cs typeface="Arial"/>
              </a:rPr>
              <a:t> </a:t>
            </a:r>
            <a:r>
              <a:rPr sz="2200" b="1" spc="-65" dirty="0">
                <a:latin typeface="Arial"/>
                <a:cs typeface="Arial"/>
              </a:rPr>
              <a:t>HBase</a:t>
            </a:r>
            <a:endParaRPr sz="2200">
              <a:latin typeface="Arial"/>
              <a:cs typeface="Arial"/>
            </a:endParaRPr>
          </a:p>
          <a:p>
            <a:pPr marL="469900" indent="-457834">
              <a:lnSpc>
                <a:spcPct val="100000"/>
              </a:lnSpc>
              <a:spcBef>
                <a:spcPts val="1850"/>
              </a:spcBef>
              <a:buAutoNum type="arabicPeriod"/>
              <a:tabLst>
                <a:tab pos="469265" algn="l"/>
                <a:tab pos="470534" algn="l"/>
              </a:tabLst>
            </a:pPr>
            <a:r>
              <a:rPr sz="2200" spc="65" dirty="0">
                <a:solidFill>
                  <a:srgbClr val="7E7E7E"/>
                </a:solidFill>
                <a:latin typeface="Trebuchet MS"/>
                <a:cs typeface="Trebuchet MS"/>
              </a:rPr>
              <a:t>HBase </a:t>
            </a:r>
            <a:r>
              <a:rPr sz="2200" spc="-10" dirty="0">
                <a:solidFill>
                  <a:srgbClr val="7E7E7E"/>
                </a:solidFill>
                <a:latin typeface="Trebuchet MS"/>
                <a:cs typeface="Trebuchet MS"/>
              </a:rPr>
              <a:t>Related</a:t>
            </a:r>
            <a:r>
              <a:rPr sz="2200" spc="-5" dirty="0">
                <a:solidFill>
                  <a:srgbClr val="7E7E7E"/>
                </a:solidFill>
                <a:latin typeface="Trebuchet MS"/>
                <a:cs typeface="Trebuchet MS"/>
              </a:rPr>
              <a:t> </a:t>
            </a:r>
            <a:r>
              <a:rPr sz="2200" dirty="0">
                <a:solidFill>
                  <a:srgbClr val="7E7E7E"/>
                </a:solidFill>
                <a:latin typeface="Trebuchet MS"/>
                <a:cs typeface="Trebuchet MS"/>
              </a:rPr>
              <a:t>Concepts</a:t>
            </a:r>
            <a:endParaRPr sz="2200">
              <a:latin typeface="Trebuchet MS"/>
              <a:cs typeface="Trebuchet MS"/>
            </a:endParaRPr>
          </a:p>
          <a:p>
            <a:pPr marL="469900" indent="-457834">
              <a:lnSpc>
                <a:spcPct val="100000"/>
              </a:lnSpc>
              <a:spcBef>
                <a:spcPts val="1845"/>
              </a:spcBef>
              <a:buAutoNum type="arabicPeriod"/>
              <a:tabLst>
                <a:tab pos="469265" algn="l"/>
                <a:tab pos="470534" algn="l"/>
              </a:tabLst>
            </a:pPr>
            <a:r>
              <a:rPr sz="2200" spc="60" dirty="0">
                <a:solidFill>
                  <a:srgbClr val="7E7E7E"/>
                </a:solidFill>
                <a:latin typeface="Trebuchet MS"/>
                <a:cs typeface="Trebuchet MS"/>
              </a:rPr>
              <a:t>HBase</a:t>
            </a:r>
            <a:r>
              <a:rPr sz="2200" spc="35" dirty="0">
                <a:solidFill>
                  <a:srgbClr val="7E7E7E"/>
                </a:solidFill>
                <a:latin typeface="Trebuchet MS"/>
                <a:cs typeface="Trebuchet MS"/>
              </a:rPr>
              <a:t> </a:t>
            </a:r>
            <a:r>
              <a:rPr sz="2200" spc="-25" dirty="0">
                <a:solidFill>
                  <a:srgbClr val="7E7E7E"/>
                </a:solidFill>
                <a:latin typeface="Trebuchet MS"/>
                <a:cs typeface="Trebuchet MS"/>
              </a:rPr>
              <a:t>Architecture</a:t>
            </a:r>
            <a:endParaRPr sz="2200">
              <a:latin typeface="Trebuchet MS"/>
              <a:cs typeface="Trebuchet MS"/>
            </a:endParaRPr>
          </a:p>
          <a:p>
            <a:pPr marL="469900" indent="-457834">
              <a:lnSpc>
                <a:spcPct val="100000"/>
              </a:lnSpc>
              <a:spcBef>
                <a:spcPts val="1839"/>
              </a:spcBef>
              <a:buAutoNum type="arabicPeriod"/>
              <a:tabLst>
                <a:tab pos="469265" algn="l"/>
                <a:tab pos="470534" algn="l"/>
              </a:tabLst>
            </a:pPr>
            <a:r>
              <a:rPr sz="2200" spc="65" dirty="0">
                <a:solidFill>
                  <a:srgbClr val="7E7E7E"/>
                </a:solidFill>
                <a:latin typeface="Trebuchet MS"/>
                <a:cs typeface="Trebuchet MS"/>
              </a:rPr>
              <a:t>HBase </a:t>
            </a:r>
            <a:r>
              <a:rPr sz="2200" spc="5" dirty="0">
                <a:solidFill>
                  <a:srgbClr val="7E7E7E"/>
                </a:solidFill>
                <a:latin typeface="Trebuchet MS"/>
                <a:cs typeface="Trebuchet MS"/>
              </a:rPr>
              <a:t>Key </a:t>
            </a:r>
            <a:r>
              <a:rPr sz="2200" spc="-5" dirty="0">
                <a:solidFill>
                  <a:srgbClr val="7E7E7E"/>
                </a:solidFill>
                <a:latin typeface="Trebuchet MS"/>
                <a:cs typeface="Trebuchet MS"/>
              </a:rPr>
              <a:t>Processes</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spc="60" dirty="0">
                <a:solidFill>
                  <a:srgbClr val="7E7E7E"/>
                </a:solidFill>
                <a:latin typeface="Trebuchet MS"/>
                <a:cs typeface="Trebuchet MS"/>
              </a:rPr>
              <a:t>HBase</a:t>
            </a:r>
            <a:r>
              <a:rPr sz="2200" spc="35" dirty="0">
                <a:solidFill>
                  <a:srgbClr val="7E7E7E"/>
                </a:solidFill>
                <a:latin typeface="Trebuchet MS"/>
                <a:cs typeface="Trebuchet MS"/>
              </a:rPr>
              <a:t> </a:t>
            </a:r>
            <a:r>
              <a:rPr sz="2200" spc="40" dirty="0">
                <a:solidFill>
                  <a:srgbClr val="7E7E7E"/>
                </a:solidFill>
                <a:latin typeface="Trebuchet MS"/>
                <a:cs typeface="Trebuchet MS"/>
              </a:rPr>
              <a:t>Highlights</a:t>
            </a:r>
            <a:endParaRPr sz="2200">
              <a:latin typeface="Trebuchet MS"/>
              <a:cs typeface="Trebuchet MS"/>
            </a:endParaRPr>
          </a:p>
          <a:p>
            <a:pPr marL="469900" indent="-457834">
              <a:lnSpc>
                <a:spcPct val="100000"/>
              </a:lnSpc>
              <a:spcBef>
                <a:spcPts val="1845"/>
              </a:spcBef>
              <a:buAutoNum type="arabicPeriod"/>
              <a:tabLst>
                <a:tab pos="469265" algn="l"/>
                <a:tab pos="470534" algn="l"/>
              </a:tabLst>
            </a:pPr>
            <a:r>
              <a:rPr sz="2200" spc="65" dirty="0">
                <a:solidFill>
                  <a:srgbClr val="7E7E7E"/>
                </a:solidFill>
                <a:latin typeface="Trebuchet MS"/>
                <a:cs typeface="Trebuchet MS"/>
              </a:rPr>
              <a:t>HBase </a:t>
            </a:r>
            <a:r>
              <a:rPr sz="2200" spc="5" dirty="0">
                <a:solidFill>
                  <a:srgbClr val="7E7E7E"/>
                </a:solidFill>
                <a:latin typeface="Trebuchet MS"/>
                <a:cs typeface="Trebuchet MS"/>
              </a:rPr>
              <a:t>Performance</a:t>
            </a:r>
            <a:r>
              <a:rPr sz="2200" dirty="0">
                <a:solidFill>
                  <a:srgbClr val="7E7E7E"/>
                </a:solidFill>
                <a:latin typeface="Trebuchet MS"/>
                <a:cs typeface="Trebuchet MS"/>
              </a:rPr>
              <a:t> </a:t>
            </a:r>
            <a:r>
              <a:rPr sz="2200" spc="45" dirty="0">
                <a:solidFill>
                  <a:srgbClr val="7E7E7E"/>
                </a:solidFill>
                <a:latin typeface="Trebuchet MS"/>
                <a:cs typeface="Trebuchet MS"/>
              </a:rPr>
              <a:t>Tuning</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spc="90" dirty="0">
                <a:solidFill>
                  <a:srgbClr val="7E7E7E"/>
                </a:solidFill>
                <a:latin typeface="Trebuchet MS"/>
                <a:cs typeface="Trebuchet MS"/>
              </a:rPr>
              <a:t>Common </a:t>
            </a:r>
            <a:r>
              <a:rPr sz="2200" spc="60" dirty="0">
                <a:solidFill>
                  <a:srgbClr val="7E7E7E"/>
                </a:solidFill>
                <a:latin typeface="Trebuchet MS"/>
                <a:cs typeface="Trebuchet MS"/>
              </a:rPr>
              <a:t>HBase </a:t>
            </a:r>
            <a:r>
              <a:rPr sz="2200" spc="10" dirty="0">
                <a:solidFill>
                  <a:srgbClr val="7E7E7E"/>
                </a:solidFill>
                <a:latin typeface="Trebuchet MS"/>
                <a:cs typeface="Trebuchet MS"/>
              </a:rPr>
              <a:t>Shell</a:t>
            </a:r>
            <a:r>
              <a:rPr sz="2200" spc="-100" dirty="0">
                <a:solidFill>
                  <a:srgbClr val="7E7E7E"/>
                </a:solidFill>
                <a:latin typeface="Trebuchet MS"/>
                <a:cs typeface="Trebuchet MS"/>
              </a:rPr>
              <a:t> </a:t>
            </a:r>
            <a:r>
              <a:rPr sz="2200" spc="75" dirty="0">
                <a:solidFill>
                  <a:srgbClr val="7E7E7E"/>
                </a:solidFill>
                <a:latin typeface="Trebuchet MS"/>
                <a:cs typeface="Trebuchet MS"/>
              </a:rPr>
              <a:t>Commands</a:t>
            </a:r>
            <a:endParaRPr sz="2200">
              <a:latin typeface="Trebuchet MS"/>
              <a:cs typeface="Trebuchet M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4096385" cy="513715"/>
          </a:xfrm>
          <a:prstGeom prst="rect">
            <a:avLst/>
          </a:prstGeom>
        </p:spPr>
        <p:txBody>
          <a:bodyPr vert="horz" wrap="square" lIns="0" tIns="13335" rIns="0" bIns="0" rtlCol="0">
            <a:spAutoFit/>
          </a:bodyPr>
          <a:lstStyle/>
          <a:p>
            <a:pPr marL="12700">
              <a:lnSpc>
                <a:spcPct val="100000"/>
              </a:lnSpc>
              <a:spcBef>
                <a:spcPts val="105"/>
              </a:spcBef>
            </a:pPr>
            <a:r>
              <a:rPr sz="3200" spc="15" dirty="0">
                <a:solidFill>
                  <a:srgbClr val="000000"/>
                </a:solidFill>
              </a:rPr>
              <a:t>Introduction </a:t>
            </a:r>
            <a:r>
              <a:rPr sz="3200" spc="5" dirty="0">
                <a:solidFill>
                  <a:srgbClr val="000000"/>
                </a:solidFill>
              </a:rPr>
              <a:t>to</a:t>
            </a:r>
            <a:r>
              <a:rPr sz="3200" spc="15" dirty="0">
                <a:solidFill>
                  <a:srgbClr val="000000"/>
                </a:solidFill>
              </a:rPr>
              <a:t> </a:t>
            </a:r>
            <a:r>
              <a:rPr sz="3200" spc="105" dirty="0">
                <a:solidFill>
                  <a:srgbClr val="000000"/>
                </a:solidFill>
              </a:rPr>
              <a:t>HBase</a:t>
            </a:r>
            <a:endParaRPr sz="3200"/>
          </a:p>
        </p:txBody>
      </p:sp>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4	</a:t>
            </a:r>
            <a:r>
              <a:rPr spc="30" dirty="0"/>
              <a:t>Huawei</a:t>
            </a:r>
            <a:r>
              <a:rPr spc="-10" dirty="0"/>
              <a:t> </a:t>
            </a:r>
            <a:r>
              <a:rPr spc="5" dirty="0"/>
              <a:t>Confidential</a:t>
            </a:r>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101039" y="1076604"/>
            <a:ext cx="10290810" cy="964565"/>
          </a:xfrm>
          <a:prstGeom prst="rect">
            <a:avLst/>
          </a:prstGeom>
        </p:spPr>
        <p:txBody>
          <a:bodyPr vert="horz" wrap="square" lIns="0" tIns="12700" rIns="0" bIns="0" rtlCol="0">
            <a:spAutoFit/>
          </a:bodyPr>
          <a:lstStyle/>
          <a:p>
            <a:pPr marL="12700" marR="5080">
              <a:lnSpc>
                <a:spcPct val="140000"/>
              </a:lnSpc>
              <a:spcBef>
                <a:spcPts val="100"/>
              </a:spcBef>
              <a:tabLst>
                <a:tab pos="1035050" algn="l"/>
                <a:tab pos="1452880" algn="l"/>
                <a:tab pos="1831975" algn="l"/>
                <a:tab pos="3850004" algn="l"/>
                <a:tab pos="5436870" algn="l"/>
                <a:tab pos="6609080" algn="l"/>
                <a:tab pos="7710805" algn="l"/>
                <a:tab pos="8458200" algn="l"/>
                <a:tab pos="9718040" algn="l"/>
              </a:tabLst>
            </a:pPr>
            <a:r>
              <a:rPr sz="2200" spc="100" dirty="0">
                <a:latin typeface="Trebuchet MS"/>
                <a:cs typeface="Trebuchet MS"/>
              </a:rPr>
              <a:t>HBa</a:t>
            </a:r>
            <a:r>
              <a:rPr sz="2200" spc="55" dirty="0">
                <a:latin typeface="Trebuchet MS"/>
                <a:cs typeface="Trebuchet MS"/>
              </a:rPr>
              <a:t>s</a:t>
            </a:r>
            <a:r>
              <a:rPr sz="2200" spc="-45" dirty="0">
                <a:latin typeface="Trebuchet MS"/>
                <a:cs typeface="Trebuchet MS"/>
              </a:rPr>
              <a:t>e</a:t>
            </a:r>
            <a:r>
              <a:rPr sz="2200" dirty="0">
                <a:latin typeface="Trebuchet MS"/>
                <a:cs typeface="Trebuchet MS"/>
              </a:rPr>
              <a:t>	</a:t>
            </a:r>
            <a:r>
              <a:rPr sz="2200" spc="-15" dirty="0">
                <a:latin typeface="Trebuchet MS"/>
                <a:cs typeface="Trebuchet MS"/>
              </a:rPr>
              <a:t>is</a:t>
            </a:r>
            <a:r>
              <a:rPr sz="2200" dirty="0">
                <a:latin typeface="Trebuchet MS"/>
                <a:cs typeface="Trebuchet MS"/>
              </a:rPr>
              <a:t>	</a:t>
            </a:r>
            <a:r>
              <a:rPr sz="2200" spc="55" dirty="0">
                <a:latin typeface="Trebuchet MS"/>
                <a:cs typeface="Trebuchet MS"/>
              </a:rPr>
              <a:t>a</a:t>
            </a:r>
            <a:r>
              <a:rPr sz="2200" dirty="0">
                <a:latin typeface="Trebuchet MS"/>
                <a:cs typeface="Trebuchet MS"/>
              </a:rPr>
              <a:t>	</a:t>
            </a:r>
            <a:r>
              <a:rPr sz="2200" u="sng" spc="30" dirty="0">
                <a:latin typeface="Trebuchet MS"/>
                <a:cs typeface="Trebuchet MS"/>
              </a:rPr>
              <a:t>colu</a:t>
            </a:r>
            <a:r>
              <a:rPr sz="2200" u="sng" spc="45" dirty="0">
                <a:latin typeface="Trebuchet MS"/>
                <a:cs typeface="Trebuchet MS"/>
              </a:rPr>
              <a:t>m</a:t>
            </a:r>
            <a:r>
              <a:rPr sz="2200" u="sng" spc="75" dirty="0">
                <a:latin typeface="Trebuchet MS"/>
                <a:cs typeface="Trebuchet MS"/>
              </a:rPr>
              <a:t>n</a:t>
            </a:r>
            <a:r>
              <a:rPr sz="2200" u="sng" spc="65" dirty="0">
                <a:latin typeface="Trebuchet MS"/>
                <a:cs typeface="Trebuchet MS"/>
              </a:rPr>
              <a:t>-</a:t>
            </a:r>
            <a:r>
              <a:rPr sz="2200" u="sng" spc="45" dirty="0">
                <a:latin typeface="Trebuchet MS"/>
                <a:cs typeface="Trebuchet MS"/>
              </a:rPr>
              <a:t>ba</a:t>
            </a:r>
            <a:r>
              <a:rPr sz="2200" u="sng" spc="20" dirty="0">
                <a:latin typeface="Trebuchet MS"/>
                <a:cs typeface="Trebuchet MS"/>
              </a:rPr>
              <a:t>s</a:t>
            </a:r>
            <a:r>
              <a:rPr sz="2200" u="sng" spc="-45" dirty="0">
                <a:latin typeface="Trebuchet MS"/>
                <a:cs typeface="Trebuchet MS"/>
              </a:rPr>
              <a:t>e</a:t>
            </a:r>
            <a:r>
              <a:rPr sz="2200" u="sng" spc="35" dirty="0">
                <a:latin typeface="Trebuchet MS"/>
                <a:cs typeface="Trebuchet MS"/>
              </a:rPr>
              <a:t>d</a:t>
            </a:r>
            <a:r>
              <a:rPr sz="2200" u="sng" dirty="0">
                <a:latin typeface="Trebuchet MS"/>
                <a:cs typeface="Trebuchet MS"/>
              </a:rPr>
              <a:t>	di</a:t>
            </a:r>
            <a:r>
              <a:rPr sz="2200" u="sng" spc="5" dirty="0">
                <a:latin typeface="Trebuchet MS"/>
                <a:cs typeface="Trebuchet MS"/>
              </a:rPr>
              <a:t>s</a:t>
            </a:r>
            <a:r>
              <a:rPr sz="2200" u="sng" spc="-25" dirty="0">
                <a:latin typeface="Trebuchet MS"/>
                <a:cs typeface="Trebuchet MS"/>
              </a:rPr>
              <a:t>tributed</a:t>
            </a:r>
            <a:r>
              <a:rPr sz="2200" u="sng" dirty="0">
                <a:latin typeface="Trebuchet MS"/>
                <a:cs typeface="Trebuchet MS"/>
              </a:rPr>
              <a:t>	</a:t>
            </a:r>
            <a:r>
              <a:rPr sz="2200" u="sng" spc="-20" dirty="0">
                <a:latin typeface="Trebuchet MS"/>
                <a:cs typeface="Trebuchet MS"/>
              </a:rPr>
              <a:t>st</a:t>
            </a:r>
            <a:r>
              <a:rPr sz="2200" u="sng" spc="35" dirty="0">
                <a:latin typeface="Trebuchet MS"/>
                <a:cs typeface="Trebuchet MS"/>
              </a:rPr>
              <a:t>orag</a:t>
            </a:r>
            <a:r>
              <a:rPr sz="2200" u="sng" spc="45" dirty="0">
                <a:latin typeface="Trebuchet MS"/>
                <a:cs typeface="Trebuchet MS"/>
              </a:rPr>
              <a:t>e</a:t>
            </a:r>
            <a:r>
              <a:rPr sz="2200" u="sng" dirty="0">
                <a:latin typeface="Trebuchet MS"/>
                <a:cs typeface="Trebuchet MS"/>
              </a:rPr>
              <a:t>	</a:t>
            </a:r>
            <a:r>
              <a:rPr sz="2200" u="sng" spc="15" dirty="0">
                <a:latin typeface="Trebuchet MS"/>
                <a:cs typeface="Trebuchet MS"/>
              </a:rPr>
              <a:t>s</a:t>
            </a:r>
            <a:r>
              <a:rPr sz="2200" u="sng" spc="5" dirty="0">
                <a:latin typeface="Trebuchet MS"/>
                <a:cs typeface="Trebuchet MS"/>
              </a:rPr>
              <a:t>y</a:t>
            </a:r>
            <a:r>
              <a:rPr sz="2200" u="sng" spc="35" dirty="0">
                <a:latin typeface="Trebuchet MS"/>
                <a:cs typeface="Trebuchet MS"/>
              </a:rPr>
              <a:t>s</a:t>
            </a:r>
            <a:r>
              <a:rPr sz="2200" u="sng" spc="-55" dirty="0">
                <a:latin typeface="Trebuchet MS"/>
                <a:cs typeface="Trebuchet MS"/>
              </a:rPr>
              <a:t>t</a:t>
            </a:r>
            <a:r>
              <a:rPr sz="2200" u="sng" spc="-60" dirty="0">
                <a:latin typeface="Trebuchet MS"/>
                <a:cs typeface="Trebuchet MS"/>
              </a:rPr>
              <a:t>e</a:t>
            </a:r>
            <a:r>
              <a:rPr sz="2200" u="sng" spc="155" dirty="0">
                <a:latin typeface="Trebuchet MS"/>
                <a:cs typeface="Trebuchet MS"/>
              </a:rPr>
              <a:t>m</a:t>
            </a:r>
            <a:r>
              <a:rPr sz="2200" dirty="0">
                <a:latin typeface="Trebuchet MS"/>
                <a:cs typeface="Trebuchet MS"/>
              </a:rPr>
              <a:t>	</a:t>
            </a:r>
            <a:r>
              <a:rPr sz="2200" spc="-10" dirty="0">
                <a:latin typeface="Trebuchet MS"/>
                <a:cs typeface="Trebuchet MS"/>
              </a:rPr>
              <a:t>tha</a:t>
            </a:r>
            <a:r>
              <a:rPr sz="2200" spc="-5" dirty="0">
                <a:latin typeface="Trebuchet MS"/>
                <a:cs typeface="Trebuchet MS"/>
              </a:rPr>
              <a:t>t</a:t>
            </a:r>
            <a:r>
              <a:rPr sz="2200" dirty="0">
                <a:latin typeface="Trebuchet MS"/>
                <a:cs typeface="Trebuchet MS"/>
              </a:rPr>
              <a:t>	</a:t>
            </a:r>
            <a:r>
              <a:rPr sz="2200" spc="-40" dirty="0">
                <a:latin typeface="Trebuchet MS"/>
                <a:cs typeface="Trebuchet MS"/>
              </a:rPr>
              <a:t>fe</a:t>
            </a:r>
            <a:r>
              <a:rPr sz="2200" spc="-15" dirty="0">
                <a:latin typeface="Trebuchet MS"/>
                <a:cs typeface="Trebuchet MS"/>
              </a:rPr>
              <a:t>a</a:t>
            </a:r>
            <a:r>
              <a:rPr sz="2200" spc="-20" dirty="0">
                <a:latin typeface="Trebuchet MS"/>
                <a:cs typeface="Trebuchet MS"/>
              </a:rPr>
              <a:t>t</a:t>
            </a:r>
            <a:r>
              <a:rPr sz="2200" dirty="0">
                <a:latin typeface="Trebuchet MS"/>
                <a:cs typeface="Trebuchet MS"/>
              </a:rPr>
              <a:t>ur</a:t>
            </a:r>
            <a:r>
              <a:rPr sz="2200" spc="5" dirty="0">
                <a:latin typeface="Trebuchet MS"/>
                <a:cs typeface="Trebuchet MS"/>
              </a:rPr>
              <a:t>e</a:t>
            </a:r>
            <a:r>
              <a:rPr sz="2200" spc="35" dirty="0">
                <a:latin typeface="Trebuchet MS"/>
                <a:cs typeface="Trebuchet MS"/>
              </a:rPr>
              <a:t>s</a:t>
            </a:r>
            <a:r>
              <a:rPr sz="2200" dirty="0">
                <a:latin typeface="Trebuchet MS"/>
                <a:cs typeface="Trebuchet MS"/>
              </a:rPr>
              <a:t>	</a:t>
            </a:r>
            <a:r>
              <a:rPr sz="2200" u="sng" spc="45" dirty="0">
                <a:latin typeface="Trebuchet MS"/>
                <a:cs typeface="Trebuchet MS"/>
              </a:rPr>
              <a:t>hi</a:t>
            </a:r>
            <a:r>
              <a:rPr sz="2200" u="sng" spc="75" dirty="0">
                <a:latin typeface="Trebuchet MS"/>
                <a:cs typeface="Trebuchet MS"/>
              </a:rPr>
              <a:t>g</a:t>
            </a:r>
            <a:r>
              <a:rPr sz="2200" u="sng" spc="55" dirty="0">
                <a:latin typeface="Trebuchet MS"/>
                <a:cs typeface="Trebuchet MS"/>
              </a:rPr>
              <a:t>h  </a:t>
            </a:r>
            <a:r>
              <a:rPr sz="2200" u="sng" spc="-55" dirty="0">
                <a:latin typeface="Trebuchet MS"/>
                <a:cs typeface="Trebuchet MS"/>
              </a:rPr>
              <a:t>reliability, </a:t>
            </a:r>
            <a:r>
              <a:rPr sz="2200" u="sng" spc="-15" dirty="0">
                <a:latin typeface="Trebuchet MS"/>
                <a:cs typeface="Trebuchet MS"/>
              </a:rPr>
              <a:t>performance, </a:t>
            </a:r>
            <a:r>
              <a:rPr sz="2200" u="sng" spc="55" dirty="0">
                <a:latin typeface="Trebuchet MS"/>
                <a:cs typeface="Trebuchet MS"/>
              </a:rPr>
              <a:t>and</a:t>
            </a:r>
            <a:r>
              <a:rPr sz="2200" u="sng" spc="155" dirty="0">
                <a:latin typeface="Trebuchet MS"/>
                <a:cs typeface="Trebuchet MS"/>
              </a:rPr>
              <a:t> </a:t>
            </a:r>
            <a:r>
              <a:rPr sz="2200" u="sng" spc="-50" dirty="0">
                <a:latin typeface="Trebuchet MS"/>
                <a:cs typeface="Trebuchet MS"/>
              </a:rPr>
              <a:t>scalability</a:t>
            </a:r>
            <a:r>
              <a:rPr sz="2200" spc="-50" dirty="0">
                <a:latin typeface="Trebuchet MS"/>
                <a:cs typeface="Trebuchet MS"/>
              </a:rPr>
              <a:t>.</a:t>
            </a:r>
            <a:endParaRPr sz="2200" dirty="0">
              <a:latin typeface="Trebuchet MS"/>
              <a:cs typeface="Trebuchet MS"/>
            </a:endParaRPr>
          </a:p>
        </p:txBody>
      </p:sp>
      <p:sp>
        <p:nvSpPr>
          <p:cNvPr id="5" name="object 5"/>
          <p:cNvSpPr txBox="1"/>
          <p:nvPr/>
        </p:nvSpPr>
        <p:spPr>
          <a:xfrm>
            <a:off x="1203147" y="2298318"/>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6" name="object 6"/>
          <p:cNvSpPr txBox="1"/>
          <p:nvPr/>
        </p:nvSpPr>
        <p:spPr>
          <a:xfrm>
            <a:off x="1454911" y="2105380"/>
            <a:ext cx="9676130" cy="825803"/>
          </a:xfrm>
          <a:prstGeom prst="rect">
            <a:avLst/>
          </a:prstGeom>
        </p:spPr>
        <p:txBody>
          <a:bodyPr vert="horz" wrap="square" lIns="0" tIns="12700" rIns="0" bIns="0" rtlCol="0">
            <a:spAutoFit/>
          </a:bodyPr>
          <a:lstStyle/>
          <a:p>
            <a:pPr marL="12700" marR="5080">
              <a:lnSpc>
                <a:spcPct val="140000"/>
              </a:lnSpc>
              <a:spcBef>
                <a:spcPts val="100"/>
              </a:spcBef>
            </a:pPr>
            <a:r>
              <a:rPr sz="2000" spc="60" dirty="0">
                <a:latin typeface="Trebuchet MS"/>
                <a:cs typeface="Trebuchet MS"/>
              </a:rPr>
              <a:t>HBase </a:t>
            </a:r>
            <a:r>
              <a:rPr sz="2000" spc="-15" dirty="0">
                <a:latin typeface="Trebuchet MS"/>
                <a:cs typeface="Trebuchet MS"/>
              </a:rPr>
              <a:t>is </a:t>
            </a:r>
            <a:r>
              <a:rPr sz="2000" u="sng" dirty="0">
                <a:latin typeface="Trebuchet MS"/>
                <a:cs typeface="Trebuchet MS"/>
              </a:rPr>
              <a:t>suitable for </a:t>
            </a:r>
            <a:r>
              <a:rPr sz="2000" u="sng" spc="25" dirty="0">
                <a:latin typeface="Trebuchet MS"/>
                <a:cs typeface="Trebuchet MS"/>
              </a:rPr>
              <a:t>storing </a:t>
            </a:r>
            <a:r>
              <a:rPr sz="2000" u="sng" spc="20" dirty="0">
                <a:latin typeface="Trebuchet MS"/>
                <a:cs typeface="Trebuchet MS"/>
              </a:rPr>
              <a:t>data </a:t>
            </a:r>
            <a:r>
              <a:rPr sz="2000" u="sng" spc="5" dirty="0">
                <a:latin typeface="Trebuchet MS"/>
                <a:cs typeface="Trebuchet MS"/>
              </a:rPr>
              <a:t>in </a:t>
            </a:r>
            <a:r>
              <a:rPr sz="2000" u="sng" spc="55" dirty="0">
                <a:latin typeface="Trebuchet MS"/>
                <a:cs typeface="Trebuchet MS"/>
              </a:rPr>
              <a:t>a </a:t>
            </a:r>
            <a:r>
              <a:rPr sz="2000" u="sng" spc="40" dirty="0">
                <a:latin typeface="Trebuchet MS"/>
                <a:cs typeface="Trebuchet MS"/>
              </a:rPr>
              <a:t>big </a:t>
            </a:r>
            <a:r>
              <a:rPr sz="2000" u="sng" spc="-15" dirty="0">
                <a:latin typeface="Trebuchet MS"/>
                <a:cs typeface="Trebuchet MS"/>
              </a:rPr>
              <a:t>table </a:t>
            </a:r>
            <a:r>
              <a:rPr sz="2000" spc="15" dirty="0">
                <a:latin typeface="Trebuchet MS"/>
                <a:cs typeface="Trebuchet MS"/>
              </a:rPr>
              <a:t>(the </a:t>
            </a:r>
            <a:r>
              <a:rPr sz="2000" spc="-15" dirty="0">
                <a:latin typeface="Trebuchet MS"/>
                <a:cs typeface="Trebuchet MS"/>
              </a:rPr>
              <a:t>table </a:t>
            </a:r>
            <a:r>
              <a:rPr sz="2000" spc="15" dirty="0">
                <a:latin typeface="Trebuchet MS"/>
                <a:cs typeface="Trebuchet MS"/>
              </a:rPr>
              <a:t>can </a:t>
            </a:r>
            <a:r>
              <a:rPr sz="2000" spc="-5" dirty="0">
                <a:latin typeface="Trebuchet MS"/>
                <a:cs typeface="Trebuchet MS"/>
              </a:rPr>
              <a:t>store </a:t>
            </a:r>
            <a:r>
              <a:rPr sz="2000" dirty="0">
                <a:latin typeface="Trebuchet MS"/>
                <a:cs typeface="Trebuchet MS"/>
              </a:rPr>
              <a:t>billions </a:t>
            </a:r>
            <a:r>
              <a:rPr sz="2000" spc="15" dirty="0">
                <a:latin typeface="Trebuchet MS"/>
                <a:cs typeface="Trebuchet MS"/>
              </a:rPr>
              <a:t>of </a:t>
            </a:r>
            <a:r>
              <a:rPr sz="2000" spc="40" dirty="0">
                <a:latin typeface="Trebuchet MS"/>
                <a:cs typeface="Trebuchet MS"/>
              </a:rPr>
              <a:t>rows  </a:t>
            </a:r>
            <a:r>
              <a:rPr sz="2000" spc="50" dirty="0">
                <a:latin typeface="Trebuchet MS"/>
                <a:cs typeface="Trebuchet MS"/>
              </a:rPr>
              <a:t>and </a:t>
            </a:r>
            <a:r>
              <a:rPr sz="2000" spc="15" dirty="0">
                <a:latin typeface="Trebuchet MS"/>
                <a:cs typeface="Trebuchet MS"/>
              </a:rPr>
              <a:t>millions of </a:t>
            </a:r>
            <a:r>
              <a:rPr sz="2000" spc="45" dirty="0">
                <a:latin typeface="Trebuchet MS"/>
                <a:cs typeface="Trebuchet MS"/>
              </a:rPr>
              <a:t>columns) </a:t>
            </a:r>
            <a:r>
              <a:rPr sz="2000" spc="50" dirty="0">
                <a:latin typeface="Trebuchet MS"/>
                <a:cs typeface="Trebuchet MS"/>
              </a:rPr>
              <a:t>and </a:t>
            </a:r>
            <a:r>
              <a:rPr sz="2000" u="sng" spc="25" dirty="0">
                <a:latin typeface="Trebuchet MS"/>
                <a:cs typeface="Trebuchet MS"/>
              </a:rPr>
              <a:t>allows </a:t>
            </a:r>
            <a:r>
              <a:rPr sz="2000" u="sng" dirty="0">
                <a:latin typeface="Trebuchet MS"/>
                <a:cs typeface="Trebuchet MS"/>
              </a:rPr>
              <a:t>real-time </a:t>
            </a:r>
            <a:r>
              <a:rPr sz="2000" u="sng" spc="20" dirty="0">
                <a:latin typeface="Trebuchet MS"/>
                <a:cs typeface="Trebuchet MS"/>
              </a:rPr>
              <a:t>data</a:t>
            </a:r>
            <a:r>
              <a:rPr sz="2000" u="sng" spc="-190" dirty="0">
                <a:latin typeface="Trebuchet MS"/>
                <a:cs typeface="Trebuchet MS"/>
              </a:rPr>
              <a:t> </a:t>
            </a:r>
            <a:r>
              <a:rPr sz="2000" u="sng" spc="-50" dirty="0">
                <a:latin typeface="Trebuchet MS"/>
                <a:cs typeface="Trebuchet MS"/>
              </a:rPr>
              <a:t>access</a:t>
            </a:r>
            <a:r>
              <a:rPr sz="2000" spc="-50" dirty="0">
                <a:latin typeface="Trebuchet MS"/>
                <a:cs typeface="Trebuchet MS"/>
              </a:rPr>
              <a:t>.</a:t>
            </a:r>
            <a:endParaRPr sz="2000" dirty="0">
              <a:latin typeface="Trebuchet MS"/>
              <a:cs typeface="Trebuchet MS"/>
            </a:endParaRPr>
          </a:p>
        </p:txBody>
      </p:sp>
      <p:sp>
        <p:nvSpPr>
          <p:cNvPr id="7" name="object 7"/>
          <p:cNvSpPr txBox="1"/>
          <p:nvPr/>
        </p:nvSpPr>
        <p:spPr>
          <a:xfrm>
            <a:off x="1203147" y="3240150"/>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8" name="object 8"/>
          <p:cNvSpPr txBox="1"/>
          <p:nvPr/>
        </p:nvSpPr>
        <p:spPr>
          <a:xfrm>
            <a:off x="1454911" y="3046569"/>
            <a:ext cx="9829165" cy="1306830"/>
          </a:xfrm>
          <a:prstGeom prst="rect">
            <a:avLst/>
          </a:prstGeom>
        </p:spPr>
        <p:txBody>
          <a:bodyPr vert="horz" wrap="square" lIns="0" tIns="13335" rIns="0" bIns="0" rtlCol="0">
            <a:spAutoFit/>
          </a:bodyPr>
          <a:lstStyle/>
          <a:p>
            <a:pPr marL="12700" marR="5080" algn="just">
              <a:lnSpc>
                <a:spcPct val="140000"/>
              </a:lnSpc>
              <a:spcBef>
                <a:spcPts val="105"/>
              </a:spcBef>
            </a:pPr>
            <a:r>
              <a:rPr sz="2000" spc="75" dirty="0">
                <a:latin typeface="Trebuchet MS"/>
                <a:cs typeface="Trebuchet MS"/>
              </a:rPr>
              <a:t>Hadoop </a:t>
            </a:r>
            <a:r>
              <a:rPr sz="2000" spc="130" dirty="0">
                <a:latin typeface="Trebuchet MS"/>
                <a:cs typeface="Trebuchet MS"/>
              </a:rPr>
              <a:t>HDFS </a:t>
            </a:r>
            <a:r>
              <a:rPr sz="2000" spc="80" dirty="0">
                <a:latin typeface="Trebuchet MS"/>
                <a:cs typeface="Trebuchet MS"/>
              </a:rPr>
              <a:t>(Hadoop </a:t>
            </a:r>
            <a:r>
              <a:rPr sz="2000" spc="10" dirty="0">
                <a:latin typeface="Trebuchet MS"/>
                <a:cs typeface="Trebuchet MS"/>
              </a:rPr>
              <a:t>Distributed </a:t>
            </a:r>
            <a:r>
              <a:rPr sz="2000" spc="-35" dirty="0">
                <a:latin typeface="Trebuchet MS"/>
                <a:cs typeface="Trebuchet MS"/>
              </a:rPr>
              <a:t>File </a:t>
            </a:r>
            <a:r>
              <a:rPr sz="2000" spc="35" dirty="0">
                <a:latin typeface="Trebuchet MS"/>
                <a:cs typeface="Trebuchet MS"/>
              </a:rPr>
              <a:t>System) </a:t>
            </a:r>
            <a:r>
              <a:rPr sz="2000" spc="-10" dirty="0">
                <a:latin typeface="Trebuchet MS"/>
                <a:cs typeface="Trebuchet MS"/>
              </a:rPr>
              <a:t>is </a:t>
            </a:r>
            <a:r>
              <a:rPr sz="2000" spc="30" dirty="0">
                <a:latin typeface="Trebuchet MS"/>
                <a:cs typeface="Trebuchet MS"/>
              </a:rPr>
              <a:t>used </a:t>
            </a:r>
            <a:r>
              <a:rPr sz="2000" spc="45" dirty="0">
                <a:latin typeface="Trebuchet MS"/>
                <a:cs typeface="Trebuchet MS"/>
              </a:rPr>
              <a:t>as </a:t>
            </a:r>
            <a:r>
              <a:rPr sz="2000" spc="-10" dirty="0">
                <a:latin typeface="Trebuchet MS"/>
                <a:cs typeface="Trebuchet MS"/>
              </a:rPr>
              <a:t>the </a:t>
            </a:r>
            <a:r>
              <a:rPr sz="2000" spc="-45" dirty="0">
                <a:latin typeface="Trebuchet MS"/>
                <a:cs typeface="Trebuchet MS"/>
              </a:rPr>
              <a:t>file </a:t>
            </a:r>
            <a:r>
              <a:rPr sz="2000" spc="25" dirty="0">
                <a:latin typeface="Trebuchet MS"/>
                <a:cs typeface="Trebuchet MS"/>
              </a:rPr>
              <a:t>storage </a:t>
            </a:r>
            <a:r>
              <a:rPr sz="2000" spc="20" dirty="0">
                <a:latin typeface="Trebuchet MS"/>
                <a:cs typeface="Trebuchet MS"/>
              </a:rPr>
              <a:t>system</a:t>
            </a:r>
            <a:r>
              <a:rPr sz="2000" spc="-229" dirty="0">
                <a:latin typeface="Trebuchet MS"/>
                <a:cs typeface="Trebuchet MS"/>
              </a:rPr>
              <a:t> </a:t>
            </a:r>
            <a:r>
              <a:rPr sz="2000" dirty="0">
                <a:latin typeface="Trebuchet MS"/>
                <a:cs typeface="Trebuchet MS"/>
              </a:rPr>
              <a:t>to  </a:t>
            </a:r>
            <a:r>
              <a:rPr sz="2000" u="sng" dirty="0">
                <a:latin typeface="Trebuchet MS"/>
                <a:cs typeface="Trebuchet MS"/>
              </a:rPr>
              <a:t>provide </a:t>
            </a:r>
            <a:r>
              <a:rPr sz="2000" u="sng" spc="55" dirty="0">
                <a:latin typeface="Trebuchet MS"/>
                <a:cs typeface="Trebuchet MS"/>
              </a:rPr>
              <a:t>a </a:t>
            </a:r>
            <a:r>
              <a:rPr sz="2000" u="sng" spc="-10" dirty="0">
                <a:latin typeface="Trebuchet MS"/>
                <a:cs typeface="Trebuchet MS"/>
              </a:rPr>
              <a:t>distributed </a:t>
            </a:r>
            <a:r>
              <a:rPr sz="2000" u="sng" spc="20" dirty="0">
                <a:latin typeface="Trebuchet MS"/>
                <a:cs typeface="Trebuchet MS"/>
              </a:rPr>
              <a:t>database system </a:t>
            </a:r>
            <a:r>
              <a:rPr sz="2000" u="sng" dirty="0">
                <a:latin typeface="Trebuchet MS"/>
                <a:cs typeface="Trebuchet MS"/>
              </a:rPr>
              <a:t>that </a:t>
            </a:r>
            <a:r>
              <a:rPr sz="2000" u="sng" spc="25" dirty="0">
                <a:latin typeface="Trebuchet MS"/>
                <a:cs typeface="Trebuchet MS"/>
              </a:rPr>
              <a:t>supports </a:t>
            </a:r>
            <a:r>
              <a:rPr sz="2000" u="sng" dirty="0">
                <a:latin typeface="Trebuchet MS"/>
                <a:cs typeface="Trebuchet MS"/>
              </a:rPr>
              <a:t>real-time </a:t>
            </a:r>
            <a:r>
              <a:rPr sz="2000" u="sng" spc="5" dirty="0">
                <a:latin typeface="Trebuchet MS"/>
                <a:cs typeface="Trebuchet MS"/>
              </a:rPr>
              <a:t>read </a:t>
            </a:r>
            <a:r>
              <a:rPr sz="2000" u="sng" spc="50" dirty="0">
                <a:latin typeface="Trebuchet MS"/>
                <a:cs typeface="Trebuchet MS"/>
              </a:rPr>
              <a:t>and </a:t>
            </a:r>
            <a:r>
              <a:rPr sz="2000" u="sng" spc="-25" dirty="0">
                <a:latin typeface="Trebuchet MS"/>
                <a:cs typeface="Trebuchet MS"/>
              </a:rPr>
              <a:t>write  </a:t>
            </a:r>
            <a:r>
              <a:rPr sz="2000" u="sng" spc="-15" dirty="0">
                <a:latin typeface="Trebuchet MS"/>
                <a:cs typeface="Trebuchet MS"/>
              </a:rPr>
              <a:t>operations</a:t>
            </a:r>
            <a:r>
              <a:rPr sz="2000" spc="-15" dirty="0">
                <a:latin typeface="Trebuchet MS"/>
                <a:cs typeface="Trebuchet MS"/>
              </a:rPr>
              <a:t>.</a:t>
            </a:r>
            <a:endParaRPr sz="2000" dirty="0">
              <a:latin typeface="Trebuchet MS"/>
              <a:cs typeface="Trebuchet MS"/>
            </a:endParaRPr>
          </a:p>
        </p:txBody>
      </p:sp>
      <p:sp>
        <p:nvSpPr>
          <p:cNvPr id="9" name="object 9"/>
          <p:cNvSpPr txBox="1"/>
          <p:nvPr/>
        </p:nvSpPr>
        <p:spPr>
          <a:xfrm>
            <a:off x="1203147" y="4608652"/>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10" name="object 10"/>
          <p:cNvSpPr txBox="1"/>
          <p:nvPr/>
        </p:nvSpPr>
        <p:spPr>
          <a:xfrm>
            <a:off x="1454910" y="4537709"/>
            <a:ext cx="7612889" cy="320601"/>
          </a:xfrm>
          <a:prstGeom prst="rect">
            <a:avLst/>
          </a:prstGeom>
        </p:spPr>
        <p:txBody>
          <a:bodyPr vert="horz" wrap="square" lIns="0" tIns="12700" rIns="0" bIns="0" rtlCol="0">
            <a:spAutoFit/>
          </a:bodyPr>
          <a:lstStyle/>
          <a:p>
            <a:pPr marL="12700">
              <a:lnSpc>
                <a:spcPct val="100000"/>
              </a:lnSpc>
              <a:spcBef>
                <a:spcPts val="100"/>
              </a:spcBef>
            </a:pPr>
            <a:r>
              <a:rPr sz="2000" spc="60" dirty="0">
                <a:latin typeface="Trebuchet MS"/>
                <a:cs typeface="Trebuchet MS"/>
              </a:rPr>
              <a:t>HBase </a:t>
            </a:r>
            <a:r>
              <a:rPr sz="2000" spc="30" dirty="0">
                <a:latin typeface="Trebuchet MS"/>
                <a:cs typeface="Trebuchet MS"/>
              </a:rPr>
              <a:t>uses </a:t>
            </a:r>
            <a:r>
              <a:rPr sz="2000" spc="15" dirty="0">
                <a:latin typeface="Trebuchet MS"/>
                <a:cs typeface="Trebuchet MS"/>
              </a:rPr>
              <a:t>ZooKeeper </a:t>
            </a:r>
            <a:r>
              <a:rPr sz="2000" spc="45" dirty="0">
                <a:latin typeface="Trebuchet MS"/>
                <a:cs typeface="Trebuchet MS"/>
              </a:rPr>
              <a:t>as </a:t>
            </a:r>
            <a:r>
              <a:rPr sz="2000" spc="-10" dirty="0">
                <a:latin typeface="Trebuchet MS"/>
                <a:cs typeface="Trebuchet MS"/>
              </a:rPr>
              <a:t>the </a:t>
            </a:r>
            <a:r>
              <a:rPr lang="en-US" sz="2000" spc="-10" dirty="0">
                <a:latin typeface="Trebuchet MS"/>
                <a:cs typeface="Trebuchet MS"/>
              </a:rPr>
              <a:t>core </a:t>
            </a:r>
            <a:r>
              <a:rPr sz="2000" spc="10" dirty="0">
                <a:latin typeface="Trebuchet MS"/>
                <a:cs typeface="Trebuchet MS"/>
              </a:rPr>
              <a:t>collaboration</a:t>
            </a:r>
            <a:r>
              <a:rPr sz="2000" spc="-145" dirty="0">
                <a:latin typeface="Trebuchet MS"/>
                <a:cs typeface="Trebuchet MS"/>
              </a:rPr>
              <a:t> </a:t>
            </a:r>
            <a:r>
              <a:rPr sz="2000" spc="-60" dirty="0">
                <a:latin typeface="Trebuchet MS"/>
                <a:cs typeface="Trebuchet MS"/>
              </a:rPr>
              <a:t>service.</a:t>
            </a:r>
            <a:endParaRPr sz="2000" dirty="0">
              <a:latin typeface="Trebuchet MS"/>
              <a:cs typeface="Trebuchet MS"/>
            </a:endParaRPr>
          </a:p>
        </p:txBody>
      </p:sp>
      <p:sp>
        <p:nvSpPr>
          <p:cNvPr id="13" name="TextBox 12">
            <a:extLst>
              <a:ext uri="{FF2B5EF4-FFF2-40B4-BE49-F238E27FC236}">
                <a16:creationId xmlns:a16="http://schemas.microsoft.com/office/drawing/2014/main" id="{9D5A8A4A-6806-49BB-935A-066B243AAAAF}"/>
              </a:ext>
            </a:extLst>
          </p:cNvPr>
          <p:cNvSpPr txBox="1"/>
          <p:nvPr/>
        </p:nvSpPr>
        <p:spPr>
          <a:xfrm>
            <a:off x="799287" y="5085033"/>
            <a:ext cx="9829165" cy="999441"/>
          </a:xfrm>
          <a:prstGeom prst="rect">
            <a:avLst/>
          </a:prstGeom>
          <a:noFill/>
        </p:spPr>
        <p:txBody>
          <a:bodyPr wrap="square">
            <a:spAutoFit/>
          </a:bodyPr>
          <a:lstStyle/>
          <a:p>
            <a:pPr marL="227012" marR="5080" indent="-342900">
              <a:lnSpc>
                <a:spcPct val="140000"/>
              </a:lnSpc>
              <a:spcBef>
                <a:spcPts val="100"/>
              </a:spcBef>
              <a:buFont typeface="Arial" panose="020B0604020202020204" pitchFamily="34" charset="0"/>
              <a:buChar char="•"/>
              <a:tabLst>
                <a:tab pos="1035050" algn="l"/>
                <a:tab pos="1452880" algn="l"/>
                <a:tab pos="1831975" algn="l"/>
                <a:tab pos="3850004" algn="l"/>
                <a:tab pos="5436870" algn="l"/>
                <a:tab pos="6609080" algn="l"/>
                <a:tab pos="7710805" algn="l"/>
                <a:tab pos="8458200" algn="l"/>
                <a:tab pos="9718040" algn="l"/>
              </a:tabLst>
            </a:pPr>
            <a:r>
              <a:rPr lang="en-GB" sz="2200" spc="100" dirty="0">
                <a:latin typeface="Trebuchet MS"/>
              </a:rPr>
              <a:t>Hbase was developed based on the open source </a:t>
            </a:r>
            <a:r>
              <a:rPr lang="en-GB" sz="2200" spc="100" dirty="0" err="1">
                <a:latin typeface="Trebuchet MS"/>
              </a:rPr>
              <a:t>bigtable</a:t>
            </a:r>
            <a:r>
              <a:rPr lang="en-GB" sz="2200" spc="100" dirty="0">
                <a:latin typeface="Trebuchet MS"/>
              </a:rPr>
              <a:t>.</a:t>
            </a:r>
          </a:p>
          <a:p>
            <a:pPr marL="227012" marR="5080" indent="-342900">
              <a:lnSpc>
                <a:spcPct val="140000"/>
              </a:lnSpc>
              <a:spcBef>
                <a:spcPts val="100"/>
              </a:spcBef>
              <a:buFont typeface="Arial" panose="020B0604020202020204" pitchFamily="34" charset="0"/>
              <a:buChar char="•"/>
              <a:tabLst>
                <a:tab pos="1035050" algn="l"/>
                <a:tab pos="1452880" algn="l"/>
                <a:tab pos="1831975" algn="l"/>
                <a:tab pos="3850004" algn="l"/>
                <a:tab pos="5436870" algn="l"/>
                <a:tab pos="6609080" algn="l"/>
                <a:tab pos="7710805" algn="l"/>
                <a:tab pos="8458200" algn="l"/>
                <a:tab pos="9718040" algn="l"/>
              </a:tabLst>
            </a:pPr>
            <a:r>
              <a:rPr lang="en-GB" sz="2200" spc="100" dirty="0">
                <a:latin typeface="Trebuchet MS"/>
              </a:rPr>
              <a:t>Big data </a:t>
            </a:r>
            <a:r>
              <a:rPr lang="en-GB" sz="2200" spc="100" dirty="0" smtClean="0">
                <a:latin typeface="Trebuchet MS"/>
              </a:rPr>
              <a:t>is a </a:t>
            </a:r>
            <a:r>
              <a:rPr lang="en-GB" sz="2200" spc="100" dirty="0">
                <a:latin typeface="Trebuchet MS"/>
              </a:rPr>
              <a:t>table contains billions of rows and billions of columns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6984365" cy="513715"/>
          </a:xfrm>
          <a:prstGeom prst="rect">
            <a:avLst/>
          </a:prstGeom>
        </p:spPr>
        <p:txBody>
          <a:bodyPr vert="horz" wrap="square" lIns="0" tIns="13335" rIns="0" bIns="0" rtlCol="0">
            <a:spAutoFit/>
          </a:bodyPr>
          <a:lstStyle/>
          <a:p>
            <a:pPr marL="12700">
              <a:lnSpc>
                <a:spcPct val="100000"/>
              </a:lnSpc>
              <a:spcBef>
                <a:spcPts val="105"/>
              </a:spcBef>
            </a:pPr>
            <a:r>
              <a:rPr sz="3200" spc="65" dirty="0">
                <a:solidFill>
                  <a:srgbClr val="000000"/>
                </a:solidFill>
              </a:rPr>
              <a:t>Comparison </a:t>
            </a:r>
            <a:r>
              <a:rPr sz="3200" spc="10" dirty="0">
                <a:solidFill>
                  <a:srgbClr val="000000"/>
                </a:solidFill>
              </a:rPr>
              <a:t>Between </a:t>
            </a:r>
            <a:r>
              <a:rPr sz="3200" spc="100" dirty="0">
                <a:solidFill>
                  <a:srgbClr val="000000"/>
                </a:solidFill>
              </a:rPr>
              <a:t>HBase </a:t>
            </a:r>
            <a:r>
              <a:rPr sz="3200" spc="85" dirty="0">
                <a:solidFill>
                  <a:srgbClr val="000000"/>
                </a:solidFill>
              </a:rPr>
              <a:t>and</a:t>
            </a:r>
            <a:r>
              <a:rPr sz="3200" spc="-60" dirty="0">
                <a:solidFill>
                  <a:srgbClr val="000000"/>
                </a:solidFill>
              </a:rPr>
              <a:t> </a:t>
            </a:r>
            <a:r>
              <a:rPr sz="3200" spc="185" dirty="0">
                <a:solidFill>
                  <a:srgbClr val="000000"/>
                </a:solidFill>
              </a:rPr>
              <a:t>RDB</a:t>
            </a:r>
            <a:endParaRPr sz="3200"/>
          </a:p>
        </p:txBody>
      </p:sp>
      <p:sp>
        <p:nvSpPr>
          <p:cNvPr id="3" name="object 3"/>
          <p:cNvSpPr txBox="1"/>
          <p:nvPr/>
        </p:nvSpPr>
        <p:spPr>
          <a:xfrm>
            <a:off x="799287" y="1250950"/>
            <a:ext cx="111125"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Wingdings"/>
                <a:cs typeface="Wingdings"/>
              </a:rPr>
              <a:t></a:t>
            </a:r>
            <a:endParaRPr sz="900">
              <a:latin typeface="Wingdings"/>
              <a:cs typeface="Wingdings"/>
            </a:endParaRPr>
          </a:p>
        </p:txBody>
      </p:sp>
      <p:sp>
        <p:nvSpPr>
          <p:cNvPr id="4" name="object 4"/>
          <p:cNvSpPr txBox="1"/>
          <p:nvPr/>
        </p:nvSpPr>
        <p:spPr>
          <a:xfrm>
            <a:off x="1101039" y="1186941"/>
            <a:ext cx="790194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Trebuchet MS"/>
                <a:cs typeface="Trebuchet MS"/>
              </a:rPr>
              <a:t>HBase </a:t>
            </a:r>
            <a:r>
              <a:rPr sz="1800" spc="-20" dirty="0">
                <a:latin typeface="Trebuchet MS"/>
                <a:cs typeface="Trebuchet MS"/>
              </a:rPr>
              <a:t>differs </a:t>
            </a:r>
            <a:r>
              <a:rPr sz="1800" spc="30" dirty="0">
                <a:latin typeface="Trebuchet MS"/>
                <a:cs typeface="Trebuchet MS"/>
              </a:rPr>
              <a:t>from </a:t>
            </a:r>
            <a:r>
              <a:rPr sz="1800" spc="-10" dirty="0">
                <a:latin typeface="Trebuchet MS"/>
                <a:cs typeface="Trebuchet MS"/>
              </a:rPr>
              <a:t>traditional </a:t>
            </a:r>
            <a:r>
              <a:rPr sz="1800" spc="-5" dirty="0">
                <a:latin typeface="Trebuchet MS"/>
                <a:cs typeface="Trebuchet MS"/>
              </a:rPr>
              <a:t>relational </a:t>
            </a:r>
            <a:r>
              <a:rPr sz="1800" spc="15" dirty="0">
                <a:latin typeface="Trebuchet MS"/>
                <a:cs typeface="Trebuchet MS"/>
              </a:rPr>
              <a:t>databases </a:t>
            </a:r>
            <a:r>
              <a:rPr sz="1800" dirty="0">
                <a:latin typeface="Trebuchet MS"/>
                <a:cs typeface="Trebuchet MS"/>
              </a:rPr>
              <a:t>in </a:t>
            </a:r>
            <a:r>
              <a:rPr sz="1800" spc="-15" dirty="0">
                <a:latin typeface="Trebuchet MS"/>
                <a:cs typeface="Trebuchet MS"/>
              </a:rPr>
              <a:t>the </a:t>
            </a:r>
            <a:r>
              <a:rPr sz="1800" spc="25" dirty="0">
                <a:latin typeface="Trebuchet MS"/>
                <a:cs typeface="Trebuchet MS"/>
              </a:rPr>
              <a:t>following</a:t>
            </a:r>
            <a:r>
              <a:rPr sz="1800" spc="225" dirty="0">
                <a:latin typeface="Trebuchet MS"/>
                <a:cs typeface="Trebuchet MS"/>
              </a:rPr>
              <a:t> </a:t>
            </a:r>
            <a:r>
              <a:rPr sz="1800" spc="-40" dirty="0">
                <a:latin typeface="Trebuchet MS"/>
                <a:cs typeface="Trebuchet MS"/>
              </a:rPr>
              <a:t>aspects:</a:t>
            </a:r>
            <a:endParaRPr sz="1800" dirty="0">
              <a:latin typeface="Trebuchet MS"/>
              <a:cs typeface="Trebuchet MS"/>
            </a:endParaRPr>
          </a:p>
        </p:txBody>
      </p:sp>
      <p:sp>
        <p:nvSpPr>
          <p:cNvPr id="8" name="object 8"/>
          <p:cNvSpPr txBox="1"/>
          <p:nvPr/>
        </p:nvSpPr>
        <p:spPr>
          <a:xfrm>
            <a:off x="1454911" y="3064510"/>
            <a:ext cx="9897745" cy="336887"/>
          </a:xfrm>
          <a:prstGeom prst="rect">
            <a:avLst/>
          </a:prstGeom>
        </p:spPr>
        <p:txBody>
          <a:bodyPr vert="horz" wrap="square" lIns="0" tIns="12065" rIns="0" bIns="0" rtlCol="0">
            <a:spAutoFit/>
          </a:bodyPr>
          <a:lstStyle/>
          <a:p>
            <a:pPr marL="298450" marR="5080" indent="-285750" algn="just">
              <a:lnSpc>
                <a:spcPct val="140100"/>
              </a:lnSpc>
              <a:spcBef>
                <a:spcPts val="95"/>
              </a:spcBef>
              <a:buFont typeface="Arial" panose="020B0604020202020204" pitchFamily="34" charset="0"/>
              <a:buChar char="•"/>
            </a:pPr>
            <a:endParaRPr sz="1700" u="sng" dirty="0">
              <a:latin typeface="Trebuchet MS"/>
              <a:cs typeface="Trebuchet MS"/>
            </a:endParaRPr>
          </a:p>
        </p:txBody>
      </p:sp>
      <p:sp>
        <p:nvSpPr>
          <p:cNvPr id="10" name="object 10"/>
          <p:cNvSpPr txBox="1"/>
          <p:nvPr/>
        </p:nvSpPr>
        <p:spPr>
          <a:xfrm>
            <a:off x="1454911" y="4552315"/>
            <a:ext cx="9827895" cy="336887"/>
          </a:xfrm>
          <a:prstGeom prst="rect">
            <a:avLst/>
          </a:prstGeom>
        </p:spPr>
        <p:txBody>
          <a:bodyPr vert="horz" wrap="square" lIns="0" tIns="12065" rIns="0" bIns="0" rtlCol="0">
            <a:spAutoFit/>
          </a:bodyPr>
          <a:lstStyle/>
          <a:p>
            <a:pPr marL="298450" marR="5080" indent="-285750">
              <a:lnSpc>
                <a:spcPct val="140100"/>
              </a:lnSpc>
              <a:spcBef>
                <a:spcPts val="95"/>
              </a:spcBef>
              <a:buFont typeface="Arial" panose="020B0604020202020204" pitchFamily="34" charset="0"/>
              <a:buChar char="•"/>
            </a:pPr>
            <a:endParaRPr sz="1700" dirty="0">
              <a:latin typeface="Trebuchet MS"/>
              <a:cs typeface="Trebuchet MS"/>
            </a:endParaRPr>
          </a:p>
        </p:txBody>
      </p:sp>
      <p:sp>
        <p:nvSpPr>
          <p:cNvPr id="6" name="object 6"/>
          <p:cNvSpPr txBox="1"/>
          <p:nvPr/>
        </p:nvSpPr>
        <p:spPr>
          <a:xfrm>
            <a:off x="1454911" y="1549496"/>
            <a:ext cx="9874250" cy="5079211"/>
          </a:xfrm>
          <a:prstGeom prst="rect">
            <a:avLst/>
          </a:prstGeom>
        </p:spPr>
        <p:txBody>
          <a:bodyPr vert="horz" wrap="square" lIns="0" tIns="12065" rIns="0" bIns="0" rtlCol="0">
            <a:spAutoFit/>
          </a:bodyPr>
          <a:lstStyle/>
          <a:p>
            <a:pPr marL="298450" marR="5080" indent="-285750" algn="just">
              <a:lnSpc>
                <a:spcPct val="140100"/>
              </a:lnSpc>
              <a:spcBef>
                <a:spcPts val="95"/>
              </a:spcBef>
              <a:buFont typeface="Arial" panose="020B0604020202020204" pitchFamily="34" charset="0"/>
              <a:buChar char="•"/>
            </a:pPr>
            <a:r>
              <a:rPr b="1" spc="45" dirty="0">
                <a:latin typeface="Trebuchet MS"/>
                <a:cs typeface="Trebuchet MS"/>
              </a:rPr>
              <a:t>Data </a:t>
            </a:r>
            <a:r>
              <a:rPr b="1" spc="-20" dirty="0">
                <a:latin typeface="Trebuchet MS"/>
                <a:cs typeface="Trebuchet MS"/>
              </a:rPr>
              <a:t>indexing: </a:t>
            </a:r>
            <a:r>
              <a:rPr spc="100" dirty="0">
                <a:latin typeface="Trebuchet MS"/>
                <a:cs typeface="Trebuchet MS"/>
              </a:rPr>
              <a:t>A </a:t>
            </a:r>
            <a:r>
              <a:rPr u="sng" spc="-5" dirty="0">
                <a:latin typeface="Trebuchet MS"/>
                <a:cs typeface="Trebuchet MS"/>
              </a:rPr>
              <a:t>relational </a:t>
            </a:r>
            <a:r>
              <a:rPr u="sng" spc="10" dirty="0">
                <a:latin typeface="Trebuchet MS"/>
                <a:cs typeface="Trebuchet MS"/>
              </a:rPr>
              <a:t>database can </a:t>
            </a:r>
            <a:r>
              <a:rPr u="sng" dirty="0">
                <a:latin typeface="Trebuchet MS"/>
                <a:cs typeface="Trebuchet MS"/>
              </a:rPr>
              <a:t>build </a:t>
            </a:r>
            <a:r>
              <a:rPr u="sng" spc="-10" dirty="0">
                <a:latin typeface="Trebuchet MS"/>
                <a:cs typeface="Trebuchet MS"/>
              </a:rPr>
              <a:t>multiple </a:t>
            </a:r>
            <a:r>
              <a:rPr u="sng" dirty="0">
                <a:latin typeface="Trebuchet MS"/>
                <a:cs typeface="Trebuchet MS"/>
              </a:rPr>
              <a:t>complex </a:t>
            </a:r>
            <a:r>
              <a:rPr u="sng" spc="-10" dirty="0">
                <a:latin typeface="Trebuchet MS"/>
                <a:cs typeface="Trebuchet MS"/>
              </a:rPr>
              <a:t>indexes </a:t>
            </a:r>
            <a:r>
              <a:rPr u="sng" spc="-5" dirty="0">
                <a:latin typeface="Trebuchet MS"/>
                <a:cs typeface="Trebuchet MS"/>
              </a:rPr>
              <a:t>for </a:t>
            </a:r>
            <a:r>
              <a:rPr u="sng" spc="-25" dirty="0">
                <a:latin typeface="Trebuchet MS"/>
                <a:cs typeface="Trebuchet MS"/>
              </a:rPr>
              <a:t>different </a:t>
            </a:r>
            <a:r>
              <a:rPr u="sng" spc="30" dirty="0">
                <a:latin typeface="Trebuchet MS"/>
                <a:cs typeface="Trebuchet MS"/>
              </a:rPr>
              <a:t>columns </a:t>
            </a:r>
            <a:r>
              <a:rPr dirty="0">
                <a:latin typeface="Trebuchet MS"/>
                <a:cs typeface="Trebuchet MS"/>
              </a:rPr>
              <a:t>to </a:t>
            </a:r>
            <a:r>
              <a:rPr spc="10" dirty="0">
                <a:latin typeface="Trebuchet MS"/>
                <a:cs typeface="Trebuchet MS"/>
              </a:rPr>
              <a:t>improve  data </a:t>
            </a:r>
            <a:r>
              <a:rPr spc="-15" dirty="0">
                <a:latin typeface="Trebuchet MS"/>
                <a:cs typeface="Trebuchet MS"/>
              </a:rPr>
              <a:t>access performance. </a:t>
            </a:r>
            <a:r>
              <a:rPr u="sng" spc="50" dirty="0">
                <a:latin typeface="Trebuchet MS"/>
                <a:cs typeface="Trebuchet MS"/>
              </a:rPr>
              <a:t>HBase </a:t>
            </a:r>
            <a:r>
              <a:rPr u="sng" spc="40" dirty="0">
                <a:latin typeface="Trebuchet MS"/>
                <a:cs typeface="Trebuchet MS"/>
              </a:rPr>
              <a:t>has </a:t>
            </a:r>
            <a:r>
              <a:rPr u="sng" spc="15" dirty="0">
                <a:latin typeface="Trebuchet MS"/>
                <a:cs typeface="Trebuchet MS"/>
              </a:rPr>
              <a:t>only </a:t>
            </a:r>
            <a:r>
              <a:rPr u="sng" spc="25" dirty="0">
                <a:latin typeface="Trebuchet MS"/>
                <a:cs typeface="Trebuchet MS"/>
              </a:rPr>
              <a:t>one </a:t>
            </a:r>
            <a:r>
              <a:rPr u="sng" spc="-45" dirty="0">
                <a:latin typeface="Trebuchet MS"/>
                <a:cs typeface="Trebuchet MS"/>
              </a:rPr>
              <a:t>index, </a:t>
            </a:r>
            <a:r>
              <a:rPr u="sng" spc="-5" dirty="0">
                <a:latin typeface="Trebuchet MS"/>
                <a:cs typeface="Trebuchet MS"/>
              </a:rPr>
              <a:t>that </a:t>
            </a:r>
            <a:r>
              <a:rPr u="sng" spc="-80" dirty="0">
                <a:latin typeface="Trebuchet MS"/>
                <a:cs typeface="Trebuchet MS"/>
              </a:rPr>
              <a:t>is, </a:t>
            </a:r>
            <a:r>
              <a:rPr u="sng" spc="-15" dirty="0">
                <a:latin typeface="Trebuchet MS"/>
                <a:cs typeface="Trebuchet MS"/>
              </a:rPr>
              <a:t>the </a:t>
            </a:r>
            <a:r>
              <a:rPr u="sng" spc="30" dirty="0">
                <a:latin typeface="Trebuchet MS"/>
                <a:cs typeface="Trebuchet MS"/>
              </a:rPr>
              <a:t>row </a:t>
            </a:r>
            <a:r>
              <a:rPr u="sng" spc="-60" dirty="0">
                <a:latin typeface="Trebuchet MS"/>
                <a:cs typeface="Trebuchet MS"/>
              </a:rPr>
              <a:t>key. </a:t>
            </a:r>
            <a:r>
              <a:rPr spc="5" dirty="0">
                <a:latin typeface="Trebuchet MS"/>
                <a:cs typeface="Trebuchet MS"/>
              </a:rPr>
              <a:t>All </a:t>
            </a:r>
            <a:r>
              <a:rPr spc="-15" dirty="0">
                <a:latin typeface="Trebuchet MS"/>
                <a:cs typeface="Trebuchet MS"/>
              </a:rPr>
              <a:t>access </a:t>
            </a:r>
            <a:r>
              <a:rPr spc="20" dirty="0">
                <a:latin typeface="Trebuchet MS"/>
                <a:cs typeface="Trebuchet MS"/>
              </a:rPr>
              <a:t>methods </a:t>
            </a:r>
            <a:r>
              <a:rPr spc="5" dirty="0">
                <a:latin typeface="Trebuchet MS"/>
                <a:cs typeface="Trebuchet MS"/>
              </a:rPr>
              <a:t>in </a:t>
            </a:r>
            <a:r>
              <a:rPr spc="45" dirty="0">
                <a:latin typeface="Trebuchet MS"/>
                <a:cs typeface="Trebuchet MS"/>
              </a:rPr>
              <a:t>HBase </a:t>
            </a:r>
            <a:r>
              <a:rPr spc="10" dirty="0">
                <a:latin typeface="Trebuchet MS"/>
                <a:cs typeface="Trebuchet MS"/>
              </a:rPr>
              <a:t>can  </a:t>
            </a:r>
            <a:r>
              <a:rPr spc="-10" dirty="0">
                <a:latin typeface="Trebuchet MS"/>
                <a:cs typeface="Trebuchet MS"/>
              </a:rPr>
              <a:t>be accessed </a:t>
            </a:r>
            <a:r>
              <a:rPr spc="5" dirty="0">
                <a:latin typeface="Trebuchet MS"/>
                <a:cs typeface="Trebuchet MS"/>
              </a:rPr>
              <a:t>by </a:t>
            </a:r>
            <a:r>
              <a:rPr spc="40" dirty="0">
                <a:latin typeface="Trebuchet MS"/>
                <a:cs typeface="Trebuchet MS"/>
              </a:rPr>
              <a:t>using </a:t>
            </a:r>
            <a:r>
              <a:rPr spc="-15" dirty="0">
                <a:latin typeface="Trebuchet MS"/>
                <a:cs typeface="Trebuchet MS"/>
              </a:rPr>
              <a:t>the </a:t>
            </a:r>
            <a:r>
              <a:rPr spc="35" dirty="0">
                <a:latin typeface="Trebuchet MS"/>
                <a:cs typeface="Trebuchet MS"/>
              </a:rPr>
              <a:t>row </a:t>
            </a:r>
            <a:r>
              <a:rPr spc="-5" dirty="0">
                <a:latin typeface="Trebuchet MS"/>
                <a:cs typeface="Trebuchet MS"/>
              </a:rPr>
              <a:t>key </a:t>
            </a:r>
            <a:r>
              <a:rPr spc="15" dirty="0">
                <a:latin typeface="Trebuchet MS"/>
                <a:cs typeface="Trebuchet MS"/>
              </a:rPr>
              <a:t>or </a:t>
            </a:r>
            <a:r>
              <a:rPr spc="35" dirty="0">
                <a:latin typeface="Trebuchet MS"/>
                <a:cs typeface="Trebuchet MS"/>
              </a:rPr>
              <a:t>row </a:t>
            </a:r>
            <a:r>
              <a:rPr spc="-5" dirty="0">
                <a:latin typeface="Trebuchet MS"/>
                <a:cs typeface="Trebuchet MS"/>
              </a:rPr>
              <a:t>key </a:t>
            </a:r>
            <a:r>
              <a:rPr dirty="0">
                <a:latin typeface="Trebuchet MS"/>
                <a:cs typeface="Trebuchet MS"/>
              </a:rPr>
              <a:t>scanning, </a:t>
            </a:r>
            <a:r>
              <a:rPr spc="20" dirty="0">
                <a:latin typeface="Trebuchet MS"/>
                <a:cs typeface="Trebuchet MS"/>
              </a:rPr>
              <a:t>ensuring </a:t>
            </a:r>
            <a:r>
              <a:rPr spc="-15" dirty="0">
                <a:latin typeface="Trebuchet MS"/>
                <a:cs typeface="Trebuchet MS"/>
              </a:rPr>
              <a:t>the </a:t>
            </a:r>
            <a:r>
              <a:rPr spc="5" dirty="0">
                <a:latin typeface="Trebuchet MS"/>
                <a:cs typeface="Trebuchet MS"/>
              </a:rPr>
              <a:t>proper </a:t>
            </a:r>
            <a:r>
              <a:rPr spc="10" dirty="0">
                <a:latin typeface="Trebuchet MS"/>
                <a:cs typeface="Trebuchet MS"/>
              </a:rPr>
              <a:t>system</a:t>
            </a:r>
            <a:r>
              <a:rPr spc="445" dirty="0">
                <a:latin typeface="Trebuchet MS"/>
                <a:cs typeface="Trebuchet MS"/>
              </a:rPr>
              <a:t> </a:t>
            </a:r>
            <a:r>
              <a:rPr spc="5" dirty="0">
                <a:latin typeface="Trebuchet MS"/>
                <a:cs typeface="Trebuchet MS"/>
              </a:rPr>
              <a:t>running</a:t>
            </a:r>
            <a:r>
              <a:rPr spc="5" dirty="0" smtClean="0">
                <a:latin typeface="Trebuchet MS"/>
                <a:cs typeface="Trebuchet MS"/>
              </a:rPr>
              <a:t>.</a:t>
            </a:r>
            <a:endParaRPr lang="en-US" spc="5" dirty="0" smtClean="0">
              <a:latin typeface="Trebuchet MS"/>
              <a:cs typeface="Trebuchet MS"/>
            </a:endParaRPr>
          </a:p>
          <a:p>
            <a:pPr marL="298450" marR="5080" indent="-285750" algn="just">
              <a:lnSpc>
                <a:spcPct val="140100"/>
              </a:lnSpc>
              <a:spcBef>
                <a:spcPts val="95"/>
              </a:spcBef>
              <a:buFont typeface="Arial" panose="020B0604020202020204" pitchFamily="34" charset="0"/>
              <a:buChar char="•"/>
            </a:pPr>
            <a:r>
              <a:rPr lang="en-US" b="1" spc="45" dirty="0">
                <a:latin typeface="Trebuchet MS"/>
                <a:cs typeface="Trebuchet MS"/>
              </a:rPr>
              <a:t>Data </a:t>
            </a:r>
            <a:r>
              <a:rPr lang="en-US" b="1" spc="-10" dirty="0">
                <a:latin typeface="Trebuchet MS"/>
                <a:cs typeface="Trebuchet MS"/>
              </a:rPr>
              <a:t>maintenance: </a:t>
            </a:r>
            <a:r>
              <a:rPr lang="en-US" u="sng" spc="30" dirty="0">
                <a:latin typeface="Trebuchet MS"/>
                <a:cs typeface="Trebuchet MS"/>
              </a:rPr>
              <a:t>In </a:t>
            </a:r>
            <a:r>
              <a:rPr lang="en-US" u="sng" spc="-15" dirty="0">
                <a:latin typeface="Trebuchet MS"/>
                <a:cs typeface="Trebuchet MS"/>
              </a:rPr>
              <a:t>the </a:t>
            </a:r>
            <a:r>
              <a:rPr lang="en-US" u="sng" spc="-5" dirty="0">
                <a:latin typeface="Trebuchet MS"/>
                <a:cs typeface="Trebuchet MS"/>
              </a:rPr>
              <a:t>relational </a:t>
            </a:r>
            <a:r>
              <a:rPr lang="en-US" u="sng" spc="-15" dirty="0">
                <a:latin typeface="Trebuchet MS"/>
                <a:cs typeface="Trebuchet MS"/>
              </a:rPr>
              <a:t>database, the </a:t>
            </a:r>
            <a:r>
              <a:rPr lang="en-US" u="sng" spc="-25" dirty="0">
                <a:latin typeface="Trebuchet MS"/>
                <a:cs typeface="Trebuchet MS"/>
              </a:rPr>
              <a:t>latest </a:t>
            </a:r>
            <a:r>
              <a:rPr lang="en-US" u="sng" spc="-15" dirty="0">
                <a:latin typeface="Trebuchet MS"/>
                <a:cs typeface="Trebuchet MS"/>
              </a:rPr>
              <a:t>current </a:t>
            </a:r>
            <a:r>
              <a:rPr lang="en-US" u="sng" dirty="0">
                <a:latin typeface="Trebuchet MS"/>
                <a:cs typeface="Trebuchet MS"/>
              </a:rPr>
              <a:t>value </a:t>
            </a:r>
            <a:r>
              <a:rPr lang="en-US" u="sng" spc="-15" dirty="0">
                <a:latin typeface="Trebuchet MS"/>
                <a:cs typeface="Trebuchet MS"/>
              </a:rPr>
              <a:t>is </a:t>
            </a:r>
            <a:r>
              <a:rPr lang="en-US" u="sng" spc="20" dirty="0">
                <a:latin typeface="Trebuchet MS"/>
                <a:cs typeface="Trebuchet MS"/>
              </a:rPr>
              <a:t>used </a:t>
            </a:r>
            <a:r>
              <a:rPr lang="en-US" u="sng" dirty="0">
                <a:latin typeface="Trebuchet MS"/>
                <a:cs typeface="Trebuchet MS"/>
              </a:rPr>
              <a:t>to </a:t>
            </a:r>
            <a:r>
              <a:rPr lang="en-US" u="sng" spc="-20" dirty="0">
                <a:latin typeface="Trebuchet MS"/>
                <a:cs typeface="Trebuchet MS"/>
              </a:rPr>
              <a:t>replace </a:t>
            </a:r>
            <a:r>
              <a:rPr lang="en-US" u="sng" spc="-15" dirty="0">
                <a:latin typeface="Trebuchet MS"/>
                <a:cs typeface="Trebuchet MS"/>
              </a:rPr>
              <a:t>the </a:t>
            </a:r>
            <a:r>
              <a:rPr lang="en-US" u="sng" spc="10" dirty="0">
                <a:latin typeface="Trebuchet MS"/>
                <a:cs typeface="Trebuchet MS"/>
              </a:rPr>
              <a:t>original </a:t>
            </a:r>
            <a:r>
              <a:rPr lang="en-US" u="sng" dirty="0">
                <a:latin typeface="Trebuchet MS"/>
                <a:cs typeface="Trebuchet MS"/>
              </a:rPr>
              <a:t>value  in </a:t>
            </a:r>
            <a:r>
              <a:rPr lang="en-US" u="sng" spc="-15" dirty="0">
                <a:latin typeface="Trebuchet MS"/>
                <a:cs typeface="Trebuchet MS"/>
              </a:rPr>
              <a:t>the </a:t>
            </a:r>
            <a:r>
              <a:rPr lang="en-US" u="sng" spc="-10" dirty="0">
                <a:latin typeface="Trebuchet MS"/>
                <a:cs typeface="Trebuchet MS"/>
              </a:rPr>
              <a:t>record </a:t>
            </a:r>
            <a:r>
              <a:rPr lang="en-US" u="sng" spc="25" dirty="0">
                <a:latin typeface="Trebuchet MS"/>
                <a:cs typeface="Trebuchet MS"/>
              </a:rPr>
              <a:t>during </a:t>
            </a:r>
            <a:r>
              <a:rPr lang="en-US" u="sng" spc="-15" dirty="0">
                <a:latin typeface="Trebuchet MS"/>
                <a:cs typeface="Trebuchet MS"/>
              </a:rPr>
              <a:t>the </a:t>
            </a:r>
            <a:r>
              <a:rPr lang="en-US" u="sng" spc="5" dirty="0">
                <a:latin typeface="Trebuchet MS"/>
                <a:cs typeface="Trebuchet MS"/>
              </a:rPr>
              <a:t>update </a:t>
            </a:r>
            <a:r>
              <a:rPr lang="en-US" u="sng" spc="-20" dirty="0">
                <a:latin typeface="Trebuchet MS"/>
                <a:cs typeface="Trebuchet MS"/>
              </a:rPr>
              <a:t>operation. </a:t>
            </a:r>
            <a:r>
              <a:rPr lang="en-US" spc="-5" dirty="0">
                <a:latin typeface="Trebuchet MS"/>
                <a:cs typeface="Trebuchet MS"/>
              </a:rPr>
              <a:t>The </a:t>
            </a:r>
            <a:r>
              <a:rPr lang="en-US" spc="10" dirty="0">
                <a:latin typeface="Trebuchet MS"/>
                <a:cs typeface="Trebuchet MS"/>
              </a:rPr>
              <a:t>original </a:t>
            </a:r>
            <a:r>
              <a:rPr lang="en-US" dirty="0">
                <a:latin typeface="Trebuchet MS"/>
                <a:cs typeface="Trebuchet MS"/>
              </a:rPr>
              <a:t>value </a:t>
            </a:r>
            <a:r>
              <a:rPr lang="en-US" spc="15" dirty="0">
                <a:latin typeface="Trebuchet MS"/>
                <a:cs typeface="Trebuchet MS"/>
              </a:rPr>
              <a:t>does </a:t>
            </a:r>
            <a:r>
              <a:rPr lang="en-US" spc="20" dirty="0">
                <a:latin typeface="Trebuchet MS"/>
                <a:cs typeface="Trebuchet MS"/>
              </a:rPr>
              <a:t>not </a:t>
            </a:r>
            <a:r>
              <a:rPr lang="en-US" spc="-35" dirty="0">
                <a:latin typeface="Trebuchet MS"/>
                <a:cs typeface="Trebuchet MS"/>
              </a:rPr>
              <a:t>exist </a:t>
            </a:r>
            <a:r>
              <a:rPr lang="en-US" spc="-25" dirty="0">
                <a:latin typeface="Trebuchet MS"/>
                <a:cs typeface="Trebuchet MS"/>
              </a:rPr>
              <a:t>after </a:t>
            </a:r>
            <a:r>
              <a:rPr lang="en-US" spc="15" dirty="0">
                <a:latin typeface="Trebuchet MS"/>
                <a:cs typeface="Trebuchet MS"/>
              </a:rPr>
              <a:t>being </a:t>
            </a:r>
            <a:r>
              <a:rPr lang="en-US" spc="-30" dirty="0">
                <a:latin typeface="Trebuchet MS"/>
                <a:cs typeface="Trebuchet MS"/>
              </a:rPr>
              <a:t>overwritten. </a:t>
            </a:r>
            <a:r>
              <a:rPr lang="en-US" u="sng" spc="60" dirty="0">
                <a:latin typeface="Trebuchet MS"/>
                <a:cs typeface="Trebuchet MS"/>
              </a:rPr>
              <a:t>When  </a:t>
            </a:r>
            <a:r>
              <a:rPr lang="en-US" u="sng" spc="50" dirty="0">
                <a:latin typeface="Trebuchet MS"/>
                <a:cs typeface="Trebuchet MS"/>
              </a:rPr>
              <a:t>an </a:t>
            </a:r>
            <a:r>
              <a:rPr lang="en-US" u="sng" spc="5" dirty="0">
                <a:latin typeface="Trebuchet MS"/>
                <a:cs typeface="Trebuchet MS"/>
              </a:rPr>
              <a:t>update operation </a:t>
            </a:r>
            <a:r>
              <a:rPr lang="en-US" u="sng" spc="-15" dirty="0">
                <a:latin typeface="Trebuchet MS"/>
                <a:cs typeface="Trebuchet MS"/>
              </a:rPr>
              <a:t>is </a:t>
            </a:r>
            <a:r>
              <a:rPr lang="en-US" u="sng" spc="5" dirty="0">
                <a:latin typeface="Trebuchet MS"/>
                <a:cs typeface="Trebuchet MS"/>
              </a:rPr>
              <a:t>performed </a:t>
            </a:r>
            <a:r>
              <a:rPr lang="en-US" u="sng" dirty="0">
                <a:latin typeface="Trebuchet MS"/>
                <a:cs typeface="Trebuchet MS"/>
              </a:rPr>
              <a:t>in </a:t>
            </a:r>
            <a:r>
              <a:rPr lang="en-US" u="sng" spc="5" dirty="0" err="1">
                <a:latin typeface="Trebuchet MS"/>
                <a:cs typeface="Trebuchet MS"/>
              </a:rPr>
              <a:t>HBase</a:t>
            </a:r>
            <a:r>
              <a:rPr lang="en-US" u="sng" spc="5" dirty="0">
                <a:latin typeface="Trebuchet MS"/>
                <a:cs typeface="Trebuchet MS"/>
              </a:rPr>
              <a:t>, </a:t>
            </a:r>
            <a:r>
              <a:rPr lang="en-US" u="sng" spc="40" dirty="0">
                <a:latin typeface="Trebuchet MS"/>
                <a:cs typeface="Trebuchet MS"/>
              </a:rPr>
              <a:t>a </a:t>
            </a:r>
            <a:r>
              <a:rPr lang="en-US" u="sng" spc="25" dirty="0">
                <a:latin typeface="Trebuchet MS"/>
                <a:cs typeface="Trebuchet MS"/>
              </a:rPr>
              <a:t>new </a:t>
            </a:r>
            <a:r>
              <a:rPr lang="en-US" u="sng" dirty="0">
                <a:latin typeface="Trebuchet MS"/>
                <a:cs typeface="Trebuchet MS"/>
              </a:rPr>
              <a:t>version </a:t>
            </a:r>
            <a:r>
              <a:rPr lang="en-US" u="sng" spc="-15" dirty="0">
                <a:latin typeface="Trebuchet MS"/>
                <a:cs typeface="Trebuchet MS"/>
              </a:rPr>
              <a:t>is </a:t>
            </a:r>
            <a:r>
              <a:rPr lang="en-US" u="sng" spc="5" dirty="0">
                <a:latin typeface="Trebuchet MS"/>
                <a:cs typeface="Trebuchet MS"/>
              </a:rPr>
              <a:t>generated</a:t>
            </a:r>
            <a:r>
              <a:rPr lang="en-US" u="sng" spc="120" dirty="0">
                <a:latin typeface="Trebuchet MS"/>
                <a:cs typeface="Trebuchet MS"/>
              </a:rPr>
              <a:t> </a:t>
            </a:r>
            <a:r>
              <a:rPr lang="en-US" u="sng" dirty="0">
                <a:latin typeface="Trebuchet MS"/>
                <a:cs typeface="Trebuchet MS"/>
              </a:rPr>
              <a:t>with </a:t>
            </a:r>
            <a:r>
              <a:rPr lang="en-US" u="sng" spc="-15" dirty="0">
                <a:latin typeface="Trebuchet MS"/>
                <a:cs typeface="Trebuchet MS"/>
              </a:rPr>
              <a:t>the </a:t>
            </a:r>
            <a:r>
              <a:rPr lang="en-US" u="sng" spc="10" dirty="0">
                <a:latin typeface="Trebuchet MS"/>
                <a:cs typeface="Trebuchet MS"/>
              </a:rPr>
              <a:t>original </a:t>
            </a:r>
            <a:r>
              <a:rPr lang="en-US" u="sng" dirty="0">
                <a:latin typeface="Trebuchet MS"/>
                <a:cs typeface="Trebuchet MS"/>
              </a:rPr>
              <a:t>version </a:t>
            </a:r>
            <a:r>
              <a:rPr lang="en-US" u="sng" spc="-35" dirty="0">
                <a:latin typeface="Trebuchet MS"/>
                <a:cs typeface="Trebuchet MS"/>
              </a:rPr>
              <a:t>retained.</a:t>
            </a:r>
            <a:endParaRPr lang="en-US" u="sng" dirty="0">
              <a:latin typeface="Trebuchet MS"/>
              <a:cs typeface="Trebuchet MS"/>
            </a:endParaRPr>
          </a:p>
          <a:p>
            <a:pPr marL="298450" marR="5080" indent="-285750" algn="just">
              <a:lnSpc>
                <a:spcPct val="140100"/>
              </a:lnSpc>
              <a:spcBef>
                <a:spcPts val="95"/>
              </a:spcBef>
              <a:buFont typeface="Arial" panose="020B0604020202020204" pitchFamily="34" charset="0"/>
              <a:buChar char="•"/>
            </a:pPr>
            <a:r>
              <a:rPr lang="en-US" b="1" spc="-30" dirty="0">
                <a:latin typeface="Trebuchet MS"/>
                <a:cs typeface="Trebuchet MS"/>
              </a:rPr>
              <a:t>Scalability: </a:t>
            </a:r>
            <a:r>
              <a:rPr lang="en-US" u="sng" spc="-25" dirty="0">
                <a:latin typeface="Trebuchet MS"/>
                <a:cs typeface="Trebuchet MS"/>
              </a:rPr>
              <a:t>It </a:t>
            </a:r>
            <a:r>
              <a:rPr lang="en-US" u="sng" spc="-15" dirty="0">
                <a:latin typeface="Trebuchet MS"/>
                <a:cs typeface="Trebuchet MS"/>
              </a:rPr>
              <a:t>is </a:t>
            </a:r>
            <a:r>
              <a:rPr lang="en-US" u="sng" spc="-25" dirty="0">
                <a:latin typeface="Trebuchet MS"/>
                <a:cs typeface="Trebuchet MS"/>
              </a:rPr>
              <a:t>difficult </a:t>
            </a:r>
            <a:r>
              <a:rPr lang="en-US" u="sng" dirty="0">
                <a:latin typeface="Trebuchet MS"/>
                <a:cs typeface="Trebuchet MS"/>
              </a:rPr>
              <a:t>to </a:t>
            </a:r>
            <a:r>
              <a:rPr lang="en-US" u="sng" spc="5" dirty="0">
                <a:latin typeface="Trebuchet MS"/>
                <a:cs typeface="Trebuchet MS"/>
              </a:rPr>
              <a:t>implement horizontal </a:t>
            </a:r>
            <a:r>
              <a:rPr lang="en-US" u="sng" spc="15" dirty="0">
                <a:latin typeface="Trebuchet MS"/>
                <a:cs typeface="Trebuchet MS"/>
              </a:rPr>
              <a:t>expansion </a:t>
            </a:r>
            <a:r>
              <a:rPr lang="en-US" u="sng" spc="10" dirty="0">
                <a:latin typeface="Trebuchet MS"/>
                <a:cs typeface="Trebuchet MS"/>
              </a:rPr>
              <a:t>of </a:t>
            </a:r>
            <a:r>
              <a:rPr lang="en-US" u="sng" spc="-5" dirty="0">
                <a:latin typeface="Trebuchet MS"/>
                <a:cs typeface="Trebuchet MS"/>
              </a:rPr>
              <a:t>relational </a:t>
            </a:r>
            <a:r>
              <a:rPr lang="en-US" u="sng" spc="-15" dirty="0" smtClean="0">
                <a:latin typeface="Trebuchet MS"/>
                <a:cs typeface="Trebuchet MS"/>
              </a:rPr>
              <a:t>databases (Scale out), </a:t>
            </a:r>
            <a:r>
              <a:rPr lang="en-US" u="sng" spc="40" dirty="0">
                <a:latin typeface="Trebuchet MS"/>
                <a:cs typeface="Trebuchet MS"/>
              </a:rPr>
              <a:t>and </a:t>
            </a:r>
            <a:r>
              <a:rPr lang="en-US" u="sng" spc="-15" dirty="0">
                <a:latin typeface="Trebuchet MS"/>
                <a:cs typeface="Trebuchet MS"/>
              </a:rPr>
              <a:t>the </a:t>
            </a:r>
            <a:r>
              <a:rPr lang="en-US" u="sng" spc="-5" dirty="0">
                <a:latin typeface="Trebuchet MS"/>
                <a:cs typeface="Trebuchet MS"/>
              </a:rPr>
              <a:t>space for </a:t>
            </a:r>
            <a:r>
              <a:rPr lang="en-US" u="sng" spc="-30" dirty="0" smtClean="0">
                <a:latin typeface="Trebuchet MS"/>
                <a:cs typeface="Trebuchet MS"/>
              </a:rPr>
              <a:t>vertical </a:t>
            </a:r>
            <a:r>
              <a:rPr lang="en-US" u="sng" spc="15" dirty="0">
                <a:latin typeface="Trebuchet MS"/>
                <a:cs typeface="Trebuchet MS"/>
              </a:rPr>
              <a:t>expansion </a:t>
            </a:r>
            <a:r>
              <a:rPr lang="en-US" u="sng" spc="-15" dirty="0">
                <a:latin typeface="Trebuchet MS"/>
                <a:cs typeface="Trebuchet MS"/>
              </a:rPr>
              <a:t>is </a:t>
            </a:r>
            <a:r>
              <a:rPr lang="en-US" u="sng" spc="-40" dirty="0" smtClean="0">
                <a:latin typeface="Trebuchet MS"/>
                <a:cs typeface="Trebuchet MS"/>
              </a:rPr>
              <a:t>limited (Scale in)</a:t>
            </a:r>
            <a:r>
              <a:rPr lang="en-US" spc="-40" dirty="0" smtClean="0">
                <a:latin typeface="Trebuchet MS"/>
                <a:cs typeface="Trebuchet MS"/>
              </a:rPr>
              <a:t>. </a:t>
            </a:r>
            <a:r>
              <a:rPr lang="en-US" spc="114" dirty="0">
                <a:latin typeface="Trebuchet MS"/>
                <a:cs typeface="Trebuchet MS"/>
              </a:rPr>
              <a:t>On </a:t>
            </a:r>
            <a:r>
              <a:rPr lang="en-US" spc="-15" dirty="0">
                <a:latin typeface="Trebuchet MS"/>
                <a:cs typeface="Trebuchet MS"/>
              </a:rPr>
              <a:t>the </a:t>
            </a:r>
            <a:r>
              <a:rPr lang="en-US" spc="-25" dirty="0">
                <a:latin typeface="Trebuchet MS"/>
                <a:cs typeface="Trebuchet MS"/>
              </a:rPr>
              <a:t>contrary, </a:t>
            </a:r>
            <a:r>
              <a:rPr lang="en-US" spc="-10" dirty="0">
                <a:latin typeface="Trebuchet MS"/>
                <a:cs typeface="Trebuchet MS"/>
              </a:rPr>
              <a:t>distributed </a:t>
            </a:r>
            <a:r>
              <a:rPr lang="en-US" spc="-15" dirty="0">
                <a:latin typeface="Trebuchet MS"/>
                <a:cs typeface="Trebuchet MS"/>
              </a:rPr>
              <a:t>databases, </a:t>
            </a:r>
            <a:r>
              <a:rPr lang="en-US" spc="20" dirty="0">
                <a:latin typeface="Trebuchet MS"/>
                <a:cs typeface="Trebuchet MS"/>
              </a:rPr>
              <a:t>such </a:t>
            </a:r>
            <a:r>
              <a:rPr lang="en-US" spc="30" dirty="0">
                <a:latin typeface="Trebuchet MS"/>
                <a:cs typeface="Trebuchet MS"/>
              </a:rPr>
              <a:t>as </a:t>
            </a:r>
            <a:r>
              <a:rPr lang="en-US" spc="45" dirty="0" err="1">
                <a:latin typeface="Trebuchet MS"/>
                <a:cs typeface="Trebuchet MS"/>
              </a:rPr>
              <a:t>HBase</a:t>
            </a:r>
            <a:r>
              <a:rPr lang="en-US" spc="45" dirty="0">
                <a:latin typeface="Trebuchet MS"/>
                <a:cs typeface="Trebuchet MS"/>
              </a:rPr>
              <a:t> </a:t>
            </a:r>
            <a:r>
              <a:rPr lang="en-US" spc="40" dirty="0">
                <a:latin typeface="Trebuchet MS"/>
                <a:cs typeface="Trebuchet MS"/>
              </a:rPr>
              <a:t>and </a:t>
            </a:r>
            <a:r>
              <a:rPr lang="en-US" spc="-20" dirty="0" err="1">
                <a:latin typeface="Trebuchet MS"/>
                <a:cs typeface="Trebuchet MS"/>
              </a:rPr>
              <a:t>BigTable</a:t>
            </a:r>
            <a:r>
              <a:rPr lang="en-US" spc="-20" dirty="0">
                <a:latin typeface="Trebuchet MS"/>
                <a:cs typeface="Trebuchet MS"/>
              </a:rPr>
              <a:t>, </a:t>
            </a:r>
            <a:r>
              <a:rPr lang="en-US" spc="-5" dirty="0">
                <a:latin typeface="Trebuchet MS"/>
                <a:cs typeface="Trebuchet MS"/>
              </a:rPr>
              <a:t>are  developed </a:t>
            </a:r>
            <a:r>
              <a:rPr lang="en-US" dirty="0">
                <a:latin typeface="Trebuchet MS"/>
                <a:cs typeface="Trebuchet MS"/>
              </a:rPr>
              <a:t>to </a:t>
            </a:r>
            <a:r>
              <a:rPr lang="en-US" spc="5" dirty="0">
                <a:latin typeface="Trebuchet MS"/>
                <a:cs typeface="Trebuchet MS"/>
              </a:rPr>
              <a:t>implement </a:t>
            </a:r>
            <a:r>
              <a:rPr lang="en-US" spc="-35" dirty="0">
                <a:latin typeface="Trebuchet MS"/>
                <a:cs typeface="Trebuchet MS"/>
              </a:rPr>
              <a:t>flexible </a:t>
            </a:r>
            <a:r>
              <a:rPr lang="en-US" spc="10" dirty="0">
                <a:latin typeface="Trebuchet MS"/>
                <a:cs typeface="Trebuchet MS"/>
              </a:rPr>
              <a:t>horizontal </a:t>
            </a:r>
            <a:r>
              <a:rPr lang="en-US" spc="-10" dirty="0">
                <a:latin typeface="Trebuchet MS"/>
                <a:cs typeface="Trebuchet MS"/>
              </a:rPr>
              <a:t>expansion. </a:t>
            </a:r>
            <a:r>
              <a:rPr lang="en-US" u="sng" spc="-5" dirty="0">
                <a:latin typeface="Trebuchet MS"/>
                <a:cs typeface="Trebuchet MS"/>
              </a:rPr>
              <a:t>They </a:t>
            </a:r>
            <a:r>
              <a:rPr lang="en-US" u="sng" spc="10" dirty="0">
                <a:latin typeface="Trebuchet MS"/>
                <a:cs typeface="Trebuchet MS"/>
              </a:rPr>
              <a:t>can </a:t>
            </a:r>
            <a:r>
              <a:rPr lang="en-US" u="sng" spc="-15" dirty="0">
                <a:latin typeface="Trebuchet MS"/>
                <a:cs typeface="Trebuchet MS"/>
              </a:rPr>
              <a:t>easily </a:t>
            </a:r>
            <a:r>
              <a:rPr lang="en-US" u="sng" spc="5" dirty="0">
                <a:latin typeface="Trebuchet MS"/>
                <a:cs typeface="Trebuchet MS"/>
              </a:rPr>
              <a:t>implement performance </a:t>
            </a:r>
            <a:r>
              <a:rPr lang="en-US" u="sng" spc="10" dirty="0">
                <a:latin typeface="Trebuchet MS"/>
                <a:cs typeface="Trebuchet MS"/>
              </a:rPr>
              <a:t>scaling </a:t>
            </a:r>
            <a:r>
              <a:rPr lang="en-US" u="sng" spc="5" dirty="0">
                <a:latin typeface="Trebuchet MS"/>
                <a:cs typeface="Trebuchet MS"/>
              </a:rPr>
              <a:t>by  </a:t>
            </a:r>
            <a:r>
              <a:rPr lang="en-US" u="sng" spc="30" dirty="0">
                <a:latin typeface="Trebuchet MS"/>
                <a:cs typeface="Trebuchet MS"/>
              </a:rPr>
              <a:t>adding </a:t>
            </a:r>
            <a:r>
              <a:rPr lang="en-US" u="sng" spc="15" dirty="0">
                <a:latin typeface="Trebuchet MS"/>
                <a:cs typeface="Trebuchet MS"/>
              </a:rPr>
              <a:t>or </a:t>
            </a:r>
            <a:r>
              <a:rPr lang="en-US" u="sng" spc="10" dirty="0">
                <a:latin typeface="Trebuchet MS"/>
                <a:cs typeface="Trebuchet MS"/>
              </a:rPr>
              <a:t>reducing </a:t>
            </a:r>
            <a:r>
              <a:rPr lang="en-US" u="sng" spc="15" dirty="0">
                <a:latin typeface="Trebuchet MS"/>
                <a:cs typeface="Trebuchet MS"/>
              </a:rPr>
              <a:t>hardware </a:t>
            </a:r>
            <a:r>
              <a:rPr lang="en-US" u="sng" dirty="0">
                <a:latin typeface="Trebuchet MS"/>
                <a:cs typeface="Trebuchet MS"/>
              </a:rPr>
              <a:t>in </a:t>
            </a:r>
            <a:r>
              <a:rPr lang="en-US" u="sng" spc="40" dirty="0">
                <a:latin typeface="Trebuchet MS"/>
                <a:cs typeface="Trebuchet MS"/>
              </a:rPr>
              <a:t>a</a:t>
            </a:r>
            <a:r>
              <a:rPr lang="en-US" u="sng" spc="150" dirty="0">
                <a:latin typeface="Trebuchet MS"/>
                <a:cs typeface="Trebuchet MS"/>
              </a:rPr>
              <a:t> </a:t>
            </a:r>
            <a:r>
              <a:rPr lang="en-US" u="sng" spc="-50" dirty="0">
                <a:latin typeface="Trebuchet MS"/>
                <a:cs typeface="Trebuchet MS"/>
              </a:rPr>
              <a:t>cluster</a:t>
            </a:r>
            <a:r>
              <a:rPr lang="en-US" u="sng" spc="-50" dirty="0" smtClean="0">
                <a:latin typeface="Trebuchet MS"/>
                <a:cs typeface="Trebuchet MS"/>
              </a:rPr>
              <a:t>.</a:t>
            </a:r>
            <a:endParaRPr lang="en-US" u="sng" dirty="0">
              <a:latin typeface="Trebuchet MS"/>
              <a:cs typeface="Trebuchet M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5097780" cy="513715"/>
          </a:xfrm>
          <a:prstGeom prst="rect">
            <a:avLst/>
          </a:prstGeom>
        </p:spPr>
        <p:txBody>
          <a:bodyPr vert="horz" wrap="square" lIns="0" tIns="13335" rIns="0" bIns="0" rtlCol="0">
            <a:spAutoFit/>
          </a:bodyPr>
          <a:lstStyle/>
          <a:p>
            <a:pPr marL="12700">
              <a:lnSpc>
                <a:spcPct val="100000"/>
              </a:lnSpc>
              <a:spcBef>
                <a:spcPts val="105"/>
              </a:spcBef>
            </a:pPr>
            <a:r>
              <a:rPr sz="3200" spc="100" dirty="0">
                <a:solidFill>
                  <a:srgbClr val="000000"/>
                </a:solidFill>
              </a:rPr>
              <a:t>HBase </a:t>
            </a:r>
            <a:r>
              <a:rPr sz="3200" spc="10" dirty="0">
                <a:solidFill>
                  <a:srgbClr val="000000"/>
                </a:solidFill>
              </a:rPr>
              <a:t>Application</a:t>
            </a:r>
            <a:r>
              <a:rPr sz="3200" spc="-55" dirty="0">
                <a:solidFill>
                  <a:srgbClr val="000000"/>
                </a:solidFill>
              </a:rPr>
              <a:t> </a:t>
            </a:r>
            <a:r>
              <a:rPr sz="3200" spc="20" dirty="0">
                <a:solidFill>
                  <a:srgbClr val="000000"/>
                </a:solidFill>
              </a:rPr>
              <a:t>Scenario</a:t>
            </a:r>
            <a:endParaRPr sz="3200"/>
          </a:p>
        </p:txBody>
      </p:sp>
      <p:sp>
        <p:nvSpPr>
          <p:cNvPr id="3" name="object 3"/>
          <p:cNvSpPr/>
          <p:nvPr/>
        </p:nvSpPr>
        <p:spPr>
          <a:xfrm>
            <a:off x="5314188" y="2883407"/>
            <a:ext cx="1567180" cy="1551940"/>
          </a:xfrm>
          <a:custGeom>
            <a:avLst/>
            <a:gdLst/>
            <a:ahLst/>
            <a:cxnLst/>
            <a:rect l="l" t="t" r="r" b="b"/>
            <a:pathLst>
              <a:path w="1567179" h="1551939">
                <a:moveTo>
                  <a:pt x="783336" y="0"/>
                </a:moveTo>
                <a:lnTo>
                  <a:pt x="735623" y="1415"/>
                </a:lnTo>
                <a:lnTo>
                  <a:pt x="688666" y="5609"/>
                </a:lnTo>
                <a:lnTo>
                  <a:pt x="642546" y="12499"/>
                </a:lnTo>
                <a:lnTo>
                  <a:pt x="597346" y="22004"/>
                </a:lnTo>
                <a:lnTo>
                  <a:pt x="553146" y="34043"/>
                </a:lnTo>
                <a:lnTo>
                  <a:pt x="510029" y="48535"/>
                </a:lnTo>
                <a:lnTo>
                  <a:pt x="468078" y="65399"/>
                </a:lnTo>
                <a:lnTo>
                  <a:pt x="427374" y="84554"/>
                </a:lnTo>
                <a:lnTo>
                  <a:pt x="387999" y="105917"/>
                </a:lnTo>
                <a:lnTo>
                  <a:pt x="350035" y="129409"/>
                </a:lnTo>
                <a:lnTo>
                  <a:pt x="313564" y="154948"/>
                </a:lnTo>
                <a:lnTo>
                  <a:pt x="278668" y="182453"/>
                </a:lnTo>
                <a:lnTo>
                  <a:pt x="245429" y="211842"/>
                </a:lnTo>
                <a:lnTo>
                  <a:pt x="213929" y="243035"/>
                </a:lnTo>
                <a:lnTo>
                  <a:pt x="184251" y="275950"/>
                </a:lnTo>
                <a:lnTo>
                  <a:pt x="156475" y="310506"/>
                </a:lnTo>
                <a:lnTo>
                  <a:pt x="130685" y="346622"/>
                </a:lnTo>
                <a:lnTo>
                  <a:pt x="106962" y="384217"/>
                </a:lnTo>
                <a:lnTo>
                  <a:pt x="85387" y="423209"/>
                </a:lnTo>
                <a:lnTo>
                  <a:pt x="66044" y="463518"/>
                </a:lnTo>
                <a:lnTo>
                  <a:pt x="49014" y="505061"/>
                </a:lnTo>
                <a:lnTo>
                  <a:pt x="34379" y="547759"/>
                </a:lnTo>
                <a:lnTo>
                  <a:pt x="22221" y="591529"/>
                </a:lnTo>
                <a:lnTo>
                  <a:pt x="12622" y="636291"/>
                </a:lnTo>
                <a:lnTo>
                  <a:pt x="5664" y="681964"/>
                </a:lnTo>
                <a:lnTo>
                  <a:pt x="1429" y="728466"/>
                </a:lnTo>
                <a:lnTo>
                  <a:pt x="0" y="775715"/>
                </a:lnTo>
                <a:lnTo>
                  <a:pt x="1429" y="822965"/>
                </a:lnTo>
                <a:lnTo>
                  <a:pt x="5664" y="869467"/>
                </a:lnTo>
                <a:lnTo>
                  <a:pt x="12622" y="915140"/>
                </a:lnTo>
                <a:lnTo>
                  <a:pt x="22221" y="959902"/>
                </a:lnTo>
                <a:lnTo>
                  <a:pt x="34379" y="1003672"/>
                </a:lnTo>
                <a:lnTo>
                  <a:pt x="49014" y="1046370"/>
                </a:lnTo>
                <a:lnTo>
                  <a:pt x="66044" y="1087913"/>
                </a:lnTo>
                <a:lnTo>
                  <a:pt x="85387" y="1128222"/>
                </a:lnTo>
                <a:lnTo>
                  <a:pt x="106962" y="1167214"/>
                </a:lnTo>
                <a:lnTo>
                  <a:pt x="130685" y="1204809"/>
                </a:lnTo>
                <a:lnTo>
                  <a:pt x="156475" y="1240925"/>
                </a:lnTo>
                <a:lnTo>
                  <a:pt x="184251" y="1275481"/>
                </a:lnTo>
                <a:lnTo>
                  <a:pt x="213929" y="1308396"/>
                </a:lnTo>
                <a:lnTo>
                  <a:pt x="245429" y="1339589"/>
                </a:lnTo>
                <a:lnTo>
                  <a:pt x="278668" y="1368978"/>
                </a:lnTo>
                <a:lnTo>
                  <a:pt x="313564" y="1396483"/>
                </a:lnTo>
                <a:lnTo>
                  <a:pt x="350035" y="1422022"/>
                </a:lnTo>
                <a:lnTo>
                  <a:pt x="387999" y="1445514"/>
                </a:lnTo>
                <a:lnTo>
                  <a:pt x="427374" y="1466877"/>
                </a:lnTo>
                <a:lnTo>
                  <a:pt x="468078" y="1486032"/>
                </a:lnTo>
                <a:lnTo>
                  <a:pt x="510029" y="1502896"/>
                </a:lnTo>
                <a:lnTo>
                  <a:pt x="553146" y="1517388"/>
                </a:lnTo>
                <a:lnTo>
                  <a:pt x="597346" y="1529427"/>
                </a:lnTo>
                <a:lnTo>
                  <a:pt x="642546" y="1538932"/>
                </a:lnTo>
                <a:lnTo>
                  <a:pt x="688666" y="1545822"/>
                </a:lnTo>
                <a:lnTo>
                  <a:pt x="735623" y="1550016"/>
                </a:lnTo>
                <a:lnTo>
                  <a:pt x="783336" y="1551431"/>
                </a:lnTo>
                <a:lnTo>
                  <a:pt x="831048" y="1550016"/>
                </a:lnTo>
                <a:lnTo>
                  <a:pt x="878005" y="1545822"/>
                </a:lnTo>
                <a:lnTo>
                  <a:pt x="924125" y="1538932"/>
                </a:lnTo>
                <a:lnTo>
                  <a:pt x="969325" y="1529427"/>
                </a:lnTo>
                <a:lnTo>
                  <a:pt x="1013525" y="1517388"/>
                </a:lnTo>
                <a:lnTo>
                  <a:pt x="1056642" y="1502896"/>
                </a:lnTo>
                <a:lnTo>
                  <a:pt x="1098593" y="1486032"/>
                </a:lnTo>
                <a:lnTo>
                  <a:pt x="1139297" y="1466877"/>
                </a:lnTo>
                <a:lnTo>
                  <a:pt x="1178672" y="1445514"/>
                </a:lnTo>
                <a:lnTo>
                  <a:pt x="1216636" y="1422022"/>
                </a:lnTo>
                <a:lnTo>
                  <a:pt x="1253107" y="1396483"/>
                </a:lnTo>
                <a:lnTo>
                  <a:pt x="1288003" y="1368978"/>
                </a:lnTo>
                <a:lnTo>
                  <a:pt x="1321242" y="1339589"/>
                </a:lnTo>
                <a:lnTo>
                  <a:pt x="1352742" y="1308396"/>
                </a:lnTo>
                <a:lnTo>
                  <a:pt x="1382420" y="1275481"/>
                </a:lnTo>
                <a:lnTo>
                  <a:pt x="1410196" y="1240925"/>
                </a:lnTo>
                <a:lnTo>
                  <a:pt x="1435986" y="1204809"/>
                </a:lnTo>
                <a:lnTo>
                  <a:pt x="1459709" y="1167214"/>
                </a:lnTo>
                <a:lnTo>
                  <a:pt x="1481284" y="1128222"/>
                </a:lnTo>
                <a:lnTo>
                  <a:pt x="1500627" y="1087913"/>
                </a:lnTo>
                <a:lnTo>
                  <a:pt x="1517657" y="1046370"/>
                </a:lnTo>
                <a:lnTo>
                  <a:pt x="1532292" y="1003672"/>
                </a:lnTo>
                <a:lnTo>
                  <a:pt x="1544450" y="959902"/>
                </a:lnTo>
                <a:lnTo>
                  <a:pt x="1554049" y="915140"/>
                </a:lnTo>
                <a:lnTo>
                  <a:pt x="1561007" y="869467"/>
                </a:lnTo>
                <a:lnTo>
                  <a:pt x="1565242" y="822965"/>
                </a:lnTo>
                <a:lnTo>
                  <a:pt x="1566671" y="775715"/>
                </a:lnTo>
                <a:lnTo>
                  <a:pt x="1565242" y="728466"/>
                </a:lnTo>
                <a:lnTo>
                  <a:pt x="1561007" y="681964"/>
                </a:lnTo>
                <a:lnTo>
                  <a:pt x="1554049" y="636291"/>
                </a:lnTo>
                <a:lnTo>
                  <a:pt x="1544450" y="591529"/>
                </a:lnTo>
                <a:lnTo>
                  <a:pt x="1532292" y="547759"/>
                </a:lnTo>
                <a:lnTo>
                  <a:pt x="1517657" y="505061"/>
                </a:lnTo>
                <a:lnTo>
                  <a:pt x="1500627" y="463518"/>
                </a:lnTo>
                <a:lnTo>
                  <a:pt x="1481284" y="423209"/>
                </a:lnTo>
                <a:lnTo>
                  <a:pt x="1459709" y="384217"/>
                </a:lnTo>
                <a:lnTo>
                  <a:pt x="1435986" y="346622"/>
                </a:lnTo>
                <a:lnTo>
                  <a:pt x="1410196" y="310506"/>
                </a:lnTo>
                <a:lnTo>
                  <a:pt x="1382420" y="275950"/>
                </a:lnTo>
                <a:lnTo>
                  <a:pt x="1352742" y="243035"/>
                </a:lnTo>
                <a:lnTo>
                  <a:pt x="1321242" y="211842"/>
                </a:lnTo>
                <a:lnTo>
                  <a:pt x="1288003" y="182453"/>
                </a:lnTo>
                <a:lnTo>
                  <a:pt x="1253107" y="154948"/>
                </a:lnTo>
                <a:lnTo>
                  <a:pt x="1216636" y="129409"/>
                </a:lnTo>
                <a:lnTo>
                  <a:pt x="1178672" y="105917"/>
                </a:lnTo>
                <a:lnTo>
                  <a:pt x="1139297" y="84554"/>
                </a:lnTo>
                <a:lnTo>
                  <a:pt x="1098593" y="65399"/>
                </a:lnTo>
                <a:lnTo>
                  <a:pt x="1056642" y="48535"/>
                </a:lnTo>
                <a:lnTo>
                  <a:pt x="1013525" y="34043"/>
                </a:lnTo>
                <a:lnTo>
                  <a:pt x="969325" y="22004"/>
                </a:lnTo>
                <a:lnTo>
                  <a:pt x="924125" y="12499"/>
                </a:lnTo>
                <a:lnTo>
                  <a:pt x="878005" y="5609"/>
                </a:lnTo>
                <a:lnTo>
                  <a:pt x="831048" y="1415"/>
                </a:lnTo>
                <a:lnTo>
                  <a:pt x="783336" y="0"/>
                </a:lnTo>
                <a:close/>
              </a:path>
            </a:pathLst>
          </a:custGeom>
          <a:solidFill>
            <a:srgbClr val="FFC000"/>
          </a:solidFill>
        </p:spPr>
        <p:txBody>
          <a:bodyPr wrap="square" lIns="0" tIns="0" rIns="0" bIns="0" rtlCol="0"/>
          <a:lstStyle/>
          <a:p>
            <a:endParaRPr/>
          </a:p>
        </p:txBody>
      </p:sp>
      <p:sp>
        <p:nvSpPr>
          <p:cNvPr id="4" name="object 4"/>
          <p:cNvSpPr txBox="1"/>
          <p:nvPr/>
        </p:nvSpPr>
        <p:spPr>
          <a:xfrm>
            <a:off x="5596254" y="3355975"/>
            <a:ext cx="1003935" cy="571500"/>
          </a:xfrm>
          <a:prstGeom prst="rect">
            <a:avLst/>
          </a:prstGeom>
        </p:spPr>
        <p:txBody>
          <a:bodyPr vert="horz" wrap="square" lIns="0" tIns="23495" rIns="0" bIns="0" rtlCol="0">
            <a:spAutoFit/>
          </a:bodyPr>
          <a:lstStyle/>
          <a:p>
            <a:pPr marL="12700" marR="5080" indent="162560">
              <a:lnSpc>
                <a:spcPts val="2140"/>
              </a:lnSpc>
              <a:spcBef>
                <a:spcPts val="185"/>
              </a:spcBef>
            </a:pPr>
            <a:r>
              <a:rPr sz="1800" spc="50" dirty="0">
                <a:latin typeface="Trebuchet MS"/>
                <a:cs typeface="Trebuchet MS"/>
              </a:rPr>
              <a:t>HBase  </a:t>
            </a:r>
            <a:r>
              <a:rPr sz="1800" spc="10" dirty="0">
                <a:latin typeface="Trebuchet MS"/>
                <a:cs typeface="Trebuchet MS"/>
              </a:rPr>
              <a:t>Sce</a:t>
            </a:r>
            <a:r>
              <a:rPr sz="1800" spc="20" dirty="0">
                <a:latin typeface="Trebuchet MS"/>
                <a:cs typeface="Trebuchet MS"/>
              </a:rPr>
              <a:t>n</a:t>
            </a:r>
            <a:r>
              <a:rPr sz="1800" dirty="0">
                <a:latin typeface="Trebuchet MS"/>
                <a:cs typeface="Trebuchet MS"/>
              </a:rPr>
              <a:t>ari</a:t>
            </a:r>
            <a:r>
              <a:rPr sz="1800" spc="-5" dirty="0">
                <a:latin typeface="Trebuchet MS"/>
                <a:cs typeface="Trebuchet MS"/>
              </a:rPr>
              <a:t>o</a:t>
            </a:r>
            <a:r>
              <a:rPr sz="1800" spc="30" dirty="0">
                <a:latin typeface="Trebuchet MS"/>
                <a:cs typeface="Trebuchet MS"/>
              </a:rPr>
              <a:t>s</a:t>
            </a:r>
            <a:endParaRPr sz="1800">
              <a:latin typeface="Trebuchet MS"/>
              <a:cs typeface="Trebuchet MS"/>
            </a:endParaRPr>
          </a:p>
        </p:txBody>
      </p:sp>
      <p:sp>
        <p:nvSpPr>
          <p:cNvPr id="5" name="object 5"/>
          <p:cNvSpPr/>
          <p:nvPr/>
        </p:nvSpPr>
        <p:spPr>
          <a:xfrm>
            <a:off x="5840984" y="2435860"/>
            <a:ext cx="414655" cy="322580"/>
          </a:xfrm>
          <a:custGeom>
            <a:avLst/>
            <a:gdLst/>
            <a:ahLst/>
            <a:cxnLst/>
            <a:rect l="l" t="t" r="r" b="b"/>
            <a:pathLst>
              <a:path w="414654" h="322580">
                <a:moveTo>
                  <a:pt x="199898" y="0"/>
                </a:moveTo>
                <a:lnTo>
                  <a:pt x="0" y="167893"/>
                </a:lnTo>
                <a:lnTo>
                  <a:pt x="82930" y="163956"/>
                </a:lnTo>
                <a:lnTo>
                  <a:pt x="90296" y="322199"/>
                </a:lnTo>
                <a:lnTo>
                  <a:pt x="339089" y="310514"/>
                </a:lnTo>
                <a:lnTo>
                  <a:pt x="331596" y="152400"/>
                </a:lnTo>
                <a:lnTo>
                  <a:pt x="414527" y="148462"/>
                </a:lnTo>
                <a:lnTo>
                  <a:pt x="199898" y="0"/>
                </a:lnTo>
                <a:close/>
              </a:path>
            </a:pathLst>
          </a:custGeom>
          <a:solidFill>
            <a:srgbClr val="FFC000"/>
          </a:solidFill>
        </p:spPr>
        <p:txBody>
          <a:bodyPr wrap="square" lIns="0" tIns="0" rIns="0" bIns="0" rtlCol="0"/>
          <a:lstStyle/>
          <a:p>
            <a:endParaRPr/>
          </a:p>
        </p:txBody>
      </p:sp>
      <p:sp>
        <p:nvSpPr>
          <p:cNvPr id="6" name="object 6"/>
          <p:cNvSpPr/>
          <p:nvPr/>
        </p:nvSpPr>
        <p:spPr>
          <a:xfrm>
            <a:off x="5042915" y="1347216"/>
            <a:ext cx="1938655" cy="940435"/>
          </a:xfrm>
          <a:custGeom>
            <a:avLst/>
            <a:gdLst/>
            <a:ahLst/>
            <a:cxnLst/>
            <a:rect l="l" t="t" r="r" b="b"/>
            <a:pathLst>
              <a:path w="1938654" h="940435">
                <a:moveTo>
                  <a:pt x="969263" y="0"/>
                </a:moveTo>
                <a:lnTo>
                  <a:pt x="905535" y="999"/>
                </a:lnTo>
                <a:lnTo>
                  <a:pt x="842906" y="3957"/>
                </a:lnTo>
                <a:lnTo>
                  <a:pt x="781507" y="8812"/>
                </a:lnTo>
                <a:lnTo>
                  <a:pt x="721463" y="15501"/>
                </a:lnTo>
                <a:lnTo>
                  <a:pt x="662903" y="23963"/>
                </a:lnTo>
                <a:lnTo>
                  <a:pt x="605955" y="34135"/>
                </a:lnTo>
                <a:lnTo>
                  <a:pt x="550745" y="45957"/>
                </a:lnTo>
                <a:lnTo>
                  <a:pt x="497403" y="59365"/>
                </a:lnTo>
                <a:lnTo>
                  <a:pt x="446056" y="74299"/>
                </a:lnTo>
                <a:lnTo>
                  <a:pt x="396831" y="90696"/>
                </a:lnTo>
                <a:lnTo>
                  <a:pt x="349856" y="108494"/>
                </a:lnTo>
                <a:lnTo>
                  <a:pt x="305259" y="127632"/>
                </a:lnTo>
                <a:lnTo>
                  <a:pt x="263168" y="148047"/>
                </a:lnTo>
                <a:lnTo>
                  <a:pt x="223710" y="169678"/>
                </a:lnTo>
                <a:lnTo>
                  <a:pt x="187013" y="192462"/>
                </a:lnTo>
                <a:lnTo>
                  <a:pt x="153204" y="216339"/>
                </a:lnTo>
                <a:lnTo>
                  <a:pt x="122413" y="241246"/>
                </a:lnTo>
                <a:lnTo>
                  <a:pt x="70390" y="293902"/>
                </a:lnTo>
                <a:lnTo>
                  <a:pt x="31965" y="349935"/>
                </a:lnTo>
                <a:lnTo>
                  <a:pt x="8161" y="408851"/>
                </a:lnTo>
                <a:lnTo>
                  <a:pt x="0" y="470154"/>
                </a:lnTo>
                <a:lnTo>
                  <a:pt x="2061" y="501072"/>
                </a:lnTo>
                <a:lnTo>
                  <a:pt x="18172" y="561244"/>
                </a:lnTo>
                <a:lnTo>
                  <a:pt x="49414" y="618780"/>
                </a:lnTo>
                <a:lnTo>
                  <a:pt x="94765" y="673187"/>
                </a:lnTo>
                <a:lnTo>
                  <a:pt x="153204" y="723968"/>
                </a:lnTo>
                <a:lnTo>
                  <a:pt x="187013" y="747845"/>
                </a:lnTo>
                <a:lnTo>
                  <a:pt x="223710" y="770629"/>
                </a:lnTo>
                <a:lnTo>
                  <a:pt x="263168" y="792260"/>
                </a:lnTo>
                <a:lnTo>
                  <a:pt x="305259" y="812675"/>
                </a:lnTo>
                <a:lnTo>
                  <a:pt x="349856" y="831813"/>
                </a:lnTo>
                <a:lnTo>
                  <a:pt x="396831" y="849611"/>
                </a:lnTo>
                <a:lnTo>
                  <a:pt x="446056" y="866008"/>
                </a:lnTo>
                <a:lnTo>
                  <a:pt x="497403" y="880942"/>
                </a:lnTo>
                <a:lnTo>
                  <a:pt x="550745" y="894350"/>
                </a:lnTo>
                <a:lnTo>
                  <a:pt x="605955" y="906172"/>
                </a:lnTo>
                <a:lnTo>
                  <a:pt x="662903" y="916344"/>
                </a:lnTo>
                <a:lnTo>
                  <a:pt x="721463" y="924806"/>
                </a:lnTo>
                <a:lnTo>
                  <a:pt x="781507" y="931495"/>
                </a:lnTo>
                <a:lnTo>
                  <a:pt x="842906" y="936350"/>
                </a:lnTo>
                <a:lnTo>
                  <a:pt x="905535" y="939308"/>
                </a:lnTo>
                <a:lnTo>
                  <a:pt x="969263" y="940308"/>
                </a:lnTo>
                <a:lnTo>
                  <a:pt x="1032992" y="939308"/>
                </a:lnTo>
                <a:lnTo>
                  <a:pt x="1095621" y="936350"/>
                </a:lnTo>
                <a:lnTo>
                  <a:pt x="1157020" y="931495"/>
                </a:lnTo>
                <a:lnTo>
                  <a:pt x="1217064" y="924806"/>
                </a:lnTo>
                <a:lnTo>
                  <a:pt x="1275624" y="916344"/>
                </a:lnTo>
                <a:lnTo>
                  <a:pt x="1332572" y="906172"/>
                </a:lnTo>
                <a:lnTo>
                  <a:pt x="1387782" y="894350"/>
                </a:lnTo>
                <a:lnTo>
                  <a:pt x="1441124" y="880942"/>
                </a:lnTo>
                <a:lnTo>
                  <a:pt x="1492471" y="866008"/>
                </a:lnTo>
                <a:lnTo>
                  <a:pt x="1541696" y="849611"/>
                </a:lnTo>
                <a:lnTo>
                  <a:pt x="1588671" y="831813"/>
                </a:lnTo>
                <a:lnTo>
                  <a:pt x="1633268" y="812675"/>
                </a:lnTo>
                <a:lnTo>
                  <a:pt x="1675359" y="792260"/>
                </a:lnTo>
                <a:lnTo>
                  <a:pt x="1714817" y="770629"/>
                </a:lnTo>
                <a:lnTo>
                  <a:pt x="1751514" y="747845"/>
                </a:lnTo>
                <a:lnTo>
                  <a:pt x="1785323" y="723968"/>
                </a:lnTo>
                <a:lnTo>
                  <a:pt x="1816114" y="699061"/>
                </a:lnTo>
                <a:lnTo>
                  <a:pt x="1868137" y="646405"/>
                </a:lnTo>
                <a:lnTo>
                  <a:pt x="1906562" y="590372"/>
                </a:lnTo>
                <a:lnTo>
                  <a:pt x="1930366" y="531456"/>
                </a:lnTo>
                <a:lnTo>
                  <a:pt x="1938528" y="470154"/>
                </a:lnTo>
                <a:lnTo>
                  <a:pt x="1936466" y="439235"/>
                </a:lnTo>
                <a:lnTo>
                  <a:pt x="1920355" y="379063"/>
                </a:lnTo>
                <a:lnTo>
                  <a:pt x="1889113" y="321527"/>
                </a:lnTo>
                <a:lnTo>
                  <a:pt x="1843762" y="267120"/>
                </a:lnTo>
                <a:lnTo>
                  <a:pt x="1785323" y="216339"/>
                </a:lnTo>
                <a:lnTo>
                  <a:pt x="1751514" y="192462"/>
                </a:lnTo>
                <a:lnTo>
                  <a:pt x="1714817" y="169678"/>
                </a:lnTo>
                <a:lnTo>
                  <a:pt x="1675359" y="148047"/>
                </a:lnTo>
                <a:lnTo>
                  <a:pt x="1633268" y="127632"/>
                </a:lnTo>
                <a:lnTo>
                  <a:pt x="1588671" y="108494"/>
                </a:lnTo>
                <a:lnTo>
                  <a:pt x="1541696" y="90696"/>
                </a:lnTo>
                <a:lnTo>
                  <a:pt x="1492471" y="74299"/>
                </a:lnTo>
                <a:lnTo>
                  <a:pt x="1441124" y="59365"/>
                </a:lnTo>
                <a:lnTo>
                  <a:pt x="1387782" y="45957"/>
                </a:lnTo>
                <a:lnTo>
                  <a:pt x="1332572" y="34135"/>
                </a:lnTo>
                <a:lnTo>
                  <a:pt x="1275624" y="23963"/>
                </a:lnTo>
                <a:lnTo>
                  <a:pt x="1217064" y="15501"/>
                </a:lnTo>
                <a:lnTo>
                  <a:pt x="1157020" y="8812"/>
                </a:lnTo>
                <a:lnTo>
                  <a:pt x="1095621" y="3957"/>
                </a:lnTo>
                <a:lnTo>
                  <a:pt x="1032992" y="999"/>
                </a:lnTo>
                <a:lnTo>
                  <a:pt x="969263" y="0"/>
                </a:lnTo>
                <a:close/>
              </a:path>
            </a:pathLst>
          </a:custGeom>
          <a:solidFill>
            <a:srgbClr val="FFC000"/>
          </a:solidFill>
        </p:spPr>
        <p:txBody>
          <a:bodyPr wrap="square" lIns="0" tIns="0" rIns="0" bIns="0" rtlCol="0"/>
          <a:lstStyle/>
          <a:p>
            <a:endParaRPr/>
          </a:p>
        </p:txBody>
      </p:sp>
      <p:sp>
        <p:nvSpPr>
          <p:cNvPr id="7" name="object 7"/>
          <p:cNvSpPr txBox="1"/>
          <p:nvPr/>
        </p:nvSpPr>
        <p:spPr>
          <a:xfrm>
            <a:off x="5613019" y="1512773"/>
            <a:ext cx="798830" cy="572135"/>
          </a:xfrm>
          <a:prstGeom prst="rect">
            <a:avLst/>
          </a:prstGeom>
        </p:spPr>
        <p:txBody>
          <a:bodyPr vert="horz" wrap="square" lIns="0" tIns="12700" rIns="0" bIns="0" rtlCol="0">
            <a:spAutoFit/>
          </a:bodyPr>
          <a:lstStyle/>
          <a:p>
            <a:pPr algn="ctr">
              <a:lnSpc>
                <a:spcPts val="2150"/>
              </a:lnSpc>
              <a:spcBef>
                <a:spcPts val="100"/>
              </a:spcBef>
            </a:pPr>
            <a:r>
              <a:rPr sz="1800" b="1" spc="55" dirty="0">
                <a:latin typeface="Trebuchet MS"/>
                <a:cs typeface="Trebuchet MS"/>
              </a:rPr>
              <a:t>Data</a:t>
            </a:r>
            <a:endParaRPr sz="1800" b="1" dirty="0">
              <a:latin typeface="Trebuchet MS"/>
              <a:cs typeface="Trebuchet MS"/>
            </a:endParaRPr>
          </a:p>
          <a:p>
            <a:pPr algn="ctr">
              <a:lnSpc>
                <a:spcPts val="2150"/>
              </a:lnSpc>
            </a:pPr>
            <a:r>
              <a:rPr sz="1800" b="1" spc="15" dirty="0">
                <a:latin typeface="Trebuchet MS"/>
                <a:cs typeface="Trebuchet MS"/>
              </a:rPr>
              <a:t>storage</a:t>
            </a:r>
            <a:endParaRPr sz="1800" b="1" dirty="0">
              <a:latin typeface="Trebuchet MS"/>
              <a:cs typeface="Trebuchet MS"/>
            </a:endParaRPr>
          </a:p>
        </p:txBody>
      </p:sp>
      <p:grpSp>
        <p:nvGrpSpPr>
          <p:cNvPr id="8" name="object 8"/>
          <p:cNvGrpSpPr/>
          <p:nvPr/>
        </p:nvGrpSpPr>
        <p:grpSpPr>
          <a:xfrm>
            <a:off x="7002018" y="2459989"/>
            <a:ext cx="3012440" cy="1548130"/>
            <a:chOff x="7002018" y="2459989"/>
            <a:chExt cx="3012440" cy="1548130"/>
          </a:xfrm>
        </p:grpSpPr>
        <p:sp>
          <p:nvSpPr>
            <p:cNvPr id="9" name="object 9"/>
            <p:cNvSpPr/>
            <p:nvPr/>
          </p:nvSpPr>
          <p:spPr>
            <a:xfrm>
              <a:off x="7002018" y="2459989"/>
              <a:ext cx="3006090" cy="1542415"/>
            </a:xfrm>
            <a:custGeom>
              <a:avLst/>
              <a:gdLst/>
              <a:ahLst/>
              <a:cxnLst/>
              <a:rect l="l" t="t" r="r" b="b"/>
              <a:pathLst>
                <a:path w="3006090" h="1542414">
                  <a:moveTo>
                    <a:pt x="835660" y="59944"/>
                  </a:moveTo>
                  <a:lnTo>
                    <a:pt x="548386" y="0"/>
                  </a:lnTo>
                  <a:lnTo>
                    <a:pt x="593852" y="69469"/>
                  </a:lnTo>
                  <a:lnTo>
                    <a:pt x="0" y="458343"/>
                  </a:lnTo>
                  <a:lnTo>
                    <a:pt x="136398" y="666623"/>
                  </a:lnTo>
                  <a:lnTo>
                    <a:pt x="730250" y="277876"/>
                  </a:lnTo>
                  <a:lnTo>
                    <a:pt x="775716" y="347218"/>
                  </a:lnTo>
                  <a:lnTo>
                    <a:pt x="835660" y="59944"/>
                  </a:lnTo>
                  <a:close/>
                </a:path>
                <a:path w="3006090" h="1542414">
                  <a:moveTo>
                    <a:pt x="3006090" y="982726"/>
                  </a:moveTo>
                  <a:lnTo>
                    <a:pt x="2999371" y="923734"/>
                  </a:lnTo>
                  <a:lnTo>
                    <a:pt x="2979699" y="866508"/>
                  </a:lnTo>
                  <a:lnTo>
                    <a:pt x="2947733" y="811352"/>
                  </a:lnTo>
                  <a:lnTo>
                    <a:pt x="2904147" y="758583"/>
                  </a:lnTo>
                  <a:lnTo>
                    <a:pt x="2849626" y="708520"/>
                  </a:lnTo>
                  <a:lnTo>
                    <a:pt x="2818460" y="684593"/>
                  </a:lnTo>
                  <a:lnTo>
                    <a:pt x="2784830" y="661454"/>
                  </a:lnTo>
                  <a:lnTo>
                    <a:pt x="2748788" y="639140"/>
                  </a:lnTo>
                  <a:lnTo>
                    <a:pt x="2710434" y="617702"/>
                  </a:lnTo>
                  <a:lnTo>
                    <a:pt x="2669857" y="597166"/>
                  </a:lnTo>
                  <a:lnTo>
                    <a:pt x="2627122" y="577583"/>
                  </a:lnTo>
                  <a:lnTo>
                    <a:pt x="2582341" y="558977"/>
                  </a:lnTo>
                  <a:lnTo>
                    <a:pt x="2535580" y="541388"/>
                  </a:lnTo>
                  <a:lnTo>
                    <a:pt x="2486914" y="524865"/>
                  </a:lnTo>
                  <a:lnTo>
                    <a:pt x="2436457" y="509447"/>
                  </a:lnTo>
                  <a:lnTo>
                    <a:pt x="2384260" y="495160"/>
                  </a:lnTo>
                  <a:lnTo>
                    <a:pt x="2330437" y="482053"/>
                  </a:lnTo>
                  <a:lnTo>
                    <a:pt x="2275052" y="470166"/>
                  </a:lnTo>
                  <a:lnTo>
                    <a:pt x="2218194" y="459524"/>
                  </a:lnTo>
                  <a:lnTo>
                    <a:pt x="2159952" y="450176"/>
                  </a:lnTo>
                  <a:lnTo>
                    <a:pt x="2100414" y="442163"/>
                  </a:lnTo>
                  <a:lnTo>
                    <a:pt x="2039658" y="435521"/>
                  </a:lnTo>
                  <a:lnTo>
                    <a:pt x="1977758" y="430288"/>
                  </a:lnTo>
                  <a:lnTo>
                    <a:pt x="1914817" y="426504"/>
                  </a:lnTo>
                  <a:lnTo>
                    <a:pt x="1850910" y="424205"/>
                  </a:lnTo>
                  <a:lnTo>
                    <a:pt x="1786128" y="423418"/>
                  </a:lnTo>
                  <a:lnTo>
                    <a:pt x="1721332" y="424205"/>
                  </a:lnTo>
                  <a:lnTo>
                    <a:pt x="1657426" y="426504"/>
                  </a:lnTo>
                  <a:lnTo>
                    <a:pt x="1594485" y="430288"/>
                  </a:lnTo>
                  <a:lnTo>
                    <a:pt x="1532585" y="435521"/>
                  </a:lnTo>
                  <a:lnTo>
                    <a:pt x="1471828" y="442163"/>
                  </a:lnTo>
                  <a:lnTo>
                    <a:pt x="1412290" y="450176"/>
                  </a:lnTo>
                  <a:lnTo>
                    <a:pt x="1354048" y="459524"/>
                  </a:lnTo>
                  <a:lnTo>
                    <a:pt x="1297190" y="470166"/>
                  </a:lnTo>
                  <a:lnTo>
                    <a:pt x="1241806" y="482053"/>
                  </a:lnTo>
                  <a:lnTo>
                    <a:pt x="1187983" y="495160"/>
                  </a:lnTo>
                  <a:lnTo>
                    <a:pt x="1135786" y="509447"/>
                  </a:lnTo>
                  <a:lnTo>
                    <a:pt x="1085329" y="524865"/>
                  </a:lnTo>
                  <a:lnTo>
                    <a:pt x="1036662" y="541388"/>
                  </a:lnTo>
                  <a:lnTo>
                    <a:pt x="989901" y="558977"/>
                  </a:lnTo>
                  <a:lnTo>
                    <a:pt x="945121" y="577583"/>
                  </a:lnTo>
                  <a:lnTo>
                    <a:pt x="902385" y="597166"/>
                  </a:lnTo>
                  <a:lnTo>
                    <a:pt x="861809" y="617702"/>
                  </a:lnTo>
                  <a:lnTo>
                    <a:pt x="823455" y="639140"/>
                  </a:lnTo>
                  <a:lnTo>
                    <a:pt x="787412" y="661454"/>
                  </a:lnTo>
                  <a:lnTo>
                    <a:pt x="753783" y="684593"/>
                  </a:lnTo>
                  <a:lnTo>
                    <a:pt x="722617" y="708520"/>
                  </a:lnTo>
                  <a:lnTo>
                    <a:pt x="668096" y="758583"/>
                  </a:lnTo>
                  <a:lnTo>
                    <a:pt x="624509" y="811352"/>
                  </a:lnTo>
                  <a:lnTo>
                    <a:pt x="592543" y="866508"/>
                  </a:lnTo>
                  <a:lnTo>
                    <a:pt x="572871" y="923734"/>
                  </a:lnTo>
                  <a:lnTo>
                    <a:pt x="566166" y="982726"/>
                  </a:lnTo>
                  <a:lnTo>
                    <a:pt x="567855" y="1012431"/>
                  </a:lnTo>
                  <a:lnTo>
                    <a:pt x="581126" y="1070584"/>
                  </a:lnTo>
                  <a:lnTo>
                    <a:pt x="607034" y="1126820"/>
                  </a:lnTo>
                  <a:lnTo>
                    <a:pt x="644893" y="1180820"/>
                  </a:lnTo>
                  <a:lnTo>
                    <a:pt x="694029" y="1232268"/>
                  </a:lnTo>
                  <a:lnTo>
                    <a:pt x="753783" y="1280871"/>
                  </a:lnTo>
                  <a:lnTo>
                    <a:pt x="787412" y="1304010"/>
                  </a:lnTo>
                  <a:lnTo>
                    <a:pt x="823455" y="1326324"/>
                  </a:lnTo>
                  <a:lnTo>
                    <a:pt x="861809" y="1347762"/>
                  </a:lnTo>
                  <a:lnTo>
                    <a:pt x="902385" y="1368298"/>
                  </a:lnTo>
                  <a:lnTo>
                    <a:pt x="945121" y="1387881"/>
                  </a:lnTo>
                  <a:lnTo>
                    <a:pt x="989901" y="1406486"/>
                  </a:lnTo>
                  <a:lnTo>
                    <a:pt x="1036662" y="1424076"/>
                  </a:lnTo>
                  <a:lnTo>
                    <a:pt x="1085329" y="1440599"/>
                  </a:lnTo>
                  <a:lnTo>
                    <a:pt x="1135786" y="1456016"/>
                  </a:lnTo>
                  <a:lnTo>
                    <a:pt x="1187983" y="1470304"/>
                  </a:lnTo>
                  <a:lnTo>
                    <a:pt x="1241806" y="1483410"/>
                  </a:lnTo>
                  <a:lnTo>
                    <a:pt x="1297190" y="1495298"/>
                  </a:lnTo>
                  <a:lnTo>
                    <a:pt x="1354048" y="1505940"/>
                  </a:lnTo>
                  <a:lnTo>
                    <a:pt x="1412290" y="1515287"/>
                  </a:lnTo>
                  <a:lnTo>
                    <a:pt x="1471828" y="1523301"/>
                  </a:lnTo>
                  <a:lnTo>
                    <a:pt x="1532585" y="1529943"/>
                  </a:lnTo>
                  <a:lnTo>
                    <a:pt x="1594485" y="1535176"/>
                  </a:lnTo>
                  <a:lnTo>
                    <a:pt x="1657426" y="1538960"/>
                  </a:lnTo>
                  <a:lnTo>
                    <a:pt x="1721332" y="1541259"/>
                  </a:lnTo>
                  <a:lnTo>
                    <a:pt x="1786128" y="1542034"/>
                  </a:lnTo>
                  <a:lnTo>
                    <a:pt x="1850910" y="1541259"/>
                  </a:lnTo>
                  <a:lnTo>
                    <a:pt x="1914817" y="1538960"/>
                  </a:lnTo>
                  <a:lnTo>
                    <a:pt x="1977758" y="1535176"/>
                  </a:lnTo>
                  <a:lnTo>
                    <a:pt x="2039658" y="1529943"/>
                  </a:lnTo>
                  <a:lnTo>
                    <a:pt x="2100414" y="1523301"/>
                  </a:lnTo>
                  <a:lnTo>
                    <a:pt x="2159952" y="1515287"/>
                  </a:lnTo>
                  <a:lnTo>
                    <a:pt x="2218194" y="1505940"/>
                  </a:lnTo>
                  <a:lnTo>
                    <a:pt x="2275052" y="1495298"/>
                  </a:lnTo>
                  <a:lnTo>
                    <a:pt x="2330437" y="1483410"/>
                  </a:lnTo>
                  <a:lnTo>
                    <a:pt x="2384260" y="1470304"/>
                  </a:lnTo>
                  <a:lnTo>
                    <a:pt x="2436457" y="1456016"/>
                  </a:lnTo>
                  <a:lnTo>
                    <a:pt x="2486914" y="1440599"/>
                  </a:lnTo>
                  <a:lnTo>
                    <a:pt x="2535580" y="1424076"/>
                  </a:lnTo>
                  <a:lnTo>
                    <a:pt x="2582341" y="1406486"/>
                  </a:lnTo>
                  <a:lnTo>
                    <a:pt x="2627122" y="1387881"/>
                  </a:lnTo>
                  <a:lnTo>
                    <a:pt x="2669857" y="1368298"/>
                  </a:lnTo>
                  <a:lnTo>
                    <a:pt x="2710434" y="1347762"/>
                  </a:lnTo>
                  <a:lnTo>
                    <a:pt x="2748788" y="1326324"/>
                  </a:lnTo>
                  <a:lnTo>
                    <a:pt x="2784830" y="1304010"/>
                  </a:lnTo>
                  <a:lnTo>
                    <a:pt x="2818460" y="1280871"/>
                  </a:lnTo>
                  <a:lnTo>
                    <a:pt x="2849626" y="1256944"/>
                  </a:lnTo>
                  <a:lnTo>
                    <a:pt x="2904147" y="1206881"/>
                  </a:lnTo>
                  <a:lnTo>
                    <a:pt x="2947733" y="1154112"/>
                  </a:lnTo>
                  <a:lnTo>
                    <a:pt x="2979699" y="1098956"/>
                  </a:lnTo>
                  <a:lnTo>
                    <a:pt x="2999371" y="1041730"/>
                  </a:lnTo>
                  <a:lnTo>
                    <a:pt x="3006090" y="982726"/>
                  </a:lnTo>
                  <a:close/>
                </a:path>
              </a:pathLst>
            </a:custGeom>
            <a:solidFill>
              <a:srgbClr val="FFC000"/>
            </a:solidFill>
          </p:spPr>
          <p:txBody>
            <a:bodyPr wrap="square" lIns="0" tIns="0" rIns="0" bIns="0" rtlCol="0"/>
            <a:lstStyle/>
            <a:p>
              <a:endParaRPr/>
            </a:p>
          </p:txBody>
        </p:sp>
        <p:sp>
          <p:nvSpPr>
            <p:cNvPr id="10" name="object 10"/>
            <p:cNvSpPr/>
            <p:nvPr/>
          </p:nvSpPr>
          <p:spPr>
            <a:xfrm>
              <a:off x="7568184" y="2883407"/>
              <a:ext cx="2440305" cy="1118870"/>
            </a:xfrm>
            <a:custGeom>
              <a:avLst/>
              <a:gdLst/>
              <a:ahLst/>
              <a:cxnLst/>
              <a:rect l="l" t="t" r="r" b="b"/>
              <a:pathLst>
                <a:path w="2440304" h="1118870">
                  <a:moveTo>
                    <a:pt x="0" y="559307"/>
                  </a:moveTo>
                  <a:lnTo>
                    <a:pt x="6708" y="500308"/>
                  </a:lnTo>
                  <a:lnTo>
                    <a:pt x="26383" y="443078"/>
                  </a:lnTo>
                  <a:lnTo>
                    <a:pt x="58350" y="387925"/>
                  </a:lnTo>
                  <a:lnTo>
                    <a:pt x="101935" y="335159"/>
                  </a:lnTo>
                  <a:lnTo>
                    <a:pt x="156463" y="285090"/>
                  </a:lnTo>
                  <a:lnTo>
                    <a:pt x="187619" y="261163"/>
                  </a:lnTo>
                  <a:lnTo>
                    <a:pt x="221258" y="238027"/>
                  </a:lnTo>
                  <a:lnTo>
                    <a:pt x="257296" y="215719"/>
                  </a:lnTo>
                  <a:lnTo>
                    <a:pt x="295648" y="194279"/>
                  </a:lnTo>
                  <a:lnTo>
                    <a:pt x="336229" y="173745"/>
                  </a:lnTo>
                  <a:lnTo>
                    <a:pt x="378956" y="154155"/>
                  </a:lnTo>
                  <a:lnTo>
                    <a:pt x="423744" y="135550"/>
                  </a:lnTo>
                  <a:lnTo>
                    <a:pt x="470509" y="117966"/>
                  </a:lnTo>
                  <a:lnTo>
                    <a:pt x="519166" y="101444"/>
                  </a:lnTo>
                  <a:lnTo>
                    <a:pt x="569631" y="86021"/>
                  </a:lnTo>
                  <a:lnTo>
                    <a:pt x="621820" y="71736"/>
                  </a:lnTo>
                  <a:lnTo>
                    <a:pt x="675648" y="58628"/>
                  </a:lnTo>
                  <a:lnTo>
                    <a:pt x="731032" y="46736"/>
                  </a:lnTo>
                  <a:lnTo>
                    <a:pt x="787886" y="36098"/>
                  </a:lnTo>
                  <a:lnTo>
                    <a:pt x="846126" y="26753"/>
                  </a:lnTo>
                  <a:lnTo>
                    <a:pt x="905669" y="18739"/>
                  </a:lnTo>
                  <a:lnTo>
                    <a:pt x="966429" y="12096"/>
                  </a:lnTo>
                  <a:lnTo>
                    <a:pt x="1028323" y="6862"/>
                  </a:lnTo>
                  <a:lnTo>
                    <a:pt x="1091266" y="3075"/>
                  </a:lnTo>
                  <a:lnTo>
                    <a:pt x="1155173" y="775"/>
                  </a:lnTo>
                  <a:lnTo>
                    <a:pt x="1219962" y="0"/>
                  </a:lnTo>
                  <a:lnTo>
                    <a:pt x="1284750" y="775"/>
                  </a:lnTo>
                  <a:lnTo>
                    <a:pt x="1348657" y="3075"/>
                  </a:lnTo>
                  <a:lnTo>
                    <a:pt x="1411600" y="6862"/>
                  </a:lnTo>
                  <a:lnTo>
                    <a:pt x="1473494" y="12096"/>
                  </a:lnTo>
                  <a:lnTo>
                    <a:pt x="1534254" y="18739"/>
                  </a:lnTo>
                  <a:lnTo>
                    <a:pt x="1593797" y="26753"/>
                  </a:lnTo>
                  <a:lnTo>
                    <a:pt x="1652037" y="36098"/>
                  </a:lnTo>
                  <a:lnTo>
                    <a:pt x="1708891" y="46736"/>
                  </a:lnTo>
                  <a:lnTo>
                    <a:pt x="1764275" y="58628"/>
                  </a:lnTo>
                  <a:lnTo>
                    <a:pt x="1818103" y="71736"/>
                  </a:lnTo>
                  <a:lnTo>
                    <a:pt x="1870292" y="86021"/>
                  </a:lnTo>
                  <a:lnTo>
                    <a:pt x="1920757" y="101444"/>
                  </a:lnTo>
                  <a:lnTo>
                    <a:pt x="1969414" y="117966"/>
                  </a:lnTo>
                  <a:lnTo>
                    <a:pt x="2016179" y="135550"/>
                  </a:lnTo>
                  <a:lnTo>
                    <a:pt x="2060967" y="154155"/>
                  </a:lnTo>
                  <a:lnTo>
                    <a:pt x="2103694" y="173745"/>
                  </a:lnTo>
                  <a:lnTo>
                    <a:pt x="2144275" y="194279"/>
                  </a:lnTo>
                  <a:lnTo>
                    <a:pt x="2182627" y="215719"/>
                  </a:lnTo>
                  <a:lnTo>
                    <a:pt x="2218665" y="238027"/>
                  </a:lnTo>
                  <a:lnTo>
                    <a:pt x="2252304" y="261163"/>
                  </a:lnTo>
                  <a:lnTo>
                    <a:pt x="2283460" y="285090"/>
                  </a:lnTo>
                  <a:lnTo>
                    <a:pt x="2337988" y="335159"/>
                  </a:lnTo>
                  <a:lnTo>
                    <a:pt x="2381573" y="387925"/>
                  </a:lnTo>
                  <a:lnTo>
                    <a:pt x="2413540" y="443078"/>
                  </a:lnTo>
                  <a:lnTo>
                    <a:pt x="2433215" y="500308"/>
                  </a:lnTo>
                  <a:lnTo>
                    <a:pt x="2439924" y="559307"/>
                  </a:lnTo>
                  <a:lnTo>
                    <a:pt x="2438232" y="589009"/>
                  </a:lnTo>
                  <a:lnTo>
                    <a:pt x="2424956" y="647162"/>
                  </a:lnTo>
                  <a:lnTo>
                    <a:pt x="2399051" y="703393"/>
                  </a:lnTo>
                  <a:lnTo>
                    <a:pt x="2361190" y="757391"/>
                  </a:lnTo>
                  <a:lnTo>
                    <a:pt x="2312050" y="808847"/>
                  </a:lnTo>
                  <a:lnTo>
                    <a:pt x="2252304" y="857452"/>
                  </a:lnTo>
                  <a:lnTo>
                    <a:pt x="2218665" y="880588"/>
                  </a:lnTo>
                  <a:lnTo>
                    <a:pt x="2182627" y="902896"/>
                  </a:lnTo>
                  <a:lnTo>
                    <a:pt x="2144275" y="924336"/>
                  </a:lnTo>
                  <a:lnTo>
                    <a:pt x="2103694" y="944870"/>
                  </a:lnTo>
                  <a:lnTo>
                    <a:pt x="2060967" y="964460"/>
                  </a:lnTo>
                  <a:lnTo>
                    <a:pt x="2016179" y="983065"/>
                  </a:lnTo>
                  <a:lnTo>
                    <a:pt x="1969414" y="1000649"/>
                  </a:lnTo>
                  <a:lnTo>
                    <a:pt x="1920757" y="1017171"/>
                  </a:lnTo>
                  <a:lnTo>
                    <a:pt x="1870292" y="1032594"/>
                  </a:lnTo>
                  <a:lnTo>
                    <a:pt x="1818103" y="1046879"/>
                  </a:lnTo>
                  <a:lnTo>
                    <a:pt x="1764275" y="1059987"/>
                  </a:lnTo>
                  <a:lnTo>
                    <a:pt x="1708891" y="1071879"/>
                  </a:lnTo>
                  <a:lnTo>
                    <a:pt x="1652037" y="1082517"/>
                  </a:lnTo>
                  <a:lnTo>
                    <a:pt x="1593797" y="1091862"/>
                  </a:lnTo>
                  <a:lnTo>
                    <a:pt x="1534254" y="1099876"/>
                  </a:lnTo>
                  <a:lnTo>
                    <a:pt x="1473494" y="1106519"/>
                  </a:lnTo>
                  <a:lnTo>
                    <a:pt x="1411600" y="1111753"/>
                  </a:lnTo>
                  <a:lnTo>
                    <a:pt x="1348657" y="1115540"/>
                  </a:lnTo>
                  <a:lnTo>
                    <a:pt x="1284750" y="1117840"/>
                  </a:lnTo>
                  <a:lnTo>
                    <a:pt x="1219962" y="1118615"/>
                  </a:lnTo>
                  <a:lnTo>
                    <a:pt x="1155173" y="1117840"/>
                  </a:lnTo>
                  <a:lnTo>
                    <a:pt x="1091266" y="1115540"/>
                  </a:lnTo>
                  <a:lnTo>
                    <a:pt x="1028323" y="1111753"/>
                  </a:lnTo>
                  <a:lnTo>
                    <a:pt x="966429" y="1106519"/>
                  </a:lnTo>
                  <a:lnTo>
                    <a:pt x="905669" y="1099876"/>
                  </a:lnTo>
                  <a:lnTo>
                    <a:pt x="846126" y="1091862"/>
                  </a:lnTo>
                  <a:lnTo>
                    <a:pt x="787886" y="1082517"/>
                  </a:lnTo>
                  <a:lnTo>
                    <a:pt x="731032" y="1071879"/>
                  </a:lnTo>
                  <a:lnTo>
                    <a:pt x="675648" y="1059987"/>
                  </a:lnTo>
                  <a:lnTo>
                    <a:pt x="621820" y="1046879"/>
                  </a:lnTo>
                  <a:lnTo>
                    <a:pt x="569631" y="1032594"/>
                  </a:lnTo>
                  <a:lnTo>
                    <a:pt x="519166" y="1017171"/>
                  </a:lnTo>
                  <a:lnTo>
                    <a:pt x="470509" y="1000649"/>
                  </a:lnTo>
                  <a:lnTo>
                    <a:pt x="423744" y="983065"/>
                  </a:lnTo>
                  <a:lnTo>
                    <a:pt x="378956" y="964460"/>
                  </a:lnTo>
                  <a:lnTo>
                    <a:pt x="336229" y="944870"/>
                  </a:lnTo>
                  <a:lnTo>
                    <a:pt x="295648" y="924336"/>
                  </a:lnTo>
                  <a:lnTo>
                    <a:pt x="257296" y="902896"/>
                  </a:lnTo>
                  <a:lnTo>
                    <a:pt x="221258" y="880588"/>
                  </a:lnTo>
                  <a:lnTo>
                    <a:pt x="187619" y="857452"/>
                  </a:lnTo>
                  <a:lnTo>
                    <a:pt x="156463" y="833525"/>
                  </a:lnTo>
                  <a:lnTo>
                    <a:pt x="101935" y="783456"/>
                  </a:lnTo>
                  <a:lnTo>
                    <a:pt x="58350" y="730690"/>
                  </a:lnTo>
                  <a:lnTo>
                    <a:pt x="26383" y="675537"/>
                  </a:lnTo>
                  <a:lnTo>
                    <a:pt x="6708" y="618307"/>
                  </a:lnTo>
                  <a:lnTo>
                    <a:pt x="0" y="559307"/>
                  </a:lnTo>
                  <a:close/>
                </a:path>
              </a:pathLst>
            </a:custGeom>
            <a:ln w="12192">
              <a:solidFill>
                <a:srgbClr val="FFFFFF"/>
              </a:solidFill>
            </a:ln>
          </p:spPr>
          <p:txBody>
            <a:bodyPr wrap="square" lIns="0" tIns="0" rIns="0" bIns="0" rtlCol="0"/>
            <a:lstStyle/>
            <a:p>
              <a:endParaRPr/>
            </a:p>
          </p:txBody>
        </p:sp>
      </p:grpSp>
      <p:sp>
        <p:nvSpPr>
          <p:cNvPr id="11" name="object 11"/>
          <p:cNvSpPr/>
          <p:nvPr/>
        </p:nvSpPr>
        <p:spPr>
          <a:xfrm>
            <a:off x="7775447" y="1562100"/>
            <a:ext cx="1853564" cy="783590"/>
          </a:xfrm>
          <a:custGeom>
            <a:avLst/>
            <a:gdLst/>
            <a:ahLst/>
            <a:cxnLst/>
            <a:rect l="l" t="t" r="r" b="b"/>
            <a:pathLst>
              <a:path w="1853565" h="783589">
                <a:moveTo>
                  <a:pt x="926592" y="0"/>
                </a:moveTo>
                <a:lnTo>
                  <a:pt x="860425" y="983"/>
                </a:lnTo>
                <a:lnTo>
                  <a:pt x="795513" y="3890"/>
                </a:lnTo>
                <a:lnTo>
                  <a:pt x="732013" y="8653"/>
                </a:lnTo>
                <a:lnTo>
                  <a:pt x="670081" y="15206"/>
                </a:lnTo>
                <a:lnTo>
                  <a:pt x="609874" y="23484"/>
                </a:lnTo>
                <a:lnTo>
                  <a:pt x="551549" y="33419"/>
                </a:lnTo>
                <a:lnTo>
                  <a:pt x="495263" y="44945"/>
                </a:lnTo>
                <a:lnTo>
                  <a:pt x="441173" y="57996"/>
                </a:lnTo>
                <a:lnTo>
                  <a:pt x="389435" y="72506"/>
                </a:lnTo>
                <a:lnTo>
                  <a:pt x="340208" y="88409"/>
                </a:lnTo>
                <a:lnTo>
                  <a:pt x="293646" y="105637"/>
                </a:lnTo>
                <a:lnTo>
                  <a:pt x="249908" y="124126"/>
                </a:lnTo>
                <a:lnTo>
                  <a:pt x="209150" y="143807"/>
                </a:lnTo>
                <a:lnTo>
                  <a:pt x="171530" y="164616"/>
                </a:lnTo>
                <a:lnTo>
                  <a:pt x="137203" y="186485"/>
                </a:lnTo>
                <a:lnTo>
                  <a:pt x="106327" y="209349"/>
                </a:lnTo>
                <a:lnTo>
                  <a:pt x="55556" y="257794"/>
                </a:lnTo>
                <a:lnTo>
                  <a:pt x="20470" y="309421"/>
                </a:lnTo>
                <a:lnTo>
                  <a:pt x="2326" y="363700"/>
                </a:lnTo>
                <a:lnTo>
                  <a:pt x="0" y="391667"/>
                </a:lnTo>
                <a:lnTo>
                  <a:pt x="2326" y="419635"/>
                </a:lnTo>
                <a:lnTo>
                  <a:pt x="20470" y="473914"/>
                </a:lnTo>
                <a:lnTo>
                  <a:pt x="55556" y="525541"/>
                </a:lnTo>
                <a:lnTo>
                  <a:pt x="106327" y="573986"/>
                </a:lnTo>
                <a:lnTo>
                  <a:pt x="137203" y="596850"/>
                </a:lnTo>
                <a:lnTo>
                  <a:pt x="171530" y="618719"/>
                </a:lnTo>
                <a:lnTo>
                  <a:pt x="209150" y="639528"/>
                </a:lnTo>
                <a:lnTo>
                  <a:pt x="249908" y="659209"/>
                </a:lnTo>
                <a:lnTo>
                  <a:pt x="293646" y="677698"/>
                </a:lnTo>
                <a:lnTo>
                  <a:pt x="340208" y="694926"/>
                </a:lnTo>
                <a:lnTo>
                  <a:pt x="389435" y="710829"/>
                </a:lnTo>
                <a:lnTo>
                  <a:pt x="441173" y="725339"/>
                </a:lnTo>
                <a:lnTo>
                  <a:pt x="495263" y="738390"/>
                </a:lnTo>
                <a:lnTo>
                  <a:pt x="551549" y="749916"/>
                </a:lnTo>
                <a:lnTo>
                  <a:pt x="609874" y="759851"/>
                </a:lnTo>
                <a:lnTo>
                  <a:pt x="670081" y="768129"/>
                </a:lnTo>
                <a:lnTo>
                  <a:pt x="732013" y="774682"/>
                </a:lnTo>
                <a:lnTo>
                  <a:pt x="795513" y="779445"/>
                </a:lnTo>
                <a:lnTo>
                  <a:pt x="860425" y="782352"/>
                </a:lnTo>
                <a:lnTo>
                  <a:pt x="926592" y="783336"/>
                </a:lnTo>
                <a:lnTo>
                  <a:pt x="992758" y="782352"/>
                </a:lnTo>
                <a:lnTo>
                  <a:pt x="1057670" y="779445"/>
                </a:lnTo>
                <a:lnTo>
                  <a:pt x="1121170" y="774682"/>
                </a:lnTo>
                <a:lnTo>
                  <a:pt x="1183102" y="768129"/>
                </a:lnTo>
                <a:lnTo>
                  <a:pt x="1243309" y="759851"/>
                </a:lnTo>
                <a:lnTo>
                  <a:pt x="1301634" y="749916"/>
                </a:lnTo>
                <a:lnTo>
                  <a:pt x="1357920" y="738390"/>
                </a:lnTo>
                <a:lnTo>
                  <a:pt x="1412010" y="725339"/>
                </a:lnTo>
                <a:lnTo>
                  <a:pt x="1463748" y="710829"/>
                </a:lnTo>
                <a:lnTo>
                  <a:pt x="1512975" y="694926"/>
                </a:lnTo>
                <a:lnTo>
                  <a:pt x="1559537" y="677698"/>
                </a:lnTo>
                <a:lnTo>
                  <a:pt x="1603275" y="659209"/>
                </a:lnTo>
                <a:lnTo>
                  <a:pt x="1644033" y="639528"/>
                </a:lnTo>
                <a:lnTo>
                  <a:pt x="1681653" y="618719"/>
                </a:lnTo>
                <a:lnTo>
                  <a:pt x="1715980" y="596850"/>
                </a:lnTo>
                <a:lnTo>
                  <a:pt x="1746856" y="573986"/>
                </a:lnTo>
                <a:lnTo>
                  <a:pt x="1797627" y="525541"/>
                </a:lnTo>
                <a:lnTo>
                  <a:pt x="1832713" y="473914"/>
                </a:lnTo>
                <a:lnTo>
                  <a:pt x="1850857" y="419635"/>
                </a:lnTo>
                <a:lnTo>
                  <a:pt x="1853183" y="391667"/>
                </a:lnTo>
                <a:lnTo>
                  <a:pt x="1850857" y="363700"/>
                </a:lnTo>
                <a:lnTo>
                  <a:pt x="1832713" y="309421"/>
                </a:lnTo>
                <a:lnTo>
                  <a:pt x="1797627" y="257794"/>
                </a:lnTo>
                <a:lnTo>
                  <a:pt x="1746856" y="209349"/>
                </a:lnTo>
                <a:lnTo>
                  <a:pt x="1715980" y="186485"/>
                </a:lnTo>
                <a:lnTo>
                  <a:pt x="1681653" y="164616"/>
                </a:lnTo>
                <a:lnTo>
                  <a:pt x="1644033" y="143807"/>
                </a:lnTo>
                <a:lnTo>
                  <a:pt x="1603275" y="124126"/>
                </a:lnTo>
                <a:lnTo>
                  <a:pt x="1559537" y="105637"/>
                </a:lnTo>
                <a:lnTo>
                  <a:pt x="1512975" y="88409"/>
                </a:lnTo>
                <a:lnTo>
                  <a:pt x="1463748" y="72506"/>
                </a:lnTo>
                <a:lnTo>
                  <a:pt x="1412010" y="57996"/>
                </a:lnTo>
                <a:lnTo>
                  <a:pt x="1357920" y="44945"/>
                </a:lnTo>
                <a:lnTo>
                  <a:pt x="1301634" y="33419"/>
                </a:lnTo>
                <a:lnTo>
                  <a:pt x="1243309" y="23484"/>
                </a:lnTo>
                <a:lnTo>
                  <a:pt x="1183102" y="15206"/>
                </a:lnTo>
                <a:lnTo>
                  <a:pt x="1121170" y="8653"/>
                </a:lnTo>
                <a:lnTo>
                  <a:pt x="1057670" y="3890"/>
                </a:lnTo>
                <a:lnTo>
                  <a:pt x="992758" y="983"/>
                </a:lnTo>
                <a:lnTo>
                  <a:pt x="926592" y="0"/>
                </a:lnTo>
                <a:close/>
              </a:path>
            </a:pathLst>
          </a:custGeom>
          <a:solidFill>
            <a:srgbClr val="FFC000"/>
          </a:solidFill>
        </p:spPr>
        <p:txBody>
          <a:bodyPr wrap="square" lIns="0" tIns="0" rIns="0" bIns="0" rtlCol="0"/>
          <a:lstStyle/>
          <a:p>
            <a:endParaRPr/>
          </a:p>
        </p:txBody>
      </p:sp>
      <p:sp>
        <p:nvSpPr>
          <p:cNvPr id="12" name="object 12"/>
          <p:cNvSpPr txBox="1"/>
          <p:nvPr/>
        </p:nvSpPr>
        <p:spPr>
          <a:xfrm>
            <a:off x="8108442" y="1650619"/>
            <a:ext cx="1189990" cy="571500"/>
          </a:xfrm>
          <a:prstGeom prst="rect">
            <a:avLst/>
          </a:prstGeom>
        </p:spPr>
        <p:txBody>
          <a:bodyPr vert="horz" wrap="square" lIns="0" tIns="12700" rIns="0" bIns="0" rtlCol="0">
            <a:spAutoFit/>
          </a:bodyPr>
          <a:lstStyle/>
          <a:p>
            <a:pPr algn="ctr">
              <a:lnSpc>
                <a:spcPts val="2150"/>
              </a:lnSpc>
              <a:spcBef>
                <a:spcPts val="100"/>
              </a:spcBef>
            </a:pPr>
            <a:r>
              <a:rPr sz="1800" dirty="0">
                <a:solidFill>
                  <a:srgbClr val="151515"/>
                </a:solidFill>
                <a:latin typeface="Trebuchet MS"/>
                <a:cs typeface="Trebuchet MS"/>
              </a:rPr>
              <a:t>Time</a:t>
            </a:r>
            <a:r>
              <a:rPr sz="1800" spc="-55" dirty="0">
                <a:solidFill>
                  <a:srgbClr val="151515"/>
                </a:solidFill>
                <a:latin typeface="Trebuchet MS"/>
                <a:cs typeface="Trebuchet MS"/>
              </a:rPr>
              <a:t> </a:t>
            </a:r>
            <a:r>
              <a:rPr sz="1800" spc="-15" dirty="0">
                <a:solidFill>
                  <a:srgbClr val="151515"/>
                </a:solidFill>
                <a:latin typeface="Trebuchet MS"/>
                <a:cs typeface="Trebuchet MS"/>
              </a:rPr>
              <a:t>series</a:t>
            </a:r>
            <a:endParaRPr sz="1800" dirty="0">
              <a:latin typeface="Trebuchet MS"/>
              <a:cs typeface="Trebuchet MS"/>
            </a:endParaRPr>
          </a:p>
          <a:p>
            <a:pPr algn="ctr">
              <a:lnSpc>
                <a:spcPts val="2150"/>
              </a:lnSpc>
            </a:pPr>
            <a:r>
              <a:rPr sz="1800" spc="15" dirty="0">
                <a:solidFill>
                  <a:srgbClr val="151515"/>
                </a:solidFill>
                <a:latin typeface="Trebuchet MS"/>
                <a:cs typeface="Trebuchet MS"/>
              </a:rPr>
              <a:t>data</a:t>
            </a:r>
            <a:endParaRPr sz="1800" dirty="0">
              <a:latin typeface="Trebuchet MS"/>
              <a:cs typeface="Trebuchet MS"/>
            </a:endParaRPr>
          </a:p>
        </p:txBody>
      </p:sp>
      <p:sp>
        <p:nvSpPr>
          <p:cNvPr id="13" name="object 13"/>
          <p:cNvSpPr/>
          <p:nvPr/>
        </p:nvSpPr>
        <p:spPr>
          <a:xfrm>
            <a:off x="7024496" y="3361690"/>
            <a:ext cx="385445" cy="414020"/>
          </a:xfrm>
          <a:custGeom>
            <a:avLst/>
            <a:gdLst/>
            <a:ahLst/>
            <a:cxnLst/>
            <a:rect l="l" t="t" r="r" b="b"/>
            <a:pathLst>
              <a:path w="385445" h="414020">
                <a:moveTo>
                  <a:pt x="180848" y="0"/>
                </a:moveTo>
                <a:lnTo>
                  <a:pt x="187451" y="82804"/>
                </a:lnTo>
                <a:lnTo>
                  <a:pt x="0" y="97789"/>
                </a:lnTo>
                <a:lnTo>
                  <a:pt x="20066" y="346075"/>
                </a:lnTo>
                <a:lnTo>
                  <a:pt x="207391" y="330962"/>
                </a:lnTo>
                <a:lnTo>
                  <a:pt x="214122" y="413639"/>
                </a:lnTo>
                <a:lnTo>
                  <a:pt x="384936" y="191770"/>
                </a:lnTo>
                <a:lnTo>
                  <a:pt x="180848" y="0"/>
                </a:lnTo>
                <a:close/>
              </a:path>
            </a:pathLst>
          </a:custGeom>
          <a:solidFill>
            <a:srgbClr val="FFC000"/>
          </a:solidFill>
        </p:spPr>
        <p:txBody>
          <a:bodyPr wrap="square" lIns="0" tIns="0" rIns="0" bIns="0" rtlCol="0"/>
          <a:lstStyle/>
          <a:p>
            <a:endParaRPr/>
          </a:p>
        </p:txBody>
      </p:sp>
      <p:sp>
        <p:nvSpPr>
          <p:cNvPr id="14" name="object 14"/>
          <p:cNvSpPr txBox="1"/>
          <p:nvPr/>
        </p:nvSpPr>
        <p:spPr>
          <a:xfrm>
            <a:off x="7995919" y="3139566"/>
            <a:ext cx="1584960" cy="571500"/>
          </a:xfrm>
          <a:prstGeom prst="rect">
            <a:avLst/>
          </a:prstGeom>
        </p:spPr>
        <p:txBody>
          <a:bodyPr vert="horz" wrap="square" lIns="0" tIns="12700" rIns="0" bIns="0" rtlCol="0">
            <a:spAutoFit/>
          </a:bodyPr>
          <a:lstStyle/>
          <a:p>
            <a:pPr algn="ctr">
              <a:lnSpc>
                <a:spcPts val="2150"/>
              </a:lnSpc>
              <a:spcBef>
                <a:spcPts val="100"/>
              </a:spcBef>
            </a:pPr>
            <a:r>
              <a:rPr sz="1800" spc="25" dirty="0">
                <a:solidFill>
                  <a:srgbClr val="151515"/>
                </a:solidFill>
                <a:latin typeface="Trebuchet MS"/>
                <a:cs typeface="Trebuchet MS"/>
              </a:rPr>
              <a:t>Meteorological</a:t>
            </a:r>
            <a:endParaRPr sz="1800" dirty="0">
              <a:latin typeface="Trebuchet MS"/>
              <a:cs typeface="Trebuchet MS"/>
            </a:endParaRPr>
          </a:p>
          <a:p>
            <a:pPr marL="1270" algn="ctr">
              <a:lnSpc>
                <a:spcPts val="2150"/>
              </a:lnSpc>
            </a:pPr>
            <a:r>
              <a:rPr sz="1800" spc="15" dirty="0">
                <a:solidFill>
                  <a:srgbClr val="151515"/>
                </a:solidFill>
                <a:latin typeface="Trebuchet MS"/>
                <a:cs typeface="Trebuchet MS"/>
              </a:rPr>
              <a:t>data</a:t>
            </a:r>
            <a:endParaRPr sz="1800" dirty="0">
              <a:latin typeface="Trebuchet MS"/>
              <a:cs typeface="Trebuchet MS"/>
            </a:endParaRPr>
          </a:p>
        </p:txBody>
      </p:sp>
      <p:sp>
        <p:nvSpPr>
          <p:cNvPr id="15" name="object 15"/>
          <p:cNvSpPr/>
          <p:nvPr/>
        </p:nvSpPr>
        <p:spPr>
          <a:xfrm>
            <a:off x="7037069" y="4131055"/>
            <a:ext cx="845819" cy="636905"/>
          </a:xfrm>
          <a:custGeom>
            <a:avLst/>
            <a:gdLst/>
            <a:ahLst/>
            <a:cxnLst/>
            <a:rect l="l" t="t" r="r" b="b"/>
            <a:pathLst>
              <a:path w="845820" h="636904">
                <a:moveTo>
                  <a:pt x="124713" y="0"/>
                </a:moveTo>
                <a:lnTo>
                  <a:pt x="0" y="215519"/>
                </a:lnTo>
                <a:lnTo>
                  <a:pt x="603250" y="564896"/>
                </a:lnTo>
                <a:lnTo>
                  <a:pt x="561721" y="636778"/>
                </a:lnTo>
                <a:lnTo>
                  <a:pt x="845311" y="561213"/>
                </a:lnTo>
                <a:lnTo>
                  <a:pt x="769747" y="277622"/>
                </a:lnTo>
                <a:lnTo>
                  <a:pt x="728090" y="349504"/>
                </a:lnTo>
                <a:lnTo>
                  <a:pt x="124713" y="0"/>
                </a:lnTo>
                <a:close/>
              </a:path>
            </a:pathLst>
          </a:custGeom>
          <a:solidFill>
            <a:srgbClr val="FFC000"/>
          </a:solidFill>
        </p:spPr>
        <p:txBody>
          <a:bodyPr wrap="square" lIns="0" tIns="0" rIns="0" bIns="0" rtlCol="0"/>
          <a:lstStyle/>
          <a:p>
            <a:endParaRPr/>
          </a:p>
        </p:txBody>
      </p:sp>
      <p:sp>
        <p:nvSpPr>
          <p:cNvPr id="16" name="object 16"/>
          <p:cNvSpPr/>
          <p:nvPr/>
        </p:nvSpPr>
        <p:spPr>
          <a:xfrm>
            <a:off x="7812023" y="4838700"/>
            <a:ext cx="1999614" cy="783590"/>
          </a:xfrm>
          <a:custGeom>
            <a:avLst/>
            <a:gdLst/>
            <a:ahLst/>
            <a:cxnLst/>
            <a:rect l="l" t="t" r="r" b="b"/>
            <a:pathLst>
              <a:path w="1999615" h="783589">
                <a:moveTo>
                  <a:pt x="999744" y="0"/>
                </a:moveTo>
                <a:lnTo>
                  <a:pt x="934004" y="833"/>
                </a:lnTo>
                <a:lnTo>
                  <a:pt x="869401" y="3298"/>
                </a:lnTo>
                <a:lnTo>
                  <a:pt x="806066" y="7344"/>
                </a:lnTo>
                <a:lnTo>
                  <a:pt x="744131" y="12918"/>
                </a:lnTo>
                <a:lnTo>
                  <a:pt x="683727" y="19970"/>
                </a:lnTo>
                <a:lnTo>
                  <a:pt x="624986" y="28447"/>
                </a:lnTo>
                <a:lnTo>
                  <a:pt x="568039" y="38298"/>
                </a:lnTo>
                <a:lnTo>
                  <a:pt x="513019" y="49471"/>
                </a:lnTo>
                <a:lnTo>
                  <a:pt x="460057" y="61915"/>
                </a:lnTo>
                <a:lnTo>
                  <a:pt x="409285" y="75578"/>
                </a:lnTo>
                <a:lnTo>
                  <a:pt x="360834" y="90408"/>
                </a:lnTo>
                <a:lnTo>
                  <a:pt x="314836" y="106353"/>
                </a:lnTo>
                <a:lnTo>
                  <a:pt x="271423" y="123363"/>
                </a:lnTo>
                <a:lnTo>
                  <a:pt x="230726" y="141384"/>
                </a:lnTo>
                <a:lnTo>
                  <a:pt x="192877" y="160367"/>
                </a:lnTo>
                <a:lnTo>
                  <a:pt x="158008" y="180259"/>
                </a:lnTo>
                <a:lnTo>
                  <a:pt x="97735" y="222562"/>
                </a:lnTo>
                <a:lnTo>
                  <a:pt x="50962" y="267882"/>
                </a:lnTo>
                <a:lnTo>
                  <a:pt x="18741" y="315805"/>
                </a:lnTo>
                <a:lnTo>
                  <a:pt x="2126" y="365919"/>
                </a:lnTo>
                <a:lnTo>
                  <a:pt x="0" y="391668"/>
                </a:lnTo>
                <a:lnTo>
                  <a:pt x="2126" y="417416"/>
                </a:lnTo>
                <a:lnTo>
                  <a:pt x="18741" y="467530"/>
                </a:lnTo>
                <a:lnTo>
                  <a:pt x="50962" y="515453"/>
                </a:lnTo>
                <a:lnTo>
                  <a:pt x="97735" y="560773"/>
                </a:lnTo>
                <a:lnTo>
                  <a:pt x="158008" y="603076"/>
                </a:lnTo>
                <a:lnTo>
                  <a:pt x="192877" y="622968"/>
                </a:lnTo>
                <a:lnTo>
                  <a:pt x="230726" y="641951"/>
                </a:lnTo>
                <a:lnTo>
                  <a:pt x="271423" y="659972"/>
                </a:lnTo>
                <a:lnTo>
                  <a:pt x="314836" y="676982"/>
                </a:lnTo>
                <a:lnTo>
                  <a:pt x="360834" y="692927"/>
                </a:lnTo>
                <a:lnTo>
                  <a:pt x="409285" y="707757"/>
                </a:lnTo>
                <a:lnTo>
                  <a:pt x="460057" y="721420"/>
                </a:lnTo>
                <a:lnTo>
                  <a:pt x="513019" y="733864"/>
                </a:lnTo>
                <a:lnTo>
                  <a:pt x="568039" y="745037"/>
                </a:lnTo>
                <a:lnTo>
                  <a:pt x="624986" y="754888"/>
                </a:lnTo>
                <a:lnTo>
                  <a:pt x="683727" y="763365"/>
                </a:lnTo>
                <a:lnTo>
                  <a:pt x="744131" y="770417"/>
                </a:lnTo>
                <a:lnTo>
                  <a:pt x="806066" y="775991"/>
                </a:lnTo>
                <a:lnTo>
                  <a:pt x="869401" y="780037"/>
                </a:lnTo>
                <a:lnTo>
                  <a:pt x="934004" y="782502"/>
                </a:lnTo>
                <a:lnTo>
                  <a:pt x="999744" y="783336"/>
                </a:lnTo>
                <a:lnTo>
                  <a:pt x="1065483" y="782502"/>
                </a:lnTo>
                <a:lnTo>
                  <a:pt x="1130086" y="780037"/>
                </a:lnTo>
                <a:lnTo>
                  <a:pt x="1193421" y="775991"/>
                </a:lnTo>
                <a:lnTo>
                  <a:pt x="1255356" y="770417"/>
                </a:lnTo>
                <a:lnTo>
                  <a:pt x="1315760" y="763365"/>
                </a:lnTo>
                <a:lnTo>
                  <a:pt x="1374501" y="754888"/>
                </a:lnTo>
                <a:lnTo>
                  <a:pt x="1431448" y="745037"/>
                </a:lnTo>
                <a:lnTo>
                  <a:pt x="1486468" y="733864"/>
                </a:lnTo>
                <a:lnTo>
                  <a:pt x="1539430" y="721420"/>
                </a:lnTo>
                <a:lnTo>
                  <a:pt x="1590202" y="707757"/>
                </a:lnTo>
                <a:lnTo>
                  <a:pt x="1638653" y="692927"/>
                </a:lnTo>
                <a:lnTo>
                  <a:pt x="1684651" y="676982"/>
                </a:lnTo>
                <a:lnTo>
                  <a:pt x="1728064" y="659972"/>
                </a:lnTo>
                <a:lnTo>
                  <a:pt x="1768761" y="641951"/>
                </a:lnTo>
                <a:lnTo>
                  <a:pt x="1806610" y="622968"/>
                </a:lnTo>
                <a:lnTo>
                  <a:pt x="1841479" y="603076"/>
                </a:lnTo>
                <a:lnTo>
                  <a:pt x="1901752" y="560773"/>
                </a:lnTo>
                <a:lnTo>
                  <a:pt x="1948525" y="515453"/>
                </a:lnTo>
                <a:lnTo>
                  <a:pt x="1980746" y="467530"/>
                </a:lnTo>
                <a:lnTo>
                  <a:pt x="1997361" y="417416"/>
                </a:lnTo>
                <a:lnTo>
                  <a:pt x="1999487" y="391668"/>
                </a:lnTo>
                <a:lnTo>
                  <a:pt x="1997361" y="365919"/>
                </a:lnTo>
                <a:lnTo>
                  <a:pt x="1980746" y="315805"/>
                </a:lnTo>
                <a:lnTo>
                  <a:pt x="1948525" y="267882"/>
                </a:lnTo>
                <a:lnTo>
                  <a:pt x="1901752" y="222562"/>
                </a:lnTo>
                <a:lnTo>
                  <a:pt x="1841479" y="180259"/>
                </a:lnTo>
                <a:lnTo>
                  <a:pt x="1806610" y="160367"/>
                </a:lnTo>
                <a:lnTo>
                  <a:pt x="1768761" y="141384"/>
                </a:lnTo>
                <a:lnTo>
                  <a:pt x="1728064" y="123363"/>
                </a:lnTo>
                <a:lnTo>
                  <a:pt x="1684651" y="106353"/>
                </a:lnTo>
                <a:lnTo>
                  <a:pt x="1638653" y="90408"/>
                </a:lnTo>
                <a:lnTo>
                  <a:pt x="1590202" y="75578"/>
                </a:lnTo>
                <a:lnTo>
                  <a:pt x="1539430" y="61915"/>
                </a:lnTo>
                <a:lnTo>
                  <a:pt x="1486468" y="49471"/>
                </a:lnTo>
                <a:lnTo>
                  <a:pt x="1431448" y="38298"/>
                </a:lnTo>
                <a:lnTo>
                  <a:pt x="1374501" y="28447"/>
                </a:lnTo>
                <a:lnTo>
                  <a:pt x="1315760" y="19970"/>
                </a:lnTo>
                <a:lnTo>
                  <a:pt x="1255356" y="12918"/>
                </a:lnTo>
                <a:lnTo>
                  <a:pt x="1193421" y="7344"/>
                </a:lnTo>
                <a:lnTo>
                  <a:pt x="1130086" y="3298"/>
                </a:lnTo>
                <a:lnTo>
                  <a:pt x="1065483" y="833"/>
                </a:lnTo>
                <a:lnTo>
                  <a:pt x="999744" y="0"/>
                </a:lnTo>
                <a:close/>
              </a:path>
            </a:pathLst>
          </a:custGeom>
          <a:solidFill>
            <a:srgbClr val="FFC000"/>
          </a:solidFill>
        </p:spPr>
        <p:txBody>
          <a:bodyPr wrap="square" lIns="0" tIns="0" rIns="0" bIns="0" rtlCol="0"/>
          <a:lstStyle/>
          <a:p>
            <a:endParaRPr/>
          </a:p>
        </p:txBody>
      </p:sp>
      <p:sp>
        <p:nvSpPr>
          <p:cNvPr id="17" name="object 17"/>
          <p:cNvSpPr txBox="1"/>
          <p:nvPr/>
        </p:nvSpPr>
        <p:spPr>
          <a:xfrm>
            <a:off x="8393430" y="4928107"/>
            <a:ext cx="838835" cy="571500"/>
          </a:xfrm>
          <a:prstGeom prst="rect">
            <a:avLst/>
          </a:prstGeom>
        </p:spPr>
        <p:txBody>
          <a:bodyPr vert="horz" wrap="square" lIns="0" tIns="12700" rIns="0" bIns="0" rtlCol="0">
            <a:spAutoFit/>
          </a:bodyPr>
          <a:lstStyle/>
          <a:p>
            <a:pPr algn="ctr">
              <a:lnSpc>
                <a:spcPts val="2150"/>
              </a:lnSpc>
              <a:spcBef>
                <a:spcPts val="100"/>
              </a:spcBef>
            </a:pPr>
            <a:r>
              <a:rPr sz="1800" spc="20" dirty="0">
                <a:latin typeface="Trebuchet MS"/>
                <a:cs typeface="Trebuchet MS"/>
              </a:rPr>
              <a:t>Cube</a:t>
            </a:r>
            <a:endParaRPr sz="1800" dirty="0">
              <a:latin typeface="Trebuchet MS"/>
              <a:cs typeface="Trebuchet MS"/>
            </a:endParaRPr>
          </a:p>
          <a:p>
            <a:pPr algn="ctr">
              <a:lnSpc>
                <a:spcPts val="2150"/>
              </a:lnSpc>
            </a:pPr>
            <a:r>
              <a:rPr sz="1800" spc="10" dirty="0">
                <a:latin typeface="Trebuchet MS"/>
                <a:cs typeface="Trebuchet MS"/>
              </a:rPr>
              <a:t>analysis</a:t>
            </a:r>
            <a:endParaRPr sz="1800" dirty="0">
              <a:latin typeface="Trebuchet MS"/>
              <a:cs typeface="Trebuchet MS"/>
            </a:endParaRPr>
          </a:p>
        </p:txBody>
      </p:sp>
      <p:sp>
        <p:nvSpPr>
          <p:cNvPr id="18" name="object 18"/>
          <p:cNvSpPr/>
          <p:nvPr/>
        </p:nvSpPr>
        <p:spPr>
          <a:xfrm>
            <a:off x="5945378" y="4553077"/>
            <a:ext cx="414655" cy="308610"/>
          </a:xfrm>
          <a:custGeom>
            <a:avLst/>
            <a:gdLst/>
            <a:ahLst/>
            <a:cxnLst/>
            <a:rect l="l" t="t" r="r" b="b"/>
            <a:pathLst>
              <a:path w="414654" h="308610">
                <a:moveTo>
                  <a:pt x="323723" y="0"/>
                </a:moveTo>
                <a:lnTo>
                  <a:pt x="75057" y="12954"/>
                </a:lnTo>
                <a:lnTo>
                  <a:pt x="82804" y="163956"/>
                </a:lnTo>
                <a:lnTo>
                  <a:pt x="0" y="168275"/>
                </a:lnTo>
                <a:lnTo>
                  <a:pt x="215011" y="308610"/>
                </a:lnTo>
                <a:lnTo>
                  <a:pt x="414400" y="146812"/>
                </a:lnTo>
                <a:lnTo>
                  <a:pt x="331470" y="151130"/>
                </a:lnTo>
                <a:lnTo>
                  <a:pt x="323723" y="0"/>
                </a:lnTo>
                <a:close/>
              </a:path>
            </a:pathLst>
          </a:custGeom>
          <a:solidFill>
            <a:srgbClr val="FFC000"/>
          </a:solidFill>
        </p:spPr>
        <p:txBody>
          <a:bodyPr wrap="square" lIns="0" tIns="0" rIns="0" bIns="0" rtlCol="0"/>
          <a:lstStyle/>
          <a:p>
            <a:endParaRPr/>
          </a:p>
        </p:txBody>
      </p:sp>
      <p:sp>
        <p:nvSpPr>
          <p:cNvPr id="19" name="object 19"/>
          <p:cNvSpPr/>
          <p:nvPr/>
        </p:nvSpPr>
        <p:spPr>
          <a:xfrm>
            <a:off x="5183123" y="5003291"/>
            <a:ext cx="2018030" cy="934719"/>
          </a:xfrm>
          <a:custGeom>
            <a:avLst/>
            <a:gdLst/>
            <a:ahLst/>
            <a:cxnLst/>
            <a:rect l="l" t="t" r="r" b="b"/>
            <a:pathLst>
              <a:path w="2018029" h="934720">
                <a:moveTo>
                  <a:pt x="1008888" y="0"/>
                </a:moveTo>
                <a:lnTo>
                  <a:pt x="945089" y="919"/>
                </a:lnTo>
                <a:lnTo>
                  <a:pt x="882343" y="3640"/>
                </a:lnTo>
                <a:lnTo>
                  <a:pt x="820770" y="8107"/>
                </a:lnTo>
                <a:lnTo>
                  <a:pt x="760488" y="14268"/>
                </a:lnTo>
                <a:lnTo>
                  <a:pt x="701613" y="22065"/>
                </a:lnTo>
                <a:lnTo>
                  <a:pt x="644266" y="31446"/>
                </a:lnTo>
                <a:lnTo>
                  <a:pt x="588563" y="42354"/>
                </a:lnTo>
                <a:lnTo>
                  <a:pt x="534624" y="54736"/>
                </a:lnTo>
                <a:lnTo>
                  <a:pt x="482566" y="68536"/>
                </a:lnTo>
                <a:lnTo>
                  <a:pt x="432508" y="83700"/>
                </a:lnTo>
                <a:lnTo>
                  <a:pt x="384567" y="100173"/>
                </a:lnTo>
                <a:lnTo>
                  <a:pt x="338863" y="117900"/>
                </a:lnTo>
                <a:lnTo>
                  <a:pt x="295513" y="136826"/>
                </a:lnTo>
                <a:lnTo>
                  <a:pt x="254635" y="156897"/>
                </a:lnTo>
                <a:lnTo>
                  <a:pt x="216348" y="178058"/>
                </a:lnTo>
                <a:lnTo>
                  <a:pt x="180771" y="200255"/>
                </a:lnTo>
                <a:lnTo>
                  <a:pt x="148020" y="223431"/>
                </a:lnTo>
                <a:lnTo>
                  <a:pt x="118215" y="247534"/>
                </a:lnTo>
                <a:lnTo>
                  <a:pt x="67915" y="298296"/>
                </a:lnTo>
                <a:lnTo>
                  <a:pt x="30815" y="352105"/>
                </a:lnTo>
                <a:lnTo>
                  <a:pt x="7861" y="408520"/>
                </a:lnTo>
                <a:lnTo>
                  <a:pt x="0" y="467105"/>
                </a:lnTo>
                <a:lnTo>
                  <a:pt x="1985" y="496646"/>
                </a:lnTo>
                <a:lnTo>
                  <a:pt x="17510" y="554207"/>
                </a:lnTo>
                <a:lnTo>
                  <a:pt x="47655" y="609378"/>
                </a:lnTo>
                <a:lnTo>
                  <a:pt x="91474" y="661721"/>
                </a:lnTo>
                <a:lnTo>
                  <a:pt x="148020" y="710797"/>
                </a:lnTo>
                <a:lnTo>
                  <a:pt x="180771" y="733973"/>
                </a:lnTo>
                <a:lnTo>
                  <a:pt x="216348" y="756169"/>
                </a:lnTo>
                <a:lnTo>
                  <a:pt x="254635" y="777329"/>
                </a:lnTo>
                <a:lnTo>
                  <a:pt x="295513" y="797399"/>
                </a:lnTo>
                <a:lnTo>
                  <a:pt x="338863" y="816324"/>
                </a:lnTo>
                <a:lnTo>
                  <a:pt x="384567" y="834050"/>
                </a:lnTo>
                <a:lnTo>
                  <a:pt x="432508" y="850522"/>
                </a:lnTo>
                <a:lnTo>
                  <a:pt x="482566" y="865684"/>
                </a:lnTo>
                <a:lnTo>
                  <a:pt x="534624" y="879483"/>
                </a:lnTo>
                <a:lnTo>
                  <a:pt x="588563" y="891863"/>
                </a:lnTo>
                <a:lnTo>
                  <a:pt x="644266" y="902770"/>
                </a:lnTo>
                <a:lnTo>
                  <a:pt x="701613" y="912149"/>
                </a:lnTo>
                <a:lnTo>
                  <a:pt x="760488" y="919946"/>
                </a:lnTo>
                <a:lnTo>
                  <a:pt x="820770" y="926105"/>
                </a:lnTo>
                <a:lnTo>
                  <a:pt x="882343" y="930572"/>
                </a:lnTo>
                <a:lnTo>
                  <a:pt x="945089" y="933293"/>
                </a:lnTo>
                <a:lnTo>
                  <a:pt x="1008888" y="934211"/>
                </a:lnTo>
                <a:lnTo>
                  <a:pt x="1072686" y="933293"/>
                </a:lnTo>
                <a:lnTo>
                  <a:pt x="1135432" y="930572"/>
                </a:lnTo>
                <a:lnTo>
                  <a:pt x="1197005" y="926105"/>
                </a:lnTo>
                <a:lnTo>
                  <a:pt x="1257287" y="919946"/>
                </a:lnTo>
                <a:lnTo>
                  <a:pt x="1316162" y="912149"/>
                </a:lnTo>
                <a:lnTo>
                  <a:pt x="1373509" y="902770"/>
                </a:lnTo>
                <a:lnTo>
                  <a:pt x="1429212" y="891863"/>
                </a:lnTo>
                <a:lnTo>
                  <a:pt x="1483151" y="879483"/>
                </a:lnTo>
                <a:lnTo>
                  <a:pt x="1535209" y="865684"/>
                </a:lnTo>
                <a:lnTo>
                  <a:pt x="1585267" y="850522"/>
                </a:lnTo>
                <a:lnTo>
                  <a:pt x="1633208" y="834050"/>
                </a:lnTo>
                <a:lnTo>
                  <a:pt x="1678912" y="816324"/>
                </a:lnTo>
                <a:lnTo>
                  <a:pt x="1722262" y="797399"/>
                </a:lnTo>
                <a:lnTo>
                  <a:pt x="1763140" y="777329"/>
                </a:lnTo>
                <a:lnTo>
                  <a:pt x="1801427" y="756169"/>
                </a:lnTo>
                <a:lnTo>
                  <a:pt x="1837004" y="733973"/>
                </a:lnTo>
                <a:lnTo>
                  <a:pt x="1869755" y="710797"/>
                </a:lnTo>
                <a:lnTo>
                  <a:pt x="1899560" y="686694"/>
                </a:lnTo>
                <a:lnTo>
                  <a:pt x="1949860" y="635930"/>
                </a:lnTo>
                <a:lnTo>
                  <a:pt x="1986960" y="582119"/>
                </a:lnTo>
                <a:lnTo>
                  <a:pt x="2009914" y="525698"/>
                </a:lnTo>
                <a:lnTo>
                  <a:pt x="2017776" y="467105"/>
                </a:lnTo>
                <a:lnTo>
                  <a:pt x="2015790" y="437569"/>
                </a:lnTo>
                <a:lnTo>
                  <a:pt x="2000265" y="380014"/>
                </a:lnTo>
                <a:lnTo>
                  <a:pt x="1970120" y="324847"/>
                </a:lnTo>
                <a:lnTo>
                  <a:pt x="1926301" y="272507"/>
                </a:lnTo>
                <a:lnTo>
                  <a:pt x="1869755" y="223431"/>
                </a:lnTo>
                <a:lnTo>
                  <a:pt x="1837004" y="200255"/>
                </a:lnTo>
                <a:lnTo>
                  <a:pt x="1801427" y="178058"/>
                </a:lnTo>
                <a:lnTo>
                  <a:pt x="1763140" y="156897"/>
                </a:lnTo>
                <a:lnTo>
                  <a:pt x="1722262" y="136826"/>
                </a:lnTo>
                <a:lnTo>
                  <a:pt x="1678912" y="117900"/>
                </a:lnTo>
                <a:lnTo>
                  <a:pt x="1633208" y="100173"/>
                </a:lnTo>
                <a:lnTo>
                  <a:pt x="1585267" y="83700"/>
                </a:lnTo>
                <a:lnTo>
                  <a:pt x="1535209" y="68536"/>
                </a:lnTo>
                <a:lnTo>
                  <a:pt x="1483151" y="54736"/>
                </a:lnTo>
                <a:lnTo>
                  <a:pt x="1429212" y="42354"/>
                </a:lnTo>
                <a:lnTo>
                  <a:pt x="1373509" y="31446"/>
                </a:lnTo>
                <a:lnTo>
                  <a:pt x="1316162" y="22065"/>
                </a:lnTo>
                <a:lnTo>
                  <a:pt x="1257287" y="14268"/>
                </a:lnTo>
                <a:lnTo>
                  <a:pt x="1197005" y="8107"/>
                </a:lnTo>
                <a:lnTo>
                  <a:pt x="1135432" y="3640"/>
                </a:lnTo>
                <a:lnTo>
                  <a:pt x="1072686" y="919"/>
                </a:lnTo>
                <a:lnTo>
                  <a:pt x="1008888" y="0"/>
                </a:lnTo>
                <a:close/>
              </a:path>
            </a:pathLst>
          </a:custGeom>
          <a:solidFill>
            <a:srgbClr val="FFC000"/>
          </a:solidFill>
        </p:spPr>
        <p:txBody>
          <a:bodyPr wrap="square" lIns="0" tIns="0" rIns="0" bIns="0" rtlCol="0"/>
          <a:lstStyle/>
          <a:p>
            <a:endParaRPr/>
          </a:p>
        </p:txBody>
      </p:sp>
      <p:sp>
        <p:nvSpPr>
          <p:cNvPr id="20" name="object 20"/>
          <p:cNvSpPr txBox="1"/>
          <p:nvPr/>
        </p:nvSpPr>
        <p:spPr>
          <a:xfrm>
            <a:off x="5732145" y="5303901"/>
            <a:ext cx="919480" cy="299720"/>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Trebuchet MS"/>
                <a:cs typeface="Trebuchet MS"/>
              </a:rPr>
              <a:t>N</a:t>
            </a:r>
            <a:r>
              <a:rPr lang="en-US" b="1" spc="90" dirty="0">
                <a:latin typeface="Trebuchet MS"/>
                <a:cs typeface="Trebuchet MS"/>
              </a:rPr>
              <a:t>o</a:t>
            </a:r>
            <a:r>
              <a:rPr sz="1800" b="1" spc="90" dirty="0">
                <a:latin typeface="Trebuchet MS"/>
                <a:cs typeface="Trebuchet MS"/>
              </a:rPr>
              <a:t>SQL</a:t>
            </a:r>
            <a:endParaRPr sz="1800" b="1" dirty="0">
              <a:latin typeface="Trebuchet MS"/>
              <a:cs typeface="Trebuchet MS"/>
            </a:endParaRPr>
          </a:p>
        </p:txBody>
      </p:sp>
      <p:grpSp>
        <p:nvGrpSpPr>
          <p:cNvPr id="21" name="object 21"/>
          <p:cNvGrpSpPr/>
          <p:nvPr/>
        </p:nvGrpSpPr>
        <p:grpSpPr>
          <a:xfrm>
            <a:off x="2369566" y="4114165"/>
            <a:ext cx="2870835" cy="1647189"/>
            <a:chOff x="2369566" y="4114165"/>
            <a:chExt cx="2870835" cy="1647189"/>
          </a:xfrm>
        </p:grpSpPr>
        <p:sp>
          <p:nvSpPr>
            <p:cNvPr id="22" name="object 22"/>
            <p:cNvSpPr/>
            <p:nvPr/>
          </p:nvSpPr>
          <p:spPr>
            <a:xfrm>
              <a:off x="2375916" y="4114165"/>
              <a:ext cx="2864485" cy="1640839"/>
            </a:xfrm>
            <a:custGeom>
              <a:avLst/>
              <a:gdLst/>
              <a:ahLst/>
              <a:cxnLst/>
              <a:rect l="l" t="t" r="r" b="b"/>
              <a:pathLst>
                <a:path w="2864485" h="1640839">
                  <a:moveTo>
                    <a:pt x="2357628" y="1092581"/>
                  </a:moveTo>
                  <a:lnTo>
                    <a:pt x="2350706" y="1032878"/>
                  </a:lnTo>
                  <a:lnTo>
                    <a:pt x="2330424" y="975042"/>
                  </a:lnTo>
                  <a:lnTo>
                    <a:pt x="2297519" y="919391"/>
                  </a:lnTo>
                  <a:lnTo>
                    <a:pt x="2252700" y="866279"/>
                  </a:lnTo>
                  <a:lnTo>
                    <a:pt x="2196668" y="816038"/>
                  </a:lnTo>
                  <a:lnTo>
                    <a:pt x="2164689" y="792099"/>
                  </a:lnTo>
                  <a:lnTo>
                    <a:pt x="2130171" y="768997"/>
                  </a:lnTo>
                  <a:lnTo>
                    <a:pt x="2093214" y="746772"/>
                  </a:lnTo>
                  <a:lnTo>
                    <a:pt x="2053907" y="725487"/>
                  </a:lnTo>
                  <a:lnTo>
                    <a:pt x="2012340" y="705154"/>
                  </a:lnTo>
                  <a:lnTo>
                    <a:pt x="1968601" y="685838"/>
                  </a:lnTo>
                  <a:lnTo>
                    <a:pt x="1922792" y="667575"/>
                  </a:lnTo>
                  <a:lnTo>
                    <a:pt x="1874977" y="650405"/>
                  </a:lnTo>
                  <a:lnTo>
                    <a:pt x="1825282" y="634365"/>
                  </a:lnTo>
                  <a:lnTo>
                    <a:pt x="1773758" y="619493"/>
                  </a:lnTo>
                  <a:lnTo>
                    <a:pt x="1720519" y="605853"/>
                  </a:lnTo>
                  <a:lnTo>
                    <a:pt x="1665655" y="593471"/>
                  </a:lnTo>
                  <a:lnTo>
                    <a:pt x="1609242" y="582383"/>
                  </a:lnTo>
                  <a:lnTo>
                    <a:pt x="1551393" y="572630"/>
                  </a:lnTo>
                  <a:lnTo>
                    <a:pt x="1492173" y="564273"/>
                  </a:lnTo>
                  <a:lnTo>
                    <a:pt x="1431683" y="557339"/>
                  </a:lnTo>
                  <a:lnTo>
                    <a:pt x="1370012" y="551878"/>
                  </a:lnTo>
                  <a:lnTo>
                    <a:pt x="1307249" y="547928"/>
                  </a:lnTo>
                  <a:lnTo>
                    <a:pt x="1243482" y="545515"/>
                  </a:lnTo>
                  <a:lnTo>
                    <a:pt x="1178814" y="544703"/>
                  </a:lnTo>
                  <a:lnTo>
                    <a:pt x="1114132" y="545515"/>
                  </a:lnTo>
                  <a:lnTo>
                    <a:pt x="1050366" y="547928"/>
                  </a:lnTo>
                  <a:lnTo>
                    <a:pt x="987602" y="551878"/>
                  </a:lnTo>
                  <a:lnTo>
                    <a:pt x="925931" y="557339"/>
                  </a:lnTo>
                  <a:lnTo>
                    <a:pt x="865441" y="564273"/>
                  </a:lnTo>
                  <a:lnTo>
                    <a:pt x="806221" y="572630"/>
                  </a:lnTo>
                  <a:lnTo>
                    <a:pt x="748372" y="582383"/>
                  </a:lnTo>
                  <a:lnTo>
                    <a:pt x="691959" y="593471"/>
                  </a:lnTo>
                  <a:lnTo>
                    <a:pt x="637095" y="605853"/>
                  </a:lnTo>
                  <a:lnTo>
                    <a:pt x="583857" y="619493"/>
                  </a:lnTo>
                  <a:lnTo>
                    <a:pt x="532333" y="634365"/>
                  </a:lnTo>
                  <a:lnTo>
                    <a:pt x="482638" y="650405"/>
                  </a:lnTo>
                  <a:lnTo>
                    <a:pt x="434822" y="667575"/>
                  </a:lnTo>
                  <a:lnTo>
                    <a:pt x="389013" y="685838"/>
                  </a:lnTo>
                  <a:lnTo>
                    <a:pt x="345274" y="705154"/>
                  </a:lnTo>
                  <a:lnTo>
                    <a:pt x="303707" y="725487"/>
                  </a:lnTo>
                  <a:lnTo>
                    <a:pt x="264401" y="746772"/>
                  </a:lnTo>
                  <a:lnTo>
                    <a:pt x="227444" y="768997"/>
                  </a:lnTo>
                  <a:lnTo>
                    <a:pt x="192925" y="792099"/>
                  </a:lnTo>
                  <a:lnTo>
                    <a:pt x="160947" y="816038"/>
                  </a:lnTo>
                  <a:lnTo>
                    <a:pt x="131572" y="840778"/>
                  </a:lnTo>
                  <a:lnTo>
                    <a:pt x="81064" y="892505"/>
                  </a:lnTo>
                  <a:lnTo>
                    <a:pt x="42100" y="946924"/>
                  </a:lnTo>
                  <a:lnTo>
                    <a:pt x="15417" y="1003706"/>
                  </a:lnTo>
                  <a:lnTo>
                    <a:pt x="1739" y="1062520"/>
                  </a:lnTo>
                  <a:lnTo>
                    <a:pt x="0" y="1092581"/>
                  </a:lnTo>
                  <a:lnTo>
                    <a:pt x="1739" y="1122654"/>
                  </a:lnTo>
                  <a:lnTo>
                    <a:pt x="15417" y="1181468"/>
                  </a:lnTo>
                  <a:lnTo>
                    <a:pt x="42100" y="1238250"/>
                  </a:lnTo>
                  <a:lnTo>
                    <a:pt x="81064" y="1292669"/>
                  </a:lnTo>
                  <a:lnTo>
                    <a:pt x="131572" y="1344396"/>
                  </a:lnTo>
                  <a:lnTo>
                    <a:pt x="160947" y="1369136"/>
                  </a:lnTo>
                  <a:lnTo>
                    <a:pt x="192925" y="1393075"/>
                  </a:lnTo>
                  <a:lnTo>
                    <a:pt x="227444" y="1416177"/>
                  </a:lnTo>
                  <a:lnTo>
                    <a:pt x="264401" y="1438402"/>
                  </a:lnTo>
                  <a:lnTo>
                    <a:pt x="303707" y="1459687"/>
                  </a:lnTo>
                  <a:lnTo>
                    <a:pt x="345274" y="1480019"/>
                  </a:lnTo>
                  <a:lnTo>
                    <a:pt x="389013" y="1499336"/>
                  </a:lnTo>
                  <a:lnTo>
                    <a:pt x="434822" y="1517599"/>
                  </a:lnTo>
                  <a:lnTo>
                    <a:pt x="482638" y="1534769"/>
                  </a:lnTo>
                  <a:lnTo>
                    <a:pt x="532333" y="1550809"/>
                  </a:lnTo>
                  <a:lnTo>
                    <a:pt x="583857" y="1565681"/>
                  </a:lnTo>
                  <a:lnTo>
                    <a:pt x="637095" y="1579321"/>
                  </a:lnTo>
                  <a:lnTo>
                    <a:pt x="691959" y="1591703"/>
                  </a:lnTo>
                  <a:lnTo>
                    <a:pt x="748372" y="1602790"/>
                  </a:lnTo>
                  <a:lnTo>
                    <a:pt x="806221" y="1612544"/>
                  </a:lnTo>
                  <a:lnTo>
                    <a:pt x="865441" y="1620901"/>
                  </a:lnTo>
                  <a:lnTo>
                    <a:pt x="925931" y="1627835"/>
                  </a:lnTo>
                  <a:lnTo>
                    <a:pt x="987602" y="1633296"/>
                  </a:lnTo>
                  <a:lnTo>
                    <a:pt x="1050366" y="1637245"/>
                  </a:lnTo>
                  <a:lnTo>
                    <a:pt x="1114132" y="1639658"/>
                  </a:lnTo>
                  <a:lnTo>
                    <a:pt x="1178814" y="1640459"/>
                  </a:lnTo>
                  <a:lnTo>
                    <a:pt x="1243482" y="1639658"/>
                  </a:lnTo>
                  <a:lnTo>
                    <a:pt x="1307249" y="1637245"/>
                  </a:lnTo>
                  <a:lnTo>
                    <a:pt x="1370012" y="1633296"/>
                  </a:lnTo>
                  <a:lnTo>
                    <a:pt x="1431683" y="1627835"/>
                  </a:lnTo>
                  <a:lnTo>
                    <a:pt x="1492173" y="1620901"/>
                  </a:lnTo>
                  <a:lnTo>
                    <a:pt x="1551393" y="1612544"/>
                  </a:lnTo>
                  <a:lnTo>
                    <a:pt x="1609242" y="1602790"/>
                  </a:lnTo>
                  <a:lnTo>
                    <a:pt x="1665655" y="1591703"/>
                  </a:lnTo>
                  <a:lnTo>
                    <a:pt x="1720519" y="1579321"/>
                  </a:lnTo>
                  <a:lnTo>
                    <a:pt x="1773758" y="1565681"/>
                  </a:lnTo>
                  <a:lnTo>
                    <a:pt x="1825282" y="1550809"/>
                  </a:lnTo>
                  <a:lnTo>
                    <a:pt x="1874977" y="1534769"/>
                  </a:lnTo>
                  <a:lnTo>
                    <a:pt x="1922792" y="1517599"/>
                  </a:lnTo>
                  <a:lnTo>
                    <a:pt x="1968601" y="1499336"/>
                  </a:lnTo>
                  <a:lnTo>
                    <a:pt x="2012340" y="1480019"/>
                  </a:lnTo>
                  <a:lnTo>
                    <a:pt x="2053907" y="1459687"/>
                  </a:lnTo>
                  <a:lnTo>
                    <a:pt x="2093214" y="1438402"/>
                  </a:lnTo>
                  <a:lnTo>
                    <a:pt x="2130171" y="1416177"/>
                  </a:lnTo>
                  <a:lnTo>
                    <a:pt x="2164689" y="1393075"/>
                  </a:lnTo>
                  <a:lnTo>
                    <a:pt x="2196668" y="1369136"/>
                  </a:lnTo>
                  <a:lnTo>
                    <a:pt x="2226043" y="1344396"/>
                  </a:lnTo>
                  <a:lnTo>
                    <a:pt x="2276551" y="1292669"/>
                  </a:lnTo>
                  <a:lnTo>
                    <a:pt x="2315514" y="1238250"/>
                  </a:lnTo>
                  <a:lnTo>
                    <a:pt x="2342197" y="1181468"/>
                  </a:lnTo>
                  <a:lnTo>
                    <a:pt x="2355875" y="1122654"/>
                  </a:lnTo>
                  <a:lnTo>
                    <a:pt x="2357628" y="1092581"/>
                  </a:lnTo>
                  <a:close/>
                </a:path>
                <a:path w="2864485" h="1640839">
                  <a:moveTo>
                    <a:pt x="2863977" y="212725"/>
                  </a:moveTo>
                  <a:lnTo>
                    <a:pt x="2734564" y="0"/>
                  </a:lnTo>
                  <a:lnTo>
                    <a:pt x="2296795" y="266446"/>
                  </a:lnTo>
                  <a:lnTo>
                    <a:pt x="2253615" y="195580"/>
                  </a:lnTo>
                  <a:lnTo>
                    <a:pt x="2184146" y="480695"/>
                  </a:lnTo>
                  <a:lnTo>
                    <a:pt x="2469261" y="550037"/>
                  </a:lnTo>
                  <a:lnTo>
                    <a:pt x="2426208" y="479171"/>
                  </a:lnTo>
                  <a:lnTo>
                    <a:pt x="2863977" y="212725"/>
                  </a:lnTo>
                  <a:close/>
                </a:path>
              </a:pathLst>
            </a:custGeom>
            <a:solidFill>
              <a:srgbClr val="FFC000"/>
            </a:solidFill>
          </p:spPr>
          <p:txBody>
            <a:bodyPr wrap="square" lIns="0" tIns="0" rIns="0" bIns="0" rtlCol="0"/>
            <a:lstStyle/>
            <a:p>
              <a:endParaRPr/>
            </a:p>
          </p:txBody>
        </p:sp>
        <p:sp>
          <p:nvSpPr>
            <p:cNvPr id="23" name="object 23"/>
            <p:cNvSpPr/>
            <p:nvPr/>
          </p:nvSpPr>
          <p:spPr>
            <a:xfrm>
              <a:off x="2375916" y="4658868"/>
              <a:ext cx="2357755" cy="1096010"/>
            </a:xfrm>
            <a:custGeom>
              <a:avLst/>
              <a:gdLst/>
              <a:ahLst/>
              <a:cxnLst/>
              <a:rect l="l" t="t" r="r" b="b"/>
              <a:pathLst>
                <a:path w="2357754" h="1096010">
                  <a:moveTo>
                    <a:pt x="0" y="547877"/>
                  </a:moveTo>
                  <a:lnTo>
                    <a:pt x="6917" y="488170"/>
                  </a:lnTo>
                  <a:lnTo>
                    <a:pt x="27190" y="430328"/>
                  </a:lnTo>
                  <a:lnTo>
                    <a:pt x="60100" y="374684"/>
                  </a:lnTo>
                  <a:lnTo>
                    <a:pt x="104927" y="321573"/>
                  </a:lnTo>
                  <a:lnTo>
                    <a:pt x="160951" y="271328"/>
                  </a:lnTo>
                  <a:lnTo>
                    <a:pt x="192937" y="247385"/>
                  </a:lnTo>
                  <a:lnTo>
                    <a:pt x="227453" y="224284"/>
                  </a:lnTo>
                  <a:lnTo>
                    <a:pt x="264409" y="202066"/>
                  </a:lnTo>
                  <a:lnTo>
                    <a:pt x="303715" y="180773"/>
                  </a:lnTo>
                  <a:lnTo>
                    <a:pt x="345281" y="160448"/>
                  </a:lnTo>
                  <a:lnTo>
                    <a:pt x="389016" y="141132"/>
                  </a:lnTo>
                  <a:lnTo>
                    <a:pt x="434832" y="122866"/>
                  </a:lnTo>
                  <a:lnTo>
                    <a:pt x="482638" y="105692"/>
                  </a:lnTo>
                  <a:lnTo>
                    <a:pt x="532344" y="89652"/>
                  </a:lnTo>
                  <a:lnTo>
                    <a:pt x="583861" y="74788"/>
                  </a:lnTo>
                  <a:lnTo>
                    <a:pt x="637098" y="61142"/>
                  </a:lnTo>
                  <a:lnTo>
                    <a:pt x="691965" y="48755"/>
                  </a:lnTo>
                  <a:lnTo>
                    <a:pt x="748373" y="37669"/>
                  </a:lnTo>
                  <a:lnTo>
                    <a:pt x="806232" y="27925"/>
                  </a:lnTo>
                  <a:lnTo>
                    <a:pt x="865452" y="19566"/>
                  </a:lnTo>
                  <a:lnTo>
                    <a:pt x="925942" y="12634"/>
                  </a:lnTo>
                  <a:lnTo>
                    <a:pt x="987613" y="7169"/>
                  </a:lnTo>
                  <a:lnTo>
                    <a:pt x="1050376" y="3214"/>
                  </a:lnTo>
                  <a:lnTo>
                    <a:pt x="1114139" y="810"/>
                  </a:lnTo>
                  <a:lnTo>
                    <a:pt x="1178813" y="0"/>
                  </a:lnTo>
                  <a:lnTo>
                    <a:pt x="1243488" y="810"/>
                  </a:lnTo>
                  <a:lnTo>
                    <a:pt x="1307251" y="3214"/>
                  </a:lnTo>
                  <a:lnTo>
                    <a:pt x="1370014" y="7169"/>
                  </a:lnTo>
                  <a:lnTo>
                    <a:pt x="1431685" y="12634"/>
                  </a:lnTo>
                  <a:lnTo>
                    <a:pt x="1492175" y="19566"/>
                  </a:lnTo>
                  <a:lnTo>
                    <a:pt x="1551395" y="27925"/>
                  </a:lnTo>
                  <a:lnTo>
                    <a:pt x="1609254" y="37669"/>
                  </a:lnTo>
                  <a:lnTo>
                    <a:pt x="1665662" y="48755"/>
                  </a:lnTo>
                  <a:lnTo>
                    <a:pt x="1720529" y="61142"/>
                  </a:lnTo>
                  <a:lnTo>
                    <a:pt x="1773766" y="74788"/>
                  </a:lnTo>
                  <a:lnTo>
                    <a:pt x="1825283" y="89652"/>
                  </a:lnTo>
                  <a:lnTo>
                    <a:pt x="1874989" y="105692"/>
                  </a:lnTo>
                  <a:lnTo>
                    <a:pt x="1922795" y="122866"/>
                  </a:lnTo>
                  <a:lnTo>
                    <a:pt x="1968611" y="141132"/>
                  </a:lnTo>
                  <a:lnTo>
                    <a:pt x="2012346" y="160448"/>
                  </a:lnTo>
                  <a:lnTo>
                    <a:pt x="2053912" y="180773"/>
                  </a:lnTo>
                  <a:lnTo>
                    <a:pt x="2093218" y="202066"/>
                  </a:lnTo>
                  <a:lnTo>
                    <a:pt x="2130174" y="224284"/>
                  </a:lnTo>
                  <a:lnTo>
                    <a:pt x="2164690" y="247385"/>
                  </a:lnTo>
                  <a:lnTo>
                    <a:pt x="2196676" y="271328"/>
                  </a:lnTo>
                  <a:lnTo>
                    <a:pt x="2226043" y="296071"/>
                  </a:lnTo>
                  <a:lnTo>
                    <a:pt x="2276558" y="347791"/>
                  </a:lnTo>
                  <a:lnTo>
                    <a:pt x="2315516" y="402210"/>
                  </a:lnTo>
                  <a:lnTo>
                    <a:pt x="2342198" y="458995"/>
                  </a:lnTo>
                  <a:lnTo>
                    <a:pt x="2355883" y="517812"/>
                  </a:lnTo>
                  <a:lnTo>
                    <a:pt x="2357628" y="547877"/>
                  </a:lnTo>
                  <a:lnTo>
                    <a:pt x="2355883" y="577943"/>
                  </a:lnTo>
                  <a:lnTo>
                    <a:pt x="2342198" y="636760"/>
                  </a:lnTo>
                  <a:lnTo>
                    <a:pt x="2315516" y="693545"/>
                  </a:lnTo>
                  <a:lnTo>
                    <a:pt x="2276558" y="747964"/>
                  </a:lnTo>
                  <a:lnTo>
                    <a:pt x="2226043" y="799684"/>
                  </a:lnTo>
                  <a:lnTo>
                    <a:pt x="2196676" y="824427"/>
                  </a:lnTo>
                  <a:lnTo>
                    <a:pt x="2164690" y="848370"/>
                  </a:lnTo>
                  <a:lnTo>
                    <a:pt x="2130174" y="871471"/>
                  </a:lnTo>
                  <a:lnTo>
                    <a:pt x="2093218" y="893689"/>
                  </a:lnTo>
                  <a:lnTo>
                    <a:pt x="2053912" y="914982"/>
                  </a:lnTo>
                  <a:lnTo>
                    <a:pt x="2012346" y="935307"/>
                  </a:lnTo>
                  <a:lnTo>
                    <a:pt x="1968611" y="954623"/>
                  </a:lnTo>
                  <a:lnTo>
                    <a:pt x="1922795" y="972889"/>
                  </a:lnTo>
                  <a:lnTo>
                    <a:pt x="1874989" y="990063"/>
                  </a:lnTo>
                  <a:lnTo>
                    <a:pt x="1825283" y="1006103"/>
                  </a:lnTo>
                  <a:lnTo>
                    <a:pt x="1773766" y="1020967"/>
                  </a:lnTo>
                  <a:lnTo>
                    <a:pt x="1720529" y="1034613"/>
                  </a:lnTo>
                  <a:lnTo>
                    <a:pt x="1665662" y="1047000"/>
                  </a:lnTo>
                  <a:lnTo>
                    <a:pt x="1609254" y="1058086"/>
                  </a:lnTo>
                  <a:lnTo>
                    <a:pt x="1551395" y="1067830"/>
                  </a:lnTo>
                  <a:lnTo>
                    <a:pt x="1492175" y="1076189"/>
                  </a:lnTo>
                  <a:lnTo>
                    <a:pt x="1431685" y="1083121"/>
                  </a:lnTo>
                  <a:lnTo>
                    <a:pt x="1370014" y="1088586"/>
                  </a:lnTo>
                  <a:lnTo>
                    <a:pt x="1307251" y="1092541"/>
                  </a:lnTo>
                  <a:lnTo>
                    <a:pt x="1243488" y="1094945"/>
                  </a:lnTo>
                  <a:lnTo>
                    <a:pt x="1178813" y="1095755"/>
                  </a:lnTo>
                  <a:lnTo>
                    <a:pt x="1114139" y="1094945"/>
                  </a:lnTo>
                  <a:lnTo>
                    <a:pt x="1050376" y="1092541"/>
                  </a:lnTo>
                  <a:lnTo>
                    <a:pt x="987613" y="1088586"/>
                  </a:lnTo>
                  <a:lnTo>
                    <a:pt x="925942" y="1083121"/>
                  </a:lnTo>
                  <a:lnTo>
                    <a:pt x="865452" y="1076189"/>
                  </a:lnTo>
                  <a:lnTo>
                    <a:pt x="806232" y="1067830"/>
                  </a:lnTo>
                  <a:lnTo>
                    <a:pt x="748373" y="1058086"/>
                  </a:lnTo>
                  <a:lnTo>
                    <a:pt x="691965" y="1047000"/>
                  </a:lnTo>
                  <a:lnTo>
                    <a:pt x="637098" y="1034613"/>
                  </a:lnTo>
                  <a:lnTo>
                    <a:pt x="583861" y="1020967"/>
                  </a:lnTo>
                  <a:lnTo>
                    <a:pt x="532344" y="1006103"/>
                  </a:lnTo>
                  <a:lnTo>
                    <a:pt x="482638" y="990063"/>
                  </a:lnTo>
                  <a:lnTo>
                    <a:pt x="434832" y="972889"/>
                  </a:lnTo>
                  <a:lnTo>
                    <a:pt x="389016" y="954623"/>
                  </a:lnTo>
                  <a:lnTo>
                    <a:pt x="345281" y="935307"/>
                  </a:lnTo>
                  <a:lnTo>
                    <a:pt x="303715" y="914982"/>
                  </a:lnTo>
                  <a:lnTo>
                    <a:pt x="264409" y="893689"/>
                  </a:lnTo>
                  <a:lnTo>
                    <a:pt x="227453" y="871471"/>
                  </a:lnTo>
                  <a:lnTo>
                    <a:pt x="192937" y="848370"/>
                  </a:lnTo>
                  <a:lnTo>
                    <a:pt x="160951" y="824427"/>
                  </a:lnTo>
                  <a:lnTo>
                    <a:pt x="131584" y="799684"/>
                  </a:lnTo>
                  <a:lnTo>
                    <a:pt x="81069" y="747964"/>
                  </a:lnTo>
                  <a:lnTo>
                    <a:pt x="42111" y="693545"/>
                  </a:lnTo>
                  <a:lnTo>
                    <a:pt x="15429" y="636760"/>
                  </a:lnTo>
                  <a:lnTo>
                    <a:pt x="1744" y="577943"/>
                  </a:lnTo>
                  <a:lnTo>
                    <a:pt x="0" y="547877"/>
                  </a:lnTo>
                  <a:close/>
                </a:path>
              </a:pathLst>
            </a:custGeom>
            <a:ln w="12192">
              <a:solidFill>
                <a:srgbClr val="FFFFFF"/>
              </a:solidFill>
            </a:ln>
          </p:spPr>
          <p:txBody>
            <a:bodyPr wrap="square" lIns="0" tIns="0" rIns="0" bIns="0" rtlCol="0"/>
            <a:lstStyle/>
            <a:p>
              <a:endParaRPr/>
            </a:p>
          </p:txBody>
        </p:sp>
      </p:grpSp>
      <p:sp>
        <p:nvSpPr>
          <p:cNvPr id="24" name="object 24"/>
          <p:cNvSpPr txBox="1"/>
          <p:nvPr/>
        </p:nvSpPr>
        <p:spPr>
          <a:xfrm>
            <a:off x="3032886" y="5039690"/>
            <a:ext cx="1043940" cy="300355"/>
          </a:xfrm>
          <a:prstGeom prst="rect">
            <a:avLst/>
          </a:prstGeom>
        </p:spPr>
        <p:txBody>
          <a:bodyPr vert="horz" wrap="square" lIns="0" tIns="12700" rIns="0" bIns="0" rtlCol="0">
            <a:spAutoFit/>
          </a:bodyPr>
          <a:lstStyle/>
          <a:p>
            <a:pPr marL="12700">
              <a:lnSpc>
                <a:spcPct val="100000"/>
              </a:lnSpc>
              <a:spcBef>
                <a:spcPts val="100"/>
              </a:spcBef>
            </a:pPr>
            <a:r>
              <a:rPr sz="1800" spc="-15" dirty="0">
                <a:latin typeface="Trebuchet MS"/>
                <a:cs typeface="Trebuchet MS"/>
              </a:rPr>
              <a:t>Feed</a:t>
            </a:r>
            <a:r>
              <a:rPr sz="1800" spc="-50" dirty="0">
                <a:latin typeface="Trebuchet MS"/>
                <a:cs typeface="Trebuchet MS"/>
              </a:rPr>
              <a:t> </a:t>
            </a:r>
            <a:r>
              <a:rPr sz="1800" spc="15" dirty="0">
                <a:latin typeface="Trebuchet MS"/>
                <a:cs typeface="Trebuchet MS"/>
              </a:rPr>
              <a:t>flow</a:t>
            </a:r>
            <a:endParaRPr sz="1800" dirty="0">
              <a:latin typeface="Trebuchet MS"/>
              <a:cs typeface="Trebuchet MS"/>
            </a:endParaRPr>
          </a:p>
        </p:txBody>
      </p:sp>
      <p:sp>
        <p:nvSpPr>
          <p:cNvPr id="25" name="object 25"/>
          <p:cNvSpPr/>
          <p:nvPr/>
        </p:nvSpPr>
        <p:spPr>
          <a:xfrm>
            <a:off x="4751959" y="3455415"/>
            <a:ext cx="398145" cy="415290"/>
          </a:xfrm>
          <a:custGeom>
            <a:avLst/>
            <a:gdLst/>
            <a:ahLst/>
            <a:cxnLst/>
            <a:rect l="l" t="t" r="r" b="b"/>
            <a:pathLst>
              <a:path w="398145" h="415289">
                <a:moveTo>
                  <a:pt x="198119" y="0"/>
                </a:moveTo>
                <a:lnTo>
                  <a:pt x="0" y="208280"/>
                </a:lnTo>
                <a:lnTo>
                  <a:pt x="199643" y="415036"/>
                </a:lnTo>
                <a:lnTo>
                  <a:pt x="199262" y="332105"/>
                </a:lnTo>
                <a:lnTo>
                  <a:pt x="398144" y="331343"/>
                </a:lnTo>
                <a:lnTo>
                  <a:pt x="397255" y="82296"/>
                </a:lnTo>
                <a:lnTo>
                  <a:pt x="198374" y="83058"/>
                </a:lnTo>
                <a:lnTo>
                  <a:pt x="198119" y="0"/>
                </a:lnTo>
                <a:close/>
              </a:path>
            </a:pathLst>
          </a:custGeom>
          <a:solidFill>
            <a:srgbClr val="FFC000"/>
          </a:solidFill>
        </p:spPr>
        <p:txBody>
          <a:bodyPr wrap="square" lIns="0" tIns="0" rIns="0" bIns="0" rtlCol="0"/>
          <a:lstStyle/>
          <a:p>
            <a:endParaRPr/>
          </a:p>
        </p:txBody>
      </p:sp>
      <p:grpSp>
        <p:nvGrpSpPr>
          <p:cNvPr id="26" name="object 26"/>
          <p:cNvGrpSpPr/>
          <p:nvPr/>
        </p:nvGrpSpPr>
        <p:grpSpPr>
          <a:xfrm>
            <a:off x="2183638" y="3093466"/>
            <a:ext cx="2387600" cy="1149985"/>
            <a:chOff x="2183638" y="3093466"/>
            <a:chExt cx="2387600" cy="1149985"/>
          </a:xfrm>
        </p:grpSpPr>
        <p:sp>
          <p:nvSpPr>
            <p:cNvPr id="27" name="object 27"/>
            <p:cNvSpPr/>
            <p:nvPr/>
          </p:nvSpPr>
          <p:spPr>
            <a:xfrm>
              <a:off x="2189988" y="3099816"/>
              <a:ext cx="2374900" cy="1137285"/>
            </a:xfrm>
            <a:custGeom>
              <a:avLst/>
              <a:gdLst/>
              <a:ahLst/>
              <a:cxnLst/>
              <a:rect l="l" t="t" r="r" b="b"/>
              <a:pathLst>
                <a:path w="2374900" h="1137285">
                  <a:moveTo>
                    <a:pt x="1187196" y="0"/>
                  </a:moveTo>
                  <a:lnTo>
                    <a:pt x="1124142" y="787"/>
                  </a:lnTo>
                  <a:lnTo>
                    <a:pt x="1061946" y="3125"/>
                  </a:lnTo>
                  <a:lnTo>
                    <a:pt x="1000689" y="6973"/>
                  </a:lnTo>
                  <a:lnTo>
                    <a:pt x="940455" y="12293"/>
                  </a:lnTo>
                  <a:lnTo>
                    <a:pt x="881323" y="19044"/>
                  </a:lnTo>
                  <a:lnTo>
                    <a:pt x="823378" y="27187"/>
                  </a:lnTo>
                  <a:lnTo>
                    <a:pt x="766700" y="36685"/>
                  </a:lnTo>
                  <a:lnTo>
                    <a:pt x="711371" y="47496"/>
                  </a:lnTo>
                  <a:lnTo>
                    <a:pt x="657475" y="59581"/>
                  </a:lnTo>
                  <a:lnTo>
                    <a:pt x="605092" y="72902"/>
                  </a:lnTo>
                  <a:lnTo>
                    <a:pt x="554305" y="87420"/>
                  </a:lnTo>
                  <a:lnTo>
                    <a:pt x="505195" y="103094"/>
                  </a:lnTo>
                  <a:lnTo>
                    <a:pt x="457846" y="119886"/>
                  </a:lnTo>
                  <a:lnTo>
                    <a:pt x="412338" y="137756"/>
                  </a:lnTo>
                  <a:lnTo>
                    <a:pt x="368754" y="156665"/>
                  </a:lnTo>
                  <a:lnTo>
                    <a:pt x="327177" y="176573"/>
                  </a:lnTo>
                  <a:lnTo>
                    <a:pt x="287687" y="197442"/>
                  </a:lnTo>
                  <a:lnTo>
                    <a:pt x="250367" y="219233"/>
                  </a:lnTo>
                  <a:lnTo>
                    <a:pt x="215299" y="241905"/>
                  </a:lnTo>
                  <a:lnTo>
                    <a:pt x="182565" y="265419"/>
                  </a:lnTo>
                  <a:lnTo>
                    <a:pt x="152247" y="289737"/>
                  </a:lnTo>
                  <a:lnTo>
                    <a:pt x="99188" y="340625"/>
                  </a:lnTo>
                  <a:lnTo>
                    <a:pt x="56777" y="394255"/>
                  </a:lnTo>
                  <a:lnTo>
                    <a:pt x="25672" y="450313"/>
                  </a:lnTo>
                  <a:lnTo>
                    <a:pt x="6527" y="508483"/>
                  </a:lnTo>
                  <a:lnTo>
                    <a:pt x="0" y="568452"/>
                  </a:lnTo>
                  <a:lnTo>
                    <a:pt x="1645" y="598641"/>
                  </a:lnTo>
                  <a:lnTo>
                    <a:pt x="14563" y="657750"/>
                  </a:lnTo>
                  <a:lnTo>
                    <a:pt x="39770" y="714903"/>
                  </a:lnTo>
                  <a:lnTo>
                    <a:pt x="76611" y="769786"/>
                  </a:lnTo>
                  <a:lnTo>
                    <a:pt x="124428" y="822084"/>
                  </a:lnTo>
                  <a:lnTo>
                    <a:pt x="182565" y="871484"/>
                  </a:lnTo>
                  <a:lnTo>
                    <a:pt x="215299" y="894998"/>
                  </a:lnTo>
                  <a:lnTo>
                    <a:pt x="250367" y="917670"/>
                  </a:lnTo>
                  <a:lnTo>
                    <a:pt x="287687" y="939461"/>
                  </a:lnTo>
                  <a:lnTo>
                    <a:pt x="327177" y="960330"/>
                  </a:lnTo>
                  <a:lnTo>
                    <a:pt x="368754" y="980238"/>
                  </a:lnTo>
                  <a:lnTo>
                    <a:pt x="412338" y="999147"/>
                  </a:lnTo>
                  <a:lnTo>
                    <a:pt x="457846" y="1017017"/>
                  </a:lnTo>
                  <a:lnTo>
                    <a:pt x="505195" y="1033809"/>
                  </a:lnTo>
                  <a:lnTo>
                    <a:pt x="554305" y="1049483"/>
                  </a:lnTo>
                  <a:lnTo>
                    <a:pt x="605092" y="1064001"/>
                  </a:lnTo>
                  <a:lnTo>
                    <a:pt x="657475" y="1077322"/>
                  </a:lnTo>
                  <a:lnTo>
                    <a:pt x="711371" y="1089407"/>
                  </a:lnTo>
                  <a:lnTo>
                    <a:pt x="766700" y="1100218"/>
                  </a:lnTo>
                  <a:lnTo>
                    <a:pt x="823378" y="1109716"/>
                  </a:lnTo>
                  <a:lnTo>
                    <a:pt x="881323" y="1117859"/>
                  </a:lnTo>
                  <a:lnTo>
                    <a:pt x="940455" y="1124610"/>
                  </a:lnTo>
                  <a:lnTo>
                    <a:pt x="1000689" y="1129930"/>
                  </a:lnTo>
                  <a:lnTo>
                    <a:pt x="1061946" y="1133778"/>
                  </a:lnTo>
                  <a:lnTo>
                    <a:pt x="1124142" y="1136116"/>
                  </a:lnTo>
                  <a:lnTo>
                    <a:pt x="1187196" y="1136904"/>
                  </a:lnTo>
                  <a:lnTo>
                    <a:pt x="1250249" y="1136116"/>
                  </a:lnTo>
                  <a:lnTo>
                    <a:pt x="1312445" y="1133778"/>
                  </a:lnTo>
                  <a:lnTo>
                    <a:pt x="1373702" y="1129930"/>
                  </a:lnTo>
                  <a:lnTo>
                    <a:pt x="1433936" y="1124610"/>
                  </a:lnTo>
                  <a:lnTo>
                    <a:pt x="1493068" y="1117859"/>
                  </a:lnTo>
                  <a:lnTo>
                    <a:pt x="1551013" y="1109716"/>
                  </a:lnTo>
                  <a:lnTo>
                    <a:pt x="1607691" y="1100218"/>
                  </a:lnTo>
                  <a:lnTo>
                    <a:pt x="1663020" y="1089407"/>
                  </a:lnTo>
                  <a:lnTo>
                    <a:pt x="1716916" y="1077322"/>
                  </a:lnTo>
                  <a:lnTo>
                    <a:pt x="1769299" y="1064001"/>
                  </a:lnTo>
                  <a:lnTo>
                    <a:pt x="1820086" y="1049483"/>
                  </a:lnTo>
                  <a:lnTo>
                    <a:pt x="1869196" y="1033809"/>
                  </a:lnTo>
                  <a:lnTo>
                    <a:pt x="1916545" y="1017017"/>
                  </a:lnTo>
                  <a:lnTo>
                    <a:pt x="1962053" y="999147"/>
                  </a:lnTo>
                  <a:lnTo>
                    <a:pt x="2005637" y="980238"/>
                  </a:lnTo>
                  <a:lnTo>
                    <a:pt x="2047214" y="960330"/>
                  </a:lnTo>
                  <a:lnTo>
                    <a:pt x="2086704" y="939461"/>
                  </a:lnTo>
                  <a:lnTo>
                    <a:pt x="2124024" y="917670"/>
                  </a:lnTo>
                  <a:lnTo>
                    <a:pt x="2159092" y="894998"/>
                  </a:lnTo>
                  <a:lnTo>
                    <a:pt x="2191826" y="871484"/>
                  </a:lnTo>
                  <a:lnTo>
                    <a:pt x="2222144" y="847166"/>
                  </a:lnTo>
                  <a:lnTo>
                    <a:pt x="2275203" y="796278"/>
                  </a:lnTo>
                  <a:lnTo>
                    <a:pt x="2317614" y="742648"/>
                  </a:lnTo>
                  <a:lnTo>
                    <a:pt x="2348719" y="686590"/>
                  </a:lnTo>
                  <a:lnTo>
                    <a:pt x="2367864" y="628420"/>
                  </a:lnTo>
                  <a:lnTo>
                    <a:pt x="2374391" y="568452"/>
                  </a:lnTo>
                  <a:lnTo>
                    <a:pt x="2372746" y="538262"/>
                  </a:lnTo>
                  <a:lnTo>
                    <a:pt x="2359828" y="479153"/>
                  </a:lnTo>
                  <a:lnTo>
                    <a:pt x="2334621" y="422000"/>
                  </a:lnTo>
                  <a:lnTo>
                    <a:pt x="2297780" y="367117"/>
                  </a:lnTo>
                  <a:lnTo>
                    <a:pt x="2249963" y="314819"/>
                  </a:lnTo>
                  <a:lnTo>
                    <a:pt x="2191826" y="265419"/>
                  </a:lnTo>
                  <a:lnTo>
                    <a:pt x="2159092" y="241905"/>
                  </a:lnTo>
                  <a:lnTo>
                    <a:pt x="2124024" y="219233"/>
                  </a:lnTo>
                  <a:lnTo>
                    <a:pt x="2086704" y="197442"/>
                  </a:lnTo>
                  <a:lnTo>
                    <a:pt x="2047214" y="176573"/>
                  </a:lnTo>
                  <a:lnTo>
                    <a:pt x="2005637" y="156665"/>
                  </a:lnTo>
                  <a:lnTo>
                    <a:pt x="1962053" y="137756"/>
                  </a:lnTo>
                  <a:lnTo>
                    <a:pt x="1916545" y="119886"/>
                  </a:lnTo>
                  <a:lnTo>
                    <a:pt x="1869196" y="103094"/>
                  </a:lnTo>
                  <a:lnTo>
                    <a:pt x="1820086" y="87420"/>
                  </a:lnTo>
                  <a:lnTo>
                    <a:pt x="1769299" y="72902"/>
                  </a:lnTo>
                  <a:lnTo>
                    <a:pt x="1716916" y="59581"/>
                  </a:lnTo>
                  <a:lnTo>
                    <a:pt x="1663020" y="47496"/>
                  </a:lnTo>
                  <a:lnTo>
                    <a:pt x="1607691" y="36685"/>
                  </a:lnTo>
                  <a:lnTo>
                    <a:pt x="1551013" y="27187"/>
                  </a:lnTo>
                  <a:lnTo>
                    <a:pt x="1493068" y="19044"/>
                  </a:lnTo>
                  <a:lnTo>
                    <a:pt x="1433936" y="12293"/>
                  </a:lnTo>
                  <a:lnTo>
                    <a:pt x="1373702" y="6973"/>
                  </a:lnTo>
                  <a:lnTo>
                    <a:pt x="1312445" y="3125"/>
                  </a:lnTo>
                  <a:lnTo>
                    <a:pt x="1250249" y="787"/>
                  </a:lnTo>
                  <a:lnTo>
                    <a:pt x="1187196" y="0"/>
                  </a:lnTo>
                  <a:close/>
                </a:path>
              </a:pathLst>
            </a:custGeom>
            <a:solidFill>
              <a:srgbClr val="FFC000"/>
            </a:solidFill>
          </p:spPr>
          <p:txBody>
            <a:bodyPr wrap="square" lIns="0" tIns="0" rIns="0" bIns="0" rtlCol="0"/>
            <a:lstStyle/>
            <a:p>
              <a:endParaRPr/>
            </a:p>
          </p:txBody>
        </p:sp>
        <p:sp>
          <p:nvSpPr>
            <p:cNvPr id="28" name="object 28"/>
            <p:cNvSpPr/>
            <p:nvPr/>
          </p:nvSpPr>
          <p:spPr>
            <a:xfrm>
              <a:off x="2189988" y="3099816"/>
              <a:ext cx="2374900" cy="1137285"/>
            </a:xfrm>
            <a:custGeom>
              <a:avLst/>
              <a:gdLst/>
              <a:ahLst/>
              <a:cxnLst/>
              <a:rect l="l" t="t" r="r" b="b"/>
              <a:pathLst>
                <a:path w="2374900" h="1137285">
                  <a:moveTo>
                    <a:pt x="0" y="568452"/>
                  </a:moveTo>
                  <a:lnTo>
                    <a:pt x="6527" y="508483"/>
                  </a:lnTo>
                  <a:lnTo>
                    <a:pt x="25672" y="450313"/>
                  </a:lnTo>
                  <a:lnTo>
                    <a:pt x="56777" y="394255"/>
                  </a:lnTo>
                  <a:lnTo>
                    <a:pt x="99188" y="340625"/>
                  </a:lnTo>
                  <a:lnTo>
                    <a:pt x="152247" y="289737"/>
                  </a:lnTo>
                  <a:lnTo>
                    <a:pt x="182565" y="265419"/>
                  </a:lnTo>
                  <a:lnTo>
                    <a:pt x="215299" y="241905"/>
                  </a:lnTo>
                  <a:lnTo>
                    <a:pt x="250367" y="219233"/>
                  </a:lnTo>
                  <a:lnTo>
                    <a:pt x="287687" y="197442"/>
                  </a:lnTo>
                  <a:lnTo>
                    <a:pt x="327177" y="176573"/>
                  </a:lnTo>
                  <a:lnTo>
                    <a:pt x="368754" y="156665"/>
                  </a:lnTo>
                  <a:lnTo>
                    <a:pt x="412338" y="137756"/>
                  </a:lnTo>
                  <a:lnTo>
                    <a:pt x="457846" y="119886"/>
                  </a:lnTo>
                  <a:lnTo>
                    <a:pt x="505195" y="103094"/>
                  </a:lnTo>
                  <a:lnTo>
                    <a:pt x="554305" y="87420"/>
                  </a:lnTo>
                  <a:lnTo>
                    <a:pt x="605092" y="72902"/>
                  </a:lnTo>
                  <a:lnTo>
                    <a:pt x="657475" y="59581"/>
                  </a:lnTo>
                  <a:lnTo>
                    <a:pt x="711371" y="47496"/>
                  </a:lnTo>
                  <a:lnTo>
                    <a:pt x="766700" y="36685"/>
                  </a:lnTo>
                  <a:lnTo>
                    <a:pt x="823378" y="27187"/>
                  </a:lnTo>
                  <a:lnTo>
                    <a:pt x="881323" y="19044"/>
                  </a:lnTo>
                  <a:lnTo>
                    <a:pt x="940455" y="12293"/>
                  </a:lnTo>
                  <a:lnTo>
                    <a:pt x="1000689" y="6973"/>
                  </a:lnTo>
                  <a:lnTo>
                    <a:pt x="1061946" y="3125"/>
                  </a:lnTo>
                  <a:lnTo>
                    <a:pt x="1124142" y="787"/>
                  </a:lnTo>
                  <a:lnTo>
                    <a:pt x="1187196" y="0"/>
                  </a:lnTo>
                  <a:lnTo>
                    <a:pt x="1250249" y="787"/>
                  </a:lnTo>
                  <a:lnTo>
                    <a:pt x="1312445" y="3125"/>
                  </a:lnTo>
                  <a:lnTo>
                    <a:pt x="1373702" y="6973"/>
                  </a:lnTo>
                  <a:lnTo>
                    <a:pt x="1433936" y="12293"/>
                  </a:lnTo>
                  <a:lnTo>
                    <a:pt x="1493068" y="19044"/>
                  </a:lnTo>
                  <a:lnTo>
                    <a:pt x="1551013" y="27187"/>
                  </a:lnTo>
                  <a:lnTo>
                    <a:pt x="1607691" y="36685"/>
                  </a:lnTo>
                  <a:lnTo>
                    <a:pt x="1663020" y="47496"/>
                  </a:lnTo>
                  <a:lnTo>
                    <a:pt x="1716916" y="59581"/>
                  </a:lnTo>
                  <a:lnTo>
                    <a:pt x="1769299" y="72902"/>
                  </a:lnTo>
                  <a:lnTo>
                    <a:pt x="1820086" y="87420"/>
                  </a:lnTo>
                  <a:lnTo>
                    <a:pt x="1869196" y="103094"/>
                  </a:lnTo>
                  <a:lnTo>
                    <a:pt x="1916545" y="119886"/>
                  </a:lnTo>
                  <a:lnTo>
                    <a:pt x="1962053" y="137756"/>
                  </a:lnTo>
                  <a:lnTo>
                    <a:pt x="2005637" y="156665"/>
                  </a:lnTo>
                  <a:lnTo>
                    <a:pt x="2047214" y="176573"/>
                  </a:lnTo>
                  <a:lnTo>
                    <a:pt x="2086704" y="197442"/>
                  </a:lnTo>
                  <a:lnTo>
                    <a:pt x="2124024" y="219233"/>
                  </a:lnTo>
                  <a:lnTo>
                    <a:pt x="2159092" y="241905"/>
                  </a:lnTo>
                  <a:lnTo>
                    <a:pt x="2191826" y="265419"/>
                  </a:lnTo>
                  <a:lnTo>
                    <a:pt x="2222144" y="289737"/>
                  </a:lnTo>
                  <a:lnTo>
                    <a:pt x="2275203" y="340625"/>
                  </a:lnTo>
                  <a:lnTo>
                    <a:pt x="2317614" y="394255"/>
                  </a:lnTo>
                  <a:lnTo>
                    <a:pt x="2348719" y="450313"/>
                  </a:lnTo>
                  <a:lnTo>
                    <a:pt x="2367864" y="508483"/>
                  </a:lnTo>
                  <a:lnTo>
                    <a:pt x="2374391" y="568452"/>
                  </a:lnTo>
                  <a:lnTo>
                    <a:pt x="2372746" y="598641"/>
                  </a:lnTo>
                  <a:lnTo>
                    <a:pt x="2359828" y="657750"/>
                  </a:lnTo>
                  <a:lnTo>
                    <a:pt x="2334621" y="714903"/>
                  </a:lnTo>
                  <a:lnTo>
                    <a:pt x="2297780" y="769786"/>
                  </a:lnTo>
                  <a:lnTo>
                    <a:pt x="2249963" y="822084"/>
                  </a:lnTo>
                  <a:lnTo>
                    <a:pt x="2191826" y="871484"/>
                  </a:lnTo>
                  <a:lnTo>
                    <a:pt x="2159092" y="894998"/>
                  </a:lnTo>
                  <a:lnTo>
                    <a:pt x="2124024" y="917670"/>
                  </a:lnTo>
                  <a:lnTo>
                    <a:pt x="2086704" y="939461"/>
                  </a:lnTo>
                  <a:lnTo>
                    <a:pt x="2047214" y="960330"/>
                  </a:lnTo>
                  <a:lnTo>
                    <a:pt x="2005637" y="980238"/>
                  </a:lnTo>
                  <a:lnTo>
                    <a:pt x="1962053" y="999147"/>
                  </a:lnTo>
                  <a:lnTo>
                    <a:pt x="1916545" y="1017017"/>
                  </a:lnTo>
                  <a:lnTo>
                    <a:pt x="1869196" y="1033809"/>
                  </a:lnTo>
                  <a:lnTo>
                    <a:pt x="1820086" y="1049483"/>
                  </a:lnTo>
                  <a:lnTo>
                    <a:pt x="1769299" y="1064001"/>
                  </a:lnTo>
                  <a:lnTo>
                    <a:pt x="1716916" y="1077322"/>
                  </a:lnTo>
                  <a:lnTo>
                    <a:pt x="1663020" y="1089407"/>
                  </a:lnTo>
                  <a:lnTo>
                    <a:pt x="1607691" y="1100218"/>
                  </a:lnTo>
                  <a:lnTo>
                    <a:pt x="1551013" y="1109716"/>
                  </a:lnTo>
                  <a:lnTo>
                    <a:pt x="1493068" y="1117859"/>
                  </a:lnTo>
                  <a:lnTo>
                    <a:pt x="1433936" y="1124610"/>
                  </a:lnTo>
                  <a:lnTo>
                    <a:pt x="1373702" y="1129930"/>
                  </a:lnTo>
                  <a:lnTo>
                    <a:pt x="1312445" y="1133778"/>
                  </a:lnTo>
                  <a:lnTo>
                    <a:pt x="1250249" y="1136116"/>
                  </a:lnTo>
                  <a:lnTo>
                    <a:pt x="1187196" y="1136904"/>
                  </a:lnTo>
                  <a:lnTo>
                    <a:pt x="1124142" y="1136116"/>
                  </a:lnTo>
                  <a:lnTo>
                    <a:pt x="1061946" y="1133778"/>
                  </a:lnTo>
                  <a:lnTo>
                    <a:pt x="1000689" y="1129930"/>
                  </a:lnTo>
                  <a:lnTo>
                    <a:pt x="940455" y="1124610"/>
                  </a:lnTo>
                  <a:lnTo>
                    <a:pt x="881323" y="1117859"/>
                  </a:lnTo>
                  <a:lnTo>
                    <a:pt x="823378" y="1109716"/>
                  </a:lnTo>
                  <a:lnTo>
                    <a:pt x="766700" y="1100218"/>
                  </a:lnTo>
                  <a:lnTo>
                    <a:pt x="711371" y="1089407"/>
                  </a:lnTo>
                  <a:lnTo>
                    <a:pt x="657475" y="1077322"/>
                  </a:lnTo>
                  <a:lnTo>
                    <a:pt x="605092" y="1064001"/>
                  </a:lnTo>
                  <a:lnTo>
                    <a:pt x="554305" y="1049483"/>
                  </a:lnTo>
                  <a:lnTo>
                    <a:pt x="505195" y="1033809"/>
                  </a:lnTo>
                  <a:lnTo>
                    <a:pt x="457846" y="1017017"/>
                  </a:lnTo>
                  <a:lnTo>
                    <a:pt x="412338" y="999147"/>
                  </a:lnTo>
                  <a:lnTo>
                    <a:pt x="368754" y="980238"/>
                  </a:lnTo>
                  <a:lnTo>
                    <a:pt x="327177" y="960330"/>
                  </a:lnTo>
                  <a:lnTo>
                    <a:pt x="287687" y="939461"/>
                  </a:lnTo>
                  <a:lnTo>
                    <a:pt x="250367" y="917670"/>
                  </a:lnTo>
                  <a:lnTo>
                    <a:pt x="215299" y="894998"/>
                  </a:lnTo>
                  <a:lnTo>
                    <a:pt x="182565" y="871484"/>
                  </a:lnTo>
                  <a:lnTo>
                    <a:pt x="152247" y="847166"/>
                  </a:lnTo>
                  <a:lnTo>
                    <a:pt x="99188" y="796278"/>
                  </a:lnTo>
                  <a:lnTo>
                    <a:pt x="56777" y="742648"/>
                  </a:lnTo>
                  <a:lnTo>
                    <a:pt x="25672" y="686590"/>
                  </a:lnTo>
                  <a:lnTo>
                    <a:pt x="6527" y="628420"/>
                  </a:lnTo>
                  <a:lnTo>
                    <a:pt x="0" y="568452"/>
                  </a:lnTo>
                  <a:close/>
                </a:path>
              </a:pathLst>
            </a:custGeom>
            <a:ln w="12192">
              <a:solidFill>
                <a:srgbClr val="FFFFFF"/>
              </a:solidFill>
            </a:ln>
          </p:spPr>
          <p:txBody>
            <a:bodyPr wrap="square" lIns="0" tIns="0" rIns="0" bIns="0" rtlCol="0"/>
            <a:lstStyle/>
            <a:p>
              <a:endParaRPr/>
            </a:p>
          </p:txBody>
        </p:sp>
      </p:grpSp>
      <p:sp>
        <p:nvSpPr>
          <p:cNvPr id="29" name="object 29"/>
          <p:cNvSpPr txBox="1"/>
          <p:nvPr/>
        </p:nvSpPr>
        <p:spPr>
          <a:xfrm>
            <a:off x="2568320" y="3365068"/>
            <a:ext cx="1618615" cy="572135"/>
          </a:xfrm>
          <a:prstGeom prst="rect">
            <a:avLst/>
          </a:prstGeom>
        </p:spPr>
        <p:txBody>
          <a:bodyPr vert="horz" wrap="square" lIns="0" tIns="12700" rIns="0" bIns="0" rtlCol="0">
            <a:spAutoFit/>
          </a:bodyPr>
          <a:lstStyle/>
          <a:p>
            <a:pPr algn="ctr">
              <a:lnSpc>
                <a:spcPts val="2150"/>
              </a:lnSpc>
              <a:spcBef>
                <a:spcPts val="100"/>
              </a:spcBef>
            </a:pPr>
            <a:r>
              <a:rPr sz="1800" spc="30" dirty="0">
                <a:latin typeface="Trebuchet MS"/>
                <a:cs typeface="Trebuchet MS"/>
              </a:rPr>
              <a:t>Message/Order</a:t>
            </a:r>
            <a:endParaRPr sz="1800" dirty="0">
              <a:latin typeface="Trebuchet MS"/>
              <a:cs typeface="Trebuchet MS"/>
            </a:endParaRPr>
          </a:p>
          <a:p>
            <a:pPr algn="ctr">
              <a:lnSpc>
                <a:spcPts val="2150"/>
              </a:lnSpc>
            </a:pPr>
            <a:r>
              <a:rPr sz="1800" spc="15" dirty="0">
                <a:latin typeface="Trebuchet MS"/>
                <a:cs typeface="Trebuchet MS"/>
              </a:rPr>
              <a:t>storage</a:t>
            </a:r>
            <a:endParaRPr sz="1800" dirty="0">
              <a:latin typeface="Trebuchet MS"/>
              <a:cs typeface="Trebuchet MS"/>
            </a:endParaRPr>
          </a:p>
        </p:txBody>
      </p:sp>
      <p:sp>
        <p:nvSpPr>
          <p:cNvPr id="30" name="object 30"/>
          <p:cNvSpPr/>
          <p:nvPr/>
        </p:nvSpPr>
        <p:spPr>
          <a:xfrm>
            <a:off x="4427220" y="2431795"/>
            <a:ext cx="801370" cy="666115"/>
          </a:xfrm>
          <a:custGeom>
            <a:avLst/>
            <a:gdLst/>
            <a:ahLst/>
            <a:cxnLst/>
            <a:rect l="l" t="t" r="r" b="b"/>
            <a:pathLst>
              <a:path w="801370" h="666114">
                <a:moveTo>
                  <a:pt x="289178" y="0"/>
                </a:moveTo>
                <a:lnTo>
                  <a:pt x="0" y="50164"/>
                </a:lnTo>
                <a:lnTo>
                  <a:pt x="50164" y="339343"/>
                </a:lnTo>
                <a:lnTo>
                  <a:pt x="97916" y="271399"/>
                </a:lnTo>
                <a:lnTo>
                  <a:pt x="657859" y="665861"/>
                </a:lnTo>
                <a:lnTo>
                  <a:pt x="801242" y="462279"/>
                </a:lnTo>
                <a:lnTo>
                  <a:pt x="241300" y="67817"/>
                </a:lnTo>
                <a:lnTo>
                  <a:pt x="289178" y="0"/>
                </a:lnTo>
                <a:close/>
              </a:path>
            </a:pathLst>
          </a:custGeom>
          <a:solidFill>
            <a:srgbClr val="FFC000"/>
          </a:solidFill>
        </p:spPr>
        <p:txBody>
          <a:bodyPr wrap="square" lIns="0" tIns="0" rIns="0" bIns="0" rtlCol="0"/>
          <a:lstStyle/>
          <a:p>
            <a:endParaRPr/>
          </a:p>
        </p:txBody>
      </p:sp>
      <p:sp>
        <p:nvSpPr>
          <p:cNvPr id="31" name="object 31"/>
          <p:cNvSpPr/>
          <p:nvPr/>
        </p:nvSpPr>
        <p:spPr>
          <a:xfrm>
            <a:off x="2447544" y="1350263"/>
            <a:ext cx="2120265" cy="966469"/>
          </a:xfrm>
          <a:custGeom>
            <a:avLst/>
            <a:gdLst/>
            <a:ahLst/>
            <a:cxnLst/>
            <a:rect l="l" t="t" r="r" b="b"/>
            <a:pathLst>
              <a:path w="2120265" h="966469">
                <a:moveTo>
                  <a:pt x="1059942" y="0"/>
                </a:moveTo>
                <a:lnTo>
                  <a:pt x="995378" y="881"/>
                </a:lnTo>
                <a:lnTo>
                  <a:pt x="931836" y="3492"/>
                </a:lnTo>
                <a:lnTo>
                  <a:pt x="869428" y="7783"/>
                </a:lnTo>
                <a:lnTo>
                  <a:pt x="808264" y="13701"/>
                </a:lnTo>
                <a:lnTo>
                  <a:pt x="748455" y="21198"/>
                </a:lnTo>
                <a:lnTo>
                  <a:pt x="690112" y="30222"/>
                </a:lnTo>
                <a:lnTo>
                  <a:pt x="633346" y="40724"/>
                </a:lnTo>
                <a:lnTo>
                  <a:pt x="578268" y="52651"/>
                </a:lnTo>
                <a:lnTo>
                  <a:pt x="524989" y="65955"/>
                </a:lnTo>
                <a:lnTo>
                  <a:pt x="473620" y="80584"/>
                </a:lnTo>
                <a:lnTo>
                  <a:pt x="424271" y="96488"/>
                </a:lnTo>
                <a:lnTo>
                  <a:pt x="377054" y="113616"/>
                </a:lnTo>
                <a:lnTo>
                  <a:pt x="332079" y="131918"/>
                </a:lnTo>
                <a:lnTo>
                  <a:pt x="289457" y="151343"/>
                </a:lnTo>
                <a:lnTo>
                  <a:pt x="249300" y="171841"/>
                </a:lnTo>
                <a:lnTo>
                  <a:pt x="211718" y="193362"/>
                </a:lnTo>
                <a:lnTo>
                  <a:pt x="176822" y="215854"/>
                </a:lnTo>
                <a:lnTo>
                  <a:pt x="144723" y="239268"/>
                </a:lnTo>
                <a:lnTo>
                  <a:pt x="89360" y="288656"/>
                </a:lnTo>
                <a:lnTo>
                  <a:pt x="46516" y="341123"/>
                </a:lnTo>
                <a:lnTo>
                  <a:pt x="17078" y="396265"/>
                </a:lnTo>
                <a:lnTo>
                  <a:pt x="1934" y="453676"/>
                </a:lnTo>
                <a:lnTo>
                  <a:pt x="0" y="483108"/>
                </a:lnTo>
                <a:lnTo>
                  <a:pt x="1934" y="512539"/>
                </a:lnTo>
                <a:lnTo>
                  <a:pt x="17078" y="569950"/>
                </a:lnTo>
                <a:lnTo>
                  <a:pt x="46516" y="625092"/>
                </a:lnTo>
                <a:lnTo>
                  <a:pt x="89360" y="677559"/>
                </a:lnTo>
                <a:lnTo>
                  <a:pt x="144723" y="726948"/>
                </a:lnTo>
                <a:lnTo>
                  <a:pt x="176822" y="750361"/>
                </a:lnTo>
                <a:lnTo>
                  <a:pt x="211718" y="772853"/>
                </a:lnTo>
                <a:lnTo>
                  <a:pt x="249300" y="794374"/>
                </a:lnTo>
                <a:lnTo>
                  <a:pt x="289457" y="814872"/>
                </a:lnTo>
                <a:lnTo>
                  <a:pt x="332079" y="834297"/>
                </a:lnTo>
                <a:lnTo>
                  <a:pt x="377054" y="852599"/>
                </a:lnTo>
                <a:lnTo>
                  <a:pt x="424271" y="869727"/>
                </a:lnTo>
                <a:lnTo>
                  <a:pt x="473620" y="885631"/>
                </a:lnTo>
                <a:lnTo>
                  <a:pt x="524989" y="900260"/>
                </a:lnTo>
                <a:lnTo>
                  <a:pt x="578268" y="913564"/>
                </a:lnTo>
                <a:lnTo>
                  <a:pt x="633346" y="925491"/>
                </a:lnTo>
                <a:lnTo>
                  <a:pt x="690112" y="935993"/>
                </a:lnTo>
                <a:lnTo>
                  <a:pt x="748455" y="945017"/>
                </a:lnTo>
                <a:lnTo>
                  <a:pt x="808264" y="952514"/>
                </a:lnTo>
                <a:lnTo>
                  <a:pt x="869428" y="958432"/>
                </a:lnTo>
                <a:lnTo>
                  <a:pt x="931836" y="962723"/>
                </a:lnTo>
                <a:lnTo>
                  <a:pt x="995378" y="965334"/>
                </a:lnTo>
                <a:lnTo>
                  <a:pt x="1059942" y="966215"/>
                </a:lnTo>
                <a:lnTo>
                  <a:pt x="1124505" y="965334"/>
                </a:lnTo>
                <a:lnTo>
                  <a:pt x="1188047" y="962723"/>
                </a:lnTo>
                <a:lnTo>
                  <a:pt x="1250455" y="958432"/>
                </a:lnTo>
                <a:lnTo>
                  <a:pt x="1311619" y="952514"/>
                </a:lnTo>
                <a:lnTo>
                  <a:pt x="1371428" y="945017"/>
                </a:lnTo>
                <a:lnTo>
                  <a:pt x="1429771" y="935993"/>
                </a:lnTo>
                <a:lnTo>
                  <a:pt x="1486537" y="925491"/>
                </a:lnTo>
                <a:lnTo>
                  <a:pt x="1541615" y="913564"/>
                </a:lnTo>
                <a:lnTo>
                  <a:pt x="1594894" y="900260"/>
                </a:lnTo>
                <a:lnTo>
                  <a:pt x="1646263" y="885631"/>
                </a:lnTo>
                <a:lnTo>
                  <a:pt x="1695612" y="869727"/>
                </a:lnTo>
                <a:lnTo>
                  <a:pt x="1742829" y="852599"/>
                </a:lnTo>
                <a:lnTo>
                  <a:pt x="1787804" y="834297"/>
                </a:lnTo>
                <a:lnTo>
                  <a:pt x="1830426" y="814872"/>
                </a:lnTo>
                <a:lnTo>
                  <a:pt x="1870583" y="794374"/>
                </a:lnTo>
                <a:lnTo>
                  <a:pt x="1908165" y="772853"/>
                </a:lnTo>
                <a:lnTo>
                  <a:pt x="1943061" y="750361"/>
                </a:lnTo>
                <a:lnTo>
                  <a:pt x="1975160" y="726948"/>
                </a:lnTo>
                <a:lnTo>
                  <a:pt x="2030523" y="677559"/>
                </a:lnTo>
                <a:lnTo>
                  <a:pt x="2073367" y="625092"/>
                </a:lnTo>
                <a:lnTo>
                  <a:pt x="2102805" y="569950"/>
                </a:lnTo>
                <a:lnTo>
                  <a:pt x="2117949" y="512539"/>
                </a:lnTo>
                <a:lnTo>
                  <a:pt x="2119884" y="483108"/>
                </a:lnTo>
                <a:lnTo>
                  <a:pt x="2117949" y="453676"/>
                </a:lnTo>
                <a:lnTo>
                  <a:pt x="2102805" y="396265"/>
                </a:lnTo>
                <a:lnTo>
                  <a:pt x="2073367" y="341123"/>
                </a:lnTo>
                <a:lnTo>
                  <a:pt x="2030523" y="288656"/>
                </a:lnTo>
                <a:lnTo>
                  <a:pt x="1975160" y="239268"/>
                </a:lnTo>
                <a:lnTo>
                  <a:pt x="1943061" y="215854"/>
                </a:lnTo>
                <a:lnTo>
                  <a:pt x="1908165" y="193362"/>
                </a:lnTo>
                <a:lnTo>
                  <a:pt x="1870583" y="171841"/>
                </a:lnTo>
                <a:lnTo>
                  <a:pt x="1830426" y="151343"/>
                </a:lnTo>
                <a:lnTo>
                  <a:pt x="1787804" y="131918"/>
                </a:lnTo>
                <a:lnTo>
                  <a:pt x="1742829" y="113616"/>
                </a:lnTo>
                <a:lnTo>
                  <a:pt x="1695612" y="96488"/>
                </a:lnTo>
                <a:lnTo>
                  <a:pt x="1646263" y="80584"/>
                </a:lnTo>
                <a:lnTo>
                  <a:pt x="1594894" y="65955"/>
                </a:lnTo>
                <a:lnTo>
                  <a:pt x="1541615" y="52651"/>
                </a:lnTo>
                <a:lnTo>
                  <a:pt x="1486537" y="40724"/>
                </a:lnTo>
                <a:lnTo>
                  <a:pt x="1429771" y="30222"/>
                </a:lnTo>
                <a:lnTo>
                  <a:pt x="1371428" y="21198"/>
                </a:lnTo>
                <a:lnTo>
                  <a:pt x="1311619" y="13701"/>
                </a:lnTo>
                <a:lnTo>
                  <a:pt x="1250455" y="7783"/>
                </a:lnTo>
                <a:lnTo>
                  <a:pt x="1188047" y="3492"/>
                </a:lnTo>
                <a:lnTo>
                  <a:pt x="1124505" y="881"/>
                </a:lnTo>
                <a:lnTo>
                  <a:pt x="1059942" y="0"/>
                </a:lnTo>
                <a:close/>
              </a:path>
            </a:pathLst>
          </a:custGeom>
          <a:solidFill>
            <a:srgbClr val="FFC000"/>
          </a:solidFill>
        </p:spPr>
        <p:txBody>
          <a:bodyPr wrap="square" lIns="0" tIns="0" rIns="0" bIns="0" rtlCol="0"/>
          <a:lstStyle/>
          <a:p>
            <a:endParaRPr/>
          </a:p>
        </p:txBody>
      </p:sp>
      <p:sp>
        <p:nvSpPr>
          <p:cNvPr id="32" name="object 32"/>
          <p:cNvSpPr txBox="1"/>
          <p:nvPr/>
        </p:nvSpPr>
        <p:spPr>
          <a:xfrm>
            <a:off x="2902457" y="1666113"/>
            <a:ext cx="120967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Trebuchet MS"/>
                <a:cs typeface="Trebuchet MS"/>
              </a:rPr>
              <a:t>User</a:t>
            </a:r>
            <a:r>
              <a:rPr sz="1800" spc="-60" dirty="0">
                <a:latin typeface="Trebuchet MS"/>
                <a:cs typeface="Trebuchet MS"/>
              </a:rPr>
              <a:t> </a:t>
            </a:r>
            <a:r>
              <a:rPr sz="1800" spc="45" dirty="0">
                <a:latin typeface="Trebuchet MS"/>
                <a:cs typeface="Trebuchet MS"/>
              </a:rPr>
              <a:t>image</a:t>
            </a:r>
            <a:endParaRPr sz="1800" dirty="0">
              <a:latin typeface="Trebuchet MS"/>
              <a:cs typeface="Trebuchet MS"/>
            </a:endParaRPr>
          </a:p>
        </p:txBody>
      </p:sp>
      <p:sp>
        <p:nvSpPr>
          <p:cNvPr id="33" name="object 33"/>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6	</a:t>
            </a:r>
            <a:r>
              <a:rPr spc="30" dirty="0"/>
              <a:t>Huawei</a:t>
            </a:r>
            <a:r>
              <a:rPr spc="-10" dirty="0"/>
              <a:t> </a:t>
            </a:r>
            <a:r>
              <a:rPr spc="5" dirty="0"/>
              <a:t>Confidential</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2016125" cy="0"/>
          </a:xfrm>
          <a:custGeom>
            <a:avLst/>
            <a:gdLst/>
            <a:ahLst/>
            <a:cxnLst/>
            <a:rect l="l" t="t" r="r" b="b"/>
            <a:pathLst>
              <a:path w="2016125">
                <a:moveTo>
                  <a:pt x="2015997"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2072639" cy="635000"/>
          </a:xfrm>
          <a:prstGeom prst="rect">
            <a:avLst/>
          </a:prstGeom>
        </p:spPr>
        <p:txBody>
          <a:bodyPr vert="horz" wrap="square" lIns="0" tIns="12065" rIns="0" bIns="0" rtlCol="0">
            <a:spAutoFit/>
          </a:bodyPr>
          <a:lstStyle/>
          <a:p>
            <a:pPr marL="12700">
              <a:lnSpc>
                <a:spcPct val="100000"/>
              </a:lnSpc>
              <a:spcBef>
                <a:spcPts val="95"/>
              </a:spcBef>
            </a:pPr>
            <a:r>
              <a:rPr sz="4000" spc="40" dirty="0">
                <a:solidFill>
                  <a:srgbClr val="404040"/>
                </a:solidFill>
              </a:rPr>
              <a:t>Conte</a:t>
            </a:r>
            <a:r>
              <a:rPr sz="4000" spc="55" dirty="0">
                <a:solidFill>
                  <a:srgbClr val="404040"/>
                </a:solidFill>
              </a:rPr>
              <a:t>n</a:t>
            </a:r>
            <a:r>
              <a:rPr sz="4000" spc="-40" dirty="0">
                <a:solidFill>
                  <a:srgbClr val="404040"/>
                </a:solidFill>
              </a:rPr>
              <a:t>ts</a:t>
            </a:r>
            <a:endParaRPr sz="4000"/>
          </a:p>
        </p:txBody>
      </p:sp>
      <p:sp>
        <p:nvSpPr>
          <p:cNvPr id="7" name="object 7"/>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7	</a:t>
            </a:r>
            <a:r>
              <a:rPr spc="30" dirty="0"/>
              <a:t>Huawei</a:t>
            </a:r>
            <a:r>
              <a:rPr spc="-10" dirty="0"/>
              <a:t> </a:t>
            </a:r>
            <a:r>
              <a:rPr spc="5" dirty="0"/>
              <a:t>Confidential</a:t>
            </a:r>
          </a:p>
        </p:txBody>
      </p:sp>
      <p:sp>
        <p:nvSpPr>
          <p:cNvPr id="6" name="object 6"/>
          <p:cNvSpPr txBox="1"/>
          <p:nvPr/>
        </p:nvSpPr>
        <p:spPr>
          <a:xfrm>
            <a:off x="1097991" y="2009393"/>
            <a:ext cx="4744720" cy="3779520"/>
          </a:xfrm>
          <a:prstGeom prst="rect">
            <a:avLst/>
          </a:prstGeom>
        </p:spPr>
        <p:txBody>
          <a:bodyPr vert="horz" wrap="square" lIns="0" tIns="12065" rIns="0" bIns="0" rtlCol="0">
            <a:spAutoFit/>
          </a:bodyPr>
          <a:lstStyle/>
          <a:p>
            <a:pPr marL="469900" indent="-457834">
              <a:lnSpc>
                <a:spcPct val="100000"/>
              </a:lnSpc>
              <a:spcBef>
                <a:spcPts val="95"/>
              </a:spcBef>
              <a:buAutoNum type="arabicPeriod"/>
              <a:tabLst>
                <a:tab pos="469265" algn="l"/>
                <a:tab pos="470534" algn="l"/>
              </a:tabLst>
            </a:pPr>
            <a:r>
              <a:rPr sz="2200" spc="10" dirty="0">
                <a:solidFill>
                  <a:srgbClr val="7E7E7E"/>
                </a:solidFill>
                <a:latin typeface="Trebuchet MS"/>
                <a:cs typeface="Trebuchet MS"/>
              </a:rPr>
              <a:t>Introduction </a:t>
            </a:r>
            <a:r>
              <a:rPr sz="2200" dirty="0">
                <a:solidFill>
                  <a:srgbClr val="7E7E7E"/>
                </a:solidFill>
                <a:latin typeface="Trebuchet MS"/>
                <a:cs typeface="Trebuchet MS"/>
              </a:rPr>
              <a:t>to</a:t>
            </a:r>
            <a:r>
              <a:rPr sz="2200" spc="40" dirty="0">
                <a:solidFill>
                  <a:srgbClr val="7E7E7E"/>
                </a:solidFill>
                <a:latin typeface="Trebuchet MS"/>
                <a:cs typeface="Trebuchet MS"/>
              </a:rPr>
              <a:t> </a:t>
            </a:r>
            <a:r>
              <a:rPr sz="2200" spc="60" dirty="0">
                <a:solidFill>
                  <a:srgbClr val="7E7E7E"/>
                </a:solidFill>
                <a:latin typeface="Trebuchet MS"/>
                <a:cs typeface="Trebuchet MS"/>
              </a:rPr>
              <a:t>HBase</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b="1" spc="-60" dirty="0">
                <a:latin typeface="Arial"/>
                <a:cs typeface="Arial"/>
              </a:rPr>
              <a:t>HBase </a:t>
            </a:r>
            <a:r>
              <a:rPr sz="2200" b="1" spc="70" dirty="0">
                <a:latin typeface="Arial"/>
                <a:cs typeface="Arial"/>
              </a:rPr>
              <a:t>Data</a:t>
            </a:r>
            <a:r>
              <a:rPr sz="2200" b="1" spc="215" dirty="0">
                <a:latin typeface="Arial"/>
                <a:cs typeface="Arial"/>
              </a:rPr>
              <a:t> </a:t>
            </a:r>
            <a:r>
              <a:rPr sz="2200" b="1" spc="55" dirty="0">
                <a:latin typeface="Arial"/>
                <a:cs typeface="Arial"/>
              </a:rPr>
              <a:t>Model</a:t>
            </a:r>
            <a:endParaRPr sz="2200">
              <a:latin typeface="Arial"/>
              <a:cs typeface="Arial"/>
            </a:endParaRPr>
          </a:p>
          <a:p>
            <a:pPr marL="469900" indent="-457834">
              <a:lnSpc>
                <a:spcPct val="100000"/>
              </a:lnSpc>
              <a:spcBef>
                <a:spcPts val="1845"/>
              </a:spcBef>
              <a:buAutoNum type="arabicPeriod"/>
              <a:tabLst>
                <a:tab pos="469265" algn="l"/>
                <a:tab pos="470534" algn="l"/>
              </a:tabLst>
            </a:pPr>
            <a:r>
              <a:rPr sz="2200" spc="60" dirty="0">
                <a:solidFill>
                  <a:srgbClr val="7E7E7E"/>
                </a:solidFill>
                <a:latin typeface="Trebuchet MS"/>
                <a:cs typeface="Trebuchet MS"/>
              </a:rPr>
              <a:t>HBase</a:t>
            </a:r>
            <a:r>
              <a:rPr sz="2200" spc="35" dirty="0">
                <a:solidFill>
                  <a:srgbClr val="7E7E7E"/>
                </a:solidFill>
                <a:latin typeface="Trebuchet MS"/>
                <a:cs typeface="Trebuchet MS"/>
              </a:rPr>
              <a:t> </a:t>
            </a:r>
            <a:r>
              <a:rPr sz="2200" spc="-25" dirty="0">
                <a:solidFill>
                  <a:srgbClr val="7E7E7E"/>
                </a:solidFill>
                <a:latin typeface="Trebuchet MS"/>
                <a:cs typeface="Trebuchet MS"/>
              </a:rPr>
              <a:t>Architecture</a:t>
            </a:r>
            <a:endParaRPr sz="2200">
              <a:latin typeface="Trebuchet MS"/>
              <a:cs typeface="Trebuchet MS"/>
            </a:endParaRPr>
          </a:p>
          <a:p>
            <a:pPr marL="469900" indent="-457834">
              <a:lnSpc>
                <a:spcPct val="100000"/>
              </a:lnSpc>
              <a:spcBef>
                <a:spcPts val="1839"/>
              </a:spcBef>
              <a:buAutoNum type="arabicPeriod"/>
              <a:tabLst>
                <a:tab pos="469265" algn="l"/>
                <a:tab pos="470534" algn="l"/>
              </a:tabLst>
            </a:pPr>
            <a:r>
              <a:rPr sz="2200" spc="65" dirty="0">
                <a:solidFill>
                  <a:srgbClr val="7E7E7E"/>
                </a:solidFill>
                <a:latin typeface="Trebuchet MS"/>
                <a:cs typeface="Trebuchet MS"/>
              </a:rPr>
              <a:t>HBase </a:t>
            </a:r>
            <a:r>
              <a:rPr sz="2200" spc="5" dirty="0">
                <a:solidFill>
                  <a:srgbClr val="7E7E7E"/>
                </a:solidFill>
                <a:latin typeface="Trebuchet MS"/>
                <a:cs typeface="Trebuchet MS"/>
              </a:rPr>
              <a:t>Key </a:t>
            </a:r>
            <a:r>
              <a:rPr sz="2200" spc="-5" dirty="0">
                <a:solidFill>
                  <a:srgbClr val="7E7E7E"/>
                </a:solidFill>
                <a:latin typeface="Trebuchet MS"/>
                <a:cs typeface="Trebuchet MS"/>
              </a:rPr>
              <a:t>Processes</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spc="60" dirty="0">
                <a:solidFill>
                  <a:srgbClr val="7E7E7E"/>
                </a:solidFill>
                <a:latin typeface="Trebuchet MS"/>
                <a:cs typeface="Trebuchet MS"/>
              </a:rPr>
              <a:t>HBase</a:t>
            </a:r>
            <a:r>
              <a:rPr sz="2200" spc="35" dirty="0">
                <a:solidFill>
                  <a:srgbClr val="7E7E7E"/>
                </a:solidFill>
                <a:latin typeface="Trebuchet MS"/>
                <a:cs typeface="Trebuchet MS"/>
              </a:rPr>
              <a:t> </a:t>
            </a:r>
            <a:r>
              <a:rPr sz="2200" spc="40" dirty="0">
                <a:solidFill>
                  <a:srgbClr val="7E7E7E"/>
                </a:solidFill>
                <a:latin typeface="Trebuchet MS"/>
                <a:cs typeface="Trebuchet MS"/>
              </a:rPr>
              <a:t>Highlights</a:t>
            </a:r>
            <a:endParaRPr sz="2200">
              <a:latin typeface="Trebuchet MS"/>
              <a:cs typeface="Trebuchet MS"/>
            </a:endParaRPr>
          </a:p>
          <a:p>
            <a:pPr marL="469900" indent="-457834">
              <a:lnSpc>
                <a:spcPct val="100000"/>
              </a:lnSpc>
              <a:spcBef>
                <a:spcPts val="1845"/>
              </a:spcBef>
              <a:buAutoNum type="arabicPeriod"/>
              <a:tabLst>
                <a:tab pos="469265" algn="l"/>
                <a:tab pos="470534" algn="l"/>
              </a:tabLst>
            </a:pPr>
            <a:r>
              <a:rPr sz="2200" spc="65" dirty="0">
                <a:solidFill>
                  <a:srgbClr val="7E7E7E"/>
                </a:solidFill>
                <a:latin typeface="Trebuchet MS"/>
                <a:cs typeface="Trebuchet MS"/>
              </a:rPr>
              <a:t>HBase </a:t>
            </a:r>
            <a:r>
              <a:rPr sz="2200" spc="5" dirty="0">
                <a:solidFill>
                  <a:srgbClr val="7E7E7E"/>
                </a:solidFill>
                <a:latin typeface="Trebuchet MS"/>
                <a:cs typeface="Trebuchet MS"/>
              </a:rPr>
              <a:t>Performance</a:t>
            </a:r>
            <a:r>
              <a:rPr sz="2200" dirty="0">
                <a:solidFill>
                  <a:srgbClr val="7E7E7E"/>
                </a:solidFill>
                <a:latin typeface="Trebuchet MS"/>
                <a:cs typeface="Trebuchet MS"/>
              </a:rPr>
              <a:t> </a:t>
            </a:r>
            <a:r>
              <a:rPr sz="2200" spc="45" dirty="0">
                <a:solidFill>
                  <a:srgbClr val="7E7E7E"/>
                </a:solidFill>
                <a:latin typeface="Trebuchet MS"/>
                <a:cs typeface="Trebuchet MS"/>
              </a:rPr>
              <a:t>Tuning</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spc="90" dirty="0">
                <a:solidFill>
                  <a:srgbClr val="7E7E7E"/>
                </a:solidFill>
                <a:latin typeface="Trebuchet MS"/>
                <a:cs typeface="Trebuchet MS"/>
              </a:rPr>
              <a:t>Common </a:t>
            </a:r>
            <a:r>
              <a:rPr sz="2200" spc="60" dirty="0">
                <a:solidFill>
                  <a:srgbClr val="7E7E7E"/>
                </a:solidFill>
                <a:latin typeface="Trebuchet MS"/>
                <a:cs typeface="Trebuchet MS"/>
              </a:rPr>
              <a:t>HBase </a:t>
            </a:r>
            <a:r>
              <a:rPr sz="2200" spc="10" dirty="0">
                <a:solidFill>
                  <a:srgbClr val="7E7E7E"/>
                </a:solidFill>
                <a:latin typeface="Trebuchet MS"/>
                <a:cs typeface="Trebuchet MS"/>
              </a:rPr>
              <a:t>Shell</a:t>
            </a:r>
            <a:r>
              <a:rPr sz="2200" spc="-100" dirty="0">
                <a:solidFill>
                  <a:srgbClr val="7E7E7E"/>
                </a:solidFill>
                <a:latin typeface="Trebuchet MS"/>
                <a:cs typeface="Trebuchet MS"/>
              </a:rPr>
              <a:t> </a:t>
            </a:r>
            <a:r>
              <a:rPr sz="2200" spc="75" dirty="0">
                <a:solidFill>
                  <a:srgbClr val="7E7E7E"/>
                </a:solidFill>
                <a:latin typeface="Trebuchet MS"/>
                <a:cs typeface="Trebuchet MS"/>
              </a:rPr>
              <a:t>Commands</a:t>
            </a:r>
            <a:endParaRPr sz="2200">
              <a:latin typeface="Trebuchet MS"/>
              <a:cs typeface="Trebuchet MS"/>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2217420" cy="513715"/>
          </a:xfrm>
          <a:prstGeom prst="rect">
            <a:avLst/>
          </a:prstGeom>
        </p:spPr>
        <p:txBody>
          <a:bodyPr vert="horz" wrap="square" lIns="0" tIns="13335" rIns="0" bIns="0" rtlCol="0">
            <a:spAutoFit/>
          </a:bodyPr>
          <a:lstStyle/>
          <a:p>
            <a:pPr marL="12700">
              <a:lnSpc>
                <a:spcPct val="100000"/>
              </a:lnSpc>
              <a:spcBef>
                <a:spcPts val="105"/>
              </a:spcBef>
            </a:pPr>
            <a:r>
              <a:rPr sz="3200" spc="105" dirty="0">
                <a:solidFill>
                  <a:srgbClr val="000000"/>
                </a:solidFill>
              </a:rPr>
              <a:t>Data</a:t>
            </a:r>
            <a:r>
              <a:rPr sz="3200" spc="-35" dirty="0">
                <a:solidFill>
                  <a:srgbClr val="000000"/>
                </a:solidFill>
              </a:rPr>
              <a:t> </a:t>
            </a:r>
            <a:r>
              <a:rPr sz="3200" spc="145" dirty="0">
                <a:solidFill>
                  <a:srgbClr val="000000"/>
                </a:solidFill>
              </a:rPr>
              <a:t>Model</a:t>
            </a:r>
            <a:endParaRPr sz="320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8	</a:t>
            </a:r>
            <a:r>
              <a:rPr spc="30" dirty="0"/>
              <a:t>Huawei</a:t>
            </a:r>
            <a:r>
              <a:rPr spc="-10" dirty="0"/>
              <a:t> </a:t>
            </a:r>
            <a:r>
              <a:rPr spc="5" dirty="0"/>
              <a:t>Confidential</a:t>
            </a:r>
          </a:p>
        </p:txBody>
      </p:sp>
      <p:sp>
        <p:nvSpPr>
          <p:cNvPr id="4" name="object 4"/>
          <p:cNvSpPr txBox="1"/>
          <p:nvPr/>
        </p:nvSpPr>
        <p:spPr>
          <a:xfrm>
            <a:off x="1101039" y="1211325"/>
            <a:ext cx="10292715" cy="4397999"/>
          </a:xfrm>
          <a:prstGeom prst="rect">
            <a:avLst/>
          </a:prstGeom>
        </p:spPr>
        <p:txBody>
          <a:bodyPr vert="horz" wrap="square" lIns="0" tIns="12065" rIns="0" bIns="0" rtlCol="0">
            <a:spAutoFit/>
          </a:bodyPr>
          <a:lstStyle/>
          <a:p>
            <a:pPr marL="355600" indent="-342900" algn="just">
              <a:lnSpc>
                <a:spcPct val="100000"/>
              </a:lnSpc>
              <a:spcBef>
                <a:spcPts val="95"/>
              </a:spcBef>
              <a:buFont typeface="Arial" panose="020B0604020202020204" pitchFamily="34" charset="0"/>
              <a:buChar char="•"/>
            </a:pPr>
            <a:r>
              <a:rPr sz="2500" spc="-20" dirty="0">
                <a:latin typeface="Trebuchet MS"/>
                <a:cs typeface="Trebuchet MS"/>
              </a:rPr>
              <a:t>Simply, </a:t>
            </a:r>
            <a:r>
              <a:rPr sz="2500" spc="-5" dirty="0">
                <a:latin typeface="Trebuchet MS"/>
                <a:cs typeface="Trebuchet MS"/>
              </a:rPr>
              <a:t>applications </a:t>
            </a:r>
            <a:r>
              <a:rPr sz="2500" spc="-15" dirty="0">
                <a:latin typeface="Trebuchet MS"/>
                <a:cs typeface="Trebuchet MS"/>
              </a:rPr>
              <a:t>store </a:t>
            </a:r>
            <a:r>
              <a:rPr sz="2500" spc="15" dirty="0">
                <a:latin typeface="Trebuchet MS"/>
                <a:cs typeface="Trebuchet MS"/>
              </a:rPr>
              <a:t>data </a:t>
            </a:r>
            <a:r>
              <a:rPr sz="2500" spc="5" dirty="0">
                <a:latin typeface="Trebuchet MS"/>
                <a:cs typeface="Trebuchet MS"/>
              </a:rPr>
              <a:t>in </a:t>
            </a:r>
            <a:r>
              <a:rPr sz="2500" spc="60" dirty="0" err="1" smtClean="0">
                <a:latin typeface="Trebuchet MS"/>
                <a:cs typeface="Trebuchet MS"/>
              </a:rPr>
              <a:t>HBase</a:t>
            </a:r>
            <a:r>
              <a:rPr sz="2500" spc="60" dirty="0" smtClean="0">
                <a:latin typeface="Trebuchet MS"/>
                <a:cs typeface="Trebuchet MS"/>
              </a:rPr>
              <a:t> </a:t>
            </a:r>
            <a:r>
              <a:rPr sz="2500" u="sng" spc="45" dirty="0">
                <a:latin typeface="Trebuchet MS"/>
                <a:cs typeface="Trebuchet MS"/>
              </a:rPr>
              <a:t>as</a:t>
            </a:r>
            <a:r>
              <a:rPr sz="2500" u="sng" spc="210" dirty="0">
                <a:latin typeface="Trebuchet MS"/>
                <a:cs typeface="Trebuchet MS"/>
              </a:rPr>
              <a:t> </a:t>
            </a:r>
            <a:r>
              <a:rPr sz="2500" u="sng" spc="-55" dirty="0">
                <a:latin typeface="Trebuchet MS"/>
                <a:cs typeface="Trebuchet MS"/>
              </a:rPr>
              <a:t>tables</a:t>
            </a:r>
            <a:r>
              <a:rPr sz="2500" spc="-55" dirty="0">
                <a:latin typeface="Trebuchet MS"/>
                <a:cs typeface="Trebuchet MS"/>
              </a:rPr>
              <a:t>.</a:t>
            </a:r>
            <a:endParaRPr sz="2500" dirty="0">
              <a:latin typeface="Trebuchet MS"/>
              <a:cs typeface="Trebuchet MS"/>
            </a:endParaRPr>
          </a:p>
          <a:p>
            <a:pPr marL="355600" indent="-342900" algn="just">
              <a:lnSpc>
                <a:spcPct val="100000"/>
              </a:lnSpc>
              <a:spcBef>
                <a:spcPts val="1850"/>
              </a:spcBef>
              <a:buFont typeface="Arial" panose="020B0604020202020204" pitchFamily="34" charset="0"/>
              <a:buChar char="•"/>
            </a:pPr>
            <a:r>
              <a:rPr sz="2500" spc="140" dirty="0">
                <a:latin typeface="Trebuchet MS"/>
                <a:cs typeface="Trebuchet MS"/>
              </a:rPr>
              <a:t>A </a:t>
            </a:r>
            <a:r>
              <a:rPr sz="2500" spc="-20" dirty="0">
                <a:latin typeface="Trebuchet MS"/>
                <a:cs typeface="Trebuchet MS"/>
              </a:rPr>
              <a:t>table </a:t>
            </a:r>
            <a:r>
              <a:rPr sz="2500" spc="5" dirty="0">
                <a:latin typeface="Trebuchet MS"/>
                <a:cs typeface="Trebuchet MS"/>
              </a:rPr>
              <a:t>consists </a:t>
            </a:r>
            <a:r>
              <a:rPr sz="2500" spc="15" dirty="0">
                <a:latin typeface="Trebuchet MS"/>
                <a:cs typeface="Trebuchet MS"/>
              </a:rPr>
              <a:t>of </a:t>
            </a:r>
            <a:r>
              <a:rPr sz="2500" spc="45" dirty="0">
                <a:latin typeface="Trebuchet MS"/>
                <a:cs typeface="Trebuchet MS"/>
              </a:rPr>
              <a:t>rows </a:t>
            </a:r>
            <a:r>
              <a:rPr sz="2500" spc="55" dirty="0">
                <a:latin typeface="Trebuchet MS"/>
                <a:cs typeface="Trebuchet MS"/>
              </a:rPr>
              <a:t>and </a:t>
            </a:r>
            <a:r>
              <a:rPr sz="2500" spc="-5" dirty="0" smtClean="0">
                <a:latin typeface="Trebuchet MS"/>
                <a:cs typeface="Trebuchet MS"/>
              </a:rPr>
              <a:t>columns. </a:t>
            </a:r>
            <a:r>
              <a:rPr sz="2500" u="sng" spc="15" dirty="0" smtClean="0">
                <a:latin typeface="Trebuchet MS"/>
                <a:cs typeface="Trebuchet MS"/>
              </a:rPr>
              <a:t>All </a:t>
            </a:r>
            <a:r>
              <a:rPr sz="2500" u="sng" spc="40" dirty="0">
                <a:latin typeface="Trebuchet MS"/>
                <a:cs typeface="Trebuchet MS"/>
              </a:rPr>
              <a:t>columns belong </a:t>
            </a:r>
            <a:r>
              <a:rPr sz="2500" u="sng" dirty="0">
                <a:latin typeface="Trebuchet MS"/>
                <a:cs typeface="Trebuchet MS"/>
              </a:rPr>
              <a:t>to </a:t>
            </a:r>
            <a:r>
              <a:rPr sz="2500" u="sng" spc="60" dirty="0">
                <a:latin typeface="Trebuchet MS"/>
                <a:cs typeface="Trebuchet MS"/>
              </a:rPr>
              <a:t>a </a:t>
            </a:r>
            <a:r>
              <a:rPr sz="2500" u="sng" spc="45" dirty="0">
                <a:latin typeface="Trebuchet MS"/>
                <a:cs typeface="Trebuchet MS"/>
              </a:rPr>
              <a:t>column</a:t>
            </a:r>
            <a:r>
              <a:rPr sz="2500" u="sng" spc="-70" dirty="0">
                <a:latin typeface="Trebuchet MS"/>
                <a:cs typeface="Trebuchet MS"/>
              </a:rPr>
              <a:t> </a:t>
            </a:r>
            <a:r>
              <a:rPr sz="2500" u="sng" spc="-40" dirty="0">
                <a:latin typeface="Trebuchet MS"/>
                <a:cs typeface="Trebuchet MS"/>
              </a:rPr>
              <a:t>family.</a:t>
            </a:r>
            <a:endParaRPr sz="2500" u="sng" dirty="0">
              <a:latin typeface="Trebuchet MS"/>
              <a:cs typeface="Trebuchet MS"/>
            </a:endParaRPr>
          </a:p>
          <a:p>
            <a:pPr marL="355600" marR="6350" indent="-342900" algn="just">
              <a:lnSpc>
                <a:spcPct val="140000"/>
              </a:lnSpc>
              <a:spcBef>
                <a:spcPts val="805"/>
              </a:spcBef>
              <a:buFont typeface="Arial" panose="020B0604020202020204" pitchFamily="34" charset="0"/>
              <a:buChar char="•"/>
            </a:pPr>
            <a:r>
              <a:rPr sz="2500" spc="-5" dirty="0">
                <a:latin typeface="Trebuchet MS"/>
                <a:cs typeface="Trebuchet MS"/>
              </a:rPr>
              <a:t>The </a:t>
            </a:r>
            <a:r>
              <a:rPr sz="2500" spc="-20" dirty="0">
                <a:latin typeface="Trebuchet MS"/>
                <a:cs typeface="Trebuchet MS"/>
              </a:rPr>
              <a:t>intersection </a:t>
            </a:r>
            <a:r>
              <a:rPr sz="2500" spc="20" dirty="0">
                <a:latin typeface="Trebuchet MS"/>
                <a:cs typeface="Trebuchet MS"/>
              </a:rPr>
              <a:t>of </a:t>
            </a:r>
            <a:r>
              <a:rPr sz="2500" spc="55" dirty="0">
                <a:latin typeface="Trebuchet MS"/>
                <a:cs typeface="Trebuchet MS"/>
              </a:rPr>
              <a:t>a </a:t>
            </a:r>
            <a:r>
              <a:rPr sz="2500" spc="50" dirty="0">
                <a:latin typeface="Trebuchet MS"/>
                <a:cs typeface="Trebuchet MS"/>
              </a:rPr>
              <a:t>row </a:t>
            </a:r>
            <a:r>
              <a:rPr sz="2500" spc="55" dirty="0">
                <a:latin typeface="Trebuchet MS"/>
                <a:cs typeface="Trebuchet MS"/>
              </a:rPr>
              <a:t>and a </a:t>
            </a:r>
            <a:r>
              <a:rPr sz="2500" spc="40" dirty="0">
                <a:latin typeface="Trebuchet MS"/>
                <a:cs typeface="Trebuchet MS"/>
              </a:rPr>
              <a:t>column </a:t>
            </a:r>
            <a:r>
              <a:rPr sz="2500" spc="-15" dirty="0">
                <a:latin typeface="Trebuchet MS"/>
                <a:cs typeface="Trebuchet MS"/>
              </a:rPr>
              <a:t>is </a:t>
            </a:r>
            <a:r>
              <a:rPr sz="2500" spc="-25" dirty="0">
                <a:latin typeface="Trebuchet MS"/>
                <a:cs typeface="Trebuchet MS"/>
              </a:rPr>
              <a:t>called </a:t>
            </a:r>
            <a:r>
              <a:rPr sz="2500" spc="55" dirty="0">
                <a:latin typeface="Trebuchet MS"/>
                <a:cs typeface="Trebuchet MS"/>
              </a:rPr>
              <a:t>a </a:t>
            </a:r>
            <a:r>
              <a:rPr sz="2500" spc="-105" dirty="0">
                <a:latin typeface="Trebuchet MS"/>
                <a:cs typeface="Trebuchet MS"/>
              </a:rPr>
              <a:t>cell, </a:t>
            </a:r>
            <a:r>
              <a:rPr sz="2500" spc="55" dirty="0">
                <a:latin typeface="Trebuchet MS"/>
                <a:cs typeface="Trebuchet MS"/>
              </a:rPr>
              <a:t>and </a:t>
            </a:r>
            <a:r>
              <a:rPr sz="2500" spc="-15" dirty="0">
                <a:latin typeface="Trebuchet MS"/>
                <a:cs typeface="Trebuchet MS"/>
              </a:rPr>
              <a:t>the </a:t>
            </a:r>
            <a:r>
              <a:rPr sz="2500" spc="-55" dirty="0">
                <a:latin typeface="Trebuchet MS"/>
                <a:cs typeface="Trebuchet MS"/>
              </a:rPr>
              <a:t>cell </a:t>
            </a:r>
            <a:r>
              <a:rPr sz="2500" spc="-15" dirty="0">
                <a:latin typeface="Trebuchet MS"/>
                <a:cs typeface="Trebuchet MS"/>
              </a:rPr>
              <a:t>is </a:t>
            </a:r>
            <a:r>
              <a:rPr sz="2500" spc="-25" dirty="0">
                <a:latin typeface="Trebuchet MS"/>
                <a:cs typeface="Trebuchet MS"/>
              </a:rPr>
              <a:t>versioned.  </a:t>
            </a:r>
            <a:r>
              <a:rPr sz="2500" u="sng" spc="-5" dirty="0">
                <a:latin typeface="Trebuchet MS"/>
                <a:cs typeface="Trebuchet MS"/>
              </a:rPr>
              <a:t>The </a:t>
            </a:r>
            <a:r>
              <a:rPr sz="2500" u="sng" dirty="0">
                <a:latin typeface="Trebuchet MS"/>
                <a:cs typeface="Trebuchet MS"/>
              </a:rPr>
              <a:t>contents </a:t>
            </a:r>
            <a:r>
              <a:rPr sz="2500" u="sng" spc="15" dirty="0">
                <a:latin typeface="Trebuchet MS"/>
                <a:cs typeface="Trebuchet MS"/>
              </a:rPr>
              <a:t>of </a:t>
            </a:r>
            <a:r>
              <a:rPr sz="2500" u="sng" spc="-15" dirty="0">
                <a:latin typeface="Trebuchet MS"/>
                <a:cs typeface="Trebuchet MS"/>
              </a:rPr>
              <a:t>the </a:t>
            </a:r>
            <a:r>
              <a:rPr sz="2500" u="sng" spc="-55" dirty="0">
                <a:latin typeface="Trebuchet MS"/>
                <a:cs typeface="Trebuchet MS"/>
              </a:rPr>
              <a:t>cell </a:t>
            </a:r>
            <a:r>
              <a:rPr sz="2500" u="sng" spc="-10" dirty="0">
                <a:latin typeface="Trebuchet MS"/>
                <a:cs typeface="Trebuchet MS"/>
              </a:rPr>
              <a:t>are </a:t>
            </a:r>
            <a:r>
              <a:rPr sz="2500" u="sng" spc="65" dirty="0">
                <a:latin typeface="Trebuchet MS"/>
                <a:cs typeface="Trebuchet MS"/>
              </a:rPr>
              <a:t>an </a:t>
            </a:r>
            <a:r>
              <a:rPr sz="2500" u="sng" spc="-20" dirty="0">
                <a:latin typeface="Trebuchet MS"/>
                <a:cs typeface="Trebuchet MS"/>
              </a:rPr>
              <a:t>indivisible </a:t>
            </a:r>
            <a:r>
              <a:rPr sz="2500" u="sng" spc="-25" dirty="0">
                <a:latin typeface="Trebuchet MS"/>
                <a:cs typeface="Trebuchet MS"/>
              </a:rPr>
              <a:t>byte</a:t>
            </a:r>
            <a:r>
              <a:rPr sz="2500" u="sng" spc="265" dirty="0">
                <a:latin typeface="Trebuchet MS"/>
                <a:cs typeface="Trebuchet MS"/>
              </a:rPr>
              <a:t> </a:t>
            </a:r>
            <a:r>
              <a:rPr sz="2500" u="sng" spc="-45" dirty="0">
                <a:latin typeface="Trebuchet MS"/>
                <a:cs typeface="Trebuchet MS"/>
              </a:rPr>
              <a:t>array</a:t>
            </a:r>
            <a:r>
              <a:rPr sz="2500" spc="-45" dirty="0">
                <a:latin typeface="Trebuchet MS"/>
                <a:cs typeface="Trebuchet MS"/>
              </a:rPr>
              <a:t>.</a:t>
            </a:r>
            <a:endParaRPr sz="2500" dirty="0">
              <a:latin typeface="Trebuchet MS"/>
              <a:cs typeface="Trebuchet MS"/>
            </a:endParaRPr>
          </a:p>
          <a:p>
            <a:pPr marL="355600" marR="5080" indent="-342900" algn="just">
              <a:lnSpc>
                <a:spcPct val="140000"/>
              </a:lnSpc>
              <a:spcBef>
                <a:spcPts val="795"/>
              </a:spcBef>
              <a:buFont typeface="Arial" panose="020B0604020202020204" pitchFamily="34" charset="0"/>
              <a:buChar char="•"/>
            </a:pPr>
            <a:r>
              <a:rPr sz="2500" spc="-5" dirty="0">
                <a:latin typeface="Trebuchet MS"/>
                <a:cs typeface="Trebuchet MS"/>
              </a:rPr>
              <a:t>The </a:t>
            </a:r>
            <a:r>
              <a:rPr sz="2500" spc="45" dirty="0">
                <a:latin typeface="Trebuchet MS"/>
                <a:cs typeface="Trebuchet MS"/>
              </a:rPr>
              <a:t>row </a:t>
            </a:r>
            <a:r>
              <a:rPr sz="2500" dirty="0">
                <a:latin typeface="Trebuchet MS"/>
                <a:cs typeface="Trebuchet MS"/>
              </a:rPr>
              <a:t>key </a:t>
            </a:r>
            <a:r>
              <a:rPr sz="2500" spc="15" dirty="0">
                <a:latin typeface="Trebuchet MS"/>
                <a:cs typeface="Trebuchet MS"/>
              </a:rPr>
              <a:t>of </a:t>
            </a:r>
            <a:r>
              <a:rPr sz="2500" spc="55" dirty="0">
                <a:latin typeface="Trebuchet MS"/>
                <a:cs typeface="Trebuchet MS"/>
              </a:rPr>
              <a:t>a </a:t>
            </a:r>
            <a:r>
              <a:rPr sz="2500" spc="-20" dirty="0">
                <a:latin typeface="Trebuchet MS"/>
                <a:cs typeface="Trebuchet MS"/>
              </a:rPr>
              <a:t>table </a:t>
            </a:r>
            <a:r>
              <a:rPr sz="2500" spc="-15" dirty="0">
                <a:latin typeface="Trebuchet MS"/>
                <a:cs typeface="Trebuchet MS"/>
              </a:rPr>
              <a:t>is </a:t>
            </a:r>
            <a:r>
              <a:rPr sz="2500" spc="25" dirty="0">
                <a:latin typeface="Trebuchet MS"/>
                <a:cs typeface="Trebuchet MS"/>
              </a:rPr>
              <a:t>also </a:t>
            </a:r>
            <a:r>
              <a:rPr sz="2500" spc="55" dirty="0">
                <a:latin typeface="Trebuchet MS"/>
                <a:cs typeface="Trebuchet MS"/>
              </a:rPr>
              <a:t>a </a:t>
            </a:r>
            <a:r>
              <a:rPr sz="2500" spc="-25" dirty="0">
                <a:latin typeface="Trebuchet MS"/>
                <a:cs typeface="Trebuchet MS"/>
              </a:rPr>
              <a:t>byte </a:t>
            </a:r>
            <a:r>
              <a:rPr sz="2500" spc="-45" dirty="0">
                <a:latin typeface="Trebuchet MS"/>
                <a:cs typeface="Trebuchet MS"/>
              </a:rPr>
              <a:t>array, </a:t>
            </a:r>
            <a:r>
              <a:rPr sz="2500" spc="55" dirty="0">
                <a:latin typeface="Trebuchet MS"/>
                <a:cs typeface="Trebuchet MS"/>
              </a:rPr>
              <a:t>so </a:t>
            </a:r>
            <a:r>
              <a:rPr sz="2500" spc="35" dirty="0">
                <a:latin typeface="Trebuchet MS"/>
                <a:cs typeface="Trebuchet MS"/>
              </a:rPr>
              <a:t>anything </a:t>
            </a:r>
            <a:r>
              <a:rPr sz="2500" spc="20" dirty="0">
                <a:latin typeface="Trebuchet MS"/>
                <a:cs typeface="Trebuchet MS"/>
              </a:rPr>
              <a:t>can </a:t>
            </a:r>
            <a:r>
              <a:rPr sz="2500" spc="-10" dirty="0">
                <a:latin typeface="Trebuchet MS"/>
                <a:cs typeface="Trebuchet MS"/>
              </a:rPr>
              <a:t>be </a:t>
            </a:r>
            <a:r>
              <a:rPr sz="2500" spc="-35" dirty="0">
                <a:latin typeface="Trebuchet MS"/>
                <a:cs typeface="Trebuchet MS"/>
              </a:rPr>
              <a:t>saved, </a:t>
            </a:r>
            <a:r>
              <a:rPr sz="2500" spc="-30" dirty="0">
                <a:latin typeface="Trebuchet MS"/>
                <a:cs typeface="Trebuchet MS"/>
              </a:rPr>
              <a:t>either </a:t>
            </a:r>
            <a:r>
              <a:rPr sz="2500" spc="45" dirty="0">
                <a:latin typeface="Trebuchet MS"/>
                <a:cs typeface="Trebuchet MS"/>
              </a:rPr>
              <a:t>as </a:t>
            </a:r>
            <a:r>
              <a:rPr sz="2500" spc="55" dirty="0">
                <a:latin typeface="Trebuchet MS"/>
                <a:cs typeface="Trebuchet MS"/>
              </a:rPr>
              <a:t>a  </a:t>
            </a:r>
            <a:r>
              <a:rPr sz="2500" spc="10" dirty="0">
                <a:latin typeface="Trebuchet MS"/>
                <a:cs typeface="Trebuchet MS"/>
              </a:rPr>
              <a:t>string </a:t>
            </a:r>
            <a:r>
              <a:rPr sz="2500" spc="20" dirty="0">
                <a:latin typeface="Trebuchet MS"/>
                <a:cs typeface="Trebuchet MS"/>
              </a:rPr>
              <a:t>or </a:t>
            </a:r>
            <a:r>
              <a:rPr sz="2500" spc="45" dirty="0">
                <a:latin typeface="Trebuchet MS"/>
                <a:cs typeface="Trebuchet MS"/>
              </a:rPr>
              <a:t>as </a:t>
            </a:r>
            <a:r>
              <a:rPr sz="2500" spc="55" dirty="0">
                <a:latin typeface="Trebuchet MS"/>
                <a:cs typeface="Trebuchet MS"/>
              </a:rPr>
              <a:t>a</a:t>
            </a:r>
            <a:r>
              <a:rPr sz="2500" spc="20" dirty="0">
                <a:latin typeface="Trebuchet MS"/>
                <a:cs typeface="Trebuchet MS"/>
              </a:rPr>
              <a:t> </a:t>
            </a:r>
            <a:r>
              <a:rPr sz="2500" spc="-5" dirty="0">
                <a:latin typeface="Trebuchet MS"/>
                <a:cs typeface="Trebuchet MS"/>
              </a:rPr>
              <a:t>number.</a:t>
            </a:r>
            <a:endParaRPr sz="2500" dirty="0">
              <a:latin typeface="Trebuchet MS"/>
              <a:cs typeface="Trebuchet MS"/>
            </a:endParaRPr>
          </a:p>
          <a:p>
            <a:pPr marL="355600" indent="-342900" algn="just">
              <a:lnSpc>
                <a:spcPct val="100000"/>
              </a:lnSpc>
              <a:spcBef>
                <a:spcPts val="1860"/>
              </a:spcBef>
              <a:buFont typeface="Arial" panose="020B0604020202020204" pitchFamily="34" charset="0"/>
              <a:buChar char="•"/>
            </a:pPr>
            <a:r>
              <a:rPr sz="2500" spc="65" dirty="0">
                <a:latin typeface="Trebuchet MS"/>
                <a:cs typeface="Trebuchet MS"/>
              </a:rPr>
              <a:t>HBase </a:t>
            </a:r>
            <a:r>
              <a:rPr sz="2500" spc="-10" dirty="0">
                <a:latin typeface="Trebuchet MS"/>
                <a:cs typeface="Trebuchet MS"/>
              </a:rPr>
              <a:t>tables are </a:t>
            </a:r>
            <a:r>
              <a:rPr sz="2500" dirty="0">
                <a:latin typeface="Trebuchet MS"/>
                <a:cs typeface="Trebuchet MS"/>
              </a:rPr>
              <a:t>sorted </a:t>
            </a:r>
            <a:r>
              <a:rPr sz="2500" spc="15" dirty="0">
                <a:latin typeface="Trebuchet MS"/>
                <a:cs typeface="Trebuchet MS"/>
              </a:rPr>
              <a:t>by </a:t>
            </a:r>
            <a:r>
              <a:rPr sz="2500" spc="-75" dirty="0" smtClean="0">
                <a:latin typeface="Trebuchet MS"/>
                <a:cs typeface="Trebuchet MS"/>
              </a:rPr>
              <a:t>key. </a:t>
            </a:r>
            <a:r>
              <a:rPr sz="2500" spc="15" dirty="0">
                <a:latin typeface="Trebuchet MS"/>
                <a:cs typeface="Trebuchet MS"/>
              </a:rPr>
              <a:t>All </a:t>
            </a:r>
            <a:r>
              <a:rPr sz="2500" spc="-10" dirty="0">
                <a:latin typeface="Trebuchet MS"/>
                <a:cs typeface="Trebuchet MS"/>
              </a:rPr>
              <a:t>tables </a:t>
            </a:r>
            <a:r>
              <a:rPr sz="2500" spc="45" dirty="0">
                <a:latin typeface="Trebuchet MS"/>
                <a:cs typeface="Trebuchet MS"/>
              </a:rPr>
              <a:t>must </a:t>
            </a:r>
            <a:r>
              <a:rPr sz="2500" spc="20" dirty="0">
                <a:latin typeface="Trebuchet MS"/>
                <a:cs typeface="Trebuchet MS"/>
              </a:rPr>
              <a:t>have</a:t>
            </a:r>
            <a:r>
              <a:rPr sz="2500" spc="75" dirty="0">
                <a:latin typeface="Trebuchet MS"/>
                <a:cs typeface="Trebuchet MS"/>
              </a:rPr>
              <a:t> </a:t>
            </a:r>
            <a:r>
              <a:rPr sz="2500" spc="60" dirty="0" smtClean="0">
                <a:latin typeface="Trebuchet MS"/>
                <a:cs typeface="Trebuchet MS"/>
              </a:rPr>
              <a:t>a</a:t>
            </a:r>
            <a:r>
              <a:rPr lang="en-US" sz="2500" dirty="0">
                <a:latin typeface="Trebuchet MS"/>
                <a:cs typeface="Trebuchet MS"/>
              </a:rPr>
              <a:t> </a:t>
            </a:r>
            <a:r>
              <a:rPr sz="2500" spc="15" dirty="0" smtClean="0">
                <a:latin typeface="Trebuchet MS"/>
                <a:cs typeface="Trebuchet MS"/>
              </a:rPr>
              <a:t>primary</a:t>
            </a:r>
            <a:r>
              <a:rPr sz="2500" spc="25" dirty="0" smtClean="0">
                <a:latin typeface="Trebuchet MS"/>
                <a:cs typeface="Trebuchet MS"/>
              </a:rPr>
              <a:t> </a:t>
            </a:r>
            <a:r>
              <a:rPr sz="2500" spc="-75" dirty="0">
                <a:latin typeface="Trebuchet MS"/>
                <a:cs typeface="Trebuchet MS"/>
              </a:rPr>
              <a:t>key.</a:t>
            </a:r>
            <a:endParaRPr sz="2500" dirty="0">
              <a:latin typeface="Trebuchet MS"/>
              <a:cs typeface="Trebuchet M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4839335" cy="513715"/>
          </a:xfrm>
          <a:prstGeom prst="rect">
            <a:avLst/>
          </a:prstGeom>
        </p:spPr>
        <p:txBody>
          <a:bodyPr vert="horz" wrap="square" lIns="0" tIns="13335" rIns="0" bIns="0" rtlCol="0">
            <a:spAutoFit/>
          </a:bodyPr>
          <a:lstStyle/>
          <a:p>
            <a:pPr marL="12700">
              <a:lnSpc>
                <a:spcPct val="100000"/>
              </a:lnSpc>
              <a:spcBef>
                <a:spcPts val="105"/>
              </a:spcBef>
            </a:pPr>
            <a:r>
              <a:rPr sz="3200" spc="100" dirty="0">
                <a:solidFill>
                  <a:srgbClr val="000000"/>
                </a:solidFill>
              </a:rPr>
              <a:t>HBase </a:t>
            </a:r>
            <a:r>
              <a:rPr sz="3200" spc="-10" dirty="0">
                <a:solidFill>
                  <a:srgbClr val="000000"/>
                </a:solidFill>
              </a:rPr>
              <a:t>Table Structure</a:t>
            </a:r>
            <a:r>
              <a:rPr sz="3200" spc="-55" dirty="0">
                <a:solidFill>
                  <a:srgbClr val="000000"/>
                </a:solidFill>
              </a:rPr>
              <a:t> </a:t>
            </a:r>
            <a:r>
              <a:rPr sz="3200" spc="130" dirty="0">
                <a:solidFill>
                  <a:srgbClr val="000000"/>
                </a:solidFill>
              </a:rPr>
              <a:t>(1)</a:t>
            </a:r>
            <a:endParaRPr sz="3200"/>
          </a:p>
        </p:txBody>
      </p:sp>
      <p:grpSp>
        <p:nvGrpSpPr>
          <p:cNvPr id="3" name="object 3"/>
          <p:cNvGrpSpPr/>
          <p:nvPr/>
        </p:nvGrpSpPr>
        <p:grpSpPr>
          <a:xfrm>
            <a:off x="2747454" y="2511107"/>
            <a:ext cx="7903845" cy="2014855"/>
            <a:chOff x="2747454" y="2511107"/>
            <a:chExt cx="7903845" cy="2014855"/>
          </a:xfrm>
        </p:grpSpPr>
        <p:sp>
          <p:nvSpPr>
            <p:cNvPr id="4" name="object 4"/>
            <p:cNvSpPr/>
            <p:nvPr/>
          </p:nvSpPr>
          <p:spPr>
            <a:xfrm>
              <a:off x="4948174" y="2539745"/>
              <a:ext cx="5674360" cy="741680"/>
            </a:xfrm>
            <a:custGeom>
              <a:avLst/>
              <a:gdLst/>
              <a:ahLst/>
              <a:cxnLst/>
              <a:rect l="l" t="t" r="r" b="b"/>
              <a:pathLst>
                <a:path w="5674359" h="741679">
                  <a:moveTo>
                    <a:pt x="5673979" y="0"/>
                  </a:moveTo>
                  <a:lnTo>
                    <a:pt x="0" y="0"/>
                  </a:lnTo>
                  <a:lnTo>
                    <a:pt x="0" y="370840"/>
                  </a:lnTo>
                  <a:lnTo>
                    <a:pt x="0" y="741680"/>
                  </a:lnTo>
                  <a:lnTo>
                    <a:pt x="1888617" y="741680"/>
                  </a:lnTo>
                  <a:lnTo>
                    <a:pt x="1888617" y="370840"/>
                  </a:lnTo>
                  <a:lnTo>
                    <a:pt x="5673979" y="370840"/>
                  </a:lnTo>
                  <a:lnTo>
                    <a:pt x="5673979" y="0"/>
                  </a:lnTo>
                  <a:close/>
                </a:path>
              </a:pathLst>
            </a:custGeom>
            <a:solidFill>
              <a:srgbClr val="D9D9D9"/>
            </a:solidFill>
          </p:spPr>
          <p:txBody>
            <a:bodyPr wrap="square" lIns="0" tIns="0" rIns="0" bIns="0" rtlCol="0"/>
            <a:lstStyle/>
            <a:p>
              <a:endParaRPr/>
            </a:p>
          </p:txBody>
        </p:sp>
        <p:sp>
          <p:nvSpPr>
            <p:cNvPr id="5" name="object 5"/>
            <p:cNvSpPr/>
            <p:nvPr/>
          </p:nvSpPr>
          <p:spPr>
            <a:xfrm>
              <a:off x="2761742" y="2525395"/>
              <a:ext cx="7875270" cy="1986280"/>
            </a:xfrm>
            <a:custGeom>
              <a:avLst/>
              <a:gdLst/>
              <a:ahLst/>
              <a:cxnLst/>
              <a:rect l="l" t="t" r="r" b="b"/>
              <a:pathLst>
                <a:path w="7875270" h="1986279">
                  <a:moveTo>
                    <a:pt x="2186432" y="0"/>
                  </a:moveTo>
                  <a:lnTo>
                    <a:pt x="2186432" y="1986152"/>
                  </a:lnTo>
                </a:path>
                <a:path w="7875270" h="1986279">
                  <a:moveTo>
                    <a:pt x="4075049" y="378840"/>
                  </a:moveTo>
                  <a:lnTo>
                    <a:pt x="4075049" y="1986152"/>
                  </a:lnTo>
                </a:path>
                <a:path w="7875270" h="1986279">
                  <a:moveTo>
                    <a:pt x="6238112" y="378840"/>
                  </a:moveTo>
                  <a:lnTo>
                    <a:pt x="6238112" y="1986152"/>
                  </a:lnTo>
                </a:path>
                <a:path w="7875270" h="1986279">
                  <a:moveTo>
                    <a:pt x="2180082" y="385190"/>
                  </a:moveTo>
                  <a:lnTo>
                    <a:pt x="7874761" y="385190"/>
                  </a:lnTo>
                </a:path>
                <a:path w="7875270" h="1986279">
                  <a:moveTo>
                    <a:pt x="0" y="756030"/>
                  </a:moveTo>
                  <a:lnTo>
                    <a:pt x="7874761" y="756030"/>
                  </a:lnTo>
                </a:path>
                <a:path w="7875270" h="1986279">
                  <a:moveTo>
                    <a:pt x="0" y="1126870"/>
                  </a:moveTo>
                  <a:lnTo>
                    <a:pt x="7874761" y="1126870"/>
                  </a:lnTo>
                </a:path>
                <a:path w="7875270" h="1986279">
                  <a:moveTo>
                    <a:pt x="0" y="1601088"/>
                  </a:moveTo>
                  <a:lnTo>
                    <a:pt x="7874761" y="1601088"/>
                  </a:lnTo>
                </a:path>
              </a:pathLst>
            </a:custGeom>
            <a:ln w="12700">
              <a:solidFill>
                <a:srgbClr val="000000"/>
              </a:solidFill>
            </a:ln>
          </p:spPr>
          <p:txBody>
            <a:bodyPr wrap="square" lIns="0" tIns="0" rIns="0" bIns="0" rtlCol="0"/>
            <a:lstStyle/>
            <a:p>
              <a:endParaRPr/>
            </a:p>
          </p:txBody>
        </p:sp>
        <p:sp>
          <p:nvSpPr>
            <p:cNvPr id="6" name="object 6"/>
            <p:cNvSpPr/>
            <p:nvPr/>
          </p:nvSpPr>
          <p:spPr>
            <a:xfrm>
              <a:off x="2761742" y="2525395"/>
              <a:ext cx="7875270" cy="1986280"/>
            </a:xfrm>
            <a:custGeom>
              <a:avLst/>
              <a:gdLst/>
              <a:ahLst/>
              <a:cxnLst/>
              <a:rect l="l" t="t" r="r" b="b"/>
              <a:pathLst>
                <a:path w="7875270" h="1986279">
                  <a:moveTo>
                    <a:pt x="14224" y="0"/>
                  </a:moveTo>
                  <a:lnTo>
                    <a:pt x="14224" y="1986152"/>
                  </a:lnTo>
                </a:path>
                <a:path w="7875270" h="1986279">
                  <a:moveTo>
                    <a:pt x="7860410" y="0"/>
                  </a:moveTo>
                  <a:lnTo>
                    <a:pt x="7860410" y="1986152"/>
                  </a:lnTo>
                </a:path>
                <a:path w="7875270" h="1986279">
                  <a:moveTo>
                    <a:pt x="0" y="14350"/>
                  </a:moveTo>
                  <a:lnTo>
                    <a:pt x="7874761" y="14350"/>
                  </a:lnTo>
                </a:path>
                <a:path w="7875270" h="1986279">
                  <a:moveTo>
                    <a:pt x="0" y="1971928"/>
                  </a:moveTo>
                  <a:lnTo>
                    <a:pt x="7874761" y="1971928"/>
                  </a:lnTo>
                </a:path>
              </a:pathLst>
            </a:custGeom>
            <a:ln w="28575">
              <a:solidFill>
                <a:srgbClr val="000000"/>
              </a:solidFill>
            </a:ln>
          </p:spPr>
          <p:txBody>
            <a:bodyPr wrap="square" lIns="0" tIns="0" rIns="0" bIns="0" rtlCol="0"/>
            <a:lstStyle/>
            <a:p>
              <a:endParaRPr/>
            </a:p>
          </p:txBody>
        </p:sp>
      </p:grpSp>
      <p:sp>
        <p:nvSpPr>
          <p:cNvPr id="7" name="object 7"/>
          <p:cNvSpPr txBox="1"/>
          <p:nvPr/>
        </p:nvSpPr>
        <p:spPr>
          <a:xfrm>
            <a:off x="4948173" y="2910585"/>
            <a:ext cx="1889125" cy="370840"/>
          </a:xfrm>
          <a:prstGeom prst="rect">
            <a:avLst/>
          </a:prstGeom>
          <a:ln w="12700">
            <a:solidFill>
              <a:srgbClr val="000000"/>
            </a:solidFill>
          </a:ln>
        </p:spPr>
        <p:txBody>
          <a:bodyPr vert="horz" wrap="square" lIns="0" tIns="43180" rIns="0" bIns="0" rtlCol="0">
            <a:spAutoFit/>
          </a:bodyPr>
          <a:lstStyle/>
          <a:p>
            <a:pPr algn="ctr">
              <a:lnSpc>
                <a:spcPct val="100000"/>
              </a:lnSpc>
              <a:spcBef>
                <a:spcPts val="340"/>
              </a:spcBef>
            </a:pPr>
            <a:r>
              <a:rPr sz="1800" spc="50" dirty="0">
                <a:latin typeface="Trebuchet MS"/>
                <a:cs typeface="Trebuchet MS"/>
              </a:rPr>
              <a:t>name</a:t>
            </a:r>
            <a:endParaRPr sz="1800">
              <a:latin typeface="Trebuchet MS"/>
              <a:cs typeface="Trebuchet MS"/>
            </a:endParaRPr>
          </a:p>
        </p:txBody>
      </p:sp>
      <p:sp>
        <p:nvSpPr>
          <p:cNvPr id="8" name="object 8"/>
          <p:cNvSpPr txBox="1"/>
          <p:nvPr/>
        </p:nvSpPr>
        <p:spPr>
          <a:xfrm>
            <a:off x="6836791" y="2910585"/>
            <a:ext cx="2163445" cy="370840"/>
          </a:xfrm>
          <a:prstGeom prst="rect">
            <a:avLst/>
          </a:prstGeom>
          <a:solidFill>
            <a:srgbClr val="D9D9D9"/>
          </a:solidFill>
          <a:ln w="12700">
            <a:solidFill>
              <a:srgbClr val="000000"/>
            </a:solidFill>
          </a:ln>
        </p:spPr>
        <p:txBody>
          <a:bodyPr vert="horz" wrap="square" lIns="0" tIns="43180" rIns="0" bIns="0" rtlCol="0">
            <a:spAutoFit/>
          </a:bodyPr>
          <a:lstStyle/>
          <a:p>
            <a:pPr marL="635" algn="ctr">
              <a:lnSpc>
                <a:spcPct val="100000"/>
              </a:lnSpc>
              <a:spcBef>
                <a:spcPts val="340"/>
              </a:spcBef>
            </a:pPr>
            <a:r>
              <a:rPr sz="1800" spc="40" dirty="0">
                <a:latin typeface="Trebuchet MS"/>
                <a:cs typeface="Trebuchet MS"/>
              </a:rPr>
              <a:t>age</a:t>
            </a:r>
            <a:endParaRPr sz="1800">
              <a:latin typeface="Trebuchet MS"/>
              <a:cs typeface="Trebuchet MS"/>
            </a:endParaRPr>
          </a:p>
        </p:txBody>
      </p:sp>
      <p:sp>
        <p:nvSpPr>
          <p:cNvPr id="9" name="object 9"/>
          <p:cNvSpPr txBox="1"/>
          <p:nvPr/>
        </p:nvSpPr>
        <p:spPr>
          <a:xfrm>
            <a:off x="9006205" y="2916935"/>
            <a:ext cx="1602105" cy="358140"/>
          </a:xfrm>
          <a:prstGeom prst="rect">
            <a:avLst/>
          </a:prstGeom>
          <a:solidFill>
            <a:srgbClr val="D9D9D9"/>
          </a:solidFill>
        </p:spPr>
        <p:txBody>
          <a:bodyPr vert="horz" wrap="square" lIns="0" tIns="36830" rIns="0" bIns="0" rtlCol="0">
            <a:spAutoFit/>
          </a:bodyPr>
          <a:lstStyle/>
          <a:p>
            <a:pPr marL="444500">
              <a:lnSpc>
                <a:spcPct val="100000"/>
              </a:lnSpc>
              <a:spcBef>
                <a:spcPts val="290"/>
              </a:spcBef>
            </a:pPr>
            <a:r>
              <a:rPr sz="1800" spc="15" dirty="0">
                <a:latin typeface="Trebuchet MS"/>
                <a:cs typeface="Trebuchet MS"/>
              </a:rPr>
              <a:t>gender</a:t>
            </a:r>
            <a:endParaRPr sz="1800">
              <a:latin typeface="Trebuchet MS"/>
              <a:cs typeface="Trebuchet MS"/>
            </a:endParaRPr>
          </a:p>
        </p:txBody>
      </p:sp>
      <p:sp>
        <p:nvSpPr>
          <p:cNvPr id="10" name="object 10"/>
          <p:cNvSpPr txBox="1"/>
          <p:nvPr/>
        </p:nvSpPr>
        <p:spPr>
          <a:xfrm>
            <a:off x="2790253" y="3312414"/>
            <a:ext cx="2152015" cy="299720"/>
          </a:xfrm>
          <a:prstGeom prst="rect">
            <a:avLst/>
          </a:prstGeom>
        </p:spPr>
        <p:txBody>
          <a:bodyPr vert="horz" wrap="square" lIns="0" tIns="12700" rIns="0" bIns="0" rtlCol="0">
            <a:spAutoFit/>
          </a:bodyPr>
          <a:lstStyle/>
          <a:p>
            <a:pPr marL="77470">
              <a:lnSpc>
                <a:spcPct val="100000"/>
              </a:lnSpc>
              <a:spcBef>
                <a:spcPts val="100"/>
              </a:spcBef>
            </a:pPr>
            <a:r>
              <a:rPr sz="1800" spc="55" dirty="0">
                <a:latin typeface="Trebuchet MS"/>
                <a:cs typeface="Trebuchet MS"/>
              </a:rPr>
              <a:t>20200301</a:t>
            </a:r>
            <a:endParaRPr sz="1800">
              <a:latin typeface="Trebuchet MS"/>
              <a:cs typeface="Trebuchet MS"/>
            </a:endParaRPr>
          </a:p>
        </p:txBody>
      </p:sp>
      <p:sp>
        <p:nvSpPr>
          <p:cNvPr id="11" name="object 11"/>
          <p:cNvSpPr txBox="1"/>
          <p:nvPr/>
        </p:nvSpPr>
        <p:spPr>
          <a:xfrm>
            <a:off x="4948173" y="3281426"/>
            <a:ext cx="1889125" cy="370840"/>
          </a:xfrm>
          <a:prstGeom prst="rect">
            <a:avLst/>
          </a:prstGeom>
          <a:ln w="12700">
            <a:solidFill>
              <a:srgbClr val="000000"/>
            </a:solidFill>
          </a:ln>
        </p:spPr>
        <p:txBody>
          <a:bodyPr vert="horz" wrap="square" lIns="0" tIns="43815" rIns="0" bIns="0" rtlCol="0">
            <a:spAutoFit/>
          </a:bodyPr>
          <a:lstStyle/>
          <a:p>
            <a:pPr marL="635" algn="ctr">
              <a:lnSpc>
                <a:spcPct val="100000"/>
              </a:lnSpc>
              <a:spcBef>
                <a:spcPts val="345"/>
              </a:spcBef>
            </a:pPr>
            <a:r>
              <a:rPr sz="1800" spc="50" dirty="0">
                <a:latin typeface="Trebuchet MS"/>
                <a:cs typeface="Trebuchet MS"/>
              </a:rPr>
              <a:t>Tom</a:t>
            </a:r>
            <a:endParaRPr sz="1800">
              <a:latin typeface="Trebuchet MS"/>
              <a:cs typeface="Trebuchet MS"/>
            </a:endParaRPr>
          </a:p>
        </p:txBody>
      </p:sp>
      <p:sp>
        <p:nvSpPr>
          <p:cNvPr id="12" name="object 12"/>
          <p:cNvSpPr txBox="1"/>
          <p:nvPr/>
        </p:nvSpPr>
        <p:spPr>
          <a:xfrm>
            <a:off x="6836791" y="3281426"/>
            <a:ext cx="2163445" cy="370840"/>
          </a:xfrm>
          <a:prstGeom prst="rect">
            <a:avLst/>
          </a:prstGeom>
          <a:ln w="12700">
            <a:solidFill>
              <a:srgbClr val="000000"/>
            </a:solidFill>
          </a:ln>
        </p:spPr>
        <p:txBody>
          <a:bodyPr vert="horz" wrap="square" lIns="0" tIns="43815" rIns="0" bIns="0" rtlCol="0">
            <a:spAutoFit/>
          </a:bodyPr>
          <a:lstStyle/>
          <a:p>
            <a:pPr algn="ctr">
              <a:lnSpc>
                <a:spcPct val="100000"/>
              </a:lnSpc>
              <a:spcBef>
                <a:spcPts val="345"/>
              </a:spcBef>
            </a:pPr>
            <a:r>
              <a:rPr sz="1800" spc="60" dirty="0">
                <a:latin typeface="Trebuchet MS"/>
                <a:cs typeface="Trebuchet MS"/>
              </a:rPr>
              <a:t>18</a:t>
            </a:r>
            <a:endParaRPr sz="1800">
              <a:latin typeface="Trebuchet MS"/>
              <a:cs typeface="Trebuchet MS"/>
            </a:endParaRPr>
          </a:p>
        </p:txBody>
      </p:sp>
      <p:sp>
        <p:nvSpPr>
          <p:cNvPr id="13" name="object 13"/>
          <p:cNvSpPr txBox="1"/>
          <p:nvPr/>
        </p:nvSpPr>
        <p:spPr>
          <a:xfrm>
            <a:off x="9006205" y="3312414"/>
            <a:ext cx="1602105" cy="299720"/>
          </a:xfrm>
          <a:prstGeom prst="rect">
            <a:avLst/>
          </a:prstGeom>
        </p:spPr>
        <p:txBody>
          <a:bodyPr vert="horz" wrap="square" lIns="0" tIns="12700" rIns="0" bIns="0" rtlCol="0">
            <a:spAutoFit/>
          </a:bodyPr>
          <a:lstStyle/>
          <a:p>
            <a:pPr marL="8890" algn="ctr">
              <a:lnSpc>
                <a:spcPct val="100000"/>
              </a:lnSpc>
              <a:spcBef>
                <a:spcPts val="100"/>
              </a:spcBef>
            </a:pPr>
            <a:r>
              <a:rPr sz="1800" spc="25" dirty="0">
                <a:latin typeface="Trebuchet MS"/>
                <a:cs typeface="Trebuchet MS"/>
              </a:rPr>
              <a:t>male</a:t>
            </a:r>
            <a:endParaRPr sz="1800">
              <a:latin typeface="Trebuchet MS"/>
              <a:cs typeface="Trebuchet MS"/>
            </a:endParaRPr>
          </a:p>
        </p:txBody>
      </p:sp>
      <p:sp>
        <p:nvSpPr>
          <p:cNvPr id="14" name="object 14"/>
          <p:cNvSpPr txBox="1"/>
          <p:nvPr/>
        </p:nvSpPr>
        <p:spPr>
          <a:xfrm>
            <a:off x="2790253" y="3683254"/>
            <a:ext cx="2152015" cy="299720"/>
          </a:xfrm>
          <a:prstGeom prst="rect">
            <a:avLst/>
          </a:prstGeom>
        </p:spPr>
        <p:txBody>
          <a:bodyPr vert="horz" wrap="square" lIns="0" tIns="12700" rIns="0" bIns="0" rtlCol="0">
            <a:spAutoFit/>
          </a:bodyPr>
          <a:lstStyle/>
          <a:p>
            <a:pPr marL="77470">
              <a:lnSpc>
                <a:spcPct val="100000"/>
              </a:lnSpc>
              <a:spcBef>
                <a:spcPts val="100"/>
              </a:spcBef>
            </a:pPr>
            <a:r>
              <a:rPr sz="1800" spc="55" dirty="0">
                <a:latin typeface="Trebuchet MS"/>
                <a:cs typeface="Trebuchet MS"/>
              </a:rPr>
              <a:t>20200302</a:t>
            </a:r>
            <a:endParaRPr sz="1800" dirty="0">
              <a:latin typeface="Trebuchet MS"/>
              <a:cs typeface="Trebuchet MS"/>
            </a:endParaRPr>
          </a:p>
        </p:txBody>
      </p:sp>
      <p:sp>
        <p:nvSpPr>
          <p:cNvPr id="15" name="object 15"/>
          <p:cNvSpPr txBox="1"/>
          <p:nvPr/>
        </p:nvSpPr>
        <p:spPr>
          <a:xfrm>
            <a:off x="4948173" y="3652265"/>
            <a:ext cx="1889125" cy="474345"/>
          </a:xfrm>
          <a:prstGeom prst="rect">
            <a:avLst/>
          </a:prstGeom>
          <a:ln w="12700">
            <a:solidFill>
              <a:srgbClr val="000000"/>
            </a:solidFill>
          </a:ln>
        </p:spPr>
        <p:txBody>
          <a:bodyPr vert="horz" wrap="square" lIns="0" tIns="43815" rIns="0" bIns="0" rtlCol="0">
            <a:spAutoFit/>
          </a:bodyPr>
          <a:lstStyle/>
          <a:p>
            <a:pPr algn="ctr">
              <a:lnSpc>
                <a:spcPct val="100000"/>
              </a:lnSpc>
              <a:spcBef>
                <a:spcPts val="345"/>
              </a:spcBef>
            </a:pPr>
            <a:r>
              <a:rPr sz="1800" spc="-60" dirty="0">
                <a:latin typeface="Trebuchet MS"/>
                <a:cs typeface="Trebuchet MS"/>
              </a:rPr>
              <a:t>Jack</a:t>
            </a:r>
            <a:endParaRPr sz="1800">
              <a:latin typeface="Trebuchet MS"/>
              <a:cs typeface="Trebuchet MS"/>
            </a:endParaRPr>
          </a:p>
        </p:txBody>
      </p:sp>
      <p:sp>
        <p:nvSpPr>
          <p:cNvPr id="16" name="object 16"/>
          <p:cNvSpPr txBox="1"/>
          <p:nvPr/>
        </p:nvSpPr>
        <p:spPr>
          <a:xfrm>
            <a:off x="6836791" y="3652265"/>
            <a:ext cx="2163445" cy="474345"/>
          </a:xfrm>
          <a:prstGeom prst="rect">
            <a:avLst/>
          </a:prstGeom>
          <a:ln w="12700">
            <a:solidFill>
              <a:srgbClr val="000000"/>
            </a:solidFill>
          </a:ln>
        </p:spPr>
        <p:txBody>
          <a:bodyPr vert="horz" wrap="square" lIns="0" tIns="43815" rIns="0" bIns="0" rtlCol="0">
            <a:spAutoFit/>
          </a:bodyPr>
          <a:lstStyle/>
          <a:p>
            <a:pPr algn="ctr">
              <a:lnSpc>
                <a:spcPct val="100000"/>
              </a:lnSpc>
              <a:spcBef>
                <a:spcPts val="345"/>
              </a:spcBef>
            </a:pPr>
            <a:r>
              <a:rPr sz="1800" spc="60" dirty="0">
                <a:latin typeface="Trebuchet MS"/>
                <a:cs typeface="Trebuchet MS"/>
              </a:rPr>
              <a:t>19</a:t>
            </a:r>
            <a:endParaRPr sz="1800">
              <a:latin typeface="Trebuchet MS"/>
              <a:cs typeface="Trebuchet MS"/>
            </a:endParaRPr>
          </a:p>
        </p:txBody>
      </p:sp>
      <p:sp>
        <p:nvSpPr>
          <p:cNvPr id="17" name="object 17"/>
          <p:cNvSpPr txBox="1"/>
          <p:nvPr/>
        </p:nvSpPr>
        <p:spPr>
          <a:xfrm>
            <a:off x="2790253" y="4157598"/>
            <a:ext cx="2152015" cy="299720"/>
          </a:xfrm>
          <a:prstGeom prst="rect">
            <a:avLst/>
          </a:prstGeom>
        </p:spPr>
        <p:txBody>
          <a:bodyPr vert="horz" wrap="square" lIns="0" tIns="12700" rIns="0" bIns="0" rtlCol="0">
            <a:spAutoFit/>
          </a:bodyPr>
          <a:lstStyle/>
          <a:p>
            <a:pPr marL="77470">
              <a:lnSpc>
                <a:spcPct val="100000"/>
              </a:lnSpc>
              <a:spcBef>
                <a:spcPts val="100"/>
              </a:spcBef>
            </a:pPr>
            <a:r>
              <a:rPr sz="1800" spc="55" dirty="0">
                <a:latin typeface="Trebuchet MS"/>
                <a:cs typeface="Trebuchet MS"/>
              </a:rPr>
              <a:t>20200303</a:t>
            </a:r>
            <a:endParaRPr sz="1800" dirty="0">
              <a:latin typeface="Trebuchet MS"/>
              <a:cs typeface="Trebuchet MS"/>
            </a:endParaRPr>
          </a:p>
        </p:txBody>
      </p:sp>
      <p:sp>
        <p:nvSpPr>
          <p:cNvPr id="18" name="object 18"/>
          <p:cNvSpPr txBox="1"/>
          <p:nvPr/>
        </p:nvSpPr>
        <p:spPr>
          <a:xfrm>
            <a:off x="4954523" y="4157598"/>
            <a:ext cx="1876425" cy="299720"/>
          </a:xfrm>
          <a:prstGeom prst="rect">
            <a:avLst/>
          </a:prstGeom>
        </p:spPr>
        <p:txBody>
          <a:bodyPr vert="horz" wrap="square" lIns="0" tIns="12700" rIns="0" bIns="0" rtlCol="0">
            <a:spAutoFit/>
          </a:bodyPr>
          <a:lstStyle/>
          <a:p>
            <a:pPr algn="ctr">
              <a:lnSpc>
                <a:spcPct val="100000"/>
              </a:lnSpc>
              <a:spcBef>
                <a:spcPts val="100"/>
              </a:spcBef>
            </a:pPr>
            <a:r>
              <a:rPr sz="1800" spc="-25" dirty="0">
                <a:latin typeface="Trebuchet MS"/>
                <a:cs typeface="Trebuchet MS"/>
              </a:rPr>
              <a:t>Lily</a:t>
            </a:r>
            <a:endParaRPr sz="1800">
              <a:latin typeface="Trebuchet MS"/>
              <a:cs typeface="Trebuchet MS"/>
            </a:endParaRPr>
          </a:p>
        </p:txBody>
      </p:sp>
      <p:sp>
        <p:nvSpPr>
          <p:cNvPr id="19" name="object 19"/>
          <p:cNvSpPr txBox="1"/>
          <p:nvPr/>
        </p:nvSpPr>
        <p:spPr>
          <a:xfrm>
            <a:off x="6843141" y="4157598"/>
            <a:ext cx="2150745" cy="299720"/>
          </a:xfrm>
          <a:prstGeom prst="rect">
            <a:avLst/>
          </a:prstGeom>
        </p:spPr>
        <p:txBody>
          <a:bodyPr vert="horz" wrap="square" lIns="0" tIns="12700" rIns="0" bIns="0" rtlCol="0">
            <a:spAutoFit/>
          </a:bodyPr>
          <a:lstStyle/>
          <a:p>
            <a:pPr algn="ctr">
              <a:lnSpc>
                <a:spcPct val="100000"/>
              </a:lnSpc>
              <a:spcBef>
                <a:spcPts val="100"/>
              </a:spcBef>
            </a:pPr>
            <a:r>
              <a:rPr sz="1800" spc="60" dirty="0">
                <a:latin typeface="Trebuchet MS"/>
                <a:cs typeface="Trebuchet MS"/>
              </a:rPr>
              <a:t>20</a:t>
            </a:r>
            <a:endParaRPr sz="1800">
              <a:latin typeface="Trebuchet MS"/>
              <a:cs typeface="Trebuchet MS"/>
            </a:endParaRPr>
          </a:p>
        </p:txBody>
      </p:sp>
      <p:sp>
        <p:nvSpPr>
          <p:cNvPr id="20" name="object 20"/>
          <p:cNvSpPr txBox="1"/>
          <p:nvPr/>
        </p:nvSpPr>
        <p:spPr>
          <a:xfrm>
            <a:off x="9006205" y="4157598"/>
            <a:ext cx="1602105" cy="299720"/>
          </a:xfrm>
          <a:prstGeom prst="rect">
            <a:avLst/>
          </a:prstGeom>
        </p:spPr>
        <p:txBody>
          <a:bodyPr vert="horz" wrap="square" lIns="0" tIns="12700" rIns="0" bIns="0" rtlCol="0">
            <a:spAutoFit/>
          </a:bodyPr>
          <a:lstStyle/>
          <a:p>
            <a:pPr marL="446405">
              <a:lnSpc>
                <a:spcPct val="100000"/>
              </a:lnSpc>
              <a:spcBef>
                <a:spcPts val="100"/>
              </a:spcBef>
            </a:pPr>
            <a:r>
              <a:rPr sz="1800" dirty="0">
                <a:latin typeface="Trebuchet MS"/>
                <a:cs typeface="Trebuchet MS"/>
              </a:rPr>
              <a:t>female</a:t>
            </a:r>
          </a:p>
        </p:txBody>
      </p:sp>
      <p:sp>
        <p:nvSpPr>
          <p:cNvPr id="21" name="object 21"/>
          <p:cNvSpPr/>
          <p:nvPr/>
        </p:nvSpPr>
        <p:spPr>
          <a:xfrm>
            <a:off x="1600200" y="3359784"/>
            <a:ext cx="1036319" cy="277495"/>
          </a:xfrm>
          <a:custGeom>
            <a:avLst/>
            <a:gdLst/>
            <a:ahLst/>
            <a:cxnLst/>
            <a:rect l="l" t="t" r="r" b="b"/>
            <a:pathLst>
              <a:path w="1036319" h="277495">
                <a:moveTo>
                  <a:pt x="960639" y="30812"/>
                </a:moveTo>
                <a:lnTo>
                  <a:pt x="0" y="264921"/>
                </a:lnTo>
                <a:lnTo>
                  <a:pt x="3047" y="277240"/>
                </a:lnTo>
                <a:lnTo>
                  <a:pt x="963643" y="43142"/>
                </a:lnTo>
                <a:lnTo>
                  <a:pt x="960639" y="30812"/>
                </a:lnTo>
                <a:close/>
              </a:path>
              <a:path w="1036319" h="277495">
                <a:moveTo>
                  <a:pt x="1025705" y="27812"/>
                </a:moveTo>
                <a:lnTo>
                  <a:pt x="972947" y="27812"/>
                </a:lnTo>
                <a:lnTo>
                  <a:pt x="975994" y="40131"/>
                </a:lnTo>
                <a:lnTo>
                  <a:pt x="963643" y="43142"/>
                </a:lnTo>
                <a:lnTo>
                  <a:pt x="971169" y="74040"/>
                </a:lnTo>
                <a:lnTo>
                  <a:pt x="1025705" y="27812"/>
                </a:lnTo>
                <a:close/>
              </a:path>
              <a:path w="1036319" h="277495">
                <a:moveTo>
                  <a:pt x="972947" y="27812"/>
                </a:moveTo>
                <a:lnTo>
                  <a:pt x="960639" y="30812"/>
                </a:lnTo>
                <a:lnTo>
                  <a:pt x="963643" y="43142"/>
                </a:lnTo>
                <a:lnTo>
                  <a:pt x="975994" y="40131"/>
                </a:lnTo>
                <a:lnTo>
                  <a:pt x="972947" y="27812"/>
                </a:lnTo>
                <a:close/>
              </a:path>
              <a:path w="1036319" h="277495">
                <a:moveTo>
                  <a:pt x="953135" y="0"/>
                </a:moveTo>
                <a:lnTo>
                  <a:pt x="960639" y="30812"/>
                </a:lnTo>
                <a:lnTo>
                  <a:pt x="972947" y="27812"/>
                </a:lnTo>
                <a:lnTo>
                  <a:pt x="1025705" y="27812"/>
                </a:lnTo>
                <a:lnTo>
                  <a:pt x="1036193" y="18923"/>
                </a:lnTo>
                <a:lnTo>
                  <a:pt x="953135" y="0"/>
                </a:lnTo>
                <a:close/>
              </a:path>
            </a:pathLst>
          </a:custGeom>
          <a:solidFill>
            <a:srgbClr val="FF0000"/>
          </a:solidFill>
        </p:spPr>
        <p:txBody>
          <a:bodyPr wrap="square" lIns="0" tIns="0" rIns="0" bIns="0" rtlCol="0"/>
          <a:lstStyle/>
          <a:p>
            <a:endParaRPr/>
          </a:p>
        </p:txBody>
      </p:sp>
      <p:grpSp>
        <p:nvGrpSpPr>
          <p:cNvPr id="22" name="object 22"/>
          <p:cNvGrpSpPr/>
          <p:nvPr/>
        </p:nvGrpSpPr>
        <p:grpSpPr>
          <a:xfrm>
            <a:off x="1566672" y="1812035"/>
            <a:ext cx="8634095" cy="3437254"/>
            <a:chOff x="1566672" y="1812035"/>
            <a:chExt cx="8634095" cy="3437254"/>
          </a:xfrm>
        </p:grpSpPr>
        <p:sp>
          <p:nvSpPr>
            <p:cNvPr id="23" name="object 23"/>
            <p:cNvSpPr/>
            <p:nvPr/>
          </p:nvSpPr>
          <p:spPr>
            <a:xfrm>
              <a:off x="1566672" y="1812035"/>
              <a:ext cx="8023225" cy="3437254"/>
            </a:xfrm>
            <a:custGeom>
              <a:avLst/>
              <a:gdLst/>
              <a:ahLst/>
              <a:cxnLst/>
              <a:rect l="l" t="t" r="r" b="b"/>
              <a:pathLst>
                <a:path w="8023225" h="3437254">
                  <a:moveTo>
                    <a:pt x="1069721" y="2438146"/>
                  </a:moveTo>
                  <a:lnTo>
                    <a:pt x="1058202" y="2427986"/>
                  </a:lnTo>
                  <a:lnTo>
                    <a:pt x="1005840" y="2381758"/>
                  </a:lnTo>
                  <a:lnTo>
                    <a:pt x="997699" y="2412428"/>
                  </a:lnTo>
                  <a:lnTo>
                    <a:pt x="36703" y="2156460"/>
                  </a:lnTo>
                  <a:lnTo>
                    <a:pt x="33401" y="2168652"/>
                  </a:lnTo>
                  <a:lnTo>
                    <a:pt x="994422" y="2424722"/>
                  </a:lnTo>
                  <a:lnTo>
                    <a:pt x="986282" y="2455418"/>
                  </a:lnTo>
                  <a:lnTo>
                    <a:pt x="1069721" y="2438146"/>
                  </a:lnTo>
                  <a:close/>
                </a:path>
                <a:path w="8023225" h="3437254">
                  <a:moveTo>
                    <a:pt x="1172845" y="2007108"/>
                  </a:moveTo>
                  <a:lnTo>
                    <a:pt x="1160145" y="2000758"/>
                  </a:lnTo>
                  <a:lnTo>
                    <a:pt x="1096645" y="1969008"/>
                  </a:lnTo>
                  <a:lnTo>
                    <a:pt x="1096645" y="2000758"/>
                  </a:lnTo>
                  <a:lnTo>
                    <a:pt x="0" y="2000758"/>
                  </a:lnTo>
                  <a:lnTo>
                    <a:pt x="0" y="2013458"/>
                  </a:lnTo>
                  <a:lnTo>
                    <a:pt x="1096645" y="2013458"/>
                  </a:lnTo>
                  <a:lnTo>
                    <a:pt x="1096645" y="2045208"/>
                  </a:lnTo>
                  <a:lnTo>
                    <a:pt x="1160145" y="2013458"/>
                  </a:lnTo>
                  <a:lnTo>
                    <a:pt x="1172845" y="2007108"/>
                  </a:lnTo>
                  <a:close/>
                </a:path>
                <a:path w="8023225" h="3437254">
                  <a:moveTo>
                    <a:pt x="4179443" y="2522982"/>
                  </a:moveTo>
                  <a:lnTo>
                    <a:pt x="4176268" y="2495931"/>
                  </a:lnTo>
                  <a:lnTo>
                    <a:pt x="4169537" y="2438400"/>
                  </a:lnTo>
                  <a:lnTo>
                    <a:pt x="4107815" y="2497201"/>
                  </a:lnTo>
                  <a:lnTo>
                    <a:pt x="4137647" y="2507945"/>
                  </a:lnTo>
                  <a:lnTo>
                    <a:pt x="3839083" y="3335782"/>
                  </a:lnTo>
                  <a:lnTo>
                    <a:pt x="3851021" y="3340100"/>
                  </a:lnTo>
                  <a:lnTo>
                    <a:pt x="4149585" y="2512250"/>
                  </a:lnTo>
                  <a:lnTo>
                    <a:pt x="4179443" y="2522982"/>
                  </a:lnTo>
                  <a:close/>
                </a:path>
                <a:path w="8023225" h="3437254">
                  <a:moveTo>
                    <a:pt x="4541520" y="1108202"/>
                  </a:moveTo>
                  <a:lnTo>
                    <a:pt x="4509770" y="1108202"/>
                  </a:lnTo>
                  <a:lnTo>
                    <a:pt x="4509770" y="394716"/>
                  </a:lnTo>
                  <a:lnTo>
                    <a:pt x="4497070" y="394716"/>
                  </a:lnTo>
                  <a:lnTo>
                    <a:pt x="4497070" y="1108202"/>
                  </a:lnTo>
                  <a:lnTo>
                    <a:pt x="4465320" y="1108202"/>
                  </a:lnTo>
                  <a:lnTo>
                    <a:pt x="4503420" y="1184402"/>
                  </a:lnTo>
                  <a:lnTo>
                    <a:pt x="4535170" y="1120902"/>
                  </a:lnTo>
                  <a:lnTo>
                    <a:pt x="4541520" y="1108202"/>
                  </a:lnTo>
                  <a:close/>
                </a:path>
                <a:path w="8023225" h="3437254">
                  <a:moveTo>
                    <a:pt x="6008116" y="2049780"/>
                  </a:moveTo>
                  <a:lnTo>
                    <a:pt x="5923407" y="2058670"/>
                  </a:lnTo>
                  <a:lnTo>
                    <a:pt x="5940501" y="2085454"/>
                  </a:lnTo>
                  <a:lnTo>
                    <a:pt x="3841623" y="3425190"/>
                  </a:lnTo>
                  <a:lnTo>
                    <a:pt x="3848481" y="3435858"/>
                  </a:lnTo>
                  <a:lnTo>
                    <a:pt x="5947321" y="2096147"/>
                  </a:lnTo>
                  <a:lnTo>
                    <a:pt x="5964428" y="2122932"/>
                  </a:lnTo>
                  <a:lnTo>
                    <a:pt x="5990895" y="2078609"/>
                  </a:lnTo>
                  <a:lnTo>
                    <a:pt x="6008116" y="2049780"/>
                  </a:lnTo>
                  <a:close/>
                </a:path>
                <a:path w="8023225" h="3437254">
                  <a:moveTo>
                    <a:pt x="6400800" y="713486"/>
                  </a:moveTo>
                  <a:lnTo>
                    <a:pt x="6369050" y="713486"/>
                  </a:lnTo>
                  <a:lnTo>
                    <a:pt x="6369050" y="0"/>
                  </a:lnTo>
                  <a:lnTo>
                    <a:pt x="6356350" y="0"/>
                  </a:lnTo>
                  <a:lnTo>
                    <a:pt x="6356350" y="713486"/>
                  </a:lnTo>
                  <a:lnTo>
                    <a:pt x="6324600" y="713486"/>
                  </a:lnTo>
                  <a:lnTo>
                    <a:pt x="6362700" y="789686"/>
                  </a:lnTo>
                  <a:lnTo>
                    <a:pt x="6394450" y="726186"/>
                  </a:lnTo>
                  <a:lnTo>
                    <a:pt x="6400800" y="713486"/>
                  </a:lnTo>
                  <a:close/>
                </a:path>
                <a:path w="8023225" h="3437254">
                  <a:moveTo>
                    <a:pt x="8023225" y="1662684"/>
                  </a:moveTo>
                  <a:lnTo>
                    <a:pt x="7938135" y="1658493"/>
                  </a:lnTo>
                  <a:lnTo>
                    <a:pt x="7950975" y="1687639"/>
                  </a:lnTo>
                  <a:lnTo>
                    <a:pt x="4004056" y="3425317"/>
                  </a:lnTo>
                  <a:lnTo>
                    <a:pt x="4009136" y="3437001"/>
                  </a:lnTo>
                  <a:lnTo>
                    <a:pt x="7956067" y="1699196"/>
                  </a:lnTo>
                  <a:lnTo>
                    <a:pt x="7968869" y="1728216"/>
                  </a:lnTo>
                  <a:lnTo>
                    <a:pt x="8006791" y="1682496"/>
                  </a:lnTo>
                  <a:lnTo>
                    <a:pt x="8023225" y="1662684"/>
                  </a:lnTo>
                  <a:close/>
                </a:path>
              </a:pathLst>
            </a:custGeom>
            <a:solidFill>
              <a:srgbClr val="FF0000"/>
            </a:solidFill>
          </p:spPr>
          <p:txBody>
            <a:bodyPr wrap="square" lIns="0" tIns="0" rIns="0" bIns="0" rtlCol="0"/>
            <a:lstStyle/>
            <a:p>
              <a:endParaRPr/>
            </a:p>
          </p:txBody>
        </p:sp>
        <p:sp>
          <p:nvSpPr>
            <p:cNvPr id="24" name="object 24"/>
            <p:cNvSpPr/>
            <p:nvPr/>
          </p:nvSpPr>
          <p:spPr>
            <a:xfrm>
              <a:off x="9383267" y="3599687"/>
              <a:ext cx="810895" cy="250190"/>
            </a:xfrm>
            <a:custGeom>
              <a:avLst/>
              <a:gdLst/>
              <a:ahLst/>
              <a:cxnLst/>
              <a:rect l="l" t="t" r="r" b="b"/>
              <a:pathLst>
                <a:path w="810895" h="250189">
                  <a:moveTo>
                    <a:pt x="810768" y="0"/>
                  </a:moveTo>
                  <a:lnTo>
                    <a:pt x="0" y="0"/>
                  </a:lnTo>
                  <a:lnTo>
                    <a:pt x="0" y="249936"/>
                  </a:lnTo>
                  <a:lnTo>
                    <a:pt x="810768" y="249936"/>
                  </a:lnTo>
                  <a:lnTo>
                    <a:pt x="810768" y="0"/>
                  </a:lnTo>
                  <a:close/>
                </a:path>
              </a:pathLst>
            </a:custGeom>
            <a:solidFill>
              <a:srgbClr val="5B9BD4"/>
            </a:solidFill>
          </p:spPr>
          <p:txBody>
            <a:bodyPr wrap="square" lIns="0" tIns="0" rIns="0" bIns="0" rtlCol="0"/>
            <a:lstStyle/>
            <a:p>
              <a:endParaRPr/>
            </a:p>
          </p:txBody>
        </p:sp>
        <p:sp>
          <p:nvSpPr>
            <p:cNvPr id="25" name="object 25"/>
            <p:cNvSpPr/>
            <p:nvPr/>
          </p:nvSpPr>
          <p:spPr>
            <a:xfrm>
              <a:off x="9383267" y="3599687"/>
              <a:ext cx="810895" cy="250190"/>
            </a:xfrm>
            <a:custGeom>
              <a:avLst/>
              <a:gdLst/>
              <a:ahLst/>
              <a:cxnLst/>
              <a:rect l="l" t="t" r="r" b="b"/>
              <a:pathLst>
                <a:path w="810895" h="250189">
                  <a:moveTo>
                    <a:pt x="0" y="249936"/>
                  </a:moveTo>
                  <a:lnTo>
                    <a:pt x="810768" y="249936"/>
                  </a:lnTo>
                  <a:lnTo>
                    <a:pt x="810768" y="0"/>
                  </a:lnTo>
                  <a:lnTo>
                    <a:pt x="0" y="0"/>
                  </a:lnTo>
                  <a:lnTo>
                    <a:pt x="0" y="249936"/>
                  </a:lnTo>
                  <a:close/>
                </a:path>
              </a:pathLst>
            </a:custGeom>
            <a:ln w="12192">
              <a:solidFill>
                <a:srgbClr val="41709C"/>
              </a:solidFill>
            </a:ln>
          </p:spPr>
          <p:txBody>
            <a:bodyPr wrap="square" lIns="0" tIns="0" rIns="0" bIns="0" rtlCol="0"/>
            <a:lstStyle/>
            <a:p>
              <a:endParaRPr/>
            </a:p>
          </p:txBody>
        </p:sp>
      </p:grpSp>
      <p:sp>
        <p:nvSpPr>
          <p:cNvPr id="26" name="object 26"/>
          <p:cNvSpPr txBox="1"/>
          <p:nvPr/>
        </p:nvSpPr>
        <p:spPr>
          <a:xfrm>
            <a:off x="9389364" y="3572382"/>
            <a:ext cx="798830" cy="299720"/>
          </a:xfrm>
          <a:prstGeom prst="rect">
            <a:avLst/>
          </a:prstGeom>
        </p:spPr>
        <p:txBody>
          <a:bodyPr vert="horz" wrap="square" lIns="0" tIns="12700" rIns="0" bIns="0" rtlCol="0">
            <a:spAutoFit/>
          </a:bodyPr>
          <a:lstStyle/>
          <a:p>
            <a:pPr marL="142240">
              <a:lnSpc>
                <a:spcPct val="100000"/>
              </a:lnSpc>
              <a:spcBef>
                <a:spcPts val="100"/>
              </a:spcBef>
            </a:pPr>
            <a:r>
              <a:rPr sz="1800" spc="25" dirty="0">
                <a:solidFill>
                  <a:srgbClr val="FFFFFF"/>
                </a:solidFill>
                <a:latin typeface="Trebuchet MS"/>
                <a:cs typeface="Trebuchet MS"/>
              </a:rPr>
              <a:t>male</a:t>
            </a:r>
            <a:endParaRPr sz="1800">
              <a:latin typeface="Trebuchet MS"/>
              <a:cs typeface="Trebuchet MS"/>
            </a:endParaRPr>
          </a:p>
        </p:txBody>
      </p:sp>
      <p:grpSp>
        <p:nvGrpSpPr>
          <p:cNvPr id="27" name="object 27"/>
          <p:cNvGrpSpPr/>
          <p:nvPr/>
        </p:nvGrpSpPr>
        <p:grpSpPr>
          <a:xfrm>
            <a:off x="9489693" y="3893565"/>
            <a:ext cx="982344" cy="304165"/>
            <a:chOff x="9489693" y="3893565"/>
            <a:chExt cx="982344" cy="304165"/>
          </a:xfrm>
        </p:grpSpPr>
        <p:sp>
          <p:nvSpPr>
            <p:cNvPr id="28" name="object 28"/>
            <p:cNvSpPr/>
            <p:nvPr/>
          </p:nvSpPr>
          <p:spPr>
            <a:xfrm>
              <a:off x="9496043" y="3899915"/>
              <a:ext cx="969644" cy="291465"/>
            </a:xfrm>
            <a:custGeom>
              <a:avLst/>
              <a:gdLst/>
              <a:ahLst/>
              <a:cxnLst/>
              <a:rect l="l" t="t" r="r" b="b"/>
              <a:pathLst>
                <a:path w="969645" h="291464">
                  <a:moveTo>
                    <a:pt x="969263" y="0"/>
                  </a:moveTo>
                  <a:lnTo>
                    <a:pt x="0" y="0"/>
                  </a:lnTo>
                  <a:lnTo>
                    <a:pt x="0" y="291084"/>
                  </a:lnTo>
                  <a:lnTo>
                    <a:pt x="969263" y="291084"/>
                  </a:lnTo>
                  <a:lnTo>
                    <a:pt x="969263" y="0"/>
                  </a:lnTo>
                  <a:close/>
                </a:path>
              </a:pathLst>
            </a:custGeom>
            <a:solidFill>
              <a:srgbClr val="5B9BD4"/>
            </a:solidFill>
          </p:spPr>
          <p:txBody>
            <a:bodyPr wrap="square" lIns="0" tIns="0" rIns="0" bIns="0" rtlCol="0"/>
            <a:lstStyle/>
            <a:p>
              <a:endParaRPr/>
            </a:p>
          </p:txBody>
        </p:sp>
        <p:sp>
          <p:nvSpPr>
            <p:cNvPr id="29" name="object 29"/>
            <p:cNvSpPr/>
            <p:nvPr/>
          </p:nvSpPr>
          <p:spPr>
            <a:xfrm>
              <a:off x="9496043" y="3899915"/>
              <a:ext cx="969644" cy="291465"/>
            </a:xfrm>
            <a:custGeom>
              <a:avLst/>
              <a:gdLst/>
              <a:ahLst/>
              <a:cxnLst/>
              <a:rect l="l" t="t" r="r" b="b"/>
              <a:pathLst>
                <a:path w="969645" h="291464">
                  <a:moveTo>
                    <a:pt x="0" y="291084"/>
                  </a:moveTo>
                  <a:lnTo>
                    <a:pt x="969263" y="291084"/>
                  </a:lnTo>
                  <a:lnTo>
                    <a:pt x="969263" y="0"/>
                  </a:lnTo>
                  <a:lnTo>
                    <a:pt x="0" y="0"/>
                  </a:lnTo>
                  <a:lnTo>
                    <a:pt x="0" y="291084"/>
                  </a:lnTo>
                  <a:close/>
                </a:path>
              </a:pathLst>
            </a:custGeom>
            <a:ln w="12192">
              <a:solidFill>
                <a:srgbClr val="41709C"/>
              </a:solidFill>
            </a:ln>
          </p:spPr>
          <p:txBody>
            <a:bodyPr wrap="square" lIns="0" tIns="0" rIns="0" bIns="0" rtlCol="0"/>
            <a:lstStyle/>
            <a:p>
              <a:endParaRPr/>
            </a:p>
          </p:txBody>
        </p:sp>
      </p:grpSp>
      <p:sp>
        <p:nvSpPr>
          <p:cNvPr id="30" name="object 30"/>
          <p:cNvSpPr txBox="1"/>
          <p:nvPr/>
        </p:nvSpPr>
        <p:spPr>
          <a:xfrm>
            <a:off x="9502140" y="3893566"/>
            <a:ext cx="957580" cy="299720"/>
          </a:xfrm>
          <a:prstGeom prst="rect">
            <a:avLst/>
          </a:prstGeom>
        </p:spPr>
        <p:txBody>
          <a:bodyPr vert="horz" wrap="square" lIns="0" tIns="12700" rIns="0" bIns="0" rtlCol="0">
            <a:spAutoFit/>
          </a:bodyPr>
          <a:lstStyle/>
          <a:p>
            <a:pPr marL="120650">
              <a:lnSpc>
                <a:spcPct val="100000"/>
              </a:lnSpc>
              <a:spcBef>
                <a:spcPts val="100"/>
              </a:spcBef>
            </a:pPr>
            <a:r>
              <a:rPr sz="1800" dirty="0">
                <a:solidFill>
                  <a:srgbClr val="FFFFFF"/>
                </a:solidFill>
                <a:latin typeface="Trebuchet MS"/>
                <a:cs typeface="Trebuchet MS"/>
              </a:rPr>
              <a:t>female</a:t>
            </a:r>
            <a:endParaRPr sz="1800">
              <a:latin typeface="Trebuchet MS"/>
              <a:cs typeface="Trebuchet MS"/>
            </a:endParaRPr>
          </a:p>
        </p:txBody>
      </p:sp>
      <p:sp>
        <p:nvSpPr>
          <p:cNvPr id="31" name="object 31"/>
          <p:cNvSpPr/>
          <p:nvPr/>
        </p:nvSpPr>
        <p:spPr>
          <a:xfrm>
            <a:off x="8259953" y="3819144"/>
            <a:ext cx="1129411" cy="1428115"/>
          </a:xfrm>
          <a:custGeom>
            <a:avLst/>
            <a:gdLst/>
            <a:ahLst/>
            <a:cxnLst/>
            <a:rect l="l" t="t" r="r" b="b"/>
            <a:pathLst>
              <a:path w="1214754" h="1428114">
                <a:moveTo>
                  <a:pt x="1123569" y="0"/>
                </a:moveTo>
                <a:lnTo>
                  <a:pt x="1044448" y="31750"/>
                </a:lnTo>
                <a:lnTo>
                  <a:pt x="1068235" y="52857"/>
                </a:lnTo>
                <a:lnTo>
                  <a:pt x="0" y="1257173"/>
                </a:lnTo>
                <a:lnTo>
                  <a:pt x="9398" y="1265682"/>
                </a:lnTo>
                <a:lnTo>
                  <a:pt x="1077734" y="61264"/>
                </a:lnTo>
                <a:lnTo>
                  <a:pt x="1101471" y="82296"/>
                </a:lnTo>
                <a:lnTo>
                  <a:pt x="1111935" y="43307"/>
                </a:lnTo>
                <a:lnTo>
                  <a:pt x="1123569" y="0"/>
                </a:lnTo>
                <a:close/>
              </a:path>
              <a:path w="1214754" h="1428114">
                <a:moveTo>
                  <a:pt x="1214501" y="292608"/>
                </a:moveTo>
                <a:lnTo>
                  <a:pt x="1136523" y="326771"/>
                </a:lnTo>
                <a:lnTo>
                  <a:pt x="1160894" y="347091"/>
                </a:lnTo>
                <a:lnTo>
                  <a:pt x="268097" y="1419479"/>
                </a:lnTo>
                <a:lnTo>
                  <a:pt x="277749" y="1427607"/>
                </a:lnTo>
                <a:lnTo>
                  <a:pt x="1170660" y="355219"/>
                </a:lnTo>
                <a:lnTo>
                  <a:pt x="1195070" y="375539"/>
                </a:lnTo>
                <a:lnTo>
                  <a:pt x="1204023" y="337312"/>
                </a:lnTo>
                <a:lnTo>
                  <a:pt x="1214501" y="292608"/>
                </a:lnTo>
                <a:close/>
              </a:path>
            </a:pathLst>
          </a:custGeom>
          <a:solidFill>
            <a:srgbClr val="5B9BD4"/>
          </a:solidFill>
        </p:spPr>
        <p:txBody>
          <a:bodyPr wrap="square" lIns="0" tIns="0" rIns="0" bIns="0" rtlCol="0"/>
          <a:lstStyle/>
          <a:p>
            <a:endParaRPr/>
          </a:p>
        </p:txBody>
      </p:sp>
      <p:sp>
        <p:nvSpPr>
          <p:cNvPr id="32" name="object 32"/>
          <p:cNvSpPr txBox="1"/>
          <p:nvPr/>
        </p:nvSpPr>
        <p:spPr>
          <a:xfrm>
            <a:off x="7688689" y="5278139"/>
            <a:ext cx="967103" cy="269304"/>
          </a:xfrm>
          <a:prstGeom prst="rect">
            <a:avLst/>
          </a:prstGeom>
        </p:spPr>
        <p:txBody>
          <a:bodyPr vert="horz" wrap="square" lIns="0" tIns="12700" rIns="0" bIns="0" rtlCol="0">
            <a:spAutoFit/>
          </a:bodyPr>
          <a:lstStyle/>
          <a:p>
            <a:pPr marL="732790">
              <a:lnSpc>
                <a:spcPts val="1995"/>
              </a:lnSpc>
            </a:pPr>
            <a:r>
              <a:rPr sz="1800" spc="-10" dirty="0" smtClean="0">
                <a:latin typeface="Trebuchet MS"/>
                <a:cs typeface="Trebuchet MS"/>
              </a:rPr>
              <a:t>t2</a:t>
            </a:r>
            <a:endParaRPr sz="1800" dirty="0">
              <a:latin typeface="Trebuchet MS"/>
              <a:cs typeface="Trebuchet MS"/>
            </a:endParaRPr>
          </a:p>
        </p:txBody>
      </p:sp>
      <p:sp>
        <p:nvSpPr>
          <p:cNvPr id="37" name="object 37"/>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9	</a:t>
            </a:r>
            <a:r>
              <a:rPr spc="30" dirty="0"/>
              <a:t>Huawei</a:t>
            </a:r>
            <a:r>
              <a:rPr spc="-10" dirty="0"/>
              <a:t> </a:t>
            </a:r>
            <a:r>
              <a:rPr spc="5" dirty="0"/>
              <a:t>Confidential</a:t>
            </a:r>
          </a:p>
        </p:txBody>
      </p:sp>
      <p:sp>
        <p:nvSpPr>
          <p:cNvPr id="33" name="object 33"/>
          <p:cNvSpPr txBox="1"/>
          <p:nvPr/>
        </p:nvSpPr>
        <p:spPr>
          <a:xfrm>
            <a:off x="5252465" y="5255717"/>
            <a:ext cx="411480" cy="300355"/>
          </a:xfrm>
          <a:prstGeom prst="rect">
            <a:avLst/>
          </a:prstGeom>
        </p:spPr>
        <p:txBody>
          <a:bodyPr vert="horz" wrap="square" lIns="0" tIns="12700" rIns="0" bIns="0" rtlCol="0">
            <a:spAutoFit/>
          </a:bodyPr>
          <a:lstStyle/>
          <a:p>
            <a:pPr marL="12700">
              <a:lnSpc>
                <a:spcPct val="100000"/>
              </a:lnSpc>
              <a:spcBef>
                <a:spcPts val="100"/>
              </a:spcBef>
            </a:pPr>
            <a:r>
              <a:rPr sz="1800" spc="-30" dirty="0">
                <a:latin typeface="Trebuchet MS"/>
                <a:cs typeface="Trebuchet MS"/>
              </a:rPr>
              <a:t>Cell</a:t>
            </a:r>
            <a:endParaRPr sz="1800">
              <a:latin typeface="Trebuchet MS"/>
              <a:cs typeface="Trebuchet MS"/>
            </a:endParaRPr>
          </a:p>
        </p:txBody>
      </p:sp>
      <p:sp>
        <p:nvSpPr>
          <p:cNvPr id="34" name="object 34"/>
          <p:cNvSpPr txBox="1"/>
          <p:nvPr/>
        </p:nvSpPr>
        <p:spPr>
          <a:xfrm>
            <a:off x="519558" y="3629990"/>
            <a:ext cx="1222146" cy="289823"/>
          </a:xfrm>
          <a:prstGeom prst="rect">
            <a:avLst/>
          </a:prstGeom>
        </p:spPr>
        <p:txBody>
          <a:bodyPr vert="horz" wrap="square" lIns="0" tIns="12700" rIns="0" bIns="0" rtlCol="0">
            <a:spAutoFit/>
          </a:bodyPr>
          <a:lstStyle/>
          <a:p>
            <a:pPr marL="12700">
              <a:lnSpc>
                <a:spcPct val="100000"/>
              </a:lnSpc>
              <a:spcBef>
                <a:spcPts val="100"/>
              </a:spcBef>
            </a:pPr>
            <a:r>
              <a:rPr sz="1800" b="1" spc="60" dirty="0">
                <a:latin typeface="Trebuchet MS"/>
                <a:cs typeface="Trebuchet MS"/>
              </a:rPr>
              <a:t>Row</a:t>
            </a:r>
            <a:r>
              <a:rPr sz="1800" b="1" spc="-55" dirty="0">
                <a:latin typeface="Trebuchet MS"/>
                <a:cs typeface="Trebuchet MS"/>
              </a:rPr>
              <a:t> </a:t>
            </a:r>
            <a:r>
              <a:rPr sz="1800" b="1" spc="5" dirty="0">
                <a:latin typeface="Trebuchet MS"/>
                <a:cs typeface="Trebuchet MS"/>
              </a:rPr>
              <a:t>Key</a:t>
            </a:r>
            <a:endParaRPr sz="1800" b="1" dirty="0">
              <a:latin typeface="Trebuchet MS"/>
              <a:cs typeface="Trebuchet MS"/>
            </a:endParaRPr>
          </a:p>
        </p:txBody>
      </p:sp>
      <p:sp>
        <p:nvSpPr>
          <p:cNvPr id="35" name="object 35"/>
          <p:cNvSpPr txBox="1"/>
          <p:nvPr/>
        </p:nvSpPr>
        <p:spPr>
          <a:xfrm>
            <a:off x="4954523" y="1323720"/>
            <a:ext cx="5653405" cy="1546860"/>
          </a:xfrm>
          <a:prstGeom prst="rect">
            <a:avLst/>
          </a:prstGeom>
        </p:spPr>
        <p:txBody>
          <a:bodyPr vert="horz" wrap="square" lIns="0" tIns="134620" rIns="0" bIns="0" rtlCol="0">
            <a:spAutoFit/>
          </a:bodyPr>
          <a:lstStyle/>
          <a:p>
            <a:pPr marL="2183765">
              <a:lnSpc>
                <a:spcPct val="100000"/>
              </a:lnSpc>
              <a:spcBef>
                <a:spcPts val="1060"/>
              </a:spcBef>
            </a:pPr>
            <a:r>
              <a:rPr sz="1800" spc="50" dirty="0">
                <a:latin typeface="Trebuchet MS"/>
                <a:cs typeface="Trebuchet MS"/>
              </a:rPr>
              <a:t>Column</a:t>
            </a:r>
            <a:r>
              <a:rPr sz="1800" spc="-5" dirty="0">
                <a:latin typeface="Trebuchet MS"/>
                <a:cs typeface="Trebuchet MS"/>
              </a:rPr>
              <a:t> </a:t>
            </a:r>
            <a:r>
              <a:rPr sz="1800" spc="10" dirty="0">
                <a:latin typeface="Trebuchet MS"/>
                <a:cs typeface="Trebuchet MS"/>
              </a:rPr>
              <a:t>Family</a:t>
            </a:r>
            <a:endParaRPr sz="1800" dirty="0">
              <a:latin typeface="Trebuchet MS"/>
              <a:cs typeface="Trebuchet MS"/>
            </a:endParaRPr>
          </a:p>
          <a:p>
            <a:pPr marL="735965">
              <a:lnSpc>
                <a:spcPct val="100000"/>
              </a:lnSpc>
              <a:spcBef>
                <a:spcPts val="965"/>
              </a:spcBef>
            </a:pPr>
            <a:r>
              <a:rPr sz="1800" spc="50" dirty="0">
                <a:latin typeface="Trebuchet MS"/>
                <a:cs typeface="Trebuchet MS"/>
              </a:rPr>
              <a:t>Column</a:t>
            </a:r>
            <a:endParaRPr sz="1800" dirty="0">
              <a:latin typeface="Trebuchet MS"/>
              <a:cs typeface="Trebuchet MS"/>
            </a:endParaRPr>
          </a:p>
          <a:p>
            <a:pPr>
              <a:lnSpc>
                <a:spcPct val="100000"/>
              </a:lnSpc>
              <a:spcBef>
                <a:spcPts val="30"/>
              </a:spcBef>
            </a:pPr>
            <a:endParaRPr sz="3050" dirty="0">
              <a:latin typeface="Trebuchet MS"/>
              <a:cs typeface="Trebuchet MS"/>
            </a:endParaRPr>
          </a:p>
          <a:p>
            <a:pPr marL="7620" algn="ctr">
              <a:lnSpc>
                <a:spcPct val="100000"/>
              </a:lnSpc>
            </a:pPr>
            <a:r>
              <a:rPr sz="1800" b="1" spc="40" dirty="0">
                <a:latin typeface="Arial"/>
                <a:cs typeface="Arial"/>
              </a:rPr>
              <a:t>Info</a:t>
            </a:r>
            <a:endParaRPr sz="1800" dirty="0">
              <a:latin typeface="Arial"/>
              <a:cs typeface="Arial"/>
            </a:endParaRPr>
          </a:p>
        </p:txBody>
      </p:sp>
      <p:sp>
        <p:nvSpPr>
          <p:cNvPr id="36" name="object 36"/>
          <p:cNvSpPr txBox="1"/>
          <p:nvPr/>
        </p:nvSpPr>
        <p:spPr>
          <a:xfrm>
            <a:off x="1371600" y="5784978"/>
            <a:ext cx="9727674" cy="289823"/>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Trebuchet MS"/>
                <a:cs typeface="Trebuchet MS"/>
              </a:rPr>
              <a:t>The </a:t>
            </a:r>
            <a:r>
              <a:rPr sz="1800" spc="-45" dirty="0">
                <a:latin typeface="Trebuchet MS"/>
                <a:cs typeface="Trebuchet MS"/>
              </a:rPr>
              <a:t>cell </a:t>
            </a:r>
            <a:r>
              <a:rPr sz="1800" spc="45" dirty="0">
                <a:latin typeface="Trebuchet MS"/>
                <a:cs typeface="Trebuchet MS"/>
              </a:rPr>
              <a:t>has </a:t>
            </a:r>
            <a:r>
              <a:rPr sz="1800" spc="25" dirty="0">
                <a:latin typeface="Trebuchet MS"/>
                <a:cs typeface="Trebuchet MS"/>
              </a:rPr>
              <a:t>two </a:t>
            </a:r>
            <a:r>
              <a:rPr sz="1800" spc="15" dirty="0">
                <a:latin typeface="Trebuchet MS"/>
                <a:cs typeface="Trebuchet MS"/>
              </a:rPr>
              <a:t>timestamps </a:t>
            </a:r>
            <a:r>
              <a:rPr sz="1800" b="1" spc="85" dirty="0">
                <a:latin typeface="Arial"/>
                <a:cs typeface="Arial"/>
              </a:rPr>
              <a:t>t1 </a:t>
            </a:r>
            <a:r>
              <a:rPr sz="1800" spc="45" dirty="0">
                <a:latin typeface="Trebuchet MS"/>
                <a:cs typeface="Trebuchet MS"/>
              </a:rPr>
              <a:t>and </a:t>
            </a:r>
            <a:r>
              <a:rPr sz="1800" b="1" spc="-30" dirty="0">
                <a:latin typeface="Arial"/>
                <a:cs typeface="Arial"/>
              </a:rPr>
              <a:t>t2</a:t>
            </a:r>
            <a:r>
              <a:rPr sz="1800" spc="-30" dirty="0">
                <a:latin typeface="Trebuchet MS"/>
                <a:cs typeface="Trebuchet MS"/>
              </a:rPr>
              <a:t>.  </a:t>
            </a:r>
            <a:r>
              <a:rPr sz="1800" spc="75" dirty="0">
                <a:latin typeface="Trebuchet MS"/>
                <a:cs typeface="Trebuchet MS"/>
              </a:rPr>
              <a:t>One </a:t>
            </a:r>
            <a:r>
              <a:rPr sz="1800" spc="10" dirty="0">
                <a:latin typeface="Trebuchet MS"/>
                <a:cs typeface="Trebuchet MS"/>
              </a:rPr>
              <a:t>timestamp corresponds </a:t>
            </a:r>
            <a:r>
              <a:rPr sz="1800" dirty="0">
                <a:latin typeface="Trebuchet MS"/>
                <a:cs typeface="Trebuchet MS"/>
              </a:rPr>
              <a:t>to </a:t>
            </a:r>
            <a:r>
              <a:rPr sz="1800" spc="30" dirty="0">
                <a:latin typeface="Trebuchet MS"/>
                <a:cs typeface="Trebuchet MS"/>
              </a:rPr>
              <a:t>one </a:t>
            </a:r>
            <a:r>
              <a:rPr sz="1800" spc="15" dirty="0">
                <a:latin typeface="Trebuchet MS"/>
                <a:cs typeface="Trebuchet MS"/>
              </a:rPr>
              <a:t>data  </a:t>
            </a:r>
            <a:r>
              <a:rPr sz="1800" spc="-30" dirty="0">
                <a:latin typeface="Trebuchet MS"/>
                <a:cs typeface="Trebuchet MS"/>
              </a:rPr>
              <a:t>version.</a:t>
            </a:r>
            <a:endParaRPr sz="1800" dirty="0">
              <a:latin typeface="Trebuchet MS"/>
              <a:cs typeface="Trebuchet MS"/>
            </a:endParaRPr>
          </a:p>
        </p:txBody>
      </p:sp>
      <p:sp>
        <p:nvSpPr>
          <p:cNvPr id="38" name="object 32"/>
          <p:cNvSpPr txBox="1"/>
          <p:nvPr/>
        </p:nvSpPr>
        <p:spPr>
          <a:xfrm>
            <a:off x="8020128" y="4983037"/>
            <a:ext cx="510378" cy="525785"/>
          </a:xfrm>
          <a:prstGeom prst="rect">
            <a:avLst/>
          </a:prstGeom>
        </p:spPr>
        <p:txBody>
          <a:bodyPr vert="horz" wrap="square" lIns="0" tIns="12700" rIns="0" bIns="0" rtlCol="0">
            <a:spAutoFit/>
          </a:bodyPr>
          <a:lstStyle/>
          <a:p>
            <a:pPr marL="12700">
              <a:lnSpc>
                <a:spcPts val="1995"/>
              </a:lnSpc>
              <a:spcBef>
                <a:spcPts val="100"/>
              </a:spcBef>
            </a:pPr>
            <a:r>
              <a:rPr sz="1800" spc="-10" dirty="0">
                <a:latin typeface="Trebuchet MS"/>
                <a:cs typeface="Trebuchet MS"/>
              </a:rPr>
              <a:t>t1</a:t>
            </a:r>
            <a:endParaRPr sz="1800" dirty="0">
              <a:latin typeface="Trebuchet MS"/>
              <a:cs typeface="Trebuchet MS"/>
            </a:endParaRPr>
          </a:p>
          <a:p>
            <a:pPr marL="732790">
              <a:lnSpc>
                <a:spcPts val="1995"/>
              </a:lnSpc>
            </a:pPr>
            <a:endParaRPr sz="1800" dirty="0">
              <a:latin typeface="Trebuchet MS"/>
              <a:cs typeface="Trebuchet MS"/>
            </a:endParaRPr>
          </a:p>
        </p:txBody>
      </p:sp>
      <p:sp>
        <p:nvSpPr>
          <p:cNvPr id="39" name="Rectangle 38"/>
          <p:cNvSpPr/>
          <p:nvPr/>
        </p:nvSpPr>
        <p:spPr>
          <a:xfrm>
            <a:off x="0" y="995157"/>
            <a:ext cx="6095586" cy="646331"/>
          </a:xfrm>
          <a:prstGeom prst="rect">
            <a:avLst/>
          </a:prstGeom>
        </p:spPr>
        <p:txBody>
          <a:bodyPr wrap="square">
            <a:spAutoFit/>
          </a:bodyPr>
          <a:lstStyle/>
          <a:p>
            <a:r>
              <a:rPr lang="en-US" b="1" dirty="0"/>
              <a:t>create '</a:t>
            </a:r>
            <a:r>
              <a:rPr lang="en-US" b="1" dirty="0" err="1"/>
              <a:t>table_name</a:t>
            </a:r>
            <a:r>
              <a:rPr lang="en-US" b="1" dirty="0"/>
              <a:t>', '</a:t>
            </a:r>
            <a:r>
              <a:rPr lang="en-US" b="1" dirty="0" err="1"/>
              <a:t>colmn_family</a:t>
            </a:r>
            <a:r>
              <a:rPr lang="en-US" b="1" dirty="0" smtClean="0"/>
              <a:t>'</a:t>
            </a:r>
            <a:endParaRPr lang="en-US" b="1" dirty="0"/>
          </a:p>
          <a:p>
            <a:r>
              <a:rPr lang="en-US" b="1" dirty="0" smtClean="0"/>
              <a:t>create </a:t>
            </a:r>
            <a:r>
              <a:rPr lang="en-US" b="1" dirty="0"/>
              <a:t>'</a:t>
            </a:r>
            <a:r>
              <a:rPr lang="en-US" b="1" dirty="0" err="1"/>
              <a:t>table_name</a:t>
            </a:r>
            <a:r>
              <a:rPr lang="en-US" b="1" dirty="0"/>
              <a:t>', </a:t>
            </a:r>
            <a:r>
              <a:rPr lang="en-US" b="1" dirty="0" smtClean="0"/>
              <a:t>'comln_family1</a:t>
            </a:r>
            <a:r>
              <a:rPr lang="en-US" b="1" dirty="0"/>
              <a:t>','colmn_family2'</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4839335" cy="513715"/>
          </a:xfrm>
          <a:prstGeom prst="rect">
            <a:avLst/>
          </a:prstGeom>
        </p:spPr>
        <p:txBody>
          <a:bodyPr vert="horz" wrap="square" lIns="0" tIns="13335" rIns="0" bIns="0" rtlCol="0">
            <a:spAutoFit/>
          </a:bodyPr>
          <a:lstStyle/>
          <a:p>
            <a:pPr marL="12700">
              <a:lnSpc>
                <a:spcPct val="100000"/>
              </a:lnSpc>
              <a:spcBef>
                <a:spcPts val="105"/>
              </a:spcBef>
            </a:pPr>
            <a:r>
              <a:rPr sz="3200" spc="100" dirty="0">
                <a:solidFill>
                  <a:srgbClr val="000000"/>
                </a:solidFill>
              </a:rPr>
              <a:t>HBase </a:t>
            </a:r>
            <a:r>
              <a:rPr sz="3200" spc="-10" dirty="0">
                <a:solidFill>
                  <a:srgbClr val="000000"/>
                </a:solidFill>
              </a:rPr>
              <a:t>Table Structure</a:t>
            </a:r>
            <a:r>
              <a:rPr sz="3200" spc="-55" dirty="0">
                <a:solidFill>
                  <a:srgbClr val="000000"/>
                </a:solidFill>
              </a:rPr>
              <a:t> </a:t>
            </a:r>
            <a:r>
              <a:rPr sz="3200" spc="130" dirty="0">
                <a:solidFill>
                  <a:srgbClr val="000000"/>
                </a:solidFill>
              </a:rPr>
              <a:t>(2)</a:t>
            </a:r>
            <a:endParaRPr sz="3200"/>
          </a:p>
        </p:txBody>
      </p:sp>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10	</a:t>
            </a:r>
            <a:r>
              <a:rPr spc="30" dirty="0"/>
              <a:t>Huawei</a:t>
            </a:r>
            <a:r>
              <a:rPr spc="-10" dirty="0"/>
              <a:t> </a:t>
            </a:r>
            <a:r>
              <a:rPr spc="5" dirty="0"/>
              <a:t>Confidential</a:t>
            </a:r>
          </a:p>
        </p:txBody>
      </p:sp>
      <p:sp>
        <p:nvSpPr>
          <p:cNvPr id="3" name="object 3"/>
          <p:cNvSpPr txBox="1"/>
          <p:nvPr/>
        </p:nvSpPr>
        <p:spPr>
          <a:xfrm>
            <a:off x="799287" y="1250950"/>
            <a:ext cx="111125"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Wingdings"/>
                <a:cs typeface="Wingdings"/>
              </a:rPr>
              <a:t></a:t>
            </a:r>
            <a:endParaRPr sz="900">
              <a:latin typeface="Wingdings"/>
              <a:cs typeface="Wingdings"/>
            </a:endParaRPr>
          </a:p>
        </p:txBody>
      </p:sp>
      <p:sp>
        <p:nvSpPr>
          <p:cNvPr id="4" name="object 4"/>
          <p:cNvSpPr txBox="1"/>
          <p:nvPr/>
        </p:nvSpPr>
        <p:spPr>
          <a:xfrm>
            <a:off x="1101039" y="1077213"/>
            <a:ext cx="10294620" cy="744499"/>
          </a:xfrm>
          <a:prstGeom prst="rect">
            <a:avLst/>
          </a:prstGeom>
        </p:spPr>
        <p:txBody>
          <a:bodyPr vert="horz" wrap="square" lIns="0" tIns="12700" rIns="0" bIns="0" rtlCol="0">
            <a:spAutoFit/>
          </a:bodyPr>
          <a:lstStyle/>
          <a:p>
            <a:pPr marL="12700" marR="5080" algn="just">
              <a:lnSpc>
                <a:spcPct val="140000"/>
              </a:lnSpc>
              <a:spcBef>
                <a:spcPts val="100"/>
              </a:spcBef>
            </a:pPr>
            <a:r>
              <a:rPr sz="1800" spc="-50" dirty="0">
                <a:latin typeface="Trebuchet MS"/>
                <a:cs typeface="Trebuchet MS"/>
              </a:rPr>
              <a:t>Table: </a:t>
            </a:r>
            <a:r>
              <a:rPr sz="1800" spc="50" dirty="0">
                <a:latin typeface="Trebuchet MS"/>
                <a:cs typeface="Trebuchet MS"/>
              </a:rPr>
              <a:t>HBase </a:t>
            </a:r>
            <a:r>
              <a:rPr sz="1800" spc="25" dirty="0">
                <a:latin typeface="Trebuchet MS"/>
                <a:cs typeface="Trebuchet MS"/>
              </a:rPr>
              <a:t>uses </a:t>
            </a:r>
            <a:r>
              <a:rPr sz="1800" spc="-10" dirty="0">
                <a:latin typeface="Trebuchet MS"/>
                <a:cs typeface="Trebuchet MS"/>
              </a:rPr>
              <a:t>tables </a:t>
            </a:r>
            <a:r>
              <a:rPr sz="1800" dirty="0">
                <a:latin typeface="Trebuchet MS"/>
                <a:cs typeface="Trebuchet MS"/>
              </a:rPr>
              <a:t>to </a:t>
            </a:r>
            <a:r>
              <a:rPr sz="1800" spc="15" dirty="0">
                <a:latin typeface="Trebuchet MS"/>
                <a:cs typeface="Trebuchet MS"/>
              </a:rPr>
              <a:t>organize </a:t>
            </a:r>
            <a:r>
              <a:rPr sz="1800" spc="-35" dirty="0">
                <a:latin typeface="Trebuchet MS"/>
                <a:cs typeface="Trebuchet MS"/>
              </a:rPr>
              <a:t>data. </a:t>
            </a:r>
            <a:r>
              <a:rPr sz="1800" spc="114" dirty="0">
                <a:latin typeface="Trebuchet MS"/>
                <a:cs typeface="Trebuchet MS"/>
              </a:rPr>
              <a:t>A </a:t>
            </a:r>
            <a:r>
              <a:rPr sz="1800" spc="-15" dirty="0">
                <a:latin typeface="Trebuchet MS"/>
                <a:cs typeface="Trebuchet MS"/>
              </a:rPr>
              <a:t>table </a:t>
            </a:r>
            <a:r>
              <a:rPr sz="1800" dirty="0">
                <a:latin typeface="Trebuchet MS"/>
                <a:cs typeface="Trebuchet MS"/>
              </a:rPr>
              <a:t>consists </a:t>
            </a:r>
            <a:r>
              <a:rPr sz="1800" spc="10" dirty="0">
                <a:latin typeface="Trebuchet MS"/>
                <a:cs typeface="Trebuchet MS"/>
              </a:rPr>
              <a:t>of </a:t>
            </a:r>
            <a:r>
              <a:rPr sz="1800" spc="35" dirty="0">
                <a:latin typeface="Trebuchet MS"/>
                <a:cs typeface="Trebuchet MS"/>
              </a:rPr>
              <a:t>rows </a:t>
            </a:r>
            <a:r>
              <a:rPr sz="1800" spc="45" dirty="0">
                <a:latin typeface="Trebuchet MS"/>
                <a:cs typeface="Trebuchet MS"/>
              </a:rPr>
              <a:t>and </a:t>
            </a:r>
            <a:r>
              <a:rPr sz="1800" spc="-5" dirty="0">
                <a:latin typeface="Trebuchet MS"/>
                <a:cs typeface="Trebuchet MS"/>
              </a:rPr>
              <a:t>columns. </a:t>
            </a:r>
            <a:r>
              <a:rPr lang="en-US" spc="35" dirty="0" smtClean="0">
                <a:latin typeface="Trebuchet MS"/>
                <a:cs typeface="Trebuchet MS"/>
              </a:rPr>
              <a:t>Column</a:t>
            </a:r>
            <a:r>
              <a:rPr lang="en-US" spc="114" dirty="0" smtClean="0">
                <a:latin typeface="Trebuchet MS"/>
                <a:cs typeface="Trebuchet MS"/>
              </a:rPr>
              <a:t> </a:t>
            </a:r>
            <a:r>
              <a:rPr lang="en-US" spc="-30" dirty="0">
                <a:latin typeface="Trebuchet MS"/>
                <a:cs typeface="Trebuchet MS"/>
              </a:rPr>
              <a:t>families </a:t>
            </a:r>
            <a:r>
              <a:rPr lang="en-US" spc="-30" dirty="0" smtClean="0">
                <a:latin typeface="Trebuchet MS"/>
                <a:cs typeface="Trebuchet MS"/>
              </a:rPr>
              <a:t>are </a:t>
            </a:r>
            <a:r>
              <a:rPr sz="1800" spc="-10" dirty="0" smtClean="0">
                <a:latin typeface="Trebuchet MS"/>
                <a:cs typeface="Trebuchet MS"/>
              </a:rPr>
              <a:t>divided </a:t>
            </a:r>
            <a:r>
              <a:rPr sz="1800" spc="5" dirty="0" smtClean="0">
                <a:latin typeface="Trebuchet MS"/>
                <a:cs typeface="Trebuchet MS"/>
              </a:rPr>
              <a:t>into</a:t>
            </a:r>
            <a:r>
              <a:rPr lang="en-US" sz="1800" spc="5" dirty="0" smtClean="0">
                <a:latin typeface="Trebuchet MS"/>
                <a:cs typeface="Trebuchet MS"/>
              </a:rPr>
              <a:t> </a:t>
            </a:r>
            <a:r>
              <a:rPr lang="en-US" sz="1800" spc="5" smtClean="0">
                <a:latin typeface="Trebuchet MS"/>
                <a:cs typeface="Trebuchet MS"/>
              </a:rPr>
              <a:t>several </a:t>
            </a:r>
            <a:r>
              <a:rPr lang="en-US" spc="35" smtClean="0">
                <a:latin typeface="Trebuchet MS"/>
                <a:cs typeface="Trebuchet MS"/>
              </a:rPr>
              <a:t>columns</a:t>
            </a:r>
            <a:r>
              <a:rPr sz="1800" spc="-30" smtClean="0">
                <a:latin typeface="Trebuchet MS"/>
                <a:cs typeface="Trebuchet MS"/>
              </a:rPr>
              <a:t>.</a:t>
            </a:r>
            <a:endParaRPr sz="1800" dirty="0">
              <a:latin typeface="Trebuchet MS"/>
              <a:cs typeface="Trebuchet MS"/>
            </a:endParaRPr>
          </a:p>
        </p:txBody>
      </p:sp>
      <p:sp>
        <p:nvSpPr>
          <p:cNvPr id="5" name="object 5"/>
          <p:cNvSpPr txBox="1"/>
          <p:nvPr/>
        </p:nvSpPr>
        <p:spPr>
          <a:xfrm>
            <a:off x="799287" y="2120849"/>
            <a:ext cx="111125" cy="163195"/>
          </a:xfrm>
          <a:prstGeom prst="rect">
            <a:avLst/>
          </a:prstGeom>
        </p:spPr>
        <p:txBody>
          <a:bodyPr vert="horz" wrap="square" lIns="0" tIns="12700" rIns="0" bIns="0" rtlCol="0">
            <a:spAutoFit/>
          </a:bodyPr>
          <a:lstStyle/>
          <a:p>
            <a:pPr marL="12700">
              <a:lnSpc>
                <a:spcPct val="100000"/>
              </a:lnSpc>
              <a:spcBef>
                <a:spcPts val="100"/>
              </a:spcBef>
            </a:pPr>
            <a:r>
              <a:rPr sz="900" dirty="0">
                <a:latin typeface="Wingdings"/>
                <a:cs typeface="Wingdings"/>
              </a:rPr>
              <a:t></a:t>
            </a:r>
            <a:endParaRPr sz="900">
              <a:latin typeface="Wingdings"/>
              <a:cs typeface="Wingdings"/>
            </a:endParaRPr>
          </a:p>
        </p:txBody>
      </p:sp>
      <p:sp>
        <p:nvSpPr>
          <p:cNvPr id="6" name="object 6"/>
          <p:cNvSpPr txBox="1">
            <a:spLocks noGrp="1"/>
          </p:cNvSpPr>
          <p:nvPr>
            <p:ph type="body" idx="1"/>
          </p:nvPr>
        </p:nvSpPr>
        <p:spPr>
          <a:prstGeom prst="rect">
            <a:avLst/>
          </a:prstGeom>
        </p:spPr>
        <p:txBody>
          <a:bodyPr vert="horz" wrap="square" lIns="0" tIns="12700" rIns="0" bIns="0" rtlCol="0">
            <a:spAutoFit/>
          </a:bodyPr>
          <a:lstStyle/>
          <a:p>
            <a:pPr marL="314960" algn="just">
              <a:lnSpc>
                <a:spcPct val="100000"/>
              </a:lnSpc>
              <a:spcBef>
                <a:spcPts val="100"/>
              </a:spcBef>
            </a:pPr>
            <a:r>
              <a:rPr sz="1800" spc="-15" dirty="0"/>
              <a:t>Row: </a:t>
            </a:r>
            <a:r>
              <a:rPr sz="1800" spc="15" dirty="0"/>
              <a:t>Each </a:t>
            </a:r>
            <a:r>
              <a:rPr sz="1800" spc="50" dirty="0"/>
              <a:t>HBase </a:t>
            </a:r>
            <a:r>
              <a:rPr sz="1800" spc="-15" dirty="0"/>
              <a:t>table </a:t>
            </a:r>
            <a:r>
              <a:rPr sz="1800" dirty="0"/>
              <a:t>consists </a:t>
            </a:r>
            <a:r>
              <a:rPr sz="1800" spc="10" dirty="0"/>
              <a:t>of </a:t>
            </a:r>
            <a:r>
              <a:rPr sz="1800" spc="-5" dirty="0"/>
              <a:t>multiple </a:t>
            </a:r>
            <a:r>
              <a:rPr sz="1800" spc="-20" dirty="0"/>
              <a:t>rows, </a:t>
            </a:r>
            <a:r>
              <a:rPr sz="1800" spc="45" dirty="0"/>
              <a:t>and </a:t>
            </a:r>
            <a:r>
              <a:rPr sz="1800" dirty="0"/>
              <a:t>each </a:t>
            </a:r>
            <a:r>
              <a:rPr sz="1800" spc="35" dirty="0"/>
              <a:t>row </a:t>
            </a:r>
            <a:r>
              <a:rPr sz="1800" spc="-15" dirty="0"/>
              <a:t>is </a:t>
            </a:r>
            <a:r>
              <a:rPr sz="1800" spc="-25" dirty="0"/>
              <a:t>identified </a:t>
            </a:r>
            <a:r>
              <a:rPr sz="1800" spc="10" dirty="0"/>
              <a:t>by </a:t>
            </a:r>
            <a:r>
              <a:rPr sz="1800" spc="50" dirty="0"/>
              <a:t>a </a:t>
            </a:r>
            <a:r>
              <a:rPr sz="1800" spc="35" dirty="0"/>
              <a:t>row</a:t>
            </a:r>
            <a:r>
              <a:rPr sz="1800" spc="295" dirty="0"/>
              <a:t> </a:t>
            </a:r>
            <a:r>
              <a:rPr sz="1800" spc="-65" dirty="0"/>
              <a:t>key.</a:t>
            </a:r>
            <a:endParaRPr sz="1800" dirty="0"/>
          </a:p>
          <a:p>
            <a:pPr marL="314960" marR="5715" algn="just">
              <a:lnSpc>
                <a:spcPct val="140000"/>
              </a:lnSpc>
              <a:spcBef>
                <a:spcPts val="795"/>
              </a:spcBef>
            </a:pPr>
            <a:r>
              <a:rPr sz="1800" spc="50" dirty="0"/>
              <a:t>Column </a:t>
            </a:r>
            <a:r>
              <a:rPr sz="1800" spc="-35" dirty="0"/>
              <a:t>family: </a:t>
            </a:r>
            <a:r>
              <a:rPr sz="1800" spc="90" dirty="0"/>
              <a:t>An </a:t>
            </a:r>
            <a:r>
              <a:rPr sz="1800" spc="50" dirty="0"/>
              <a:t>HBase </a:t>
            </a:r>
            <a:r>
              <a:rPr sz="1800" spc="-15" dirty="0"/>
              <a:t>table is </a:t>
            </a:r>
            <a:r>
              <a:rPr sz="1800" spc="-10" dirty="0"/>
              <a:t>divided </a:t>
            </a:r>
            <a:r>
              <a:rPr sz="1800" spc="5" dirty="0"/>
              <a:t>into </a:t>
            </a:r>
            <a:r>
              <a:rPr sz="1800" spc="-5" dirty="0"/>
              <a:t>multiple </a:t>
            </a:r>
            <a:r>
              <a:rPr sz="1800" spc="35" dirty="0"/>
              <a:t>column </a:t>
            </a:r>
            <a:r>
              <a:rPr sz="1800" spc="-30" dirty="0"/>
              <a:t>families, </a:t>
            </a:r>
            <a:r>
              <a:rPr sz="1800" spc="15" dirty="0"/>
              <a:t>which </a:t>
            </a:r>
            <a:r>
              <a:rPr sz="1800" spc="-10" dirty="0"/>
              <a:t>are </a:t>
            </a:r>
            <a:r>
              <a:rPr sz="1800" spc="-5" dirty="0"/>
              <a:t>basic </a:t>
            </a:r>
            <a:r>
              <a:rPr sz="1800" spc="-15" dirty="0"/>
              <a:t>access  </a:t>
            </a:r>
            <a:r>
              <a:rPr sz="1800" dirty="0"/>
              <a:t>control</a:t>
            </a:r>
            <a:r>
              <a:rPr sz="1800" spc="10" dirty="0"/>
              <a:t> </a:t>
            </a:r>
            <a:r>
              <a:rPr sz="1800" spc="-35" dirty="0"/>
              <a:t>units.</a:t>
            </a:r>
            <a:endParaRPr sz="1800" dirty="0"/>
          </a:p>
          <a:p>
            <a:pPr marL="314960">
              <a:lnSpc>
                <a:spcPct val="100000"/>
              </a:lnSpc>
              <a:spcBef>
                <a:spcPts val="1670"/>
              </a:spcBef>
            </a:pPr>
            <a:r>
              <a:rPr sz="1800" spc="50" dirty="0"/>
              <a:t>Column </a:t>
            </a:r>
            <a:r>
              <a:rPr sz="1800" spc="-40" dirty="0"/>
              <a:t>qualifier: </a:t>
            </a:r>
            <a:r>
              <a:rPr sz="1800" spc="55" dirty="0"/>
              <a:t>Data </a:t>
            </a:r>
            <a:r>
              <a:rPr sz="1800" dirty="0"/>
              <a:t>in </a:t>
            </a:r>
            <a:r>
              <a:rPr sz="1800" spc="50" dirty="0"/>
              <a:t>a </a:t>
            </a:r>
            <a:r>
              <a:rPr sz="1800" spc="35" dirty="0"/>
              <a:t>column </a:t>
            </a:r>
            <a:r>
              <a:rPr sz="1800" spc="5" dirty="0"/>
              <a:t>family </a:t>
            </a:r>
            <a:r>
              <a:rPr sz="1800" spc="-15" dirty="0"/>
              <a:t>is </a:t>
            </a:r>
            <a:r>
              <a:rPr sz="1800" spc="-10" dirty="0"/>
              <a:t>located </a:t>
            </a:r>
            <a:r>
              <a:rPr sz="1800" spc="10" dirty="0"/>
              <a:t>by </a:t>
            </a:r>
            <a:r>
              <a:rPr sz="1800" spc="35" dirty="0"/>
              <a:t>column </a:t>
            </a:r>
            <a:r>
              <a:rPr sz="1800" spc="-10" dirty="0"/>
              <a:t>qualifiers </a:t>
            </a:r>
            <a:r>
              <a:rPr sz="1800" spc="35" dirty="0"/>
              <a:t>(or</a:t>
            </a:r>
            <a:r>
              <a:rPr sz="1800" spc="75" dirty="0"/>
              <a:t> </a:t>
            </a:r>
            <a:r>
              <a:rPr sz="1800" spc="10" dirty="0"/>
              <a:t>columns).</a:t>
            </a:r>
            <a:endParaRPr sz="1800" dirty="0"/>
          </a:p>
          <a:p>
            <a:pPr marL="314960" marR="5080">
              <a:lnSpc>
                <a:spcPct val="140000"/>
              </a:lnSpc>
              <a:spcBef>
                <a:spcPts val="805"/>
              </a:spcBef>
            </a:pPr>
            <a:r>
              <a:rPr sz="1800" spc="-75" dirty="0"/>
              <a:t>Cell: </a:t>
            </a:r>
            <a:r>
              <a:rPr sz="1800" spc="35" dirty="0"/>
              <a:t>In </a:t>
            </a:r>
            <a:r>
              <a:rPr sz="1800" spc="55" dirty="0"/>
              <a:t>an HBase </a:t>
            </a:r>
            <a:r>
              <a:rPr sz="1800" spc="-55" dirty="0"/>
              <a:t>table, </a:t>
            </a:r>
            <a:r>
              <a:rPr sz="1800" spc="50" dirty="0"/>
              <a:t>a </a:t>
            </a:r>
            <a:r>
              <a:rPr sz="1800" spc="-50" dirty="0"/>
              <a:t>cell </a:t>
            </a:r>
            <a:r>
              <a:rPr sz="1800" spc="-15" dirty="0"/>
              <a:t>is </a:t>
            </a:r>
            <a:r>
              <a:rPr sz="1800" dirty="0"/>
              <a:t>determined </a:t>
            </a:r>
            <a:r>
              <a:rPr sz="1800" spc="10" dirty="0"/>
              <a:t>by </a:t>
            </a:r>
            <a:r>
              <a:rPr sz="1800" spc="-15" dirty="0"/>
              <a:t>the </a:t>
            </a:r>
            <a:r>
              <a:rPr sz="1800" spc="-30" dirty="0"/>
              <a:t>row, </a:t>
            </a:r>
            <a:r>
              <a:rPr sz="1800" spc="35" dirty="0"/>
              <a:t>column </a:t>
            </a:r>
            <a:r>
              <a:rPr sz="1800" spc="-30" dirty="0"/>
              <a:t>family, </a:t>
            </a:r>
            <a:r>
              <a:rPr sz="1800" spc="40" dirty="0"/>
              <a:t>and </a:t>
            </a:r>
            <a:r>
              <a:rPr sz="1800" spc="35" dirty="0"/>
              <a:t>column </a:t>
            </a:r>
            <a:r>
              <a:rPr sz="1800" spc="-40" dirty="0"/>
              <a:t>qualifier. </a:t>
            </a:r>
            <a:r>
              <a:rPr sz="1800" spc="55" dirty="0"/>
              <a:t>Data  </a:t>
            </a:r>
            <a:r>
              <a:rPr sz="1800" spc="-5" dirty="0"/>
              <a:t>stored </a:t>
            </a:r>
            <a:r>
              <a:rPr sz="1800" dirty="0"/>
              <a:t>in </a:t>
            </a:r>
            <a:r>
              <a:rPr sz="1800" spc="50" dirty="0"/>
              <a:t>a </a:t>
            </a:r>
            <a:r>
              <a:rPr sz="1800" spc="-45" dirty="0"/>
              <a:t>cell </a:t>
            </a:r>
            <a:r>
              <a:rPr sz="1800" spc="45" dirty="0"/>
              <a:t>has </a:t>
            </a:r>
            <a:r>
              <a:rPr sz="1800" spc="65" dirty="0"/>
              <a:t>no </a:t>
            </a:r>
            <a:r>
              <a:rPr sz="1800" spc="15" dirty="0"/>
              <a:t>data </a:t>
            </a:r>
            <a:r>
              <a:rPr sz="1800" spc="-25" dirty="0"/>
              <a:t>type </a:t>
            </a:r>
            <a:r>
              <a:rPr sz="1800" spc="45" dirty="0"/>
              <a:t>and </a:t>
            </a:r>
            <a:r>
              <a:rPr sz="1800" spc="-15" dirty="0"/>
              <a:t>is </a:t>
            </a:r>
            <a:r>
              <a:rPr sz="1800" spc="-5" dirty="0"/>
              <a:t>considered </a:t>
            </a:r>
            <a:r>
              <a:rPr sz="1800" spc="40" dirty="0"/>
              <a:t>as </a:t>
            </a:r>
            <a:r>
              <a:rPr sz="1800" spc="50" dirty="0"/>
              <a:t>a </a:t>
            </a:r>
            <a:r>
              <a:rPr sz="1800" spc="-20" dirty="0"/>
              <a:t>byte </a:t>
            </a:r>
            <a:r>
              <a:rPr sz="1800" dirty="0"/>
              <a:t>array</a:t>
            </a:r>
            <a:r>
              <a:rPr sz="1800" spc="200" dirty="0"/>
              <a:t> </a:t>
            </a:r>
            <a:r>
              <a:rPr sz="1800" b="1" spc="30" dirty="0">
                <a:latin typeface="Arial"/>
                <a:cs typeface="Arial"/>
              </a:rPr>
              <a:t>byte[]</a:t>
            </a:r>
            <a:r>
              <a:rPr sz="1800" spc="30" dirty="0"/>
              <a:t>.</a:t>
            </a:r>
            <a:endParaRPr sz="1800" dirty="0">
              <a:latin typeface="Arial"/>
              <a:cs typeface="Arial"/>
            </a:endParaRPr>
          </a:p>
          <a:p>
            <a:pPr marL="314960" marR="5080">
              <a:lnSpc>
                <a:spcPct val="140000"/>
              </a:lnSpc>
              <a:spcBef>
                <a:spcPts val="795"/>
              </a:spcBef>
            </a:pPr>
            <a:r>
              <a:rPr sz="1800" spc="-10" dirty="0"/>
              <a:t>Timestamp: </a:t>
            </a:r>
            <a:r>
              <a:rPr sz="1800" spc="15" dirty="0"/>
              <a:t>Each </a:t>
            </a:r>
            <a:r>
              <a:rPr sz="1800" spc="-45" dirty="0"/>
              <a:t>cell </a:t>
            </a:r>
            <a:r>
              <a:rPr sz="1800" spc="-5" dirty="0"/>
              <a:t>stores multiple </a:t>
            </a:r>
            <a:r>
              <a:rPr sz="1800" spc="5" dirty="0"/>
              <a:t>versions </a:t>
            </a:r>
            <a:r>
              <a:rPr sz="1800" spc="10" dirty="0"/>
              <a:t>of </a:t>
            </a:r>
            <a:r>
              <a:rPr sz="1800" spc="-15" dirty="0"/>
              <a:t>the </a:t>
            </a:r>
            <a:r>
              <a:rPr sz="1800" spc="40" dirty="0"/>
              <a:t>same </a:t>
            </a:r>
            <a:r>
              <a:rPr sz="1800" spc="-35" dirty="0"/>
              <a:t>data. </a:t>
            </a:r>
            <a:r>
              <a:rPr sz="1800" spc="-5" dirty="0"/>
              <a:t>These </a:t>
            </a:r>
            <a:r>
              <a:rPr sz="1800" spc="5" dirty="0"/>
              <a:t>versions </a:t>
            </a:r>
            <a:r>
              <a:rPr sz="1800" dirty="0"/>
              <a:t>are </a:t>
            </a:r>
            <a:r>
              <a:rPr sz="1800" spc="-5" dirty="0"/>
              <a:t>indexed </a:t>
            </a:r>
            <a:r>
              <a:rPr sz="1800" spc="50" dirty="0"/>
              <a:t>using  </a:t>
            </a:r>
            <a:r>
              <a:rPr sz="1800" spc="-10" dirty="0"/>
              <a:t>timestamps.</a:t>
            </a:r>
            <a:endParaRPr sz="1800" dirty="0"/>
          </a:p>
        </p:txBody>
      </p:sp>
      <p:sp>
        <p:nvSpPr>
          <p:cNvPr id="7" name="object 7"/>
          <p:cNvSpPr txBox="1"/>
          <p:nvPr/>
        </p:nvSpPr>
        <p:spPr>
          <a:xfrm>
            <a:off x="799287" y="2606166"/>
            <a:ext cx="111125"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Wingdings"/>
                <a:cs typeface="Wingdings"/>
              </a:rPr>
              <a:t></a:t>
            </a:r>
            <a:endParaRPr sz="900">
              <a:latin typeface="Wingdings"/>
              <a:cs typeface="Wingdings"/>
            </a:endParaRPr>
          </a:p>
        </p:txBody>
      </p:sp>
      <p:sp>
        <p:nvSpPr>
          <p:cNvPr id="8" name="object 8"/>
          <p:cNvSpPr txBox="1"/>
          <p:nvPr/>
        </p:nvSpPr>
        <p:spPr>
          <a:xfrm>
            <a:off x="799287" y="3476625"/>
            <a:ext cx="111125"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Wingdings"/>
                <a:cs typeface="Wingdings"/>
              </a:rPr>
              <a:t></a:t>
            </a:r>
            <a:endParaRPr sz="900">
              <a:latin typeface="Wingdings"/>
              <a:cs typeface="Wingdings"/>
            </a:endParaRPr>
          </a:p>
        </p:txBody>
      </p:sp>
      <p:sp>
        <p:nvSpPr>
          <p:cNvPr id="9" name="object 9"/>
          <p:cNvSpPr txBox="1"/>
          <p:nvPr/>
        </p:nvSpPr>
        <p:spPr>
          <a:xfrm>
            <a:off x="799287" y="3962780"/>
            <a:ext cx="111125"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Wingdings"/>
                <a:cs typeface="Wingdings"/>
              </a:rPr>
              <a:t></a:t>
            </a:r>
            <a:endParaRPr sz="900">
              <a:latin typeface="Wingdings"/>
              <a:cs typeface="Wingdings"/>
            </a:endParaRPr>
          </a:p>
        </p:txBody>
      </p:sp>
      <p:sp>
        <p:nvSpPr>
          <p:cNvPr id="10" name="object 10"/>
          <p:cNvSpPr txBox="1"/>
          <p:nvPr/>
        </p:nvSpPr>
        <p:spPr>
          <a:xfrm>
            <a:off x="799287" y="4831842"/>
            <a:ext cx="111125"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Wingdings"/>
                <a:cs typeface="Wingdings"/>
              </a:rPr>
              <a:t></a:t>
            </a:r>
            <a:endParaRPr sz="900">
              <a:latin typeface="Wingdings"/>
              <a:cs typeface="Wingdings"/>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6198235" cy="513715"/>
          </a:xfrm>
          <a:prstGeom prst="rect">
            <a:avLst/>
          </a:prstGeom>
        </p:spPr>
        <p:txBody>
          <a:bodyPr vert="horz" wrap="square" lIns="0" tIns="13335" rIns="0" bIns="0" rtlCol="0">
            <a:spAutoFit/>
          </a:bodyPr>
          <a:lstStyle/>
          <a:p>
            <a:pPr marL="12700">
              <a:lnSpc>
                <a:spcPct val="100000"/>
              </a:lnSpc>
              <a:spcBef>
                <a:spcPts val="105"/>
              </a:spcBef>
            </a:pPr>
            <a:r>
              <a:rPr sz="3200" spc="15" dirty="0">
                <a:solidFill>
                  <a:srgbClr val="000000"/>
                </a:solidFill>
              </a:rPr>
              <a:t>Conceptual </a:t>
            </a:r>
            <a:r>
              <a:rPr sz="3200" spc="30" dirty="0">
                <a:solidFill>
                  <a:srgbClr val="000000"/>
                </a:solidFill>
              </a:rPr>
              <a:t>View of </a:t>
            </a:r>
            <a:r>
              <a:rPr sz="3200" spc="105" dirty="0">
                <a:solidFill>
                  <a:srgbClr val="000000"/>
                </a:solidFill>
              </a:rPr>
              <a:t>Data</a:t>
            </a:r>
            <a:r>
              <a:rPr sz="3200" spc="5" dirty="0">
                <a:solidFill>
                  <a:srgbClr val="000000"/>
                </a:solidFill>
              </a:rPr>
              <a:t> </a:t>
            </a:r>
            <a:r>
              <a:rPr sz="3200" spc="55" dirty="0">
                <a:solidFill>
                  <a:srgbClr val="000000"/>
                </a:solidFill>
              </a:rPr>
              <a:t>Storage</a:t>
            </a:r>
            <a:endParaRPr sz="3200" dirty="0"/>
          </a:p>
        </p:txBody>
      </p:sp>
      <p:sp>
        <p:nvSpPr>
          <p:cNvPr id="6" name="object 6"/>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11	</a:t>
            </a:r>
            <a:r>
              <a:rPr spc="30" dirty="0"/>
              <a:t>Huawei</a:t>
            </a:r>
            <a:r>
              <a:rPr spc="-10" dirty="0"/>
              <a:t> </a:t>
            </a:r>
            <a:r>
              <a:rPr spc="5" dirty="0"/>
              <a:t>Confidential</a:t>
            </a:r>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101039" y="1076604"/>
            <a:ext cx="10041255" cy="1434465"/>
          </a:xfrm>
          <a:prstGeom prst="rect">
            <a:avLst/>
          </a:prstGeom>
        </p:spPr>
        <p:txBody>
          <a:bodyPr vert="horz" wrap="square" lIns="0" tIns="12065" rIns="0" bIns="0" rtlCol="0">
            <a:spAutoFit/>
          </a:bodyPr>
          <a:lstStyle/>
          <a:p>
            <a:pPr marL="12700" marR="5080">
              <a:lnSpc>
                <a:spcPct val="140100"/>
              </a:lnSpc>
              <a:spcBef>
                <a:spcPts val="95"/>
              </a:spcBef>
            </a:pPr>
            <a:r>
              <a:rPr sz="2200" spc="-20" dirty="0">
                <a:latin typeface="Trebuchet MS"/>
                <a:cs typeface="Trebuchet MS"/>
              </a:rPr>
              <a:t>There </a:t>
            </a:r>
            <a:r>
              <a:rPr sz="2200" spc="-15" dirty="0">
                <a:latin typeface="Trebuchet MS"/>
                <a:cs typeface="Trebuchet MS"/>
              </a:rPr>
              <a:t>is </a:t>
            </a:r>
            <a:r>
              <a:rPr sz="2200" spc="55" dirty="0">
                <a:latin typeface="Trebuchet MS"/>
                <a:cs typeface="Trebuchet MS"/>
              </a:rPr>
              <a:t>a </a:t>
            </a:r>
            <a:r>
              <a:rPr sz="2200" spc="-20" dirty="0">
                <a:latin typeface="Trebuchet MS"/>
                <a:cs typeface="Trebuchet MS"/>
              </a:rPr>
              <a:t>table </a:t>
            </a:r>
            <a:r>
              <a:rPr sz="2200" spc="50" dirty="0">
                <a:latin typeface="Trebuchet MS"/>
                <a:cs typeface="Trebuchet MS"/>
              </a:rPr>
              <a:t>named </a:t>
            </a:r>
            <a:r>
              <a:rPr sz="2200" b="1" spc="55" dirty="0">
                <a:latin typeface="Arial"/>
                <a:cs typeface="Arial"/>
              </a:rPr>
              <a:t>webtable </a:t>
            </a:r>
            <a:r>
              <a:rPr sz="2200" spc="-10" dirty="0">
                <a:latin typeface="Trebuchet MS"/>
                <a:cs typeface="Trebuchet MS"/>
              </a:rPr>
              <a:t>that </a:t>
            </a:r>
            <a:r>
              <a:rPr sz="2200" spc="10" dirty="0">
                <a:latin typeface="Trebuchet MS"/>
                <a:cs typeface="Trebuchet MS"/>
              </a:rPr>
              <a:t>contains </a:t>
            </a:r>
            <a:r>
              <a:rPr sz="2200" spc="25" dirty="0">
                <a:latin typeface="Trebuchet MS"/>
                <a:cs typeface="Trebuchet MS"/>
              </a:rPr>
              <a:t>two </a:t>
            </a:r>
            <a:r>
              <a:rPr sz="2200" spc="40" dirty="0">
                <a:latin typeface="Trebuchet MS"/>
                <a:cs typeface="Trebuchet MS"/>
              </a:rPr>
              <a:t>column </a:t>
            </a:r>
            <a:r>
              <a:rPr sz="2200" spc="-40" dirty="0">
                <a:latin typeface="Trebuchet MS"/>
                <a:cs typeface="Trebuchet MS"/>
              </a:rPr>
              <a:t>families: </a:t>
            </a:r>
            <a:r>
              <a:rPr sz="2200" b="1" spc="-10" dirty="0">
                <a:latin typeface="Arial"/>
                <a:cs typeface="Arial"/>
              </a:rPr>
              <a:t>contents  </a:t>
            </a:r>
            <a:r>
              <a:rPr sz="2200" spc="55" dirty="0">
                <a:latin typeface="Trebuchet MS"/>
                <a:cs typeface="Trebuchet MS"/>
              </a:rPr>
              <a:t>and </a:t>
            </a:r>
            <a:r>
              <a:rPr sz="2200" b="1" spc="-55" dirty="0">
                <a:latin typeface="Arial"/>
                <a:cs typeface="Arial"/>
              </a:rPr>
              <a:t>anchor</a:t>
            </a:r>
            <a:r>
              <a:rPr sz="2200" spc="-55" dirty="0">
                <a:latin typeface="Trebuchet MS"/>
                <a:cs typeface="Trebuchet MS"/>
              </a:rPr>
              <a:t>. </a:t>
            </a:r>
            <a:r>
              <a:rPr sz="2200" spc="45" dirty="0">
                <a:latin typeface="Trebuchet MS"/>
                <a:cs typeface="Trebuchet MS"/>
              </a:rPr>
              <a:t>In </a:t>
            </a:r>
            <a:r>
              <a:rPr sz="2200" spc="-10" dirty="0">
                <a:latin typeface="Trebuchet MS"/>
                <a:cs typeface="Trebuchet MS"/>
              </a:rPr>
              <a:t>this </a:t>
            </a:r>
            <a:r>
              <a:rPr sz="2200" spc="-30" dirty="0">
                <a:latin typeface="Trebuchet MS"/>
                <a:cs typeface="Trebuchet MS"/>
              </a:rPr>
              <a:t>example, </a:t>
            </a:r>
            <a:r>
              <a:rPr sz="2200" b="1" spc="-15" dirty="0">
                <a:latin typeface="Arial"/>
                <a:cs typeface="Arial"/>
              </a:rPr>
              <a:t>anchor </a:t>
            </a:r>
            <a:r>
              <a:rPr sz="2200" spc="55" dirty="0">
                <a:latin typeface="Trebuchet MS"/>
                <a:cs typeface="Trebuchet MS"/>
              </a:rPr>
              <a:t>has </a:t>
            </a:r>
            <a:r>
              <a:rPr sz="2200" spc="25" dirty="0">
                <a:latin typeface="Trebuchet MS"/>
                <a:cs typeface="Trebuchet MS"/>
              </a:rPr>
              <a:t>two </a:t>
            </a:r>
            <a:r>
              <a:rPr sz="2200" spc="40" dirty="0">
                <a:latin typeface="Trebuchet MS"/>
                <a:cs typeface="Trebuchet MS"/>
              </a:rPr>
              <a:t>columns </a:t>
            </a:r>
            <a:r>
              <a:rPr sz="2200" spc="-15" dirty="0">
                <a:latin typeface="Trebuchet MS"/>
                <a:cs typeface="Trebuchet MS"/>
              </a:rPr>
              <a:t>(</a:t>
            </a:r>
            <a:r>
              <a:rPr sz="2200" b="1" spc="-15" dirty="0">
                <a:latin typeface="Arial"/>
                <a:cs typeface="Arial"/>
              </a:rPr>
              <a:t>anchor:aa.com </a:t>
            </a:r>
            <a:r>
              <a:rPr sz="2200" spc="50" dirty="0">
                <a:latin typeface="Trebuchet MS"/>
                <a:cs typeface="Trebuchet MS"/>
              </a:rPr>
              <a:t>and  </a:t>
            </a:r>
            <a:r>
              <a:rPr sz="2200" b="1" spc="-40" dirty="0">
                <a:latin typeface="Arial"/>
                <a:cs typeface="Arial"/>
              </a:rPr>
              <a:t>anchor:bb.com</a:t>
            </a:r>
            <a:r>
              <a:rPr sz="2200" spc="-40" dirty="0">
                <a:latin typeface="Trebuchet MS"/>
                <a:cs typeface="Trebuchet MS"/>
              </a:rPr>
              <a:t>), </a:t>
            </a:r>
            <a:r>
              <a:rPr sz="2200" spc="55" dirty="0">
                <a:latin typeface="Trebuchet MS"/>
                <a:cs typeface="Trebuchet MS"/>
              </a:rPr>
              <a:t>and </a:t>
            </a:r>
            <a:r>
              <a:rPr sz="2200" b="1" spc="-10" dirty="0">
                <a:latin typeface="Arial"/>
                <a:cs typeface="Arial"/>
              </a:rPr>
              <a:t>contents </a:t>
            </a:r>
            <a:r>
              <a:rPr sz="2200" spc="55" dirty="0">
                <a:latin typeface="Trebuchet MS"/>
                <a:cs typeface="Trebuchet MS"/>
              </a:rPr>
              <a:t>has </a:t>
            </a:r>
            <a:r>
              <a:rPr sz="2200" spc="25" dirty="0">
                <a:latin typeface="Trebuchet MS"/>
                <a:cs typeface="Trebuchet MS"/>
              </a:rPr>
              <a:t>only </a:t>
            </a:r>
            <a:r>
              <a:rPr sz="2200" spc="35" dirty="0">
                <a:latin typeface="Trebuchet MS"/>
                <a:cs typeface="Trebuchet MS"/>
              </a:rPr>
              <a:t>one </a:t>
            </a:r>
            <a:r>
              <a:rPr sz="2200" spc="40" dirty="0">
                <a:latin typeface="Trebuchet MS"/>
                <a:cs typeface="Trebuchet MS"/>
              </a:rPr>
              <a:t>column</a:t>
            </a:r>
            <a:r>
              <a:rPr sz="2200" spc="80" dirty="0">
                <a:latin typeface="Trebuchet MS"/>
                <a:cs typeface="Trebuchet MS"/>
              </a:rPr>
              <a:t> </a:t>
            </a:r>
            <a:r>
              <a:rPr sz="2200" dirty="0">
                <a:latin typeface="Trebuchet MS"/>
                <a:cs typeface="Trebuchet MS"/>
              </a:rPr>
              <a:t>(</a:t>
            </a:r>
            <a:r>
              <a:rPr sz="2200" b="1" dirty="0">
                <a:latin typeface="Arial"/>
                <a:cs typeface="Arial"/>
              </a:rPr>
              <a:t>contents:html</a:t>
            </a:r>
            <a:r>
              <a:rPr sz="2200" dirty="0">
                <a:latin typeface="Trebuchet MS"/>
                <a:cs typeface="Trebuchet MS"/>
              </a:rPr>
              <a:t>).</a:t>
            </a:r>
          </a:p>
        </p:txBody>
      </p:sp>
      <p:graphicFrame>
        <p:nvGraphicFramePr>
          <p:cNvPr id="5" name="object 5"/>
          <p:cNvGraphicFramePr>
            <a:graphicFrameLocks noGrp="1"/>
          </p:cNvGraphicFramePr>
          <p:nvPr>
            <p:extLst>
              <p:ext uri="{D42A27DB-BD31-4B8C-83A1-F6EECF244321}">
                <p14:modId xmlns:p14="http://schemas.microsoft.com/office/powerpoint/2010/main" val="3951888328"/>
              </p:ext>
            </p:extLst>
          </p:nvPr>
        </p:nvGraphicFramePr>
        <p:xfrm>
          <a:off x="1054687" y="2971800"/>
          <a:ext cx="10062207" cy="2818181"/>
        </p:xfrm>
        <a:graphic>
          <a:graphicData uri="http://schemas.openxmlformats.org/drawingml/2006/table">
            <a:tbl>
              <a:tblPr firstRow="1" bandRow="1">
                <a:tableStyleId>{2D5ABB26-0587-4C30-8999-92F81FD0307C}</a:tableStyleId>
              </a:tblPr>
              <a:tblGrid>
                <a:gridCol w="1939289">
                  <a:extLst>
                    <a:ext uri="{9D8B030D-6E8A-4147-A177-3AD203B41FA5}">
                      <a16:colId xmlns:a16="http://schemas.microsoft.com/office/drawing/2014/main" val="20000"/>
                    </a:ext>
                  </a:extLst>
                </a:gridCol>
                <a:gridCol w="1617344">
                  <a:extLst>
                    <a:ext uri="{9D8B030D-6E8A-4147-A177-3AD203B41FA5}">
                      <a16:colId xmlns:a16="http://schemas.microsoft.com/office/drawing/2014/main" val="20001"/>
                    </a:ext>
                  </a:extLst>
                </a:gridCol>
                <a:gridCol w="2993390">
                  <a:extLst>
                    <a:ext uri="{9D8B030D-6E8A-4147-A177-3AD203B41FA5}">
                      <a16:colId xmlns:a16="http://schemas.microsoft.com/office/drawing/2014/main" val="20002"/>
                    </a:ext>
                  </a:extLst>
                </a:gridCol>
                <a:gridCol w="3512184">
                  <a:extLst>
                    <a:ext uri="{9D8B030D-6E8A-4147-A177-3AD203B41FA5}">
                      <a16:colId xmlns:a16="http://schemas.microsoft.com/office/drawing/2014/main" val="20003"/>
                    </a:ext>
                  </a:extLst>
                </a:gridCol>
              </a:tblGrid>
              <a:tr h="469748">
                <a:tc>
                  <a:txBody>
                    <a:bodyPr/>
                    <a:lstStyle/>
                    <a:p>
                      <a:pPr marL="490855">
                        <a:lnSpc>
                          <a:spcPct val="100000"/>
                        </a:lnSpc>
                        <a:spcBef>
                          <a:spcPts val="340"/>
                        </a:spcBef>
                      </a:pPr>
                      <a:r>
                        <a:rPr sz="1800" b="1" spc="-10" dirty="0">
                          <a:latin typeface="Arial"/>
                          <a:cs typeface="Arial"/>
                        </a:rPr>
                        <a:t>Row</a:t>
                      </a:r>
                      <a:r>
                        <a:rPr sz="1800" b="1" spc="60" dirty="0">
                          <a:latin typeface="Arial"/>
                          <a:cs typeface="Arial"/>
                        </a:rPr>
                        <a:t> </a:t>
                      </a:r>
                      <a:r>
                        <a:rPr sz="1800" b="1" spc="-60" dirty="0">
                          <a:latin typeface="Arial"/>
                          <a:cs typeface="Arial"/>
                        </a:rPr>
                        <a:t>Key</a:t>
                      </a:r>
                      <a:endParaRPr sz="1800">
                        <a:latin typeface="Arial"/>
                        <a:cs typeface="Arial"/>
                      </a:endParaRPr>
                    </a:p>
                  </a:txBody>
                  <a:tcPr marL="0" marR="0" marT="4318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D9D9D9"/>
                    </a:solidFill>
                  </a:tcPr>
                </a:tc>
                <a:tc>
                  <a:txBody>
                    <a:bodyPr/>
                    <a:lstStyle/>
                    <a:p>
                      <a:pPr marL="145415">
                        <a:lnSpc>
                          <a:spcPct val="100000"/>
                        </a:lnSpc>
                        <a:spcBef>
                          <a:spcPts val="340"/>
                        </a:spcBef>
                      </a:pPr>
                      <a:r>
                        <a:rPr sz="1800" b="1" spc="25" dirty="0">
                          <a:latin typeface="Arial"/>
                          <a:cs typeface="Arial"/>
                        </a:rPr>
                        <a:t>Time </a:t>
                      </a:r>
                      <a:r>
                        <a:rPr sz="1800" b="1" spc="10" dirty="0">
                          <a:latin typeface="Arial"/>
                          <a:cs typeface="Arial"/>
                        </a:rPr>
                        <a:t>Stamp</a:t>
                      </a:r>
                      <a:endParaRPr sz="1800">
                        <a:latin typeface="Arial"/>
                        <a:cs typeface="Arial"/>
                      </a:endParaRPr>
                    </a:p>
                  </a:txBody>
                  <a:tcPr marL="0" marR="0" marT="4318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D9D9D9"/>
                    </a:solidFill>
                  </a:tcPr>
                </a:tc>
                <a:tc>
                  <a:txBody>
                    <a:bodyPr/>
                    <a:lstStyle/>
                    <a:p>
                      <a:pPr marL="197485">
                        <a:lnSpc>
                          <a:spcPct val="100000"/>
                        </a:lnSpc>
                        <a:spcBef>
                          <a:spcPts val="340"/>
                        </a:spcBef>
                      </a:pPr>
                      <a:r>
                        <a:rPr sz="1800" b="1" dirty="0">
                          <a:latin typeface="Arial"/>
                          <a:cs typeface="Arial"/>
                        </a:rPr>
                        <a:t>ColumnFamily</a:t>
                      </a:r>
                      <a:r>
                        <a:rPr sz="1800" b="1" spc="35" dirty="0">
                          <a:latin typeface="Arial"/>
                          <a:cs typeface="Arial"/>
                        </a:rPr>
                        <a:t> </a:t>
                      </a:r>
                      <a:r>
                        <a:rPr sz="1800" b="1" spc="-10" dirty="0">
                          <a:latin typeface="Arial"/>
                          <a:cs typeface="Arial"/>
                        </a:rPr>
                        <a:t>contents</a:t>
                      </a:r>
                      <a:endParaRPr sz="1800" dirty="0">
                        <a:latin typeface="Arial"/>
                        <a:cs typeface="Arial"/>
                      </a:endParaRPr>
                    </a:p>
                  </a:txBody>
                  <a:tcPr marL="0" marR="0" marT="4318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D9D9D9"/>
                    </a:solidFill>
                  </a:tcPr>
                </a:tc>
                <a:tc>
                  <a:txBody>
                    <a:bodyPr/>
                    <a:lstStyle/>
                    <a:p>
                      <a:pPr marL="552450">
                        <a:lnSpc>
                          <a:spcPct val="100000"/>
                        </a:lnSpc>
                        <a:spcBef>
                          <a:spcPts val="340"/>
                        </a:spcBef>
                      </a:pPr>
                      <a:r>
                        <a:rPr sz="1800" b="1" dirty="0">
                          <a:latin typeface="Arial"/>
                          <a:cs typeface="Arial"/>
                        </a:rPr>
                        <a:t>ColumnFamily</a:t>
                      </a:r>
                      <a:r>
                        <a:rPr sz="1800" b="1" spc="40" dirty="0">
                          <a:latin typeface="Arial"/>
                          <a:cs typeface="Arial"/>
                        </a:rPr>
                        <a:t> </a:t>
                      </a:r>
                      <a:r>
                        <a:rPr sz="1800" b="1" spc="-15" dirty="0">
                          <a:latin typeface="Arial"/>
                          <a:cs typeface="Arial"/>
                        </a:rPr>
                        <a:t>anchor</a:t>
                      </a:r>
                      <a:endParaRPr sz="1800" dirty="0">
                        <a:latin typeface="Arial"/>
                        <a:cs typeface="Arial"/>
                      </a:endParaRPr>
                    </a:p>
                  </a:txBody>
                  <a:tcPr marL="0" marR="0" marT="43180"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solidFill>
                      <a:srgbClr val="D9D9D9"/>
                    </a:solidFill>
                  </a:tcPr>
                </a:tc>
                <a:extLst>
                  <a:ext uri="{0D108BD9-81ED-4DB2-BD59-A6C34878D82A}">
                    <a16:rowId xmlns:a16="http://schemas.microsoft.com/office/drawing/2014/main" val="10000"/>
                  </a:ext>
                </a:extLst>
              </a:tr>
              <a:tr h="469745">
                <a:tc>
                  <a:txBody>
                    <a:bodyPr/>
                    <a:lstStyle/>
                    <a:p>
                      <a:pPr marL="91440" rtl="0">
                        <a:lnSpc>
                          <a:spcPct val="100000"/>
                        </a:lnSpc>
                        <a:spcBef>
                          <a:spcPts val="340"/>
                        </a:spcBef>
                      </a:pPr>
                      <a:r>
                        <a:rPr sz="1800" spc="25" dirty="0" smtClean="0">
                          <a:latin typeface="Times New Roman" panose="02020603050405020304" pitchFamily="18" charset="0"/>
                          <a:cs typeface="Times New Roman" panose="02020603050405020304" pitchFamily="18" charset="0"/>
                        </a:rPr>
                        <a:t>"</a:t>
                      </a:r>
                      <a:r>
                        <a:rPr lang="en-US" sz="1800" spc="25" dirty="0" smtClean="0">
                          <a:latin typeface="Times New Roman" panose="02020603050405020304" pitchFamily="18" charset="0"/>
                          <a:cs typeface="Times New Roman" panose="02020603050405020304" pitchFamily="18" charset="0"/>
                        </a:rPr>
                        <a:t>www</a:t>
                      </a:r>
                      <a:r>
                        <a:rPr sz="1800" spc="25" dirty="0" smtClean="0">
                          <a:latin typeface="Times New Roman" panose="02020603050405020304" pitchFamily="18" charset="0"/>
                          <a:cs typeface="Times New Roman" panose="02020603050405020304" pitchFamily="18" charset="0"/>
                        </a:rPr>
                        <a:t>.cnn.</a:t>
                      </a:r>
                      <a:r>
                        <a:rPr lang="en-US" sz="1800" spc="25" dirty="0" smtClean="0">
                          <a:latin typeface="Times New Roman" panose="02020603050405020304" pitchFamily="18" charset="0"/>
                          <a:cs typeface="Times New Roman" panose="02020603050405020304" pitchFamily="18" charset="0"/>
                        </a:rPr>
                        <a:t>com</a:t>
                      </a:r>
                      <a:r>
                        <a:rPr sz="1800" spc="25" dirty="0" smtClean="0">
                          <a:latin typeface="Times New Roman" panose="02020603050405020304" pitchFamily="18" charset="0"/>
                          <a:cs typeface="Times New Roman" panose="02020603050405020304" pitchFamily="18" charset="0"/>
                        </a:rPr>
                        <a:t>"</a:t>
                      </a:r>
                      <a:endParaRPr sz="1800" dirty="0">
                        <a:latin typeface="Times New Roman" panose="02020603050405020304" pitchFamily="18" charset="0"/>
                        <a:cs typeface="Times New Roman" panose="02020603050405020304" pitchFamily="18" charset="0"/>
                      </a:endParaRPr>
                    </a:p>
                  </a:txBody>
                  <a:tcPr marL="0" marR="0" marT="4318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40"/>
                        </a:spcBef>
                      </a:pPr>
                      <a:r>
                        <a:rPr sz="1800" spc="-10" dirty="0">
                          <a:latin typeface="Trebuchet MS"/>
                          <a:cs typeface="Trebuchet MS"/>
                        </a:rPr>
                        <a:t>t9</a:t>
                      </a:r>
                      <a:endParaRPr sz="1800" dirty="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40"/>
                        </a:spcBef>
                      </a:pPr>
                      <a:r>
                        <a:rPr sz="1800" spc="-5" dirty="0">
                          <a:latin typeface="Trebuchet MS"/>
                          <a:cs typeface="Trebuchet MS"/>
                        </a:rPr>
                        <a:t>anchor:</a:t>
                      </a:r>
                      <a:r>
                        <a:rPr sz="1800" u="sng" spc="-5" dirty="0">
                          <a:latin typeface="Trebuchet MS"/>
                          <a:cs typeface="Trebuchet MS"/>
                        </a:rPr>
                        <a:t>aa.com</a:t>
                      </a:r>
                      <a:r>
                        <a:rPr sz="1800" spc="-5" dirty="0">
                          <a:latin typeface="Trebuchet MS"/>
                          <a:cs typeface="Trebuchet MS"/>
                        </a:rPr>
                        <a:t>= </a:t>
                      </a:r>
                      <a:r>
                        <a:rPr sz="1800" spc="180" dirty="0">
                          <a:latin typeface="Trebuchet MS"/>
                          <a:cs typeface="Trebuchet MS"/>
                        </a:rPr>
                        <a:t>"CNN"</a:t>
                      </a:r>
                      <a:endParaRPr sz="1800" dirty="0">
                        <a:latin typeface="Trebuchet MS"/>
                        <a:cs typeface="Trebuchet MS"/>
                      </a:endParaRPr>
                    </a:p>
                  </a:txBody>
                  <a:tcPr marL="0" marR="0" marT="4318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69599">
                <a:tc>
                  <a:txBody>
                    <a:bodyPr/>
                    <a:lstStyle/>
                    <a:p>
                      <a:pPr marL="91440" marR="0" lvl="0" indent="0" defTabSz="914400" rtl="0" eaLnBrk="1" fontAlgn="auto" latinLnBrk="0" hangingPunct="1">
                        <a:lnSpc>
                          <a:spcPct val="100000"/>
                        </a:lnSpc>
                        <a:spcBef>
                          <a:spcPts val="340"/>
                        </a:spcBef>
                        <a:spcAft>
                          <a:spcPts val="0"/>
                        </a:spcAft>
                        <a:buClrTx/>
                        <a:buSzTx/>
                        <a:buFontTx/>
                        <a:buNone/>
                        <a:tabLst/>
                        <a:defRPr/>
                      </a:pPr>
                      <a:r>
                        <a:rPr kumimoji="0" lang="en-US" sz="1800" b="0" i="0" u="none" strike="noStrike" kern="0" cap="none" spc="25"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"www.cnn.com"</a:t>
                      </a:r>
                      <a:endParaRPr kumimoji="0" lang="en-US" sz="18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0" marR="0" marT="43180"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40"/>
                        </a:spcBef>
                      </a:pPr>
                      <a:r>
                        <a:rPr sz="1800" spc="-10" dirty="0">
                          <a:latin typeface="Trebuchet MS"/>
                          <a:cs typeface="Trebuchet MS"/>
                        </a:rPr>
                        <a:t>t8</a:t>
                      </a:r>
                      <a:endParaRPr sz="1800" dirty="0">
                        <a:latin typeface="Trebuchet MS"/>
                        <a:cs typeface="Trebuchet MS"/>
                      </a:endParaRPr>
                    </a:p>
                  </a:txBody>
                  <a:tcPr marL="0" marR="0" marT="431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40"/>
                        </a:spcBef>
                      </a:pPr>
                      <a:r>
                        <a:rPr sz="1800" spc="-5" dirty="0">
                          <a:latin typeface="Trebuchet MS"/>
                          <a:cs typeface="Trebuchet MS"/>
                        </a:rPr>
                        <a:t>anchor:</a:t>
                      </a:r>
                      <a:r>
                        <a:rPr sz="1800" u="sng" spc="-5" dirty="0">
                          <a:latin typeface="Trebuchet MS"/>
                          <a:cs typeface="Trebuchet MS"/>
                        </a:rPr>
                        <a:t>bb.com</a:t>
                      </a:r>
                      <a:r>
                        <a:rPr sz="1800" spc="-5" dirty="0">
                          <a:latin typeface="Trebuchet MS"/>
                          <a:cs typeface="Trebuchet MS"/>
                        </a:rPr>
                        <a:t>=</a:t>
                      </a:r>
                      <a:r>
                        <a:rPr sz="1800" spc="-10" dirty="0">
                          <a:latin typeface="Trebuchet MS"/>
                          <a:cs typeface="Trebuchet MS"/>
                        </a:rPr>
                        <a:t> </a:t>
                      </a:r>
                      <a:r>
                        <a:rPr sz="1800" spc="85" dirty="0">
                          <a:latin typeface="Trebuchet MS"/>
                          <a:cs typeface="Trebuchet MS"/>
                        </a:rPr>
                        <a:t>"CNN.com"</a:t>
                      </a:r>
                      <a:endParaRPr sz="1800" dirty="0">
                        <a:latin typeface="Trebuchet MS"/>
                        <a:cs typeface="Trebuchet MS"/>
                      </a:endParaRPr>
                    </a:p>
                  </a:txBody>
                  <a:tcPr marL="0" marR="0" marT="4318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69745">
                <a:tc>
                  <a:txBody>
                    <a:bodyPr/>
                    <a:lstStyle/>
                    <a:p>
                      <a:pPr marL="91440" marR="0" lvl="0" indent="0" defTabSz="914400" rtl="0" eaLnBrk="1" fontAlgn="auto" latinLnBrk="0" hangingPunct="1">
                        <a:lnSpc>
                          <a:spcPct val="100000"/>
                        </a:lnSpc>
                        <a:spcBef>
                          <a:spcPts val="340"/>
                        </a:spcBef>
                        <a:spcAft>
                          <a:spcPts val="0"/>
                        </a:spcAft>
                        <a:buClrTx/>
                        <a:buSzTx/>
                        <a:buFontTx/>
                        <a:buNone/>
                        <a:tabLst/>
                        <a:defRPr/>
                      </a:pPr>
                      <a:r>
                        <a:rPr kumimoji="0" lang="en-US" sz="1800" b="0" i="0" u="none" strike="noStrike" kern="0" cap="none" spc="25"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"www.cnn.com"</a:t>
                      </a:r>
                      <a:endParaRPr kumimoji="0" lang="en-US" sz="18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0" marR="0" marT="43815"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45"/>
                        </a:spcBef>
                      </a:pPr>
                      <a:r>
                        <a:rPr sz="1800" spc="-10" dirty="0">
                          <a:latin typeface="Trebuchet MS"/>
                          <a:cs typeface="Trebuchet MS"/>
                        </a:rPr>
                        <a:t>t6</a:t>
                      </a:r>
                      <a:endParaRPr sz="1800" dirty="0">
                        <a:latin typeface="Trebuchet MS"/>
                        <a:cs typeface="Trebuchet MS"/>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45"/>
                        </a:spcBef>
                      </a:pPr>
                      <a:r>
                        <a:rPr sz="1800" spc="-10" dirty="0">
                          <a:latin typeface="Trebuchet MS"/>
                          <a:cs typeface="Trebuchet MS"/>
                        </a:rPr>
                        <a:t>contents:</a:t>
                      </a:r>
                      <a:r>
                        <a:rPr sz="1800" u="sng" spc="-10" dirty="0">
                          <a:latin typeface="Trebuchet MS"/>
                          <a:cs typeface="Trebuchet MS"/>
                        </a:rPr>
                        <a:t>html</a:t>
                      </a:r>
                      <a:r>
                        <a:rPr sz="1800" spc="-10" dirty="0">
                          <a:latin typeface="Trebuchet MS"/>
                          <a:cs typeface="Trebuchet MS"/>
                        </a:rPr>
                        <a:t>="&lt;html&gt;..."</a:t>
                      </a:r>
                      <a:endParaRPr sz="1800" dirty="0">
                        <a:latin typeface="Trebuchet MS"/>
                        <a:cs typeface="Trebuchet MS"/>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469599">
                <a:tc>
                  <a:txBody>
                    <a:bodyPr/>
                    <a:lstStyle/>
                    <a:p>
                      <a:pPr marL="91440" marR="0" lvl="0" indent="0" defTabSz="914400" rtl="0" eaLnBrk="1" fontAlgn="auto" latinLnBrk="0" hangingPunct="1">
                        <a:lnSpc>
                          <a:spcPct val="100000"/>
                        </a:lnSpc>
                        <a:spcBef>
                          <a:spcPts val="340"/>
                        </a:spcBef>
                        <a:spcAft>
                          <a:spcPts val="0"/>
                        </a:spcAft>
                        <a:buClrTx/>
                        <a:buSzTx/>
                        <a:buFontTx/>
                        <a:buNone/>
                        <a:tabLst/>
                        <a:defRPr/>
                      </a:pPr>
                      <a:r>
                        <a:rPr kumimoji="0" lang="en-US" sz="1800" b="0" i="0" u="none" strike="noStrike" kern="0" cap="none" spc="25"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"www.cnn.com"</a:t>
                      </a:r>
                      <a:endParaRPr kumimoji="0" lang="en-US" sz="18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0" marR="0" marT="43815"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45"/>
                        </a:spcBef>
                      </a:pPr>
                      <a:r>
                        <a:rPr sz="1800" spc="-10" dirty="0">
                          <a:latin typeface="Trebuchet MS"/>
                          <a:cs typeface="Trebuchet MS"/>
                        </a:rPr>
                        <a:t>t5</a:t>
                      </a:r>
                      <a:endParaRPr sz="1800" dirty="0">
                        <a:latin typeface="Trebuchet MS"/>
                        <a:cs typeface="Trebuchet MS"/>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45"/>
                        </a:spcBef>
                      </a:pPr>
                      <a:r>
                        <a:rPr sz="1800" spc="-10" dirty="0">
                          <a:latin typeface="Trebuchet MS"/>
                          <a:cs typeface="Trebuchet MS"/>
                        </a:rPr>
                        <a:t>contents:html="&lt;html&gt;..."</a:t>
                      </a:r>
                      <a:endParaRPr sz="1800" dirty="0">
                        <a:latin typeface="Trebuchet MS"/>
                        <a:cs typeface="Trebuchet MS"/>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469745">
                <a:tc>
                  <a:txBody>
                    <a:bodyPr/>
                    <a:lstStyle/>
                    <a:p>
                      <a:pPr marL="91440" marR="0" lvl="0" indent="0" defTabSz="914400" rtl="0" eaLnBrk="1" fontAlgn="auto" latinLnBrk="0" hangingPunct="1">
                        <a:lnSpc>
                          <a:spcPct val="100000"/>
                        </a:lnSpc>
                        <a:spcBef>
                          <a:spcPts val="340"/>
                        </a:spcBef>
                        <a:spcAft>
                          <a:spcPts val="0"/>
                        </a:spcAft>
                        <a:buClrTx/>
                        <a:buSzTx/>
                        <a:buFontTx/>
                        <a:buNone/>
                        <a:tabLst/>
                        <a:defRPr/>
                      </a:pPr>
                      <a:r>
                        <a:rPr kumimoji="0" lang="en-US" sz="1800" b="0" i="0" u="none" strike="noStrike" kern="0" cap="none" spc="25"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"www.cnn.com"</a:t>
                      </a:r>
                      <a:endParaRPr kumimoji="0" lang="en-US" sz="1800" b="0" i="0" u="none" strike="noStrike" kern="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0" marR="0" marT="43815"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1440">
                        <a:lnSpc>
                          <a:spcPct val="100000"/>
                        </a:lnSpc>
                        <a:spcBef>
                          <a:spcPts val="345"/>
                        </a:spcBef>
                      </a:pPr>
                      <a:r>
                        <a:rPr sz="1800" spc="-10" dirty="0">
                          <a:latin typeface="Trebuchet MS"/>
                          <a:cs typeface="Trebuchet MS"/>
                        </a:rPr>
                        <a:t>t3</a:t>
                      </a:r>
                      <a:endParaRPr sz="1800" dirty="0">
                        <a:latin typeface="Trebuchet MS"/>
                        <a:cs typeface="Trebuchet MS"/>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1440">
                        <a:lnSpc>
                          <a:spcPct val="100000"/>
                        </a:lnSpc>
                        <a:spcBef>
                          <a:spcPts val="345"/>
                        </a:spcBef>
                      </a:pPr>
                      <a:r>
                        <a:rPr sz="1800" spc="-10" dirty="0">
                          <a:latin typeface="Trebuchet MS"/>
                          <a:cs typeface="Trebuchet MS"/>
                        </a:rPr>
                        <a:t>contents:html="&lt;html&gt;..."</a:t>
                      </a:r>
                      <a:endParaRPr sz="1800" dirty="0">
                        <a:latin typeface="Trebuchet MS"/>
                        <a:cs typeface="Trebuchet MS"/>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5588635" cy="513715"/>
          </a:xfrm>
          <a:prstGeom prst="rect">
            <a:avLst/>
          </a:prstGeom>
        </p:spPr>
        <p:txBody>
          <a:bodyPr vert="horz" wrap="square" lIns="0" tIns="13335" rIns="0" bIns="0" rtlCol="0">
            <a:spAutoFit/>
          </a:bodyPr>
          <a:lstStyle/>
          <a:p>
            <a:pPr marL="12700">
              <a:lnSpc>
                <a:spcPct val="100000"/>
              </a:lnSpc>
              <a:spcBef>
                <a:spcPts val="105"/>
              </a:spcBef>
            </a:pPr>
            <a:r>
              <a:rPr sz="3200" dirty="0">
                <a:solidFill>
                  <a:srgbClr val="000000"/>
                </a:solidFill>
              </a:rPr>
              <a:t>Physical </a:t>
            </a:r>
            <a:r>
              <a:rPr sz="3200" spc="30" dirty="0">
                <a:solidFill>
                  <a:srgbClr val="000000"/>
                </a:solidFill>
              </a:rPr>
              <a:t>View of </a:t>
            </a:r>
            <a:r>
              <a:rPr sz="3200" spc="105" dirty="0">
                <a:solidFill>
                  <a:srgbClr val="000000"/>
                </a:solidFill>
              </a:rPr>
              <a:t>Data</a:t>
            </a:r>
            <a:r>
              <a:rPr sz="3200" spc="-15" dirty="0">
                <a:solidFill>
                  <a:srgbClr val="000000"/>
                </a:solidFill>
              </a:rPr>
              <a:t> </a:t>
            </a:r>
            <a:r>
              <a:rPr sz="3200" spc="55" dirty="0">
                <a:solidFill>
                  <a:srgbClr val="000000"/>
                </a:solidFill>
              </a:rPr>
              <a:t>Storage</a:t>
            </a:r>
            <a:endParaRPr sz="3200"/>
          </a:p>
        </p:txBody>
      </p:sp>
      <p:sp>
        <p:nvSpPr>
          <p:cNvPr id="7" name="object 7"/>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12	</a:t>
            </a:r>
            <a:r>
              <a:rPr spc="30" dirty="0"/>
              <a:t>Huawei</a:t>
            </a:r>
            <a:r>
              <a:rPr spc="-10" dirty="0"/>
              <a:t> </a:t>
            </a:r>
            <a:r>
              <a:rPr spc="5" dirty="0"/>
              <a:t>Confidential</a:t>
            </a:r>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101039" y="1076604"/>
            <a:ext cx="10292080" cy="1434465"/>
          </a:xfrm>
          <a:prstGeom prst="rect">
            <a:avLst/>
          </a:prstGeom>
        </p:spPr>
        <p:txBody>
          <a:bodyPr vert="horz" wrap="square" lIns="0" tIns="12065" rIns="0" bIns="0" rtlCol="0">
            <a:spAutoFit/>
          </a:bodyPr>
          <a:lstStyle/>
          <a:p>
            <a:pPr marL="12700" marR="5080" algn="just">
              <a:lnSpc>
                <a:spcPct val="140100"/>
              </a:lnSpc>
              <a:spcBef>
                <a:spcPts val="95"/>
              </a:spcBef>
            </a:pPr>
            <a:r>
              <a:rPr sz="2200" spc="60" dirty="0">
                <a:latin typeface="Trebuchet MS"/>
                <a:cs typeface="Trebuchet MS"/>
              </a:rPr>
              <a:t>Although </a:t>
            </a:r>
            <a:r>
              <a:rPr sz="2200" spc="5" dirty="0">
                <a:latin typeface="Trebuchet MS"/>
                <a:cs typeface="Trebuchet MS"/>
              </a:rPr>
              <a:t>in </a:t>
            </a:r>
            <a:r>
              <a:rPr sz="2200" spc="-15" dirty="0">
                <a:latin typeface="Trebuchet MS"/>
                <a:cs typeface="Trebuchet MS"/>
              </a:rPr>
              <a:t>the </a:t>
            </a:r>
            <a:r>
              <a:rPr sz="2200" dirty="0">
                <a:latin typeface="Trebuchet MS"/>
                <a:cs typeface="Trebuchet MS"/>
              </a:rPr>
              <a:t>conceptual </a:t>
            </a:r>
            <a:r>
              <a:rPr sz="2200" spc="-65" dirty="0">
                <a:latin typeface="Trebuchet MS"/>
                <a:cs typeface="Trebuchet MS"/>
              </a:rPr>
              <a:t>view, </a:t>
            </a:r>
            <a:r>
              <a:rPr sz="2200" spc="55" dirty="0">
                <a:latin typeface="Trebuchet MS"/>
                <a:cs typeface="Trebuchet MS"/>
              </a:rPr>
              <a:t>a </a:t>
            </a:r>
            <a:r>
              <a:rPr sz="2200" spc="-20" dirty="0">
                <a:latin typeface="Trebuchet MS"/>
                <a:cs typeface="Trebuchet MS"/>
              </a:rPr>
              <a:t>table </a:t>
            </a:r>
            <a:r>
              <a:rPr sz="2200" spc="15" dirty="0">
                <a:latin typeface="Trebuchet MS"/>
                <a:cs typeface="Trebuchet MS"/>
              </a:rPr>
              <a:t>can </a:t>
            </a:r>
            <a:r>
              <a:rPr sz="2200" spc="-10" dirty="0">
                <a:latin typeface="Trebuchet MS"/>
                <a:cs typeface="Trebuchet MS"/>
              </a:rPr>
              <a:t>be </a:t>
            </a:r>
            <a:r>
              <a:rPr sz="2200" dirty="0">
                <a:latin typeface="Trebuchet MS"/>
                <a:cs typeface="Trebuchet MS"/>
              </a:rPr>
              <a:t>considered </a:t>
            </a:r>
            <a:r>
              <a:rPr sz="2200" spc="45" dirty="0">
                <a:latin typeface="Trebuchet MS"/>
                <a:cs typeface="Trebuchet MS"/>
              </a:rPr>
              <a:t>as </a:t>
            </a:r>
            <a:r>
              <a:rPr sz="2200" spc="55" dirty="0">
                <a:latin typeface="Trebuchet MS"/>
                <a:cs typeface="Trebuchet MS"/>
              </a:rPr>
              <a:t>a </a:t>
            </a:r>
            <a:r>
              <a:rPr sz="2200" spc="-25" dirty="0">
                <a:latin typeface="Trebuchet MS"/>
                <a:cs typeface="Trebuchet MS"/>
              </a:rPr>
              <a:t>collection </a:t>
            </a:r>
            <a:r>
              <a:rPr sz="2200" spc="10" dirty="0">
                <a:latin typeface="Trebuchet MS"/>
                <a:cs typeface="Trebuchet MS"/>
              </a:rPr>
              <a:t>of  sparse </a:t>
            </a:r>
            <a:r>
              <a:rPr sz="2200" spc="-30" dirty="0">
                <a:latin typeface="Trebuchet MS"/>
                <a:cs typeface="Trebuchet MS"/>
              </a:rPr>
              <a:t>rows. </a:t>
            </a:r>
            <a:r>
              <a:rPr sz="2200" spc="-35" dirty="0">
                <a:latin typeface="Trebuchet MS"/>
                <a:cs typeface="Trebuchet MS"/>
              </a:rPr>
              <a:t>Physically, </a:t>
            </a:r>
            <a:r>
              <a:rPr sz="2200" spc="-25" dirty="0">
                <a:latin typeface="Trebuchet MS"/>
                <a:cs typeface="Trebuchet MS"/>
              </a:rPr>
              <a:t>however, </a:t>
            </a:r>
            <a:r>
              <a:rPr sz="2200" spc="-80" dirty="0">
                <a:latin typeface="Trebuchet MS"/>
                <a:cs typeface="Trebuchet MS"/>
              </a:rPr>
              <a:t>it </a:t>
            </a:r>
            <a:r>
              <a:rPr sz="2200" spc="-25" dirty="0">
                <a:latin typeface="Trebuchet MS"/>
                <a:cs typeface="Trebuchet MS"/>
              </a:rPr>
              <a:t>differentiates </a:t>
            </a:r>
            <a:r>
              <a:rPr sz="2200" spc="40" dirty="0">
                <a:latin typeface="Trebuchet MS"/>
                <a:cs typeface="Trebuchet MS"/>
              </a:rPr>
              <a:t>column </a:t>
            </a:r>
            <a:r>
              <a:rPr sz="2200" spc="5" dirty="0">
                <a:latin typeface="Trebuchet MS"/>
                <a:cs typeface="Trebuchet MS"/>
              </a:rPr>
              <a:t>family </a:t>
            </a:r>
            <a:r>
              <a:rPr sz="2200" spc="-15" dirty="0">
                <a:latin typeface="Trebuchet MS"/>
                <a:cs typeface="Trebuchet MS"/>
              </a:rPr>
              <a:t>storage. </a:t>
            </a:r>
            <a:r>
              <a:rPr sz="2200" spc="105" dirty="0">
                <a:latin typeface="Trebuchet MS"/>
                <a:cs typeface="Trebuchet MS"/>
              </a:rPr>
              <a:t>New  </a:t>
            </a:r>
            <a:r>
              <a:rPr sz="2200" spc="40" dirty="0">
                <a:latin typeface="Trebuchet MS"/>
                <a:cs typeface="Trebuchet MS"/>
              </a:rPr>
              <a:t>columns </a:t>
            </a:r>
            <a:r>
              <a:rPr sz="2200" spc="15" dirty="0">
                <a:latin typeface="Trebuchet MS"/>
                <a:cs typeface="Trebuchet MS"/>
              </a:rPr>
              <a:t>can </a:t>
            </a:r>
            <a:r>
              <a:rPr sz="2200" spc="-10" dirty="0">
                <a:latin typeface="Trebuchet MS"/>
                <a:cs typeface="Trebuchet MS"/>
              </a:rPr>
              <a:t>be </a:t>
            </a:r>
            <a:r>
              <a:rPr sz="2200" spc="20" dirty="0">
                <a:latin typeface="Trebuchet MS"/>
                <a:cs typeface="Trebuchet MS"/>
              </a:rPr>
              <a:t>added </a:t>
            </a:r>
            <a:r>
              <a:rPr sz="2200" dirty="0">
                <a:latin typeface="Trebuchet MS"/>
                <a:cs typeface="Trebuchet MS"/>
              </a:rPr>
              <a:t>to </a:t>
            </a:r>
            <a:r>
              <a:rPr sz="2200" spc="55" dirty="0">
                <a:latin typeface="Trebuchet MS"/>
                <a:cs typeface="Trebuchet MS"/>
              </a:rPr>
              <a:t>a </a:t>
            </a:r>
            <a:r>
              <a:rPr sz="2200" spc="40" dirty="0">
                <a:latin typeface="Trebuchet MS"/>
                <a:cs typeface="Trebuchet MS"/>
              </a:rPr>
              <a:t>column </a:t>
            </a:r>
            <a:r>
              <a:rPr sz="2200" spc="5" dirty="0">
                <a:latin typeface="Trebuchet MS"/>
                <a:cs typeface="Trebuchet MS"/>
              </a:rPr>
              <a:t>family </a:t>
            </a:r>
            <a:r>
              <a:rPr sz="2200" spc="15" dirty="0">
                <a:latin typeface="Trebuchet MS"/>
                <a:cs typeface="Trebuchet MS"/>
              </a:rPr>
              <a:t>without </a:t>
            </a:r>
            <a:r>
              <a:rPr sz="2200" spc="30" dirty="0">
                <a:latin typeface="Trebuchet MS"/>
                <a:cs typeface="Trebuchet MS"/>
              </a:rPr>
              <a:t>being</a:t>
            </a:r>
            <a:r>
              <a:rPr sz="2200" spc="120" dirty="0">
                <a:latin typeface="Trebuchet MS"/>
                <a:cs typeface="Trebuchet MS"/>
              </a:rPr>
              <a:t> </a:t>
            </a:r>
            <a:r>
              <a:rPr sz="2200" spc="-50" dirty="0">
                <a:latin typeface="Trebuchet MS"/>
                <a:cs typeface="Trebuchet MS"/>
              </a:rPr>
              <a:t>declared.</a:t>
            </a:r>
            <a:endParaRPr sz="2200">
              <a:latin typeface="Trebuchet MS"/>
              <a:cs typeface="Trebuchet MS"/>
            </a:endParaRPr>
          </a:p>
        </p:txBody>
      </p:sp>
      <p:graphicFrame>
        <p:nvGraphicFramePr>
          <p:cNvPr id="5" name="object 5"/>
          <p:cNvGraphicFramePr>
            <a:graphicFrameLocks noGrp="1"/>
          </p:cNvGraphicFramePr>
          <p:nvPr>
            <p:extLst>
              <p:ext uri="{D42A27DB-BD31-4B8C-83A1-F6EECF244321}">
                <p14:modId xmlns:p14="http://schemas.microsoft.com/office/powerpoint/2010/main" val="623701697"/>
              </p:ext>
            </p:extLst>
          </p:nvPr>
        </p:nvGraphicFramePr>
        <p:xfrm>
          <a:off x="2355913" y="2849054"/>
          <a:ext cx="7451089" cy="1112518"/>
        </p:xfrm>
        <a:graphic>
          <a:graphicData uri="http://schemas.openxmlformats.org/drawingml/2006/table">
            <a:tbl>
              <a:tblPr firstRow="1" bandRow="1">
                <a:tableStyleId>{2D5ABB26-0587-4C30-8999-92F81FD0307C}</a:tableStyleId>
              </a:tblPr>
              <a:tblGrid>
                <a:gridCol w="2045335">
                  <a:extLst>
                    <a:ext uri="{9D8B030D-6E8A-4147-A177-3AD203B41FA5}">
                      <a16:colId xmlns:a16="http://schemas.microsoft.com/office/drawing/2014/main" val="20000"/>
                    </a:ext>
                  </a:extLst>
                </a:gridCol>
                <a:gridCol w="1706244">
                  <a:extLst>
                    <a:ext uri="{9D8B030D-6E8A-4147-A177-3AD203B41FA5}">
                      <a16:colId xmlns:a16="http://schemas.microsoft.com/office/drawing/2014/main" val="20001"/>
                    </a:ext>
                  </a:extLst>
                </a:gridCol>
                <a:gridCol w="3699510">
                  <a:extLst>
                    <a:ext uri="{9D8B030D-6E8A-4147-A177-3AD203B41FA5}">
                      <a16:colId xmlns:a16="http://schemas.microsoft.com/office/drawing/2014/main" val="20002"/>
                    </a:ext>
                  </a:extLst>
                </a:gridCol>
              </a:tblGrid>
              <a:tr h="370840">
                <a:tc>
                  <a:txBody>
                    <a:bodyPr/>
                    <a:lstStyle/>
                    <a:p>
                      <a:pPr marL="544195">
                        <a:lnSpc>
                          <a:spcPct val="100000"/>
                        </a:lnSpc>
                        <a:spcBef>
                          <a:spcPts val="340"/>
                        </a:spcBef>
                      </a:pPr>
                      <a:r>
                        <a:rPr sz="1800" b="1" spc="-10" dirty="0">
                          <a:latin typeface="Arial"/>
                          <a:cs typeface="Arial"/>
                        </a:rPr>
                        <a:t>Row</a:t>
                      </a:r>
                      <a:r>
                        <a:rPr sz="1800" b="1" spc="60" dirty="0">
                          <a:latin typeface="Arial"/>
                          <a:cs typeface="Arial"/>
                        </a:rPr>
                        <a:t> </a:t>
                      </a:r>
                      <a:r>
                        <a:rPr sz="1800" b="1" spc="-60" dirty="0">
                          <a:latin typeface="Arial"/>
                          <a:cs typeface="Arial"/>
                        </a:rPr>
                        <a:t>Key</a:t>
                      </a:r>
                      <a:endParaRPr sz="1800">
                        <a:latin typeface="Arial"/>
                        <a:cs typeface="Arial"/>
                      </a:endParaRPr>
                    </a:p>
                  </a:txBody>
                  <a:tcPr marL="0" marR="0" marT="43180"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D9D9D9"/>
                    </a:solidFill>
                  </a:tcPr>
                </a:tc>
                <a:tc>
                  <a:txBody>
                    <a:bodyPr/>
                    <a:lstStyle/>
                    <a:p>
                      <a:pPr marL="189865">
                        <a:lnSpc>
                          <a:spcPct val="100000"/>
                        </a:lnSpc>
                        <a:spcBef>
                          <a:spcPts val="340"/>
                        </a:spcBef>
                      </a:pPr>
                      <a:r>
                        <a:rPr sz="1800" b="1" spc="25" dirty="0">
                          <a:latin typeface="Arial"/>
                          <a:cs typeface="Arial"/>
                        </a:rPr>
                        <a:t>Time</a:t>
                      </a:r>
                      <a:r>
                        <a:rPr sz="1800" b="1" spc="30" dirty="0">
                          <a:latin typeface="Arial"/>
                          <a:cs typeface="Arial"/>
                        </a:rPr>
                        <a:t> </a:t>
                      </a:r>
                      <a:r>
                        <a:rPr sz="1800" b="1" spc="10" dirty="0">
                          <a:latin typeface="Arial"/>
                          <a:cs typeface="Arial"/>
                        </a:rPr>
                        <a:t>Stamp</a:t>
                      </a:r>
                      <a:endParaRPr sz="1800">
                        <a:latin typeface="Arial"/>
                        <a:cs typeface="Arial"/>
                      </a:endParaRPr>
                    </a:p>
                  </a:txBody>
                  <a:tcPr marL="0" marR="0" marT="43180"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D9D9D9"/>
                    </a:solidFill>
                  </a:tcPr>
                </a:tc>
                <a:tc>
                  <a:txBody>
                    <a:bodyPr/>
                    <a:lstStyle/>
                    <a:p>
                      <a:pPr marL="645160">
                        <a:lnSpc>
                          <a:spcPct val="100000"/>
                        </a:lnSpc>
                        <a:spcBef>
                          <a:spcPts val="340"/>
                        </a:spcBef>
                      </a:pPr>
                      <a:r>
                        <a:rPr sz="1800" b="1" dirty="0">
                          <a:latin typeface="Arial"/>
                          <a:cs typeface="Arial"/>
                        </a:rPr>
                        <a:t>ColumnFamily</a:t>
                      </a:r>
                      <a:r>
                        <a:rPr sz="1800" b="1" spc="40" dirty="0">
                          <a:latin typeface="Arial"/>
                          <a:cs typeface="Arial"/>
                        </a:rPr>
                        <a:t> </a:t>
                      </a:r>
                      <a:r>
                        <a:rPr sz="1800" b="1" spc="-15" dirty="0">
                          <a:latin typeface="Arial"/>
                          <a:cs typeface="Arial"/>
                        </a:rPr>
                        <a:t>anchor</a:t>
                      </a:r>
                      <a:endParaRPr sz="1800">
                        <a:latin typeface="Arial"/>
                        <a:cs typeface="Arial"/>
                      </a:endParaRPr>
                    </a:p>
                  </a:txBody>
                  <a:tcPr marL="0" marR="0" marT="43180"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solidFill>
                      <a:srgbClr val="D9D9D9"/>
                    </a:solidFill>
                  </a:tcPr>
                </a:tc>
                <a:extLst>
                  <a:ext uri="{0D108BD9-81ED-4DB2-BD59-A6C34878D82A}">
                    <a16:rowId xmlns:a16="http://schemas.microsoft.com/office/drawing/2014/main" val="10000"/>
                  </a:ext>
                </a:extLst>
              </a:tr>
              <a:tr h="370839">
                <a:tc>
                  <a:txBody>
                    <a:bodyPr/>
                    <a:lstStyle/>
                    <a:p>
                      <a:pPr marL="91440">
                        <a:lnSpc>
                          <a:spcPct val="100000"/>
                        </a:lnSpc>
                        <a:spcBef>
                          <a:spcPts val="345"/>
                        </a:spcBef>
                      </a:pPr>
                      <a:r>
                        <a:rPr sz="1800" spc="25" dirty="0">
                          <a:latin typeface="Trebuchet MS"/>
                          <a:cs typeface="Trebuchet MS"/>
                        </a:rPr>
                        <a:t>"</a:t>
                      </a:r>
                      <a:r>
                        <a:rPr lang="en-US" sz="1800" spc="25" dirty="0">
                          <a:latin typeface="Trebuchet MS"/>
                          <a:cs typeface="Trebuchet MS"/>
                        </a:rPr>
                        <a:t>www</a:t>
                      </a:r>
                      <a:r>
                        <a:rPr sz="1800" spc="25" dirty="0">
                          <a:latin typeface="Trebuchet MS"/>
                          <a:cs typeface="Trebuchet MS"/>
                        </a:rPr>
                        <a:t>.cnn.</a:t>
                      </a:r>
                      <a:r>
                        <a:rPr lang="en-US" sz="1800" spc="25" dirty="0">
                          <a:latin typeface="Trebuchet MS"/>
                          <a:cs typeface="Trebuchet MS"/>
                        </a:rPr>
                        <a:t>com</a:t>
                      </a:r>
                      <a:r>
                        <a:rPr sz="1800" spc="25" dirty="0">
                          <a:latin typeface="Trebuchet MS"/>
                          <a:cs typeface="Trebuchet MS"/>
                        </a:rPr>
                        <a:t>"</a:t>
                      </a:r>
                      <a:endParaRPr sz="1800" dirty="0">
                        <a:latin typeface="Trebuchet MS"/>
                        <a:cs typeface="Trebuchet MS"/>
                      </a:endParaRPr>
                    </a:p>
                  </a:txBody>
                  <a:tcPr marL="0" marR="0" marT="43815"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45"/>
                        </a:spcBef>
                      </a:pPr>
                      <a:r>
                        <a:rPr sz="1800" spc="-10" dirty="0">
                          <a:latin typeface="Trebuchet MS"/>
                          <a:cs typeface="Trebuchet MS"/>
                        </a:rPr>
                        <a:t>t9</a:t>
                      </a:r>
                      <a:endParaRPr sz="1800" dirty="0">
                        <a:latin typeface="Trebuchet MS"/>
                        <a:cs typeface="Trebuchet MS"/>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45"/>
                        </a:spcBef>
                      </a:pPr>
                      <a:r>
                        <a:rPr sz="1800" spc="-5" dirty="0">
                          <a:latin typeface="Trebuchet MS"/>
                          <a:cs typeface="Trebuchet MS"/>
                        </a:rPr>
                        <a:t>anchor:aa.com= </a:t>
                      </a:r>
                      <a:r>
                        <a:rPr sz="1800" spc="180" dirty="0">
                          <a:latin typeface="Trebuchet MS"/>
                          <a:cs typeface="Trebuchet MS"/>
                        </a:rPr>
                        <a:t>"CNN"</a:t>
                      </a:r>
                      <a:endParaRPr sz="1800">
                        <a:latin typeface="Trebuchet MS"/>
                        <a:cs typeface="Trebuchet MS"/>
                      </a:endParaRPr>
                    </a:p>
                  </a:txBody>
                  <a:tcPr marL="0" marR="0" marT="4381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39">
                <a:tc>
                  <a:txBody>
                    <a:bodyPr/>
                    <a:lstStyle/>
                    <a:p>
                      <a:pPr marL="91440">
                        <a:lnSpc>
                          <a:spcPct val="100000"/>
                        </a:lnSpc>
                        <a:spcBef>
                          <a:spcPts val="345"/>
                        </a:spcBef>
                      </a:pPr>
                      <a:r>
                        <a:rPr lang="en-US" sz="1800" spc="25" dirty="0">
                          <a:latin typeface="Trebuchet MS"/>
                          <a:cs typeface="Trebuchet MS"/>
                        </a:rPr>
                        <a:t>"www.cnn.com"</a:t>
                      </a:r>
                      <a:endParaRPr lang="en-US" sz="1800" dirty="0">
                        <a:latin typeface="Trebuchet MS"/>
                        <a:cs typeface="Trebuchet MS"/>
                      </a:endParaRPr>
                    </a:p>
                  </a:txBody>
                  <a:tcPr marL="0" marR="0" marT="43815"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45"/>
                        </a:spcBef>
                      </a:pPr>
                      <a:r>
                        <a:rPr sz="1800" spc="-10" dirty="0">
                          <a:latin typeface="Trebuchet MS"/>
                          <a:cs typeface="Trebuchet MS"/>
                        </a:rPr>
                        <a:t>t8</a:t>
                      </a:r>
                      <a:endParaRPr sz="1800">
                        <a:latin typeface="Trebuchet MS"/>
                        <a:cs typeface="Trebuchet MS"/>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45"/>
                        </a:spcBef>
                      </a:pPr>
                      <a:r>
                        <a:rPr sz="1800" spc="-5" dirty="0">
                          <a:latin typeface="Trebuchet MS"/>
                          <a:cs typeface="Trebuchet MS"/>
                        </a:rPr>
                        <a:t>anchor:bb.com= </a:t>
                      </a:r>
                      <a:r>
                        <a:rPr sz="1800" spc="85" dirty="0">
                          <a:latin typeface="Trebuchet MS"/>
                          <a:cs typeface="Trebuchet MS"/>
                        </a:rPr>
                        <a:t>"CNN.com"</a:t>
                      </a:r>
                      <a:endParaRPr sz="1800" dirty="0">
                        <a:latin typeface="Trebuchet MS"/>
                        <a:cs typeface="Trebuchet MS"/>
                      </a:endParaRPr>
                    </a:p>
                  </a:txBody>
                  <a:tcPr marL="0" marR="0" marT="43815" marB="0">
                    <a:lnL w="12700">
                      <a:solidFill>
                        <a:srgbClr val="000000"/>
                      </a:solidFill>
                      <a:prstDash val="solid"/>
                    </a:lnL>
                    <a:lnR w="28575">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6" name="object 6"/>
          <p:cNvGraphicFramePr>
            <a:graphicFrameLocks noGrp="1"/>
          </p:cNvGraphicFramePr>
          <p:nvPr>
            <p:extLst>
              <p:ext uri="{D42A27DB-BD31-4B8C-83A1-F6EECF244321}">
                <p14:modId xmlns:p14="http://schemas.microsoft.com/office/powerpoint/2010/main" val="3031655893"/>
              </p:ext>
            </p:extLst>
          </p:nvPr>
        </p:nvGraphicFramePr>
        <p:xfrm>
          <a:off x="2355913" y="4194365"/>
          <a:ext cx="7451724" cy="1483397"/>
        </p:xfrm>
        <a:graphic>
          <a:graphicData uri="http://schemas.openxmlformats.org/drawingml/2006/table">
            <a:tbl>
              <a:tblPr firstRow="1" bandRow="1">
                <a:tableStyleId>{2D5ABB26-0587-4C30-8999-92F81FD0307C}</a:tableStyleId>
              </a:tblPr>
              <a:tblGrid>
                <a:gridCol w="2056764">
                  <a:extLst>
                    <a:ext uri="{9D8B030D-6E8A-4147-A177-3AD203B41FA5}">
                      <a16:colId xmlns:a16="http://schemas.microsoft.com/office/drawing/2014/main" val="20000"/>
                    </a:ext>
                  </a:extLst>
                </a:gridCol>
                <a:gridCol w="1695450">
                  <a:extLst>
                    <a:ext uri="{9D8B030D-6E8A-4147-A177-3AD203B41FA5}">
                      <a16:colId xmlns:a16="http://schemas.microsoft.com/office/drawing/2014/main" val="20001"/>
                    </a:ext>
                  </a:extLst>
                </a:gridCol>
                <a:gridCol w="3699510">
                  <a:extLst>
                    <a:ext uri="{9D8B030D-6E8A-4147-A177-3AD203B41FA5}">
                      <a16:colId xmlns:a16="http://schemas.microsoft.com/office/drawing/2014/main" val="20002"/>
                    </a:ext>
                  </a:extLst>
                </a:gridCol>
              </a:tblGrid>
              <a:tr h="370840">
                <a:tc>
                  <a:txBody>
                    <a:bodyPr/>
                    <a:lstStyle/>
                    <a:p>
                      <a:pPr marL="550545">
                        <a:lnSpc>
                          <a:spcPct val="100000"/>
                        </a:lnSpc>
                        <a:spcBef>
                          <a:spcPts val="345"/>
                        </a:spcBef>
                      </a:pPr>
                      <a:r>
                        <a:rPr sz="1800" b="1" spc="-10" dirty="0">
                          <a:latin typeface="Arial"/>
                          <a:cs typeface="Arial"/>
                        </a:rPr>
                        <a:t>Row</a:t>
                      </a:r>
                      <a:r>
                        <a:rPr sz="1800" b="1" spc="60" dirty="0">
                          <a:latin typeface="Arial"/>
                          <a:cs typeface="Arial"/>
                        </a:rPr>
                        <a:t> </a:t>
                      </a:r>
                      <a:r>
                        <a:rPr sz="1800" b="1" spc="-60" dirty="0">
                          <a:latin typeface="Arial"/>
                          <a:cs typeface="Arial"/>
                        </a:rPr>
                        <a:t>Key</a:t>
                      </a:r>
                      <a:endParaRPr sz="1800">
                        <a:latin typeface="Arial"/>
                        <a:cs typeface="Arial"/>
                      </a:endParaRPr>
                    </a:p>
                  </a:txBody>
                  <a:tcPr marL="0" marR="0" marT="43815"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D9D9D9"/>
                    </a:solidFill>
                  </a:tcPr>
                </a:tc>
                <a:tc>
                  <a:txBody>
                    <a:bodyPr/>
                    <a:lstStyle/>
                    <a:p>
                      <a:pPr marL="185420">
                        <a:lnSpc>
                          <a:spcPct val="100000"/>
                        </a:lnSpc>
                        <a:spcBef>
                          <a:spcPts val="345"/>
                        </a:spcBef>
                      </a:pPr>
                      <a:r>
                        <a:rPr sz="1800" b="1" spc="25" dirty="0">
                          <a:latin typeface="Arial"/>
                          <a:cs typeface="Arial"/>
                        </a:rPr>
                        <a:t>Time</a:t>
                      </a:r>
                      <a:r>
                        <a:rPr sz="1800" b="1" spc="30" dirty="0">
                          <a:latin typeface="Arial"/>
                          <a:cs typeface="Arial"/>
                        </a:rPr>
                        <a:t> </a:t>
                      </a:r>
                      <a:r>
                        <a:rPr sz="1800" b="1" spc="10" dirty="0">
                          <a:latin typeface="Arial"/>
                          <a:cs typeface="Arial"/>
                        </a:rPr>
                        <a:t>Stamp</a:t>
                      </a:r>
                      <a:endParaRPr sz="1800">
                        <a:latin typeface="Arial"/>
                        <a:cs typeface="Arial"/>
                      </a:endParaRPr>
                    </a:p>
                  </a:txBody>
                  <a:tcPr marL="0" marR="0" marT="43815"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D9D9D9"/>
                    </a:solidFill>
                  </a:tcPr>
                </a:tc>
                <a:tc>
                  <a:txBody>
                    <a:bodyPr/>
                    <a:lstStyle/>
                    <a:p>
                      <a:pPr algn="ctr">
                        <a:lnSpc>
                          <a:spcPct val="100000"/>
                        </a:lnSpc>
                        <a:spcBef>
                          <a:spcPts val="345"/>
                        </a:spcBef>
                      </a:pPr>
                      <a:r>
                        <a:rPr sz="1800" b="1" dirty="0">
                          <a:latin typeface="Arial"/>
                          <a:cs typeface="Arial"/>
                        </a:rPr>
                        <a:t>ColumnFamily</a:t>
                      </a:r>
                      <a:r>
                        <a:rPr sz="1800" b="1" spc="40" dirty="0">
                          <a:latin typeface="Arial"/>
                          <a:cs typeface="Arial"/>
                        </a:rPr>
                        <a:t> </a:t>
                      </a:r>
                      <a:r>
                        <a:rPr sz="1800" b="1" spc="-10" dirty="0">
                          <a:latin typeface="Arial"/>
                          <a:cs typeface="Arial"/>
                        </a:rPr>
                        <a:t>contents</a:t>
                      </a:r>
                      <a:endParaRPr sz="1800">
                        <a:latin typeface="Arial"/>
                        <a:cs typeface="Arial"/>
                      </a:endParaRPr>
                    </a:p>
                  </a:txBody>
                  <a:tcPr marL="0" marR="0" marT="43815" marB="0">
                    <a:lnL w="12700">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D9D9D9"/>
                    </a:solidFill>
                  </a:tcPr>
                </a:tc>
                <a:extLst>
                  <a:ext uri="{0D108BD9-81ED-4DB2-BD59-A6C34878D82A}">
                    <a16:rowId xmlns:a16="http://schemas.microsoft.com/office/drawing/2014/main" val="10000"/>
                  </a:ext>
                </a:extLst>
              </a:tr>
              <a:tr h="370839">
                <a:tc>
                  <a:txBody>
                    <a:bodyPr/>
                    <a:lstStyle/>
                    <a:p>
                      <a:pPr marL="91440" marR="0" lvl="0" indent="0" defTabSz="914400" eaLnBrk="1" fontAlgn="auto" latinLnBrk="0" hangingPunct="1">
                        <a:lnSpc>
                          <a:spcPct val="100000"/>
                        </a:lnSpc>
                        <a:spcBef>
                          <a:spcPts val="345"/>
                        </a:spcBef>
                        <a:spcAft>
                          <a:spcPts val="0"/>
                        </a:spcAft>
                        <a:buClrTx/>
                        <a:buSzTx/>
                        <a:buFontTx/>
                        <a:buNone/>
                        <a:tabLst/>
                        <a:defRPr/>
                      </a:pPr>
                      <a:r>
                        <a:rPr kumimoji="0" lang="en-US" sz="1800" b="0" i="0" u="none" strike="noStrike" kern="0" cap="none" spc="25" normalizeH="0" baseline="0" noProof="0">
                          <a:ln>
                            <a:noFill/>
                          </a:ln>
                          <a:solidFill>
                            <a:prstClr val="black"/>
                          </a:solidFill>
                          <a:effectLst/>
                          <a:uLnTx/>
                          <a:uFillTx/>
                          <a:latin typeface="Trebuchet MS"/>
                          <a:ea typeface="+mn-ea"/>
                          <a:cs typeface="Trebuchet MS"/>
                        </a:rPr>
                        <a:t>"www.cnn.com"</a:t>
                      </a:r>
                      <a:endParaRPr kumimoji="0" lang="en-US" sz="1800" b="0" i="0" u="none" strike="noStrike" kern="0" cap="none" spc="0" normalizeH="0" baseline="0" noProof="0" dirty="0">
                        <a:ln>
                          <a:noFill/>
                        </a:ln>
                        <a:solidFill>
                          <a:prstClr val="black"/>
                        </a:solidFill>
                        <a:effectLst/>
                        <a:uLnTx/>
                        <a:uFillTx/>
                        <a:latin typeface="Trebuchet MS"/>
                        <a:ea typeface="+mn-ea"/>
                        <a:cs typeface="Trebuchet MS"/>
                      </a:endParaRPr>
                    </a:p>
                  </a:txBody>
                  <a:tcPr marL="0" marR="0" marT="43815"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45"/>
                        </a:spcBef>
                      </a:pPr>
                      <a:r>
                        <a:rPr sz="1800" spc="-10" dirty="0">
                          <a:latin typeface="Trebuchet MS"/>
                          <a:cs typeface="Trebuchet MS"/>
                        </a:rPr>
                        <a:t>t6</a:t>
                      </a:r>
                      <a:endParaRPr sz="1800">
                        <a:latin typeface="Trebuchet MS"/>
                        <a:cs typeface="Trebuchet MS"/>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45"/>
                        </a:spcBef>
                      </a:pPr>
                      <a:r>
                        <a:rPr sz="1800" spc="-10" dirty="0">
                          <a:latin typeface="Trebuchet MS"/>
                          <a:cs typeface="Trebuchet MS"/>
                        </a:rPr>
                        <a:t>contents:html="&lt;html&gt;..."</a:t>
                      </a:r>
                      <a:endParaRPr sz="1800">
                        <a:latin typeface="Trebuchet MS"/>
                        <a:cs typeface="Trebuchet MS"/>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0840">
                <a:tc>
                  <a:txBody>
                    <a:bodyPr/>
                    <a:lstStyle/>
                    <a:p>
                      <a:pPr marL="91440" marR="0" lvl="0" indent="0" defTabSz="914400" eaLnBrk="1" fontAlgn="auto" latinLnBrk="0" hangingPunct="1">
                        <a:lnSpc>
                          <a:spcPct val="100000"/>
                        </a:lnSpc>
                        <a:spcBef>
                          <a:spcPts val="345"/>
                        </a:spcBef>
                        <a:spcAft>
                          <a:spcPts val="0"/>
                        </a:spcAft>
                        <a:buClrTx/>
                        <a:buSzTx/>
                        <a:buFontTx/>
                        <a:buNone/>
                        <a:tabLst/>
                        <a:defRPr/>
                      </a:pPr>
                      <a:r>
                        <a:rPr kumimoji="0" lang="en-US" sz="1800" b="0" i="0" u="none" strike="noStrike" kern="0" cap="none" spc="25" normalizeH="0" baseline="0" noProof="0">
                          <a:ln>
                            <a:noFill/>
                          </a:ln>
                          <a:solidFill>
                            <a:prstClr val="black"/>
                          </a:solidFill>
                          <a:effectLst/>
                          <a:uLnTx/>
                          <a:uFillTx/>
                          <a:latin typeface="Trebuchet MS"/>
                          <a:ea typeface="+mn-ea"/>
                          <a:cs typeface="Trebuchet MS"/>
                        </a:rPr>
                        <a:t>"www.cnn.com"</a:t>
                      </a:r>
                      <a:endParaRPr kumimoji="0" lang="en-US" sz="1800" b="0" i="0" u="none" strike="noStrike" kern="0" cap="none" spc="0" normalizeH="0" baseline="0" noProof="0" dirty="0">
                        <a:ln>
                          <a:noFill/>
                        </a:ln>
                        <a:solidFill>
                          <a:prstClr val="black"/>
                        </a:solidFill>
                        <a:effectLst/>
                        <a:uLnTx/>
                        <a:uFillTx/>
                        <a:latin typeface="Trebuchet MS"/>
                        <a:ea typeface="+mn-ea"/>
                        <a:cs typeface="Trebuchet MS"/>
                      </a:endParaRPr>
                    </a:p>
                  </a:txBody>
                  <a:tcPr marL="0" marR="0" marT="43815" marB="0">
                    <a:lnL w="28575">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45"/>
                        </a:spcBef>
                      </a:pPr>
                      <a:r>
                        <a:rPr sz="1800" spc="-10" dirty="0">
                          <a:latin typeface="Trebuchet MS"/>
                          <a:cs typeface="Trebuchet MS"/>
                        </a:rPr>
                        <a:t>t5</a:t>
                      </a:r>
                      <a:endParaRPr sz="1800" dirty="0">
                        <a:latin typeface="Trebuchet MS"/>
                        <a:cs typeface="Trebuchet MS"/>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45"/>
                        </a:spcBef>
                      </a:pPr>
                      <a:r>
                        <a:rPr sz="1800" spc="-10" dirty="0">
                          <a:latin typeface="Trebuchet MS"/>
                          <a:cs typeface="Trebuchet MS"/>
                        </a:rPr>
                        <a:t>contents:html="&lt;html&gt;..."</a:t>
                      </a:r>
                      <a:endParaRPr sz="1800">
                        <a:latin typeface="Trebuchet MS"/>
                        <a:cs typeface="Trebuchet MS"/>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70878">
                <a:tc>
                  <a:txBody>
                    <a:bodyPr/>
                    <a:lstStyle/>
                    <a:p>
                      <a:pPr marL="91440" marR="0" lvl="0" indent="0" defTabSz="914400" eaLnBrk="1" fontAlgn="auto" latinLnBrk="0" hangingPunct="1">
                        <a:lnSpc>
                          <a:spcPct val="100000"/>
                        </a:lnSpc>
                        <a:spcBef>
                          <a:spcPts val="345"/>
                        </a:spcBef>
                        <a:spcAft>
                          <a:spcPts val="0"/>
                        </a:spcAft>
                        <a:buClrTx/>
                        <a:buSzTx/>
                        <a:buFontTx/>
                        <a:buNone/>
                        <a:tabLst/>
                        <a:defRPr/>
                      </a:pPr>
                      <a:r>
                        <a:rPr kumimoji="0" lang="en-US" sz="1800" b="0" i="0" u="none" strike="noStrike" kern="0" cap="none" spc="25" normalizeH="0" baseline="0" noProof="0" dirty="0">
                          <a:ln>
                            <a:noFill/>
                          </a:ln>
                          <a:solidFill>
                            <a:prstClr val="black"/>
                          </a:solidFill>
                          <a:effectLst/>
                          <a:uLnTx/>
                          <a:uFillTx/>
                          <a:latin typeface="Trebuchet MS"/>
                          <a:ea typeface="+mn-ea"/>
                          <a:cs typeface="Trebuchet MS"/>
                        </a:rPr>
                        <a:t>"www.cnn.com"</a:t>
                      </a:r>
                      <a:endParaRPr kumimoji="0" lang="en-US" sz="1800" b="0" i="0" u="none" strike="noStrike" kern="0" cap="none" spc="0" normalizeH="0" baseline="0" noProof="0" dirty="0">
                        <a:ln>
                          <a:noFill/>
                        </a:ln>
                        <a:solidFill>
                          <a:prstClr val="black"/>
                        </a:solidFill>
                        <a:effectLst/>
                        <a:uLnTx/>
                        <a:uFillTx/>
                        <a:latin typeface="Trebuchet MS"/>
                        <a:ea typeface="+mn-ea"/>
                        <a:cs typeface="Trebuchet MS"/>
                      </a:endParaRPr>
                    </a:p>
                  </a:txBody>
                  <a:tcPr marL="0" marR="0" marT="43815"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1440">
                        <a:lnSpc>
                          <a:spcPct val="100000"/>
                        </a:lnSpc>
                        <a:spcBef>
                          <a:spcPts val="345"/>
                        </a:spcBef>
                      </a:pPr>
                      <a:r>
                        <a:rPr sz="1800" spc="-10" dirty="0">
                          <a:latin typeface="Trebuchet MS"/>
                          <a:cs typeface="Trebuchet MS"/>
                        </a:rPr>
                        <a:t>t3</a:t>
                      </a:r>
                      <a:endParaRPr sz="1800">
                        <a:latin typeface="Trebuchet MS"/>
                        <a:cs typeface="Trebuchet MS"/>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a:txBody>
                    <a:bodyPr/>
                    <a:lstStyle/>
                    <a:p>
                      <a:pPr marL="92075">
                        <a:lnSpc>
                          <a:spcPct val="100000"/>
                        </a:lnSpc>
                        <a:spcBef>
                          <a:spcPts val="345"/>
                        </a:spcBef>
                      </a:pPr>
                      <a:r>
                        <a:rPr sz="1800" spc="-10" dirty="0">
                          <a:latin typeface="Trebuchet MS"/>
                          <a:cs typeface="Trebuchet MS"/>
                        </a:rPr>
                        <a:t>contents:html="&lt;html&gt;..."</a:t>
                      </a:r>
                      <a:endParaRPr sz="1800" dirty="0">
                        <a:latin typeface="Trebuchet MS"/>
                        <a:cs typeface="Trebuchet MS"/>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3620135" cy="513715"/>
          </a:xfrm>
          <a:prstGeom prst="rect">
            <a:avLst/>
          </a:prstGeom>
        </p:spPr>
        <p:txBody>
          <a:bodyPr vert="horz" wrap="square" lIns="0" tIns="13335" rIns="0" bIns="0" rtlCol="0">
            <a:spAutoFit/>
          </a:bodyPr>
          <a:lstStyle/>
          <a:p>
            <a:pPr marL="12700">
              <a:lnSpc>
                <a:spcPct val="100000"/>
              </a:lnSpc>
              <a:spcBef>
                <a:spcPts val="105"/>
              </a:spcBef>
            </a:pPr>
            <a:r>
              <a:rPr sz="3200" spc="70" dirty="0">
                <a:solidFill>
                  <a:srgbClr val="000000"/>
                </a:solidFill>
              </a:rPr>
              <a:t>Row-based</a:t>
            </a:r>
            <a:r>
              <a:rPr sz="3200" spc="-35" dirty="0">
                <a:solidFill>
                  <a:srgbClr val="000000"/>
                </a:solidFill>
              </a:rPr>
              <a:t> </a:t>
            </a:r>
            <a:r>
              <a:rPr sz="3200" spc="55" dirty="0">
                <a:solidFill>
                  <a:srgbClr val="000000"/>
                </a:solidFill>
              </a:rPr>
              <a:t>Storage</a:t>
            </a:r>
            <a:endParaRPr sz="3200"/>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086348" y="905128"/>
            <a:ext cx="10291445" cy="964565"/>
          </a:xfrm>
          <a:prstGeom prst="rect">
            <a:avLst/>
          </a:prstGeom>
        </p:spPr>
        <p:txBody>
          <a:bodyPr vert="horz" wrap="square" lIns="0" tIns="12700" rIns="0" bIns="0" rtlCol="0">
            <a:spAutoFit/>
          </a:bodyPr>
          <a:lstStyle/>
          <a:p>
            <a:pPr marL="12700" marR="5080">
              <a:lnSpc>
                <a:spcPct val="140000"/>
              </a:lnSpc>
              <a:spcBef>
                <a:spcPts val="100"/>
              </a:spcBef>
            </a:pPr>
            <a:r>
              <a:rPr sz="2200" spc="40" dirty="0">
                <a:latin typeface="Trebuchet MS"/>
                <a:cs typeface="Trebuchet MS"/>
              </a:rPr>
              <a:t>Row-based </a:t>
            </a:r>
            <a:r>
              <a:rPr sz="2200" spc="20" dirty="0">
                <a:latin typeface="Trebuchet MS"/>
                <a:cs typeface="Trebuchet MS"/>
              </a:rPr>
              <a:t>storage </a:t>
            </a:r>
            <a:r>
              <a:rPr sz="2200" spc="-25" dirty="0">
                <a:latin typeface="Trebuchet MS"/>
                <a:cs typeface="Trebuchet MS"/>
              </a:rPr>
              <a:t>refers </a:t>
            </a:r>
            <a:r>
              <a:rPr sz="2200" dirty="0">
                <a:latin typeface="Trebuchet MS"/>
                <a:cs typeface="Trebuchet MS"/>
              </a:rPr>
              <a:t>to </a:t>
            </a:r>
            <a:r>
              <a:rPr sz="2200" spc="20" dirty="0">
                <a:latin typeface="Trebuchet MS"/>
                <a:cs typeface="Trebuchet MS"/>
              </a:rPr>
              <a:t>data </a:t>
            </a:r>
            <a:r>
              <a:rPr sz="2200" spc="-5" dirty="0">
                <a:latin typeface="Trebuchet MS"/>
                <a:cs typeface="Trebuchet MS"/>
              </a:rPr>
              <a:t>stored </a:t>
            </a:r>
            <a:r>
              <a:rPr sz="2200" spc="15" dirty="0">
                <a:latin typeface="Trebuchet MS"/>
                <a:cs typeface="Trebuchet MS"/>
              </a:rPr>
              <a:t>by </a:t>
            </a:r>
            <a:r>
              <a:rPr sz="2200" spc="45" dirty="0">
                <a:latin typeface="Trebuchet MS"/>
                <a:cs typeface="Trebuchet MS"/>
              </a:rPr>
              <a:t>rows </a:t>
            </a:r>
            <a:r>
              <a:rPr sz="2200" spc="5" dirty="0">
                <a:latin typeface="Trebuchet MS"/>
                <a:cs typeface="Trebuchet MS"/>
              </a:rPr>
              <a:t>in </a:t>
            </a:r>
            <a:r>
              <a:rPr sz="2200" spc="65" dirty="0">
                <a:latin typeface="Trebuchet MS"/>
                <a:cs typeface="Trebuchet MS"/>
              </a:rPr>
              <a:t>an </a:t>
            </a:r>
            <a:r>
              <a:rPr sz="2200" spc="25" dirty="0">
                <a:latin typeface="Trebuchet MS"/>
                <a:cs typeface="Trebuchet MS"/>
              </a:rPr>
              <a:t>underlying </a:t>
            </a:r>
            <a:r>
              <a:rPr sz="2200" spc="-55" dirty="0">
                <a:latin typeface="Trebuchet MS"/>
                <a:cs typeface="Trebuchet MS"/>
              </a:rPr>
              <a:t>file </a:t>
            </a:r>
            <a:r>
              <a:rPr sz="2200" spc="-30" dirty="0">
                <a:latin typeface="Trebuchet MS"/>
                <a:cs typeface="Trebuchet MS"/>
              </a:rPr>
              <a:t>system.  Generally, </a:t>
            </a:r>
            <a:r>
              <a:rPr sz="2200" spc="55" dirty="0">
                <a:latin typeface="Trebuchet MS"/>
                <a:cs typeface="Trebuchet MS"/>
              </a:rPr>
              <a:t>a </a:t>
            </a:r>
            <a:r>
              <a:rPr sz="2200" spc="-35" dirty="0">
                <a:latin typeface="Trebuchet MS"/>
                <a:cs typeface="Trebuchet MS"/>
              </a:rPr>
              <a:t>fixed </a:t>
            </a:r>
            <a:r>
              <a:rPr sz="2200" spc="60" dirty="0">
                <a:latin typeface="Trebuchet MS"/>
                <a:cs typeface="Trebuchet MS"/>
              </a:rPr>
              <a:t>amount </a:t>
            </a:r>
            <a:r>
              <a:rPr sz="2200" spc="15" dirty="0">
                <a:latin typeface="Trebuchet MS"/>
                <a:cs typeface="Trebuchet MS"/>
              </a:rPr>
              <a:t>of </a:t>
            </a:r>
            <a:r>
              <a:rPr sz="2200" spc="-5" dirty="0">
                <a:latin typeface="Trebuchet MS"/>
                <a:cs typeface="Trebuchet MS"/>
              </a:rPr>
              <a:t>space </a:t>
            </a:r>
            <a:r>
              <a:rPr sz="2200" spc="-15" dirty="0">
                <a:latin typeface="Trebuchet MS"/>
                <a:cs typeface="Trebuchet MS"/>
              </a:rPr>
              <a:t>is </a:t>
            </a:r>
            <a:r>
              <a:rPr sz="2200" spc="-10" dirty="0">
                <a:latin typeface="Trebuchet MS"/>
                <a:cs typeface="Trebuchet MS"/>
              </a:rPr>
              <a:t>allocated </a:t>
            </a:r>
            <a:r>
              <a:rPr sz="2200" dirty="0">
                <a:latin typeface="Trebuchet MS"/>
                <a:cs typeface="Trebuchet MS"/>
              </a:rPr>
              <a:t>to each</a:t>
            </a:r>
            <a:r>
              <a:rPr sz="2200" spc="215" dirty="0">
                <a:latin typeface="Trebuchet MS"/>
                <a:cs typeface="Trebuchet MS"/>
              </a:rPr>
              <a:t> </a:t>
            </a:r>
            <a:r>
              <a:rPr sz="2200" spc="-45" dirty="0">
                <a:latin typeface="Trebuchet MS"/>
                <a:cs typeface="Trebuchet MS"/>
              </a:rPr>
              <a:t>row.</a:t>
            </a:r>
            <a:endParaRPr sz="2200" dirty="0">
              <a:latin typeface="Trebuchet MS"/>
              <a:cs typeface="Trebuchet MS"/>
            </a:endParaRPr>
          </a:p>
        </p:txBody>
      </p:sp>
      <p:sp>
        <p:nvSpPr>
          <p:cNvPr id="5" name="object 5"/>
          <p:cNvSpPr txBox="1"/>
          <p:nvPr/>
        </p:nvSpPr>
        <p:spPr>
          <a:xfrm>
            <a:off x="1203147" y="2057400"/>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dirty="0">
              <a:latin typeface="Wingdings"/>
              <a:cs typeface="Wingdings"/>
            </a:endParaRPr>
          </a:p>
        </p:txBody>
      </p:sp>
      <p:sp>
        <p:nvSpPr>
          <p:cNvPr id="6" name="object 6"/>
          <p:cNvSpPr txBox="1"/>
          <p:nvPr/>
        </p:nvSpPr>
        <p:spPr>
          <a:xfrm>
            <a:off x="1454351" y="1948670"/>
            <a:ext cx="9817735" cy="846455"/>
          </a:xfrm>
          <a:prstGeom prst="rect">
            <a:avLst/>
          </a:prstGeom>
        </p:spPr>
        <p:txBody>
          <a:bodyPr vert="horz" wrap="square" lIns="0" tIns="13335" rIns="0" bIns="0" rtlCol="0">
            <a:spAutoFit/>
          </a:bodyPr>
          <a:lstStyle/>
          <a:p>
            <a:pPr marL="12700">
              <a:lnSpc>
                <a:spcPct val="100000"/>
              </a:lnSpc>
              <a:spcBef>
                <a:spcPts val="105"/>
              </a:spcBef>
            </a:pPr>
            <a:r>
              <a:rPr sz="2000" spc="10" dirty="0">
                <a:latin typeface="Trebuchet MS"/>
                <a:cs typeface="Trebuchet MS"/>
              </a:rPr>
              <a:t>Advantages: </a:t>
            </a:r>
            <a:r>
              <a:rPr sz="2000" spc="65" dirty="0">
                <a:latin typeface="Trebuchet MS"/>
                <a:cs typeface="Trebuchet MS"/>
              </a:rPr>
              <a:t>Data </a:t>
            </a:r>
            <a:r>
              <a:rPr sz="2000" spc="15" dirty="0">
                <a:latin typeface="Trebuchet MS"/>
                <a:cs typeface="Trebuchet MS"/>
              </a:rPr>
              <a:t>can </a:t>
            </a:r>
            <a:r>
              <a:rPr sz="2000" dirty="0">
                <a:latin typeface="Trebuchet MS"/>
                <a:cs typeface="Trebuchet MS"/>
              </a:rPr>
              <a:t>be </a:t>
            </a:r>
            <a:r>
              <a:rPr sz="2000" spc="-25" dirty="0">
                <a:latin typeface="Trebuchet MS"/>
                <a:cs typeface="Trebuchet MS"/>
              </a:rPr>
              <a:t>added, </a:t>
            </a:r>
            <a:r>
              <a:rPr sz="2000" spc="-20" dirty="0">
                <a:latin typeface="Trebuchet MS"/>
                <a:cs typeface="Trebuchet MS"/>
              </a:rPr>
              <a:t>modified, </a:t>
            </a:r>
            <a:r>
              <a:rPr sz="2000" spc="20" dirty="0">
                <a:latin typeface="Trebuchet MS"/>
                <a:cs typeface="Trebuchet MS"/>
              </a:rPr>
              <a:t>or </a:t>
            </a:r>
            <a:r>
              <a:rPr sz="2000" spc="5" dirty="0">
                <a:latin typeface="Trebuchet MS"/>
                <a:cs typeface="Trebuchet MS"/>
              </a:rPr>
              <a:t>read </a:t>
            </a:r>
            <a:r>
              <a:rPr sz="2000" spc="15" dirty="0">
                <a:latin typeface="Trebuchet MS"/>
                <a:cs typeface="Trebuchet MS"/>
              </a:rPr>
              <a:t>by</a:t>
            </a:r>
            <a:r>
              <a:rPr sz="2000" spc="-15" dirty="0">
                <a:latin typeface="Trebuchet MS"/>
                <a:cs typeface="Trebuchet MS"/>
              </a:rPr>
              <a:t> </a:t>
            </a:r>
            <a:r>
              <a:rPr sz="2000" spc="-35" dirty="0">
                <a:latin typeface="Trebuchet MS"/>
                <a:cs typeface="Trebuchet MS"/>
              </a:rPr>
              <a:t>row.</a:t>
            </a:r>
            <a:endParaRPr sz="2000" dirty="0">
              <a:latin typeface="Trebuchet MS"/>
              <a:cs typeface="Trebuchet MS"/>
            </a:endParaRPr>
          </a:p>
          <a:p>
            <a:pPr marL="12700">
              <a:lnSpc>
                <a:spcPct val="100000"/>
              </a:lnSpc>
              <a:spcBef>
                <a:spcPts val="1655"/>
              </a:spcBef>
            </a:pPr>
            <a:r>
              <a:rPr sz="2000" spc="15" dirty="0">
                <a:latin typeface="Trebuchet MS"/>
                <a:cs typeface="Trebuchet MS"/>
              </a:rPr>
              <a:t>Disadvantage: </a:t>
            </a:r>
            <a:r>
              <a:rPr sz="2000" spc="70" dirty="0">
                <a:latin typeface="Trebuchet MS"/>
                <a:cs typeface="Trebuchet MS"/>
              </a:rPr>
              <a:t>Some </a:t>
            </a:r>
            <a:r>
              <a:rPr sz="2000" spc="10" dirty="0">
                <a:latin typeface="Trebuchet MS"/>
                <a:cs typeface="Trebuchet MS"/>
              </a:rPr>
              <a:t>unnecessary </a:t>
            </a:r>
            <a:r>
              <a:rPr sz="2000" spc="20" dirty="0">
                <a:latin typeface="Trebuchet MS"/>
                <a:cs typeface="Trebuchet MS"/>
              </a:rPr>
              <a:t>data </a:t>
            </a:r>
            <a:r>
              <a:rPr sz="2000" spc="-15" dirty="0">
                <a:latin typeface="Trebuchet MS"/>
                <a:cs typeface="Trebuchet MS"/>
              </a:rPr>
              <a:t>is </a:t>
            </a:r>
            <a:r>
              <a:rPr sz="2000" spc="10" dirty="0">
                <a:latin typeface="Trebuchet MS"/>
                <a:cs typeface="Trebuchet MS"/>
              </a:rPr>
              <a:t>obtained </a:t>
            </a:r>
            <a:r>
              <a:rPr sz="2000" spc="50" dirty="0">
                <a:latin typeface="Trebuchet MS"/>
                <a:cs typeface="Trebuchet MS"/>
              </a:rPr>
              <a:t>when </a:t>
            </a:r>
            <a:r>
              <a:rPr sz="2000" spc="20" dirty="0">
                <a:latin typeface="Trebuchet MS"/>
                <a:cs typeface="Trebuchet MS"/>
              </a:rPr>
              <a:t>data </a:t>
            </a:r>
            <a:r>
              <a:rPr sz="2000" spc="5" dirty="0">
                <a:latin typeface="Trebuchet MS"/>
                <a:cs typeface="Trebuchet MS"/>
              </a:rPr>
              <a:t>in </a:t>
            </a:r>
            <a:r>
              <a:rPr sz="2000" spc="55" dirty="0">
                <a:latin typeface="Trebuchet MS"/>
                <a:cs typeface="Trebuchet MS"/>
              </a:rPr>
              <a:t>a </a:t>
            </a:r>
            <a:r>
              <a:rPr sz="2000" spc="40" dirty="0">
                <a:latin typeface="Trebuchet MS"/>
                <a:cs typeface="Trebuchet MS"/>
              </a:rPr>
              <a:t>column </a:t>
            </a:r>
            <a:r>
              <a:rPr sz="2000" spc="-15" dirty="0">
                <a:latin typeface="Trebuchet MS"/>
                <a:cs typeface="Trebuchet MS"/>
              </a:rPr>
              <a:t>is</a:t>
            </a:r>
            <a:r>
              <a:rPr sz="2000" spc="-120" dirty="0">
                <a:latin typeface="Trebuchet MS"/>
                <a:cs typeface="Trebuchet MS"/>
              </a:rPr>
              <a:t> </a:t>
            </a:r>
            <a:r>
              <a:rPr sz="2000" spc="-40" dirty="0">
                <a:latin typeface="Trebuchet MS"/>
                <a:cs typeface="Trebuchet MS"/>
              </a:rPr>
              <a:t>queried.</a:t>
            </a:r>
            <a:endParaRPr sz="2000" dirty="0">
              <a:latin typeface="Trebuchet MS"/>
              <a:cs typeface="Trebuchet MS"/>
            </a:endParaRPr>
          </a:p>
        </p:txBody>
      </p:sp>
      <p:sp>
        <p:nvSpPr>
          <p:cNvPr id="7" name="object 7"/>
          <p:cNvSpPr txBox="1"/>
          <p:nvPr/>
        </p:nvSpPr>
        <p:spPr>
          <a:xfrm>
            <a:off x="1203147" y="2514600"/>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graphicFrame>
        <p:nvGraphicFramePr>
          <p:cNvPr id="8" name="object 8"/>
          <p:cNvGraphicFramePr>
            <a:graphicFrameLocks noGrp="1"/>
          </p:cNvGraphicFramePr>
          <p:nvPr>
            <p:extLst>
              <p:ext uri="{D42A27DB-BD31-4B8C-83A1-F6EECF244321}">
                <p14:modId xmlns:p14="http://schemas.microsoft.com/office/powerpoint/2010/main" val="2105622422"/>
              </p:ext>
            </p:extLst>
          </p:nvPr>
        </p:nvGraphicFramePr>
        <p:xfrm>
          <a:off x="1012792" y="3621069"/>
          <a:ext cx="4156074" cy="344424"/>
        </p:xfrm>
        <a:graphic>
          <a:graphicData uri="http://schemas.openxmlformats.org/drawingml/2006/table">
            <a:tbl>
              <a:tblPr firstRow="1" bandRow="1">
                <a:tableStyleId>{2D5ABB26-0587-4C30-8999-92F81FD0307C}</a:tableStyleId>
              </a:tblPr>
              <a:tblGrid>
                <a:gridCol w="618490">
                  <a:extLst>
                    <a:ext uri="{9D8B030D-6E8A-4147-A177-3AD203B41FA5}">
                      <a16:colId xmlns:a16="http://schemas.microsoft.com/office/drawing/2014/main" val="20000"/>
                    </a:ext>
                  </a:extLst>
                </a:gridCol>
                <a:gridCol w="1061720">
                  <a:extLst>
                    <a:ext uri="{9D8B030D-6E8A-4147-A177-3AD203B41FA5}">
                      <a16:colId xmlns:a16="http://schemas.microsoft.com/office/drawing/2014/main" val="20001"/>
                    </a:ext>
                  </a:extLst>
                </a:gridCol>
                <a:gridCol w="1148714">
                  <a:extLst>
                    <a:ext uri="{9D8B030D-6E8A-4147-A177-3AD203B41FA5}">
                      <a16:colId xmlns:a16="http://schemas.microsoft.com/office/drawing/2014/main" val="20002"/>
                    </a:ext>
                  </a:extLst>
                </a:gridCol>
                <a:gridCol w="1327150">
                  <a:extLst>
                    <a:ext uri="{9D8B030D-6E8A-4147-A177-3AD203B41FA5}">
                      <a16:colId xmlns:a16="http://schemas.microsoft.com/office/drawing/2014/main" val="20003"/>
                    </a:ext>
                  </a:extLst>
                </a:gridCol>
              </a:tblGrid>
              <a:tr h="344424">
                <a:tc>
                  <a:txBody>
                    <a:bodyPr/>
                    <a:lstStyle/>
                    <a:p>
                      <a:pPr marL="201930">
                        <a:lnSpc>
                          <a:spcPct val="100000"/>
                        </a:lnSpc>
                        <a:spcBef>
                          <a:spcPts val="340"/>
                        </a:spcBef>
                      </a:pPr>
                      <a:r>
                        <a:rPr sz="1600" b="1" spc="35" dirty="0">
                          <a:latin typeface="Arial"/>
                          <a:cs typeface="Arial"/>
                        </a:rPr>
                        <a:t>ID</a:t>
                      </a:r>
                      <a:endParaRPr sz="1600">
                        <a:latin typeface="Arial"/>
                        <a:cs typeface="Arial"/>
                      </a:endParaRPr>
                    </a:p>
                  </a:txBody>
                  <a:tcPr marL="0" marR="0" marT="431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000"/>
                    </a:solidFill>
                  </a:tcPr>
                </a:tc>
                <a:tc>
                  <a:txBody>
                    <a:bodyPr/>
                    <a:lstStyle/>
                    <a:p>
                      <a:pPr marL="240029">
                        <a:lnSpc>
                          <a:spcPct val="100000"/>
                        </a:lnSpc>
                        <a:spcBef>
                          <a:spcPts val="340"/>
                        </a:spcBef>
                      </a:pPr>
                      <a:r>
                        <a:rPr sz="1600" b="1" spc="55" dirty="0">
                          <a:latin typeface="Arial"/>
                          <a:cs typeface="Arial"/>
                        </a:rPr>
                        <a:t>Name</a:t>
                      </a:r>
                      <a:endParaRPr sz="1600">
                        <a:latin typeface="Arial"/>
                        <a:cs typeface="Arial"/>
                      </a:endParaRPr>
                    </a:p>
                  </a:txBody>
                  <a:tcPr marL="0" marR="0" marT="431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000"/>
                    </a:solidFill>
                  </a:tcPr>
                </a:tc>
                <a:tc>
                  <a:txBody>
                    <a:bodyPr/>
                    <a:lstStyle/>
                    <a:p>
                      <a:pPr marL="269240">
                        <a:lnSpc>
                          <a:spcPct val="100000"/>
                        </a:lnSpc>
                        <a:spcBef>
                          <a:spcPts val="340"/>
                        </a:spcBef>
                      </a:pPr>
                      <a:r>
                        <a:rPr sz="1600" b="1" spc="-25" dirty="0">
                          <a:latin typeface="Arial"/>
                          <a:cs typeface="Arial"/>
                        </a:rPr>
                        <a:t>Phone</a:t>
                      </a:r>
                      <a:endParaRPr sz="1600">
                        <a:latin typeface="Arial"/>
                        <a:cs typeface="Arial"/>
                      </a:endParaRPr>
                    </a:p>
                  </a:txBody>
                  <a:tcPr marL="0" marR="0" marT="431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000"/>
                    </a:solidFill>
                  </a:tcPr>
                </a:tc>
                <a:tc>
                  <a:txBody>
                    <a:bodyPr/>
                    <a:lstStyle/>
                    <a:p>
                      <a:pPr marL="281305">
                        <a:lnSpc>
                          <a:spcPct val="100000"/>
                        </a:lnSpc>
                        <a:spcBef>
                          <a:spcPts val="340"/>
                        </a:spcBef>
                      </a:pPr>
                      <a:r>
                        <a:rPr sz="1600" b="1" spc="-60" dirty="0">
                          <a:latin typeface="Arial"/>
                          <a:cs typeface="Arial"/>
                        </a:rPr>
                        <a:t>Address</a:t>
                      </a:r>
                      <a:endParaRPr sz="1600" dirty="0">
                        <a:latin typeface="Arial"/>
                        <a:cs typeface="Arial"/>
                      </a:endParaRPr>
                    </a:p>
                  </a:txBody>
                  <a:tcPr marL="0" marR="0" marT="431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000"/>
                    </a:solidFill>
                  </a:tcPr>
                </a:tc>
                <a:extLst>
                  <a:ext uri="{0D108BD9-81ED-4DB2-BD59-A6C34878D82A}">
                    <a16:rowId xmlns:a16="http://schemas.microsoft.com/office/drawing/2014/main" val="10000"/>
                  </a:ext>
                </a:extLst>
              </a:tr>
            </a:tbl>
          </a:graphicData>
        </a:graphic>
      </p:graphicFrame>
      <p:grpSp>
        <p:nvGrpSpPr>
          <p:cNvPr id="9" name="object 9"/>
          <p:cNvGrpSpPr/>
          <p:nvPr/>
        </p:nvGrpSpPr>
        <p:grpSpPr>
          <a:xfrm>
            <a:off x="772721" y="3085213"/>
            <a:ext cx="5459349" cy="2721545"/>
            <a:chOff x="3459479" y="3520440"/>
            <a:chExt cx="5300980" cy="2350135"/>
          </a:xfrm>
        </p:grpSpPr>
        <p:sp>
          <p:nvSpPr>
            <p:cNvPr id="10" name="object 10"/>
            <p:cNvSpPr/>
            <p:nvPr/>
          </p:nvSpPr>
          <p:spPr>
            <a:xfrm>
              <a:off x="3648455" y="4402836"/>
              <a:ext cx="619125" cy="344805"/>
            </a:xfrm>
            <a:custGeom>
              <a:avLst/>
              <a:gdLst/>
              <a:ahLst/>
              <a:cxnLst/>
              <a:rect l="l" t="t" r="r" b="b"/>
              <a:pathLst>
                <a:path w="619125" h="344804">
                  <a:moveTo>
                    <a:pt x="618744" y="0"/>
                  </a:moveTo>
                  <a:lnTo>
                    <a:pt x="0" y="0"/>
                  </a:lnTo>
                  <a:lnTo>
                    <a:pt x="0" y="344424"/>
                  </a:lnTo>
                  <a:lnTo>
                    <a:pt x="618744" y="344424"/>
                  </a:lnTo>
                  <a:lnTo>
                    <a:pt x="618744" y="0"/>
                  </a:lnTo>
                  <a:close/>
                </a:path>
              </a:pathLst>
            </a:custGeom>
            <a:solidFill>
              <a:srgbClr val="FFC000"/>
            </a:solidFill>
          </p:spPr>
          <p:txBody>
            <a:bodyPr wrap="square" lIns="0" tIns="0" rIns="0" bIns="0" rtlCol="0"/>
            <a:lstStyle/>
            <a:p>
              <a:endParaRPr/>
            </a:p>
          </p:txBody>
        </p:sp>
        <p:sp>
          <p:nvSpPr>
            <p:cNvPr id="11" name="object 11"/>
            <p:cNvSpPr/>
            <p:nvPr/>
          </p:nvSpPr>
          <p:spPr>
            <a:xfrm>
              <a:off x="3648455" y="4402836"/>
              <a:ext cx="619125" cy="344805"/>
            </a:xfrm>
            <a:custGeom>
              <a:avLst/>
              <a:gdLst/>
              <a:ahLst/>
              <a:cxnLst/>
              <a:rect l="l" t="t" r="r" b="b"/>
              <a:pathLst>
                <a:path w="619125" h="344804">
                  <a:moveTo>
                    <a:pt x="0" y="344424"/>
                  </a:moveTo>
                  <a:lnTo>
                    <a:pt x="618744" y="344424"/>
                  </a:lnTo>
                  <a:lnTo>
                    <a:pt x="618744" y="0"/>
                  </a:lnTo>
                  <a:lnTo>
                    <a:pt x="0" y="0"/>
                  </a:lnTo>
                  <a:lnTo>
                    <a:pt x="0" y="344424"/>
                  </a:lnTo>
                  <a:close/>
                </a:path>
              </a:pathLst>
            </a:custGeom>
            <a:ln w="9143">
              <a:solidFill>
                <a:srgbClr val="000000"/>
              </a:solidFill>
            </a:ln>
          </p:spPr>
          <p:txBody>
            <a:bodyPr wrap="square" lIns="0" tIns="0" rIns="0" bIns="0" rtlCol="0"/>
            <a:lstStyle/>
            <a:p>
              <a:endParaRPr/>
            </a:p>
          </p:txBody>
        </p:sp>
        <p:sp>
          <p:nvSpPr>
            <p:cNvPr id="12" name="object 12"/>
            <p:cNvSpPr/>
            <p:nvPr/>
          </p:nvSpPr>
          <p:spPr>
            <a:xfrm>
              <a:off x="4227575" y="4402836"/>
              <a:ext cx="1062355" cy="344805"/>
            </a:xfrm>
            <a:custGeom>
              <a:avLst/>
              <a:gdLst/>
              <a:ahLst/>
              <a:cxnLst/>
              <a:rect l="l" t="t" r="r" b="b"/>
              <a:pathLst>
                <a:path w="1062354" h="344804">
                  <a:moveTo>
                    <a:pt x="1062227" y="0"/>
                  </a:moveTo>
                  <a:lnTo>
                    <a:pt x="0" y="0"/>
                  </a:lnTo>
                  <a:lnTo>
                    <a:pt x="0" y="344424"/>
                  </a:lnTo>
                  <a:lnTo>
                    <a:pt x="1062227" y="344424"/>
                  </a:lnTo>
                  <a:lnTo>
                    <a:pt x="1062227" y="0"/>
                  </a:lnTo>
                  <a:close/>
                </a:path>
              </a:pathLst>
            </a:custGeom>
            <a:solidFill>
              <a:srgbClr val="FFC000"/>
            </a:solidFill>
          </p:spPr>
          <p:txBody>
            <a:bodyPr wrap="square" lIns="0" tIns="0" rIns="0" bIns="0" rtlCol="0"/>
            <a:lstStyle/>
            <a:p>
              <a:endParaRPr/>
            </a:p>
          </p:txBody>
        </p:sp>
        <p:sp>
          <p:nvSpPr>
            <p:cNvPr id="13" name="object 13"/>
            <p:cNvSpPr/>
            <p:nvPr/>
          </p:nvSpPr>
          <p:spPr>
            <a:xfrm>
              <a:off x="4227575" y="4402836"/>
              <a:ext cx="1062355" cy="344805"/>
            </a:xfrm>
            <a:custGeom>
              <a:avLst/>
              <a:gdLst/>
              <a:ahLst/>
              <a:cxnLst/>
              <a:rect l="l" t="t" r="r" b="b"/>
              <a:pathLst>
                <a:path w="1062354" h="344804">
                  <a:moveTo>
                    <a:pt x="0" y="344424"/>
                  </a:moveTo>
                  <a:lnTo>
                    <a:pt x="1062227" y="344424"/>
                  </a:lnTo>
                  <a:lnTo>
                    <a:pt x="1062227" y="0"/>
                  </a:lnTo>
                  <a:lnTo>
                    <a:pt x="0" y="0"/>
                  </a:lnTo>
                  <a:lnTo>
                    <a:pt x="0" y="344424"/>
                  </a:lnTo>
                  <a:close/>
                </a:path>
              </a:pathLst>
            </a:custGeom>
            <a:ln w="9143">
              <a:solidFill>
                <a:srgbClr val="000000"/>
              </a:solidFill>
            </a:ln>
          </p:spPr>
          <p:txBody>
            <a:bodyPr wrap="square" lIns="0" tIns="0" rIns="0" bIns="0" rtlCol="0"/>
            <a:lstStyle/>
            <a:p>
              <a:endParaRPr/>
            </a:p>
          </p:txBody>
        </p:sp>
        <p:sp>
          <p:nvSpPr>
            <p:cNvPr id="14" name="object 14"/>
            <p:cNvSpPr/>
            <p:nvPr/>
          </p:nvSpPr>
          <p:spPr>
            <a:xfrm>
              <a:off x="6438900" y="4402836"/>
              <a:ext cx="1327785" cy="344805"/>
            </a:xfrm>
            <a:custGeom>
              <a:avLst/>
              <a:gdLst/>
              <a:ahLst/>
              <a:cxnLst/>
              <a:rect l="l" t="t" r="r" b="b"/>
              <a:pathLst>
                <a:path w="1327784" h="344804">
                  <a:moveTo>
                    <a:pt x="1327403" y="0"/>
                  </a:moveTo>
                  <a:lnTo>
                    <a:pt x="0" y="0"/>
                  </a:lnTo>
                  <a:lnTo>
                    <a:pt x="0" y="344424"/>
                  </a:lnTo>
                  <a:lnTo>
                    <a:pt x="1327403" y="344424"/>
                  </a:lnTo>
                  <a:lnTo>
                    <a:pt x="1327403" y="0"/>
                  </a:lnTo>
                  <a:close/>
                </a:path>
              </a:pathLst>
            </a:custGeom>
            <a:solidFill>
              <a:srgbClr val="FFC000"/>
            </a:solidFill>
          </p:spPr>
          <p:txBody>
            <a:bodyPr wrap="square" lIns="0" tIns="0" rIns="0" bIns="0" rtlCol="0"/>
            <a:lstStyle/>
            <a:p>
              <a:endParaRPr/>
            </a:p>
          </p:txBody>
        </p:sp>
        <p:sp>
          <p:nvSpPr>
            <p:cNvPr id="15" name="object 15"/>
            <p:cNvSpPr/>
            <p:nvPr/>
          </p:nvSpPr>
          <p:spPr>
            <a:xfrm>
              <a:off x="6438900" y="4402836"/>
              <a:ext cx="1327785" cy="344805"/>
            </a:xfrm>
            <a:custGeom>
              <a:avLst/>
              <a:gdLst/>
              <a:ahLst/>
              <a:cxnLst/>
              <a:rect l="l" t="t" r="r" b="b"/>
              <a:pathLst>
                <a:path w="1327784" h="344804">
                  <a:moveTo>
                    <a:pt x="0" y="344424"/>
                  </a:moveTo>
                  <a:lnTo>
                    <a:pt x="1327403" y="344424"/>
                  </a:lnTo>
                  <a:lnTo>
                    <a:pt x="1327403" y="0"/>
                  </a:lnTo>
                  <a:lnTo>
                    <a:pt x="0" y="0"/>
                  </a:lnTo>
                  <a:lnTo>
                    <a:pt x="0" y="344424"/>
                  </a:lnTo>
                  <a:close/>
                </a:path>
              </a:pathLst>
            </a:custGeom>
            <a:ln w="9144">
              <a:solidFill>
                <a:srgbClr val="000000"/>
              </a:solidFill>
            </a:ln>
          </p:spPr>
          <p:txBody>
            <a:bodyPr wrap="square" lIns="0" tIns="0" rIns="0" bIns="0" rtlCol="0"/>
            <a:lstStyle/>
            <a:p>
              <a:endParaRPr/>
            </a:p>
          </p:txBody>
        </p:sp>
        <p:sp>
          <p:nvSpPr>
            <p:cNvPr id="16" name="object 16"/>
            <p:cNvSpPr/>
            <p:nvPr/>
          </p:nvSpPr>
          <p:spPr>
            <a:xfrm>
              <a:off x="5289803" y="4402836"/>
              <a:ext cx="1149350" cy="344805"/>
            </a:xfrm>
            <a:custGeom>
              <a:avLst/>
              <a:gdLst/>
              <a:ahLst/>
              <a:cxnLst/>
              <a:rect l="l" t="t" r="r" b="b"/>
              <a:pathLst>
                <a:path w="1149350" h="344804">
                  <a:moveTo>
                    <a:pt x="1149096" y="0"/>
                  </a:moveTo>
                  <a:lnTo>
                    <a:pt x="0" y="0"/>
                  </a:lnTo>
                  <a:lnTo>
                    <a:pt x="0" y="344424"/>
                  </a:lnTo>
                  <a:lnTo>
                    <a:pt x="1149096" y="344424"/>
                  </a:lnTo>
                  <a:lnTo>
                    <a:pt x="1149096" y="0"/>
                  </a:lnTo>
                  <a:close/>
                </a:path>
              </a:pathLst>
            </a:custGeom>
            <a:solidFill>
              <a:srgbClr val="FFC000"/>
            </a:solidFill>
          </p:spPr>
          <p:txBody>
            <a:bodyPr wrap="square" lIns="0" tIns="0" rIns="0" bIns="0" rtlCol="0"/>
            <a:lstStyle/>
            <a:p>
              <a:endParaRPr/>
            </a:p>
          </p:txBody>
        </p:sp>
        <p:sp>
          <p:nvSpPr>
            <p:cNvPr id="17" name="object 17"/>
            <p:cNvSpPr/>
            <p:nvPr/>
          </p:nvSpPr>
          <p:spPr>
            <a:xfrm>
              <a:off x="5289803" y="4402836"/>
              <a:ext cx="1149350" cy="344805"/>
            </a:xfrm>
            <a:custGeom>
              <a:avLst/>
              <a:gdLst/>
              <a:ahLst/>
              <a:cxnLst/>
              <a:rect l="l" t="t" r="r" b="b"/>
              <a:pathLst>
                <a:path w="1149350" h="344804">
                  <a:moveTo>
                    <a:pt x="0" y="344424"/>
                  </a:moveTo>
                  <a:lnTo>
                    <a:pt x="1149096" y="344424"/>
                  </a:lnTo>
                  <a:lnTo>
                    <a:pt x="1149096" y="0"/>
                  </a:lnTo>
                  <a:lnTo>
                    <a:pt x="0" y="0"/>
                  </a:lnTo>
                  <a:lnTo>
                    <a:pt x="0" y="344424"/>
                  </a:lnTo>
                  <a:close/>
                </a:path>
              </a:pathLst>
            </a:custGeom>
            <a:ln w="9144">
              <a:solidFill>
                <a:srgbClr val="000000"/>
              </a:solidFill>
            </a:ln>
          </p:spPr>
          <p:txBody>
            <a:bodyPr wrap="square" lIns="0" tIns="0" rIns="0" bIns="0" rtlCol="0"/>
            <a:lstStyle/>
            <a:p>
              <a:endParaRPr/>
            </a:p>
          </p:txBody>
        </p:sp>
        <p:sp>
          <p:nvSpPr>
            <p:cNvPr id="18" name="object 18"/>
            <p:cNvSpPr/>
            <p:nvPr/>
          </p:nvSpPr>
          <p:spPr>
            <a:xfrm>
              <a:off x="3808475" y="4610100"/>
              <a:ext cx="619125" cy="344805"/>
            </a:xfrm>
            <a:custGeom>
              <a:avLst/>
              <a:gdLst/>
              <a:ahLst/>
              <a:cxnLst/>
              <a:rect l="l" t="t" r="r" b="b"/>
              <a:pathLst>
                <a:path w="619125" h="344804">
                  <a:moveTo>
                    <a:pt x="618744" y="0"/>
                  </a:moveTo>
                  <a:lnTo>
                    <a:pt x="0" y="0"/>
                  </a:lnTo>
                  <a:lnTo>
                    <a:pt x="0" y="344424"/>
                  </a:lnTo>
                  <a:lnTo>
                    <a:pt x="618744" y="344424"/>
                  </a:lnTo>
                  <a:lnTo>
                    <a:pt x="618744" y="0"/>
                  </a:lnTo>
                  <a:close/>
                </a:path>
              </a:pathLst>
            </a:custGeom>
            <a:solidFill>
              <a:srgbClr val="FFC000"/>
            </a:solidFill>
          </p:spPr>
          <p:txBody>
            <a:bodyPr wrap="square" lIns="0" tIns="0" rIns="0" bIns="0" rtlCol="0"/>
            <a:lstStyle/>
            <a:p>
              <a:endParaRPr/>
            </a:p>
          </p:txBody>
        </p:sp>
        <p:sp>
          <p:nvSpPr>
            <p:cNvPr id="19" name="object 19"/>
            <p:cNvSpPr/>
            <p:nvPr/>
          </p:nvSpPr>
          <p:spPr>
            <a:xfrm>
              <a:off x="3808475" y="4610100"/>
              <a:ext cx="619125" cy="344805"/>
            </a:xfrm>
            <a:custGeom>
              <a:avLst/>
              <a:gdLst/>
              <a:ahLst/>
              <a:cxnLst/>
              <a:rect l="l" t="t" r="r" b="b"/>
              <a:pathLst>
                <a:path w="619125" h="344804">
                  <a:moveTo>
                    <a:pt x="0" y="344424"/>
                  </a:moveTo>
                  <a:lnTo>
                    <a:pt x="618744" y="344424"/>
                  </a:lnTo>
                  <a:lnTo>
                    <a:pt x="618744" y="0"/>
                  </a:lnTo>
                  <a:lnTo>
                    <a:pt x="0" y="0"/>
                  </a:lnTo>
                  <a:lnTo>
                    <a:pt x="0" y="344424"/>
                  </a:lnTo>
                  <a:close/>
                </a:path>
              </a:pathLst>
            </a:custGeom>
            <a:ln w="9143">
              <a:solidFill>
                <a:srgbClr val="000000"/>
              </a:solidFill>
            </a:ln>
          </p:spPr>
          <p:txBody>
            <a:bodyPr wrap="square" lIns="0" tIns="0" rIns="0" bIns="0" rtlCol="0"/>
            <a:lstStyle/>
            <a:p>
              <a:endParaRPr/>
            </a:p>
          </p:txBody>
        </p:sp>
        <p:sp>
          <p:nvSpPr>
            <p:cNvPr id="20" name="object 20"/>
            <p:cNvSpPr/>
            <p:nvPr/>
          </p:nvSpPr>
          <p:spPr>
            <a:xfrm>
              <a:off x="4427219" y="4610100"/>
              <a:ext cx="1062355" cy="344805"/>
            </a:xfrm>
            <a:custGeom>
              <a:avLst/>
              <a:gdLst/>
              <a:ahLst/>
              <a:cxnLst/>
              <a:rect l="l" t="t" r="r" b="b"/>
              <a:pathLst>
                <a:path w="1062354" h="344804">
                  <a:moveTo>
                    <a:pt x="1062227" y="0"/>
                  </a:moveTo>
                  <a:lnTo>
                    <a:pt x="0" y="0"/>
                  </a:lnTo>
                  <a:lnTo>
                    <a:pt x="0" y="344424"/>
                  </a:lnTo>
                  <a:lnTo>
                    <a:pt x="1062227" y="344424"/>
                  </a:lnTo>
                  <a:lnTo>
                    <a:pt x="1062227" y="0"/>
                  </a:lnTo>
                  <a:close/>
                </a:path>
              </a:pathLst>
            </a:custGeom>
            <a:solidFill>
              <a:srgbClr val="FFC000"/>
            </a:solidFill>
          </p:spPr>
          <p:txBody>
            <a:bodyPr wrap="square" lIns="0" tIns="0" rIns="0" bIns="0" rtlCol="0"/>
            <a:lstStyle/>
            <a:p>
              <a:endParaRPr/>
            </a:p>
          </p:txBody>
        </p:sp>
        <p:sp>
          <p:nvSpPr>
            <p:cNvPr id="21" name="object 21"/>
            <p:cNvSpPr/>
            <p:nvPr/>
          </p:nvSpPr>
          <p:spPr>
            <a:xfrm>
              <a:off x="4427219" y="4610100"/>
              <a:ext cx="1062355" cy="344805"/>
            </a:xfrm>
            <a:custGeom>
              <a:avLst/>
              <a:gdLst/>
              <a:ahLst/>
              <a:cxnLst/>
              <a:rect l="l" t="t" r="r" b="b"/>
              <a:pathLst>
                <a:path w="1062354" h="344804">
                  <a:moveTo>
                    <a:pt x="0" y="344424"/>
                  </a:moveTo>
                  <a:lnTo>
                    <a:pt x="1062227" y="344424"/>
                  </a:lnTo>
                  <a:lnTo>
                    <a:pt x="1062227" y="0"/>
                  </a:lnTo>
                  <a:lnTo>
                    <a:pt x="0" y="0"/>
                  </a:lnTo>
                  <a:lnTo>
                    <a:pt x="0" y="344424"/>
                  </a:lnTo>
                  <a:close/>
                </a:path>
              </a:pathLst>
            </a:custGeom>
            <a:ln w="9143">
              <a:solidFill>
                <a:srgbClr val="000000"/>
              </a:solidFill>
            </a:ln>
          </p:spPr>
          <p:txBody>
            <a:bodyPr wrap="square" lIns="0" tIns="0" rIns="0" bIns="0" rtlCol="0"/>
            <a:lstStyle/>
            <a:p>
              <a:endParaRPr/>
            </a:p>
          </p:txBody>
        </p:sp>
        <p:sp>
          <p:nvSpPr>
            <p:cNvPr id="22" name="object 22"/>
            <p:cNvSpPr/>
            <p:nvPr/>
          </p:nvSpPr>
          <p:spPr>
            <a:xfrm>
              <a:off x="6638544" y="4610100"/>
              <a:ext cx="1327785" cy="344805"/>
            </a:xfrm>
            <a:custGeom>
              <a:avLst/>
              <a:gdLst/>
              <a:ahLst/>
              <a:cxnLst/>
              <a:rect l="l" t="t" r="r" b="b"/>
              <a:pathLst>
                <a:path w="1327784" h="344804">
                  <a:moveTo>
                    <a:pt x="1327403" y="0"/>
                  </a:moveTo>
                  <a:lnTo>
                    <a:pt x="0" y="0"/>
                  </a:lnTo>
                  <a:lnTo>
                    <a:pt x="0" y="344424"/>
                  </a:lnTo>
                  <a:lnTo>
                    <a:pt x="1327403" y="344424"/>
                  </a:lnTo>
                  <a:lnTo>
                    <a:pt x="1327403" y="0"/>
                  </a:lnTo>
                  <a:close/>
                </a:path>
              </a:pathLst>
            </a:custGeom>
            <a:solidFill>
              <a:srgbClr val="FFC000"/>
            </a:solidFill>
          </p:spPr>
          <p:txBody>
            <a:bodyPr wrap="square" lIns="0" tIns="0" rIns="0" bIns="0" rtlCol="0"/>
            <a:lstStyle/>
            <a:p>
              <a:endParaRPr/>
            </a:p>
          </p:txBody>
        </p:sp>
        <p:sp>
          <p:nvSpPr>
            <p:cNvPr id="23" name="object 23"/>
            <p:cNvSpPr/>
            <p:nvPr/>
          </p:nvSpPr>
          <p:spPr>
            <a:xfrm>
              <a:off x="6638544" y="4610100"/>
              <a:ext cx="1327785" cy="344805"/>
            </a:xfrm>
            <a:custGeom>
              <a:avLst/>
              <a:gdLst/>
              <a:ahLst/>
              <a:cxnLst/>
              <a:rect l="l" t="t" r="r" b="b"/>
              <a:pathLst>
                <a:path w="1327784" h="344804">
                  <a:moveTo>
                    <a:pt x="0" y="344424"/>
                  </a:moveTo>
                  <a:lnTo>
                    <a:pt x="1327403" y="344424"/>
                  </a:lnTo>
                  <a:lnTo>
                    <a:pt x="1327403" y="0"/>
                  </a:lnTo>
                  <a:lnTo>
                    <a:pt x="0" y="0"/>
                  </a:lnTo>
                  <a:lnTo>
                    <a:pt x="0" y="344424"/>
                  </a:lnTo>
                  <a:close/>
                </a:path>
              </a:pathLst>
            </a:custGeom>
            <a:ln w="9144">
              <a:solidFill>
                <a:srgbClr val="000000"/>
              </a:solidFill>
            </a:ln>
          </p:spPr>
          <p:txBody>
            <a:bodyPr wrap="square" lIns="0" tIns="0" rIns="0" bIns="0" rtlCol="0"/>
            <a:lstStyle/>
            <a:p>
              <a:endParaRPr/>
            </a:p>
          </p:txBody>
        </p:sp>
        <p:sp>
          <p:nvSpPr>
            <p:cNvPr id="24" name="object 24"/>
            <p:cNvSpPr/>
            <p:nvPr/>
          </p:nvSpPr>
          <p:spPr>
            <a:xfrm>
              <a:off x="5489447" y="4610100"/>
              <a:ext cx="1149350" cy="344805"/>
            </a:xfrm>
            <a:custGeom>
              <a:avLst/>
              <a:gdLst/>
              <a:ahLst/>
              <a:cxnLst/>
              <a:rect l="l" t="t" r="r" b="b"/>
              <a:pathLst>
                <a:path w="1149350" h="344804">
                  <a:moveTo>
                    <a:pt x="1149096" y="0"/>
                  </a:moveTo>
                  <a:lnTo>
                    <a:pt x="0" y="0"/>
                  </a:lnTo>
                  <a:lnTo>
                    <a:pt x="0" y="344424"/>
                  </a:lnTo>
                  <a:lnTo>
                    <a:pt x="1149096" y="344424"/>
                  </a:lnTo>
                  <a:lnTo>
                    <a:pt x="1149096" y="0"/>
                  </a:lnTo>
                  <a:close/>
                </a:path>
              </a:pathLst>
            </a:custGeom>
            <a:solidFill>
              <a:srgbClr val="FFC000"/>
            </a:solidFill>
          </p:spPr>
          <p:txBody>
            <a:bodyPr wrap="square" lIns="0" tIns="0" rIns="0" bIns="0" rtlCol="0"/>
            <a:lstStyle/>
            <a:p>
              <a:endParaRPr/>
            </a:p>
          </p:txBody>
        </p:sp>
        <p:sp>
          <p:nvSpPr>
            <p:cNvPr id="25" name="object 25"/>
            <p:cNvSpPr/>
            <p:nvPr/>
          </p:nvSpPr>
          <p:spPr>
            <a:xfrm>
              <a:off x="5489447" y="4610100"/>
              <a:ext cx="1149350" cy="344805"/>
            </a:xfrm>
            <a:custGeom>
              <a:avLst/>
              <a:gdLst/>
              <a:ahLst/>
              <a:cxnLst/>
              <a:rect l="l" t="t" r="r" b="b"/>
              <a:pathLst>
                <a:path w="1149350" h="344804">
                  <a:moveTo>
                    <a:pt x="0" y="344424"/>
                  </a:moveTo>
                  <a:lnTo>
                    <a:pt x="1149096" y="344424"/>
                  </a:lnTo>
                  <a:lnTo>
                    <a:pt x="1149096" y="0"/>
                  </a:lnTo>
                  <a:lnTo>
                    <a:pt x="0" y="0"/>
                  </a:lnTo>
                  <a:lnTo>
                    <a:pt x="0" y="344424"/>
                  </a:lnTo>
                  <a:close/>
                </a:path>
              </a:pathLst>
            </a:custGeom>
            <a:ln w="9144">
              <a:solidFill>
                <a:srgbClr val="000000"/>
              </a:solidFill>
            </a:ln>
          </p:spPr>
          <p:txBody>
            <a:bodyPr wrap="square" lIns="0" tIns="0" rIns="0" bIns="0" rtlCol="0"/>
            <a:lstStyle/>
            <a:p>
              <a:endParaRPr/>
            </a:p>
          </p:txBody>
        </p:sp>
        <p:sp>
          <p:nvSpPr>
            <p:cNvPr id="26" name="object 26"/>
            <p:cNvSpPr/>
            <p:nvPr/>
          </p:nvSpPr>
          <p:spPr>
            <a:xfrm>
              <a:off x="4008119" y="4815840"/>
              <a:ext cx="620395" cy="344805"/>
            </a:xfrm>
            <a:custGeom>
              <a:avLst/>
              <a:gdLst/>
              <a:ahLst/>
              <a:cxnLst/>
              <a:rect l="l" t="t" r="r" b="b"/>
              <a:pathLst>
                <a:path w="620395" h="344804">
                  <a:moveTo>
                    <a:pt x="620268" y="0"/>
                  </a:moveTo>
                  <a:lnTo>
                    <a:pt x="0" y="0"/>
                  </a:lnTo>
                  <a:lnTo>
                    <a:pt x="0" y="344424"/>
                  </a:lnTo>
                  <a:lnTo>
                    <a:pt x="620268" y="344424"/>
                  </a:lnTo>
                  <a:lnTo>
                    <a:pt x="620268" y="0"/>
                  </a:lnTo>
                  <a:close/>
                </a:path>
              </a:pathLst>
            </a:custGeom>
            <a:solidFill>
              <a:srgbClr val="FFC000"/>
            </a:solidFill>
          </p:spPr>
          <p:txBody>
            <a:bodyPr wrap="square" lIns="0" tIns="0" rIns="0" bIns="0" rtlCol="0"/>
            <a:lstStyle/>
            <a:p>
              <a:endParaRPr/>
            </a:p>
          </p:txBody>
        </p:sp>
        <p:sp>
          <p:nvSpPr>
            <p:cNvPr id="27" name="object 27"/>
            <p:cNvSpPr/>
            <p:nvPr/>
          </p:nvSpPr>
          <p:spPr>
            <a:xfrm>
              <a:off x="4008119" y="4815840"/>
              <a:ext cx="620395" cy="344805"/>
            </a:xfrm>
            <a:custGeom>
              <a:avLst/>
              <a:gdLst/>
              <a:ahLst/>
              <a:cxnLst/>
              <a:rect l="l" t="t" r="r" b="b"/>
              <a:pathLst>
                <a:path w="620395" h="344804">
                  <a:moveTo>
                    <a:pt x="0" y="344424"/>
                  </a:moveTo>
                  <a:lnTo>
                    <a:pt x="620268" y="344424"/>
                  </a:lnTo>
                  <a:lnTo>
                    <a:pt x="620268" y="0"/>
                  </a:lnTo>
                  <a:lnTo>
                    <a:pt x="0" y="0"/>
                  </a:lnTo>
                  <a:lnTo>
                    <a:pt x="0" y="344424"/>
                  </a:lnTo>
                  <a:close/>
                </a:path>
              </a:pathLst>
            </a:custGeom>
            <a:ln w="9143">
              <a:solidFill>
                <a:srgbClr val="000000"/>
              </a:solidFill>
            </a:ln>
          </p:spPr>
          <p:txBody>
            <a:bodyPr wrap="square" lIns="0" tIns="0" rIns="0" bIns="0" rtlCol="0"/>
            <a:lstStyle/>
            <a:p>
              <a:endParaRPr/>
            </a:p>
          </p:txBody>
        </p:sp>
        <p:sp>
          <p:nvSpPr>
            <p:cNvPr id="28" name="object 28"/>
            <p:cNvSpPr/>
            <p:nvPr/>
          </p:nvSpPr>
          <p:spPr>
            <a:xfrm>
              <a:off x="4628387" y="4815840"/>
              <a:ext cx="1061085" cy="344805"/>
            </a:xfrm>
            <a:custGeom>
              <a:avLst/>
              <a:gdLst/>
              <a:ahLst/>
              <a:cxnLst/>
              <a:rect l="l" t="t" r="r" b="b"/>
              <a:pathLst>
                <a:path w="1061085" h="344804">
                  <a:moveTo>
                    <a:pt x="1060703" y="0"/>
                  </a:moveTo>
                  <a:lnTo>
                    <a:pt x="0" y="0"/>
                  </a:lnTo>
                  <a:lnTo>
                    <a:pt x="0" y="344424"/>
                  </a:lnTo>
                  <a:lnTo>
                    <a:pt x="1060703" y="344424"/>
                  </a:lnTo>
                  <a:lnTo>
                    <a:pt x="1060703" y="0"/>
                  </a:lnTo>
                  <a:close/>
                </a:path>
              </a:pathLst>
            </a:custGeom>
            <a:solidFill>
              <a:srgbClr val="FFC000"/>
            </a:solidFill>
          </p:spPr>
          <p:txBody>
            <a:bodyPr wrap="square" lIns="0" tIns="0" rIns="0" bIns="0" rtlCol="0"/>
            <a:lstStyle/>
            <a:p>
              <a:endParaRPr/>
            </a:p>
          </p:txBody>
        </p:sp>
        <p:sp>
          <p:nvSpPr>
            <p:cNvPr id="29" name="object 29"/>
            <p:cNvSpPr/>
            <p:nvPr/>
          </p:nvSpPr>
          <p:spPr>
            <a:xfrm>
              <a:off x="4628387" y="4815840"/>
              <a:ext cx="1061085" cy="344805"/>
            </a:xfrm>
            <a:custGeom>
              <a:avLst/>
              <a:gdLst/>
              <a:ahLst/>
              <a:cxnLst/>
              <a:rect l="l" t="t" r="r" b="b"/>
              <a:pathLst>
                <a:path w="1061085" h="344804">
                  <a:moveTo>
                    <a:pt x="0" y="344424"/>
                  </a:moveTo>
                  <a:lnTo>
                    <a:pt x="1060703" y="344424"/>
                  </a:lnTo>
                  <a:lnTo>
                    <a:pt x="1060703" y="0"/>
                  </a:lnTo>
                  <a:lnTo>
                    <a:pt x="0" y="0"/>
                  </a:lnTo>
                  <a:lnTo>
                    <a:pt x="0" y="344424"/>
                  </a:lnTo>
                  <a:close/>
                </a:path>
              </a:pathLst>
            </a:custGeom>
            <a:ln w="9144">
              <a:solidFill>
                <a:srgbClr val="000000"/>
              </a:solidFill>
            </a:ln>
          </p:spPr>
          <p:txBody>
            <a:bodyPr wrap="square" lIns="0" tIns="0" rIns="0" bIns="0" rtlCol="0"/>
            <a:lstStyle/>
            <a:p>
              <a:endParaRPr/>
            </a:p>
          </p:txBody>
        </p:sp>
        <p:sp>
          <p:nvSpPr>
            <p:cNvPr id="30" name="object 30"/>
            <p:cNvSpPr/>
            <p:nvPr/>
          </p:nvSpPr>
          <p:spPr>
            <a:xfrm>
              <a:off x="6839711" y="4815840"/>
              <a:ext cx="1325880" cy="344805"/>
            </a:xfrm>
            <a:custGeom>
              <a:avLst/>
              <a:gdLst/>
              <a:ahLst/>
              <a:cxnLst/>
              <a:rect l="l" t="t" r="r" b="b"/>
              <a:pathLst>
                <a:path w="1325879" h="344804">
                  <a:moveTo>
                    <a:pt x="1325879" y="0"/>
                  </a:moveTo>
                  <a:lnTo>
                    <a:pt x="0" y="0"/>
                  </a:lnTo>
                  <a:lnTo>
                    <a:pt x="0" y="344424"/>
                  </a:lnTo>
                  <a:lnTo>
                    <a:pt x="1325879" y="344424"/>
                  </a:lnTo>
                  <a:lnTo>
                    <a:pt x="1325879" y="0"/>
                  </a:lnTo>
                  <a:close/>
                </a:path>
              </a:pathLst>
            </a:custGeom>
            <a:solidFill>
              <a:srgbClr val="FFC000"/>
            </a:solidFill>
          </p:spPr>
          <p:txBody>
            <a:bodyPr wrap="square" lIns="0" tIns="0" rIns="0" bIns="0" rtlCol="0"/>
            <a:lstStyle/>
            <a:p>
              <a:endParaRPr/>
            </a:p>
          </p:txBody>
        </p:sp>
        <p:sp>
          <p:nvSpPr>
            <p:cNvPr id="31" name="object 31"/>
            <p:cNvSpPr/>
            <p:nvPr/>
          </p:nvSpPr>
          <p:spPr>
            <a:xfrm>
              <a:off x="6839711" y="4815840"/>
              <a:ext cx="1325880" cy="344805"/>
            </a:xfrm>
            <a:custGeom>
              <a:avLst/>
              <a:gdLst/>
              <a:ahLst/>
              <a:cxnLst/>
              <a:rect l="l" t="t" r="r" b="b"/>
              <a:pathLst>
                <a:path w="1325879" h="344804">
                  <a:moveTo>
                    <a:pt x="0" y="344424"/>
                  </a:moveTo>
                  <a:lnTo>
                    <a:pt x="1325879" y="344424"/>
                  </a:lnTo>
                  <a:lnTo>
                    <a:pt x="1325879" y="0"/>
                  </a:lnTo>
                  <a:lnTo>
                    <a:pt x="0" y="0"/>
                  </a:lnTo>
                  <a:lnTo>
                    <a:pt x="0" y="344424"/>
                  </a:lnTo>
                  <a:close/>
                </a:path>
              </a:pathLst>
            </a:custGeom>
            <a:ln w="9144">
              <a:solidFill>
                <a:srgbClr val="000000"/>
              </a:solidFill>
            </a:ln>
          </p:spPr>
          <p:txBody>
            <a:bodyPr wrap="square" lIns="0" tIns="0" rIns="0" bIns="0" rtlCol="0"/>
            <a:lstStyle/>
            <a:p>
              <a:endParaRPr/>
            </a:p>
          </p:txBody>
        </p:sp>
        <p:sp>
          <p:nvSpPr>
            <p:cNvPr id="32" name="object 32"/>
            <p:cNvSpPr/>
            <p:nvPr/>
          </p:nvSpPr>
          <p:spPr>
            <a:xfrm>
              <a:off x="5689091" y="4815840"/>
              <a:ext cx="1150620" cy="344805"/>
            </a:xfrm>
            <a:custGeom>
              <a:avLst/>
              <a:gdLst/>
              <a:ahLst/>
              <a:cxnLst/>
              <a:rect l="l" t="t" r="r" b="b"/>
              <a:pathLst>
                <a:path w="1150620" h="344804">
                  <a:moveTo>
                    <a:pt x="1150619" y="0"/>
                  </a:moveTo>
                  <a:lnTo>
                    <a:pt x="0" y="0"/>
                  </a:lnTo>
                  <a:lnTo>
                    <a:pt x="0" y="344424"/>
                  </a:lnTo>
                  <a:lnTo>
                    <a:pt x="1150619" y="344424"/>
                  </a:lnTo>
                  <a:lnTo>
                    <a:pt x="1150619" y="0"/>
                  </a:lnTo>
                  <a:close/>
                </a:path>
              </a:pathLst>
            </a:custGeom>
            <a:solidFill>
              <a:srgbClr val="FFC000"/>
            </a:solidFill>
          </p:spPr>
          <p:txBody>
            <a:bodyPr wrap="square" lIns="0" tIns="0" rIns="0" bIns="0" rtlCol="0"/>
            <a:lstStyle/>
            <a:p>
              <a:endParaRPr/>
            </a:p>
          </p:txBody>
        </p:sp>
        <p:sp>
          <p:nvSpPr>
            <p:cNvPr id="33" name="object 33"/>
            <p:cNvSpPr/>
            <p:nvPr/>
          </p:nvSpPr>
          <p:spPr>
            <a:xfrm>
              <a:off x="5689091" y="4815840"/>
              <a:ext cx="1150620" cy="344805"/>
            </a:xfrm>
            <a:custGeom>
              <a:avLst/>
              <a:gdLst/>
              <a:ahLst/>
              <a:cxnLst/>
              <a:rect l="l" t="t" r="r" b="b"/>
              <a:pathLst>
                <a:path w="1150620" h="344804">
                  <a:moveTo>
                    <a:pt x="0" y="344424"/>
                  </a:moveTo>
                  <a:lnTo>
                    <a:pt x="1150619" y="344424"/>
                  </a:lnTo>
                  <a:lnTo>
                    <a:pt x="1150619" y="0"/>
                  </a:lnTo>
                  <a:lnTo>
                    <a:pt x="0" y="0"/>
                  </a:lnTo>
                  <a:lnTo>
                    <a:pt x="0" y="344424"/>
                  </a:lnTo>
                  <a:close/>
                </a:path>
              </a:pathLst>
            </a:custGeom>
            <a:ln w="9144">
              <a:solidFill>
                <a:srgbClr val="000000"/>
              </a:solidFill>
            </a:ln>
          </p:spPr>
          <p:txBody>
            <a:bodyPr wrap="square" lIns="0" tIns="0" rIns="0" bIns="0" rtlCol="0"/>
            <a:lstStyle/>
            <a:p>
              <a:endParaRPr/>
            </a:p>
          </p:txBody>
        </p:sp>
        <p:sp>
          <p:nvSpPr>
            <p:cNvPr id="34" name="object 34"/>
            <p:cNvSpPr/>
            <p:nvPr/>
          </p:nvSpPr>
          <p:spPr>
            <a:xfrm>
              <a:off x="4209287" y="5023104"/>
              <a:ext cx="619125" cy="344805"/>
            </a:xfrm>
            <a:custGeom>
              <a:avLst/>
              <a:gdLst/>
              <a:ahLst/>
              <a:cxnLst/>
              <a:rect l="l" t="t" r="r" b="b"/>
              <a:pathLst>
                <a:path w="619125" h="344804">
                  <a:moveTo>
                    <a:pt x="618743" y="0"/>
                  </a:moveTo>
                  <a:lnTo>
                    <a:pt x="0" y="0"/>
                  </a:lnTo>
                  <a:lnTo>
                    <a:pt x="0" y="344424"/>
                  </a:lnTo>
                  <a:lnTo>
                    <a:pt x="618743" y="344424"/>
                  </a:lnTo>
                  <a:lnTo>
                    <a:pt x="618743" y="0"/>
                  </a:lnTo>
                  <a:close/>
                </a:path>
              </a:pathLst>
            </a:custGeom>
            <a:solidFill>
              <a:srgbClr val="FFC000"/>
            </a:solidFill>
          </p:spPr>
          <p:txBody>
            <a:bodyPr wrap="square" lIns="0" tIns="0" rIns="0" bIns="0" rtlCol="0"/>
            <a:lstStyle/>
            <a:p>
              <a:endParaRPr/>
            </a:p>
          </p:txBody>
        </p:sp>
        <p:sp>
          <p:nvSpPr>
            <p:cNvPr id="35" name="object 35"/>
            <p:cNvSpPr/>
            <p:nvPr/>
          </p:nvSpPr>
          <p:spPr>
            <a:xfrm>
              <a:off x="4209287" y="5023104"/>
              <a:ext cx="619125" cy="344805"/>
            </a:xfrm>
            <a:custGeom>
              <a:avLst/>
              <a:gdLst/>
              <a:ahLst/>
              <a:cxnLst/>
              <a:rect l="l" t="t" r="r" b="b"/>
              <a:pathLst>
                <a:path w="619125" h="344804">
                  <a:moveTo>
                    <a:pt x="0" y="344424"/>
                  </a:moveTo>
                  <a:lnTo>
                    <a:pt x="618743" y="344424"/>
                  </a:lnTo>
                  <a:lnTo>
                    <a:pt x="618743" y="0"/>
                  </a:lnTo>
                  <a:lnTo>
                    <a:pt x="0" y="0"/>
                  </a:lnTo>
                  <a:lnTo>
                    <a:pt x="0" y="344424"/>
                  </a:lnTo>
                  <a:close/>
                </a:path>
              </a:pathLst>
            </a:custGeom>
            <a:ln w="9144">
              <a:solidFill>
                <a:srgbClr val="000000"/>
              </a:solidFill>
            </a:ln>
          </p:spPr>
          <p:txBody>
            <a:bodyPr wrap="square" lIns="0" tIns="0" rIns="0" bIns="0" rtlCol="0"/>
            <a:lstStyle/>
            <a:p>
              <a:endParaRPr/>
            </a:p>
          </p:txBody>
        </p:sp>
        <p:sp>
          <p:nvSpPr>
            <p:cNvPr id="36" name="object 36"/>
            <p:cNvSpPr/>
            <p:nvPr/>
          </p:nvSpPr>
          <p:spPr>
            <a:xfrm>
              <a:off x="4828031" y="5023104"/>
              <a:ext cx="1061085" cy="344805"/>
            </a:xfrm>
            <a:custGeom>
              <a:avLst/>
              <a:gdLst/>
              <a:ahLst/>
              <a:cxnLst/>
              <a:rect l="l" t="t" r="r" b="b"/>
              <a:pathLst>
                <a:path w="1061085" h="344804">
                  <a:moveTo>
                    <a:pt x="1060703" y="0"/>
                  </a:moveTo>
                  <a:lnTo>
                    <a:pt x="0" y="0"/>
                  </a:lnTo>
                  <a:lnTo>
                    <a:pt x="0" y="344424"/>
                  </a:lnTo>
                  <a:lnTo>
                    <a:pt x="1060703" y="344424"/>
                  </a:lnTo>
                  <a:lnTo>
                    <a:pt x="1060703" y="0"/>
                  </a:lnTo>
                  <a:close/>
                </a:path>
              </a:pathLst>
            </a:custGeom>
            <a:solidFill>
              <a:srgbClr val="FFC000"/>
            </a:solidFill>
          </p:spPr>
          <p:txBody>
            <a:bodyPr wrap="square" lIns="0" tIns="0" rIns="0" bIns="0" rtlCol="0"/>
            <a:lstStyle/>
            <a:p>
              <a:endParaRPr/>
            </a:p>
          </p:txBody>
        </p:sp>
        <p:sp>
          <p:nvSpPr>
            <p:cNvPr id="37" name="object 37"/>
            <p:cNvSpPr/>
            <p:nvPr/>
          </p:nvSpPr>
          <p:spPr>
            <a:xfrm>
              <a:off x="4828031" y="5023104"/>
              <a:ext cx="1061085" cy="344805"/>
            </a:xfrm>
            <a:custGeom>
              <a:avLst/>
              <a:gdLst/>
              <a:ahLst/>
              <a:cxnLst/>
              <a:rect l="l" t="t" r="r" b="b"/>
              <a:pathLst>
                <a:path w="1061085" h="344804">
                  <a:moveTo>
                    <a:pt x="0" y="344424"/>
                  </a:moveTo>
                  <a:lnTo>
                    <a:pt x="1060703" y="344424"/>
                  </a:lnTo>
                  <a:lnTo>
                    <a:pt x="1060703" y="0"/>
                  </a:lnTo>
                  <a:lnTo>
                    <a:pt x="0" y="0"/>
                  </a:lnTo>
                  <a:lnTo>
                    <a:pt x="0" y="344424"/>
                  </a:lnTo>
                  <a:close/>
                </a:path>
              </a:pathLst>
            </a:custGeom>
            <a:ln w="9144">
              <a:solidFill>
                <a:srgbClr val="000000"/>
              </a:solidFill>
            </a:ln>
          </p:spPr>
          <p:txBody>
            <a:bodyPr wrap="square" lIns="0" tIns="0" rIns="0" bIns="0" rtlCol="0"/>
            <a:lstStyle/>
            <a:p>
              <a:endParaRPr/>
            </a:p>
          </p:txBody>
        </p:sp>
        <p:sp>
          <p:nvSpPr>
            <p:cNvPr id="38" name="object 38"/>
            <p:cNvSpPr/>
            <p:nvPr/>
          </p:nvSpPr>
          <p:spPr>
            <a:xfrm>
              <a:off x="7039355" y="5023104"/>
              <a:ext cx="1325880" cy="344805"/>
            </a:xfrm>
            <a:custGeom>
              <a:avLst/>
              <a:gdLst/>
              <a:ahLst/>
              <a:cxnLst/>
              <a:rect l="l" t="t" r="r" b="b"/>
              <a:pathLst>
                <a:path w="1325879" h="344804">
                  <a:moveTo>
                    <a:pt x="1325879" y="0"/>
                  </a:moveTo>
                  <a:lnTo>
                    <a:pt x="0" y="0"/>
                  </a:lnTo>
                  <a:lnTo>
                    <a:pt x="0" y="344424"/>
                  </a:lnTo>
                  <a:lnTo>
                    <a:pt x="1325879" y="344424"/>
                  </a:lnTo>
                  <a:lnTo>
                    <a:pt x="1325879" y="0"/>
                  </a:lnTo>
                  <a:close/>
                </a:path>
              </a:pathLst>
            </a:custGeom>
            <a:solidFill>
              <a:srgbClr val="FFC000"/>
            </a:solidFill>
          </p:spPr>
          <p:txBody>
            <a:bodyPr wrap="square" lIns="0" tIns="0" rIns="0" bIns="0" rtlCol="0"/>
            <a:lstStyle/>
            <a:p>
              <a:endParaRPr/>
            </a:p>
          </p:txBody>
        </p:sp>
        <p:sp>
          <p:nvSpPr>
            <p:cNvPr id="39" name="object 39"/>
            <p:cNvSpPr/>
            <p:nvPr/>
          </p:nvSpPr>
          <p:spPr>
            <a:xfrm>
              <a:off x="7039355" y="5023104"/>
              <a:ext cx="1325880" cy="344805"/>
            </a:xfrm>
            <a:custGeom>
              <a:avLst/>
              <a:gdLst/>
              <a:ahLst/>
              <a:cxnLst/>
              <a:rect l="l" t="t" r="r" b="b"/>
              <a:pathLst>
                <a:path w="1325879" h="344804">
                  <a:moveTo>
                    <a:pt x="0" y="344424"/>
                  </a:moveTo>
                  <a:lnTo>
                    <a:pt x="1325879" y="344424"/>
                  </a:lnTo>
                  <a:lnTo>
                    <a:pt x="1325879" y="0"/>
                  </a:lnTo>
                  <a:lnTo>
                    <a:pt x="0" y="0"/>
                  </a:lnTo>
                  <a:lnTo>
                    <a:pt x="0" y="344424"/>
                  </a:lnTo>
                  <a:close/>
                </a:path>
              </a:pathLst>
            </a:custGeom>
            <a:ln w="9144">
              <a:solidFill>
                <a:srgbClr val="000000"/>
              </a:solidFill>
            </a:ln>
          </p:spPr>
          <p:txBody>
            <a:bodyPr wrap="square" lIns="0" tIns="0" rIns="0" bIns="0" rtlCol="0"/>
            <a:lstStyle/>
            <a:p>
              <a:endParaRPr/>
            </a:p>
          </p:txBody>
        </p:sp>
        <p:sp>
          <p:nvSpPr>
            <p:cNvPr id="40" name="object 40"/>
            <p:cNvSpPr/>
            <p:nvPr/>
          </p:nvSpPr>
          <p:spPr>
            <a:xfrm>
              <a:off x="5888735" y="5023104"/>
              <a:ext cx="1150620" cy="344805"/>
            </a:xfrm>
            <a:custGeom>
              <a:avLst/>
              <a:gdLst/>
              <a:ahLst/>
              <a:cxnLst/>
              <a:rect l="l" t="t" r="r" b="b"/>
              <a:pathLst>
                <a:path w="1150620" h="344804">
                  <a:moveTo>
                    <a:pt x="1150619" y="0"/>
                  </a:moveTo>
                  <a:lnTo>
                    <a:pt x="0" y="0"/>
                  </a:lnTo>
                  <a:lnTo>
                    <a:pt x="0" y="344424"/>
                  </a:lnTo>
                  <a:lnTo>
                    <a:pt x="1150619" y="344424"/>
                  </a:lnTo>
                  <a:lnTo>
                    <a:pt x="1150619" y="0"/>
                  </a:lnTo>
                  <a:close/>
                </a:path>
              </a:pathLst>
            </a:custGeom>
            <a:solidFill>
              <a:srgbClr val="FFC000"/>
            </a:solidFill>
          </p:spPr>
          <p:txBody>
            <a:bodyPr wrap="square" lIns="0" tIns="0" rIns="0" bIns="0" rtlCol="0"/>
            <a:lstStyle/>
            <a:p>
              <a:endParaRPr/>
            </a:p>
          </p:txBody>
        </p:sp>
        <p:sp>
          <p:nvSpPr>
            <p:cNvPr id="41" name="object 41"/>
            <p:cNvSpPr/>
            <p:nvPr/>
          </p:nvSpPr>
          <p:spPr>
            <a:xfrm>
              <a:off x="5888735" y="5023104"/>
              <a:ext cx="1150620" cy="344805"/>
            </a:xfrm>
            <a:custGeom>
              <a:avLst/>
              <a:gdLst/>
              <a:ahLst/>
              <a:cxnLst/>
              <a:rect l="l" t="t" r="r" b="b"/>
              <a:pathLst>
                <a:path w="1150620" h="344804">
                  <a:moveTo>
                    <a:pt x="0" y="344424"/>
                  </a:moveTo>
                  <a:lnTo>
                    <a:pt x="1150619" y="344424"/>
                  </a:lnTo>
                  <a:lnTo>
                    <a:pt x="1150619" y="0"/>
                  </a:lnTo>
                  <a:lnTo>
                    <a:pt x="0" y="0"/>
                  </a:lnTo>
                  <a:lnTo>
                    <a:pt x="0" y="344424"/>
                  </a:lnTo>
                  <a:close/>
                </a:path>
              </a:pathLst>
            </a:custGeom>
            <a:ln w="9144">
              <a:solidFill>
                <a:srgbClr val="000000"/>
              </a:solidFill>
            </a:ln>
          </p:spPr>
          <p:txBody>
            <a:bodyPr wrap="square" lIns="0" tIns="0" rIns="0" bIns="0" rtlCol="0"/>
            <a:lstStyle/>
            <a:p>
              <a:endParaRPr/>
            </a:p>
          </p:txBody>
        </p:sp>
        <p:sp>
          <p:nvSpPr>
            <p:cNvPr id="42" name="object 42"/>
            <p:cNvSpPr/>
            <p:nvPr/>
          </p:nvSpPr>
          <p:spPr>
            <a:xfrm>
              <a:off x="4408931" y="5228844"/>
              <a:ext cx="619125" cy="344805"/>
            </a:xfrm>
            <a:custGeom>
              <a:avLst/>
              <a:gdLst/>
              <a:ahLst/>
              <a:cxnLst/>
              <a:rect l="l" t="t" r="r" b="b"/>
              <a:pathLst>
                <a:path w="619125" h="344804">
                  <a:moveTo>
                    <a:pt x="618743" y="0"/>
                  </a:moveTo>
                  <a:lnTo>
                    <a:pt x="0" y="0"/>
                  </a:lnTo>
                  <a:lnTo>
                    <a:pt x="0" y="344423"/>
                  </a:lnTo>
                  <a:lnTo>
                    <a:pt x="618743" y="344423"/>
                  </a:lnTo>
                  <a:lnTo>
                    <a:pt x="618743" y="0"/>
                  </a:lnTo>
                  <a:close/>
                </a:path>
              </a:pathLst>
            </a:custGeom>
            <a:solidFill>
              <a:srgbClr val="FFC000"/>
            </a:solidFill>
          </p:spPr>
          <p:txBody>
            <a:bodyPr wrap="square" lIns="0" tIns="0" rIns="0" bIns="0" rtlCol="0"/>
            <a:lstStyle/>
            <a:p>
              <a:endParaRPr/>
            </a:p>
          </p:txBody>
        </p:sp>
        <p:sp>
          <p:nvSpPr>
            <p:cNvPr id="43" name="object 43"/>
            <p:cNvSpPr/>
            <p:nvPr/>
          </p:nvSpPr>
          <p:spPr>
            <a:xfrm>
              <a:off x="4408931" y="5228844"/>
              <a:ext cx="619125" cy="344805"/>
            </a:xfrm>
            <a:custGeom>
              <a:avLst/>
              <a:gdLst/>
              <a:ahLst/>
              <a:cxnLst/>
              <a:rect l="l" t="t" r="r" b="b"/>
              <a:pathLst>
                <a:path w="619125" h="344804">
                  <a:moveTo>
                    <a:pt x="0" y="344423"/>
                  </a:moveTo>
                  <a:lnTo>
                    <a:pt x="618743" y="344423"/>
                  </a:lnTo>
                  <a:lnTo>
                    <a:pt x="618743" y="0"/>
                  </a:lnTo>
                  <a:lnTo>
                    <a:pt x="0" y="0"/>
                  </a:lnTo>
                  <a:lnTo>
                    <a:pt x="0" y="344423"/>
                  </a:lnTo>
                  <a:close/>
                </a:path>
              </a:pathLst>
            </a:custGeom>
            <a:ln w="9144">
              <a:solidFill>
                <a:srgbClr val="000000"/>
              </a:solidFill>
            </a:ln>
          </p:spPr>
          <p:txBody>
            <a:bodyPr wrap="square" lIns="0" tIns="0" rIns="0" bIns="0" rtlCol="0"/>
            <a:lstStyle/>
            <a:p>
              <a:endParaRPr/>
            </a:p>
          </p:txBody>
        </p:sp>
        <p:sp>
          <p:nvSpPr>
            <p:cNvPr id="44" name="object 44"/>
            <p:cNvSpPr/>
            <p:nvPr/>
          </p:nvSpPr>
          <p:spPr>
            <a:xfrm>
              <a:off x="5027675" y="5228844"/>
              <a:ext cx="1061085" cy="344805"/>
            </a:xfrm>
            <a:custGeom>
              <a:avLst/>
              <a:gdLst/>
              <a:ahLst/>
              <a:cxnLst/>
              <a:rect l="l" t="t" r="r" b="b"/>
              <a:pathLst>
                <a:path w="1061085" h="344804">
                  <a:moveTo>
                    <a:pt x="1060703" y="0"/>
                  </a:moveTo>
                  <a:lnTo>
                    <a:pt x="0" y="0"/>
                  </a:lnTo>
                  <a:lnTo>
                    <a:pt x="0" y="344423"/>
                  </a:lnTo>
                  <a:lnTo>
                    <a:pt x="1060703" y="344423"/>
                  </a:lnTo>
                  <a:lnTo>
                    <a:pt x="1060703" y="0"/>
                  </a:lnTo>
                  <a:close/>
                </a:path>
              </a:pathLst>
            </a:custGeom>
            <a:solidFill>
              <a:srgbClr val="FFC000"/>
            </a:solidFill>
          </p:spPr>
          <p:txBody>
            <a:bodyPr wrap="square" lIns="0" tIns="0" rIns="0" bIns="0" rtlCol="0"/>
            <a:lstStyle/>
            <a:p>
              <a:endParaRPr/>
            </a:p>
          </p:txBody>
        </p:sp>
        <p:sp>
          <p:nvSpPr>
            <p:cNvPr id="45" name="object 45"/>
            <p:cNvSpPr/>
            <p:nvPr/>
          </p:nvSpPr>
          <p:spPr>
            <a:xfrm>
              <a:off x="5027675" y="5228844"/>
              <a:ext cx="1061085" cy="344805"/>
            </a:xfrm>
            <a:custGeom>
              <a:avLst/>
              <a:gdLst/>
              <a:ahLst/>
              <a:cxnLst/>
              <a:rect l="l" t="t" r="r" b="b"/>
              <a:pathLst>
                <a:path w="1061085" h="344804">
                  <a:moveTo>
                    <a:pt x="0" y="344423"/>
                  </a:moveTo>
                  <a:lnTo>
                    <a:pt x="1060703" y="344423"/>
                  </a:lnTo>
                  <a:lnTo>
                    <a:pt x="1060703" y="0"/>
                  </a:lnTo>
                  <a:lnTo>
                    <a:pt x="0" y="0"/>
                  </a:lnTo>
                  <a:lnTo>
                    <a:pt x="0" y="344423"/>
                  </a:lnTo>
                  <a:close/>
                </a:path>
              </a:pathLst>
            </a:custGeom>
            <a:ln w="9144">
              <a:solidFill>
                <a:srgbClr val="000000"/>
              </a:solidFill>
            </a:ln>
          </p:spPr>
          <p:txBody>
            <a:bodyPr wrap="square" lIns="0" tIns="0" rIns="0" bIns="0" rtlCol="0"/>
            <a:lstStyle/>
            <a:p>
              <a:endParaRPr/>
            </a:p>
          </p:txBody>
        </p:sp>
        <p:sp>
          <p:nvSpPr>
            <p:cNvPr id="46" name="object 46"/>
            <p:cNvSpPr/>
            <p:nvPr/>
          </p:nvSpPr>
          <p:spPr>
            <a:xfrm>
              <a:off x="7239000" y="5228844"/>
              <a:ext cx="1327785" cy="344805"/>
            </a:xfrm>
            <a:custGeom>
              <a:avLst/>
              <a:gdLst/>
              <a:ahLst/>
              <a:cxnLst/>
              <a:rect l="l" t="t" r="r" b="b"/>
              <a:pathLst>
                <a:path w="1327784" h="344804">
                  <a:moveTo>
                    <a:pt x="1327403" y="0"/>
                  </a:moveTo>
                  <a:lnTo>
                    <a:pt x="0" y="0"/>
                  </a:lnTo>
                  <a:lnTo>
                    <a:pt x="0" y="344423"/>
                  </a:lnTo>
                  <a:lnTo>
                    <a:pt x="1327403" y="344423"/>
                  </a:lnTo>
                  <a:lnTo>
                    <a:pt x="1327403" y="0"/>
                  </a:lnTo>
                  <a:close/>
                </a:path>
              </a:pathLst>
            </a:custGeom>
            <a:solidFill>
              <a:srgbClr val="FFC000"/>
            </a:solidFill>
          </p:spPr>
          <p:txBody>
            <a:bodyPr wrap="square" lIns="0" tIns="0" rIns="0" bIns="0" rtlCol="0"/>
            <a:lstStyle/>
            <a:p>
              <a:endParaRPr/>
            </a:p>
          </p:txBody>
        </p:sp>
        <p:sp>
          <p:nvSpPr>
            <p:cNvPr id="47" name="object 47"/>
            <p:cNvSpPr/>
            <p:nvPr/>
          </p:nvSpPr>
          <p:spPr>
            <a:xfrm>
              <a:off x="7239000" y="5228844"/>
              <a:ext cx="1327785" cy="344805"/>
            </a:xfrm>
            <a:custGeom>
              <a:avLst/>
              <a:gdLst/>
              <a:ahLst/>
              <a:cxnLst/>
              <a:rect l="l" t="t" r="r" b="b"/>
              <a:pathLst>
                <a:path w="1327784" h="344804">
                  <a:moveTo>
                    <a:pt x="0" y="344423"/>
                  </a:moveTo>
                  <a:lnTo>
                    <a:pt x="1327403" y="344423"/>
                  </a:lnTo>
                  <a:lnTo>
                    <a:pt x="1327403" y="0"/>
                  </a:lnTo>
                  <a:lnTo>
                    <a:pt x="0" y="0"/>
                  </a:lnTo>
                  <a:lnTo>
                    <a:pt x="0" y="344423"/>
                  </a:lnTo>
                  <a:close/>
                </a:path>
              </a:pathLst>
            </a:custGeom>
            <a:ln w="9144">
              <a:solidFill>
                <a:srgbClr val="000000"/>
              </a:solidFill>
            </a:ln>
          </p:spPr>
          <p:txBody>
            <a:bodyPr wrap="square" lIns="0" tIns="0" rIns="0" bIns="0" rtlCol="0"/>
            <a:lstStyle/>
            <a:p>
              <a:endParaRPr/>
            </a:p>
          </p:txBody>
        </p:sp>
        <p:sp>
          <p:nvSpPr>
            <p:cNvPr id="48" name="object 48"/>
            <p:cNvSpPr/>
            <p:nvPr/>
          </p:nvSpPr>
          <p:spPr>
            <a:xfrm>
              <a:off x="6088379" y="5228844"/>
              <a:ext cx="1150620" cy="344805"/>
            </a:xfrm>
            <a:custGeom>
              <a:avLst/>
              <a:gdLst/>
              <a:ahLst/>
              <a:cxnLst/>
              <a:rect l="l" t="t" r="r" b="b"/>
              <a:pathLst>
                <a:path w="1150620" h="344804">
                  <a:moveTo>
                    <a:pt x="1150620" y="0"/>
                  </a:moveTo>
                  <a:lnTo>
                    <a:pt x="0" y="0"/>
                  </a:lnTo>
                  <a:lnTo>
                    <a:pt x="0" y="344423"/>
                  </a:lnTo>
                  <a:lnTo>
                    <a:pt x="1150620" y="344423"/>
                  </a:lnTo>
                  <a:lnTo>
                    <a:pt x="1150620" y="0"/>
                  </a:lnTo>
                  <a:close/>
                </a:path>
              </a:pathLst>
            </a:custGeom>
            <a:solidFill>
              <a:srgbClr val="FFC000"/>
            </a:solidFill>
          </p:spPr>
          <p:txBody>
            <a:bodyPr wrap="square" lIns="0" tIns="0" rIns="0" bIns="0" rtlCol="0"/>
            <a:lstStyle/>
            <a:p>
              <a:endParaRPr/>
            </a:p>
          </p:txBody>
        </p:sp>
        <p:sp>
          <p:nvSpPr>
            <p:cNvPr id="49" name="object 49"/>
            <p:cNvSpPr/>
            <p:nvPr/>
          </p:nvSpPr>
          <p:spPr>
            <a:xfrm>
              <a:off x="6088379" y="5228844"/>
              <a:ext cx="1150620" cy="344805"/>
            </a:xfrm>
            <a:custGeom>
              <a:avLst/>
              <a:gdLst/>
              <a:ahLst/>
              <a:cxnLst/>
              <a:rect l="l" t="t" r="r" b="b"/>
              <a:pathLst>
                <a:path w="1150620" h="344804">
                  <a:moveTo>
                    <a:pt x="0" y="344423"/>
                  </a:moveTo>
                  <a:lnTo>
                    <a:pt x="1150620" y="344423"/>
                  </a:lnTo>
                  <a:lnTo>
                    <a:pt x="1150620" y="0"/>
                  </a:lnTo>
                  <a:lnTo>
                    <a:pt x="0" y="0"/>
                  </a:lnTo>
                  <a:lnTo>
                    <a:pt x="0" y="344423"/>
                  </a:lnTo>
                  <a:close/>
                </a:path>
              </a:pathLst>
            </a:custGeom>
            <a:ln w="9144">
              <a:solidFill>
                <a:srgbClr val="000000"/>
              </a:solidFill>
            </a:ln>
          </p:spPr>
          <p:txBody>
            <a:bodyPr wrap="square" lIns="0" tIns="0" rIns="0" bIns="0" rtlCol="0"/>
            <a:lstStyle/>
            <a:p>
              <a:endParaRPr/>
            </a:p>
          </p:txBody>
        </p:sp>
        <p:sp>
          <p:nvSpPr>
            <p:cNvPr id="50" name="object 50"/>
            <p:cNvSpPr/>
            <p:nvPr/>
          </p:nvSpPr>
          <p:spPr>
            <a:xfrm>
              <a:off x="3464051" y="3525012"/>
              <a:ext cx="5291455" cy="2341245"/>
            </a:xfrm>
            <a:custGeom>
              <a:avLst/>
              <a:gdLst/>
              <a:ahLst/>
              <a:cxnLst/>
              <a:rect l="l" t="t" r="r" b="b"/>
              <a:pathLst>
                <a:path w="5291455" h="2341245">
                  <a:moveTo>
                    <a:pt x="0" y="2340864"/>
                  </a:moveTo>
                  <a:lnTo>
                    <a:pt x="5291328" y="2340864"/>
                  </a:lnTo>
                  <a:lnTo>
                    <a:pt x="5291328" y="0"/>
                  </a:lnTo>
                  <a:lnTo>
                    <a:pt x="0" y="0"/>
                  </a:lnTo>
                  <a:lnTo>
                    <a:pt x="0" y="2340864"/>
                  </a:lnTo>
                  <a:close/>
                </a:path>
              </a:pathLst>
            </a:custGeom>
            <a:ln w="9144">
              <a:solidFill>
                <a:srgbClr val="D9D9D9"/>
              </a:solidFill>
            </a:ln>
          </p:spPr>
          <p:txBody>
            <a:bodyPr wrap="square" lIns="0" tIns="0" rIns="0" bIns="0" rtlCol="0"/>
            <a:lstStyle/>
            <a:p>
              <a:endParaRPr/>
            </a:p>
          </p:txBody>
        </p:sp>
      </p:grpSp>
      <p:sp>
        <p:nvSpPr>
          <p:cNvPr id="51" name="object 5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13	</a:t>
            </a:r>
            <a:r>
              <a:rPr spc="30" dirty="0"/>
              <a:t>Huawei</a:t>
            </a:r>
            <a:r>
              <a:rPr spc="-10" dirty="0"/>
              <a:t> </a:t>
            </a:r>
            <a:r>
              <a:rPr spc="5" dirty="0"/>
              <a:t>Confidential</a:t>
            </a:r>
          </a:p>
        </p:txBody>
      </p:sp>
      <p:sp>
        <p:nvSpPr>
          <p:cNvPr id="52" name="object 2">
            <a:extLst>
              <a:ext uri="{FF2B5EF4-FFF2-40B4-BE49-F238E27FC236}">
                <a16:creationId xmlns:a16="http://schemas.microsoft.com/office/drawing/2014/main" id="{B97F56E0-EF5B-43B4-9E8A-F016625A5FC2}"/>
              </a:ext>
            </a:extLst>
          </p:cNvPr>
          <p:cNvSpPr txBox="1"/>
          <p:nvPr/>
        </p:nvSpPr>
        <p:spPr>
          <a:xfrm>
            <a:off x="6418290" y="3470211"/>
            <a:ext cx="5593651" cy="2456442"/>
          </a:xfrm>
          <a:prstGeom prst="rect">
            <a:avLst/>
          </a:prstGeom>
        </p:spPr>
        <p:txBody>
          <a:bodyPr vert="horz" wrap="square" lIns="0" tIns="9525" rIns="0" bIns="0" rtlCol="0">
            <a:spAutoFit/>
          </a:bodyPr>
          <a:lstStyle/>
          <a:p>
            <a:pPr marL="138113" marR="66675" indent="-128588">
              <a:spcBef>
                <a:spcPts val="4"/>
              </a:spcBef>
              <a:buFont typeface="Wingdings"/>
              <a:buChar char=""/>
              <a:tabLst>
                <a:tab pos="138113" algn="l"/>
              </a:tabLst>
            </a:pPr>
            <a:r>
              <a:rPr lang="en-US" sz="2200" spc="30" dirty="0">
                <a:latin typeface="UKIJ CJK"/>
                <a:cs typeface="UKIJ CJK"/>
              </a:rPr>
              <a:t>We </a:t>
            </a:r>
            <a:r>
              <a:rPr sz="2200" spc="23" dirty="0">
                <a:latin typeface="UKIJ CJK"/>
                <a:cs typeface="UKIJ CJK"/>
              </a:rPr>
              <a:t>have </a:t>
            </a:r>
            <a:r>
              <a:rPr sz="2200" u="sng" spc="23" dirty="0">
                <a:latin typeface="UKIJ CJK"/>
                <a:cs typeface="UKIJ CJK"/>
              </a:rPr>
              <a:t>many data </a:t>
            </a:r>
            <a:r>
              <a:rPr sz="2200" u="sng" spc="26" dirty="0">
                <a:latin typeface="UKIJ CJK"/>
                <a:cs typeface="UKIJ CJK"/>
              </a:rPr>
              <a:t>storage </a:t>
            </a:r>
            <a:r>
              <a:rPr sz="2200" u="sng" spc="15" dirty="0">
                <a:latin typeface="UKIJ CJK"/>
                <a:cs typeface="UKIJ CJK"/>
              </a:rPr>
              <a:t>models. By </a:t>
            </a:r>
            <a:r>
              <a:rPr sz="2200" u="sng" spc="11" dirty="0">
                <a:latin typeface="UKIJ CJK"/>
                <a:cs typeface="UKIJ CJK"/>
              </a:rPr>
              <a:t>row, </a:t>
            </a:r>
            <a:r>
              <a:rPr sz="2200" u="sng" spc="34" dirty="0">
                <a:latin typeface="UKIJ CJK"/>
                <a:cs typeface="UKIJ CJK"/>
              </a:rPr>
              <a:t>by </a:t>
            </a:r>
            <a:r>
              <a:rPr sz="2200" u="sng" spc="23" dirty="0">
                <a:latin typeface="UKIJ CJK"/>
                <a:cs typeface="UKIJ CJK"/>
              </a:rPr>
              <a:t>column </a:t>
            </a:r>
            <a:r>
              <a:rPr sz="2200" u="sng" spc="26" dirty="0">
                <a:latin typeface="UKIJ CJK"/>
                <a:cs typeface="UKIJ CJK"/>
              </a:rPr>
              <a:t>and </a:t>
            </a:r>
            <a:r>
              <a:rPr sz="2200" u="sng" spc="34" dirty="0">
                <a:latin typeface="UKIJ CJK"/>
                <a:cs typeface="UKIJ CJK"/>
              </a:rPr>
              <a:t>by </a:t>
            </a:r>
            <a:r>
              <a:rPr sz="2200" u="sng" spc="19" dirty="0" err="1" smtClean="0">
                <a:latin typeface="UKIJ CJK"/>
                <a:cs typeface="UKIJ CJK"/>
              </a:rPr>
              <a:t>key</a:t>
            </a:r>
            <a:r>
              <a:rPr lang="en-US" sz="2200" u="sng" spc="19" dirty="0" err="1" smtClean="0">
                <a:latin typeface="UKIJ CJK"/>
                <a:cs typeface="UKIJ CJK"/>
              </a:rPr>
              <a:t>V</a:t>
            </a:r>
            <a:r>
              <a:rPr sz="2200" u="sng" spc="19" dirty="0" err="1" smtClean="0">
                <a:latin typeface="UKIJ CJK"/>
                <a:cs typeface="UKIJ CJK"/>
              </a:rPr>
              <a:t>alue</a:t>
            </a:r>
            <a:r>
              <a:rPr lang="en-US" sz="2200" u="sng" spc="19" dirty="0">
                <a:latin typeface="UKIJ CJK"/>
                <a:cs typeface="UKIJ CJK"/>
              </a:rPr>
              <a:t>.</a:t>
            </a:r>
            <a:endParaRPr sz="2200" dirty="0">
              <a:latin typeface="UKIJ CJK"/>
              <a:cs typeface="UKIJ CJK"/>
            </a:endParaRPr>
          </a:p>
          <a:p>
            <a:pPr marL="138113" indent="-128588">
              <a:buFont typeface="Wingdings"/>
              <a:buChar char=""/>
              <a:tabLst>
                <a:tab pos="138113" algn="l"/>
              </a:tabLst>
            </a:pPr>
            <a:r>
              <a:rPr lang="en-US" sz="2200" u="sng" spc="64" dirty="0">
                <a:latin typeface="UKIJ CJK"/>
                <a:cs typeface="UKIJ CJK"/>
              </a:rPr>
              <a:t>In </a:t>
            </a:r>
            <a:r>
              <a:rPr sz="2200" u="sng" spc="11" dirty="0">
                <a:latin typeface="UKIJ CJK"/>
                <a:cs typeface="UKIJ CJK"/>
              </a:rPr>
              <a:t>this</a:t>
            </a:r>
            <a:r>
              <a:rPr sz="2200" u="sng" spc="-41" dirty="0">
                <a:latin typeface="UKIJ CJK"/>
                <a:cs typeface="UKIJ CJK"/>
              </a:rPr>
              <a:t> </a:t>
            </a:r>
            <a:r>
              <a:rPr sz="2200" u="sng" spc="15" dirty="0">
                <a:latin typeface="UKIJ CJK"/>
                <a:cs typeface="UKIJ CJK"/>
              </a:rPr>
              <a:t>table</a:t>
            </a:r>
            <a:r>
              <a:rPr lang="en-US" sz="2200" u="sng" spc="15" dirty="0">
                <a:latin typeface="UKIJ CJK"/>
                <a:cs typeface="UKIJ CJK"/>
              </a:rPr>
              <a:t> (</a:t>
            </a:r>
            <a:r>
              <a:rPr sz="2200" u="sng" spc="23" dirty="0">
                <a:latin typeface="UKIJ CJK"/>
                <a:cs typeface="UKIJ CJK"/>
              </a:rPr>
              <a:t>data </a:t>
            </a:r>
            <a:r>
              <a:rPr sz="2200" u="sng" spc="26" dirty="0">
                <a:latin typeface="UKIJ CJK"/>
                <a:cs typeface="UKIJ CJK"/>
              </a:rPr>
              <a:t>storage model </a:t>
            </a:r>
            <a:r>
              <a:rPr sz="2200" u="sng" spc="34" dirty="0">
                <a:latin typeface="UKIJ CJK"/>
                <a:cs typeface="UKIJ CJK"/>
              </a:rPr>
              <a:t>by </a:t>
            </a:r>
            <a:r>
              <a:rPr sz="2200" u="sng" spc="8" dirty="0">
                <a:latin typeface="UKIJ CJK"/>
                <a:cs typeface="UKIJ CJK"/>
              </a:rPr>
              <a:t>row</a:t>
            </a:r>
            <a:r>
              <a:rPr lang="en-US" sz="2200" u="sng" spc="8" dirty="0">
                <a:latin typeface="UKIJ CJK"/>
                <a:cs typeface="UKIJ CJK"/>
              </a:rPr>
              <a:t>)</a:t>
            </a:r>
            <a:r>
              <a:rPr sz="2200" u="sng" spc="8" dirty="0">
                <a:latin typeface="UKIJ CJK"/>
                <a:cs typeface="UKIJ CJK"/>
              </a:rPr>
              <a:t> </a:t>
            </a:r>
            <a:endParaRPr lang="en-US" sz="2200" u="sng" spc="8" dirty="0">
              <a:latin typeface="UKIJ CJK"/>
              <a:cs typeface="UKIJ CJK"/>
            </a:endParaRPr>
          </a:p>
          <a:p>
            <a:pPr marL="595313" lvl="1" indent="-128588">
              <a:spcBef>
                <a:spcPts val="600"/>
              </a:spcBef>
              <a:buFont typeface="Wingdings"/>
              <a:buChar char=""/>
              <a:tabLst>
                <a:tab pos="138113" algn="l"/>
              </a:tabLst>
            </a:pPr>
            <a:r>
              <a:rPr sz="2200" spc="19" dirty="0">
                <a:latin typeface="UKIJ CJK"/>
                <a:cs typeface="UKIJ CJK"/>
              </a:rPr>
              <a:t>Every row contains </a:t>
            </a:r>
            <a:r>
              <a:rPr sz="2200" spc="8" dirty="0">
                <a:latin typeface="UKIJ CJK"/>
                <a:cs typeface="UKIJ CJK"/>
              </a:rPr>
              <a:t>all</a:t>
            </a:r>
            <a:r>
              <a:rPr sz="2200" spc="64" dirty="0">
                <a:latin typeface="UKIJ CJK"/>
                <a:cs typeface="UKIJ CJK"/>
              </a:rPr>
              <a:t> </a:t>
            </a:r>
            <a:r>
              <a:rPr sz="2200" spc="11" dirty="0">
                <a:latin typeface="UKIJ CJK"/>
                <a:cs typeface="UKIJ CJK"/>
              </a:rPr>
              <a:t>attributions.</a:t>
            </a:r>
            <a:endParaRPr sz="2200" dirty="0">
              <a:latin typeface="UKIJ CJK"/>
              <a:cs typeface="UKIJ CJK"/>
            </a:endParaRPr>
          </a:p>
          <a:p>
            <a:pPr marL="138113" indent="-128588" algn="just">
              <a:buFont typeface="Wingdings"/>
              <a:buChar char=""/>
              <a:tabLst>
                <a:tab pos="138113" algn="l"/>
              </a:tabLst>
            </a:pPr>
            <a:r>
              <a:rPr lang="en-US" sz="2200" u="sng" spc="19" dirty="0">
                <a:latin typeface="UKIJ CJK"/>
                <a:cs typeface="UKIJ CJK"/>
              </a:rPr>
              <a:t>In </a:t>
            </a:r>
            <a:r>
              <a:rPr sz="2200" u="sng" spc="23" dirty="0">
                <a:latin typeface="UKIJ CJK"/>
                <a:cs typeface="UKIJ CJK"/>
              </a:rPr>
              <a:t>data </a:t>
            </a:r>
            <a:r>
              <a:rPr sz="2200" u="sng" spc="26" dirty="0">
                <a:latin typeface="UKIJ CJK"/>
                <a:cs typeface="UKIJ CJK"/>
              </a:rPr>
              <a:t>storage model </a:t>
            </a:r>
            <a:r>
              <a:rPr sz="2200" u="sng" spc="34" dirty="0">
                <a:latin typeface="UKIJ CJK"/>
                <a:cs typeface="UKIJ CJK"/>
              </a:rPr>
              <a:t>by </a:t>
            </a:r>
            <a:r>
              <a:rPr sz="2200" u="sng" spc="15" dirty="0">
                <a:latin typeface="UKIJ CJK"/>
                <a:cs typeface="UKIJ CJK"/>
              </a:rPr>
              <a:t>column. </a:t>
            </a:r>
            <a:r>
              <a:rPr lang="en-US" sz="2200" u="sng" spc="26" dirty="0">
                <a:latin typeface="UKIJ CJK"/>
                <a:cs typeface="UKIJ CJK"/>
              </a:rPr>
              <a:t>One c</a:t>
            </a:r>
            <a:r>
              <a:rPr sz="2200" u="sng" spc="26" dirty="0">
                <a:latin typeface="UKIJ CJK"/>
                <a:cs typeface="UKIJ CJK"/>
              </a:rPr>
              <a:t>olumn </a:t>
            </a:r>
            <a:r>
              <a:rPr sz="2200" u="sng" spc="19" dirty="0">
                <a:latin typeface="UKIJ CJK"/>
                <a:cs typeface="UKIJ CJK"/>
              </a:rPr>
              <a:t>save </a:t>
            </a:r>
            <a:r>
              <a:rPr sz="2200" u="sng" spc="8" dirty="0">
                <a:latin typeface="UKIJ CJK"/>
                <a:cs typeface="UKIJ CJK"/>
              </a:rPr>
              <a:t>all </a:t>
            </a:r>
            <a:r>
              <a:rPr sz="2200" u="sng" spc="15" dirty="0">
                <a:latin typeface="UKIJ CJK"/>
                <a:cs typeface="UKIJ CJK"/>
              </a:rPr>
              <a:t>information </a:t>
            </a:r>
            <a:r>
              <a:rPr sz="2200" u="sng" spc="26" dirty="0">
                <a:latin typeface="UKIJ CJK"/>
                <a:cs typeface="UKIJ CJK"/>
              </a:rPr>
              <a:t>of</a:t>
            </a:r>
            <a:r>
              <a:rPr sz="2200" u="sng" spc="116" dirty="0">
                <a:latin typeface="UKIJ CJK"/>
                <a:cs typeface="UKIJ CJK"/>
              </a:rPr>
              <a:t> </a:t>
            </a:r>
            <a:r>
              <a:rPr sz="2200" u="sng" spc="8" dirty="0">
                <a:latin typeface="UKIJ CJK"/>
                <a:cs typeface="UKIJ CJK"/>
              </a:rPr>
              <a:t>users</a:t>
            </a:r>
            <a:r>
              <a:rPr sz="2200" spc="8" dirty="0">
                <a:latin typeface="UKIJ CJK"/>
                <a:cs typeface="UKIJ CJK"/>
              </a:rPr>
              <a:t>……</a:t>
            </a:r>
            <a:endParaRPr lang="en-US" sz="2200" spc="8" dirty="0">
              <a:latin typeface="UKIJ CJK"/>
              <a:cs typeface="UKIJ CJK"/>
            </a:endParaRPr>
          </a:p>
          <a:p>
            <a:pPr marL="138113" indent="-128588" algn="just">
              <a:buFont typeface="Wingdings"/>
              <a:buChar char=""/>
              <a:tabLst>
                <a:tab pos="138113" algn="l"/>
              </a:tabLst>
            </a:pPr>
            <a:endParaRPr sz="2200" dirty="0">
              <a:latin typeface="UKIJ CJK"/>
              <a:cs typeface="UKIJ CJK"/>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3620135" cy="513715"/>
          </a:xfrm>
          <a:prstGeom prst="rect">
            <a:avLst/>
          </a:prstGeom>
        </p:spPr>
        <p:txBody>
          <a:bodyPr vert="horz" wrap="square" lIns="0" tIns="13335" rIns="0" bIns="0" rtlCol="0">
            <a:spAutoFit/>
          </a:bodyPr>
          <a:lstStyle/>
          <a:p>
            <a:pPr marL="12700">
              <a:lnSpc>
                <a:spcPct val="100000"/>
              </a:lnSpc>
              <a:spcBef>
                <a:spcPts val="105"/>
              </a:spcBef>
            </a:pPr>
            <a:r>
              <a:rPr sz="3200" spc="70" dirty="0">
                <a:solidFill>
                  <a:srgbClr val="000000"/>
                </a:solidFill>
              </a:rPr>
              <a:t>Row-based</a:t>
            </a:r>
            <a:r>
              <a:rPr sz="3200" spc="-35" dirty="0">
                <a:solidFill>
                  <a:srgbClr val="000000"/>
                </a:solidFill>
              </a:rPr>
              <a:t> </a:t>
            </a:r>
            <a:r>
              <a:rPr sz="3200" spc="55" dirty="0">
                <a:solidFill>
                  <a:srgbClr val="000000"/>
                </a:solidFill>
              </a:rPr>
              <a:t>Storage</a:t>
            </a:r>
            <a:endParaRPr sz="3200"/>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086348" y="905128"/>
            <a:ext cx="10291445" cy="964565"/>
          </a:xfrm>
          <a:prstGeom prst="rect">
            <a:avLst/>
          </a:prstGeom>
        </p:spPr>
        <p:txBody>
          <a:bodyPr vert="horz" wrap="square" lIns="0" tIns="12700" rIns="0" bIns="0" rtlCol="0">
            <a:spAutoFit/>
          </a:bodyPr>
          <a:lstStyle/>
          <a:p>
            <a:pPr marL="12700" marR="5080">
              <a:lnSpc>
                <a:spcPct val="140000"/>
              </a:lnSpc>
              <a:spcBef>
                <a:spcPts val="100"/>
              </a:spcBef>
            </a:pPr>
            <a:r>
              <a:rPr sz="2200" spc="40" dirty="0">
                <a:latin typeface="Trebuchet MS"/>
                <a:cs typeface="Trebuchet MS"/>
              </a:rPr>
              <a:t>Row-based </a:t>
            </a:r>
            <a:r>
              <a:rPr sz="2200" spc="20" dirty="0">
                <a:latin typeface="Trebuchet MS"/>
                <a:cs typeface="Trebuchet MS"/>
              </a:rPr>
              <a:t>storage </a:t>
            </a:r>
            <a:r>
              <a:rPr sz="2200" spc="-25" dirty="0">
                <a:latin typeface="Trebuchet MS"/>
                <a:cs typeface="Trebuchet MS"/>
              </a:rPr>
              <a:t>refers </a:t>
            </a:r>
            <a:r>
              <a:rPr sz="2200" dirty="0">
                <a:latin typeface="Trebuchet MS"/>
                <a:cs typeface="Trebuchet MS"/>
              </a:rPr>
              <a:t>to </a:t>
            </a:r>
            <a:r>
              <a:rPr sz="2200" spc="20" dirty="0">
                <a:latin typeface="Trebuchet MS"/>
                <a:cs typeface="Trebuchet MS"/>
              </a:rPr>
              <a:t>data </a:t>
            </a:r>
            <a:r>
              <a:rPr sz="2200" spc="-5" dirty="0">
                <a:latin typeface="Trebuchet MS"/>
                <a:cs typeface="Trebuchet MS"/>
              </a:rPr>
              <a:t>stored </a:t>
            </a:r>
            <a:r>
              <a:rPr sz="2200" spc="15" dirty="0">
                <a:latin typeface="Trebuchet MS"/>
                <a:cs typeface="Trebuchet MS"/>
              </a:rPr>
              <a:t>by </a:t>
            </a:r>
            <a:r>
              <a:rPr sz="2200" spc="45" dirty="0">
                <a:latin typeface="Trebuchet MS"/>
                <a:cs typeface="Trebuchet MS"/>
              </a:rPr>
              <a:t>rows </a:t>
            </a:r>
            <a:r>
              <a:rPr sz="2200" spc="5" dirty="0">
                <a:latin typeface="Trebuchet MS"/>
                <a:cs typeface="Trebuchet MS"/>
              </a:rPr>
              <a:t>in </a:t>
            </a:r>
            <a:r>
              <a:rPr sz="2200" spc="65" dirty="0">
                <a:latin typeface="Trebuchet MS"/>
                <a:cs typeface="Trebuchet MS"/>
              </a:rPr>
              <a:t>an </a:t>
            </a:r>
            <a:r>
              <a:rPr sz="2200" spc="25" dirty="0">
                <a:latin typeface="Trebuchet MS"/>
                <a:cs typeface="Trebuchet MS"/>
              </a:rPr>
              <a:t>underlying </a:t>
            </a:r>
            <a:r>
              <a:rPr sz="2200" spc="-55" dirty="0">
                <a:latin typeface="Trebuchet MS"/>
                <a:cs typeface="Trebuchet MS"/>
              </a:rPr>
              <a:t>file </a:t>
            </a:r>
            <a:r>
              <a:rPr sz="2200" spc="-30" dirty="0">
                <a:latin typeface="Trebuchet MS"/>
                <a:cs typeface="Trebuchet MS"/>
              </a:rPr>
              <a:t>system.  Generally, </a:t>
            </a:r>
            <a:r>
              <a:rPr sz="2200" spc="55" dirty="0">
                <a:latin typeface="Trebuchet MS"/>
                <a:cs typeface="Trebuchet MS"/>
              </a:rPr>
              <a:t>a </a:t>
            </a:r>
            <a:r>
              <a:rPr sz="2200" spc="-35" dirty="0">
                <a:latin typeface="Trebuchet MS"/>
                <a:cs typeface="Trebuchet MS"/>
              </a:rPr>
              <a:t>fixed </a:t>
            </a:r>
            <a:r>
              <a:rPr sz="2200" spc="60" dirty="0">
                <a:latin typeface="Trebuchet MS"/>
                <a:cs typeface="Trebuchet MS"/>
              </a:rPr>
              <a:t>amount </a:t>
            </a:r>
            <a:r>
              <a:rPr sz="2200" spc="15" dirty="0">
                <a:latin typeface="Trebuchet MS"/>
                <a:cs typeface="Trebuchet MS"/>
              </a:rPr>
              <a:t>of </a:t>
            </a:r>
            <a:r>
              <a:rPr sz="2200" spc="-5" dirty="0">
                <a:latin typeface="Trebuchet MS"/>
                <a:cs typeface="Trebuchet MS"/>
              </a:rPr>
              <a:t>space </a:t>
            </a:r>
            <a:r>
              <a:rPr sz="2200" spc="-15" dirty="0">
                <a:latin typeface="Trebuchet MS"/>
                <a:cs typeface="Trebuchet MS"/>
              </a:rPr>
              <a:t>is </a:t>
            </a:r>
            <a:r>
              <a:rPr sz="2200" spc="-10" dirty="0">
                <a:latin typeface="Trebuchet MS"/>
                <a:cs typeface="Trebuchet MS"/>
              </a:rPr>
              <a:t>allocated </a:t>
            </a:r>
            <a:r>
              <a:rPr sz="2200" dirty="0">
                <a:latin typeface="Trebuchet MS"/>
                <a:cs typeface="Trebuchet MS"/>
              </a:rPr>
              <a:t>to each</a:t>
            </a:r>
            <a:r>
              <a:rPr sz="2200" spc="215" dirty="0">
                <a:latin typeface="Trebuchet MS"/>
                <a:cs typeface="Trebuchet MS"/>
              </a:rPr>
              <a:t> </a:t>
            </a:r>
            <a:r>
              <a:rPr sz="2200" spc="-45" dirty="0">
                <a:latin typeface="Trebuchet MS"/>
                <a:cs typeface="Trebuchet MS"/>
              </a:rPr>
              <a:t>row.</a:t>
            </a:r>
            <a:endParaRPr sz="2200" dirty="0">
              <a:latin typeface="Trebuchet MS"/>
              <a:cs typeface="Trebuchet MS"/>
            </a:endParaRPr>
          </a:p>
        </p:txBody>
      </p:sp>
      <p:sp>
        <p:nvSpPr>
          <p:cNvPr id="5" name="object 5"/>
          <p:cNvSpPr txBox="1"/>
          <p:nvPr/>
        </p:nvSpPr>
        <p:spPr>
          <a:xfrm>
            <a:off x="1203147" y="2057400"/>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dirty="0">
              <a:latin typeface="Wingdings"/>
              <a:cs typeface="Wingdings"/>
            </a:endParaRPr>
          </a:p>
        </p:txBody>
      </p:sp>
      <p:sp>
        <p:nvSpPr>
          <p:cNvPr id="6" name="object 6"/>
          <p:cNvSpPr txBox="1"/>
          <p:nvPr/>
        </p:nvSpPr>
        <p:spPr>
          <a:xfrm>
            <a:off x="1454351" y="1948670"/>
            <a:ext cx="9817735" cy="846455"/>
          </a:xfrm>
          <a:prstGeom prst="rect">
            <a:avLst/>
          </a:prstGeom>
        </p:spPr>
        <p:txBody>
          <a:bodyPr vert="horz" wrap="square" lIns="0" tIns="13335" rIns="0" bIns="0" rtlCol="0">
            <a:spAutoFit/>
          </a:bodyPr>
          <a:lstStyle/>
          <a:p>
            <a:pPr marL="12700">
              <a:lnSpc>
                <a:spcPct val="100000"/>
              </a:lnSpc>
              <a:spcBef>
                <a:spcPts val="105"/>
              </a:spcBef>
            </a:pPr>
            <a:r>
              <a:rPr sz="2000" spc="10" dirty="0">
                <a:latin typeface="Trebuchet MS"/>
                <a:cs typeface="Trebuchet MS"/>
              </a:rPr>
              <a:t>Advantages: </a:t>
            </a:r>
            <a:r>
              <a:rPr sz="2000" spc="65" dirty="0">
                <a:latin typeface="Trebuchet MS"/>
                <a:cs typeface="Trebuchet MS"/>
              </a:rPr>
              <a:t>Data </a:t>
            </a:r>
            <a:r>
              <a:rPr sz="2000" spc="15" dirty="0">
                <a:latin typeface="Trebuchet MS"/>
                <a:cs typeface="Trebuchet MS"/>
              </a:rPr>
              <a:t>can </a:t>
            </a:r>
            <a:r>
              <a:rPr sz="2000" dirty="0">
                <a:latin typeface="Trebuchet MS"/>
                <a:cs typeface="Trebuchet MS"/>
              </a:rPr>
              <a:t>be </a:t>
            </a:r>
            <a:r>
              <a:rPr sz="2000" spc="-25" dirty="0">
                <a:latin typeface="Trebuchet MS"/>
                <a:cs typeface="Trebuchet MS"/>
              </a:rPr>
              <a:t>added, </a:t>
            </a:r>
            <a:r>
              <a:rPr sz="2000" spc="-20" dirty="0">
                <a:latin typeface="Trebuchet MS"/>
                <a:cs typeface="Trebuchet MS"/>
              </a:rPr>
              <a:t>modified, </a:t>
            </a:r>
            <a:r>
              <a:rPr sz="2000" spc="20" dirty="0">
                <a:latin typeface="Trebuchet MS"/>
                <a:cs typeface="Trebuchet MS"/>
              </a:rPr>
              <a:t>or </a:t>
            </a:r>
            <a:r>
              <a:rPr sz="2000" spc="5" dirty="0">
                <a:latin typeface="Trebuchet MS"/>
                <a:cs typeface="Trebuchet MS"/>
              </a:rPr>
              <a:t>read </a:t>
            </a:r>
            <a:r>
              <a:rPr sz="2000" spc="15" dirty="0">
                <a:latin typeface="Trebuchet MS"/>
                <a:cs typeface="Trebuchet MS"/>
              </a:rPr>
              <a:t>by</a:t>
            </a:r>
            <a:r>
              <a:rPr sz="2000" spc="-15" dirty="0">
                <a:latin typeface="Trebuchet MS"/>
                <a:cs typeface="Trebuchet MS"/>
              </a:rPr>
              <a:t> </a:t>
            </a:r>
            <a:r>
              <a:rPr sz="2000" spc="-35" dirty="0">
                <a:latin typeface="Trebuchet MS"/>
                <a:cs typeface="Trebuchet MS"/>
              </a:rPr>
              <a:t>row.</a:t>
            </a:r>
            <a:endParaRPr sz="2000" dirty="0">
              <a:latin typeface="Trebuchet MS"/>
              <a:cs typeface="Trebuchet MS"/>
            </a:endParaRPr>
          </a:p>
          <a:p>
            <a:pPr marL="12700">
              <a:lnSpc>
                <a:spcPct val="100000"/>
              </a:lnSpc>
              <a:spcBef>
                <a:spcPts val="1655"/>
              </a:spcBef>
            </a:pPr>
            <a:r>
              <a:rPr sz="2000" spc="15" dirty="0">
                <a:latin typeface="Trebuchet MS"/>
                <a:cs typeface="Trebuchet MS"/>
              </a:rPr>
              <a:t>Disadvantage: </a:t>
            </a:r>
            <a:r>
              <a:rPr sz="2000" spc="70" dirty="0">
                <a:latin typeface="Trebuchet MS"/>
                <a:cs typeface="Trebuchet MS"/>
              </a:rPr>
              <a:t>Some </a:t>
            </a:r>
            <a:r>
              <a:rPr sz="2000" spc="10" dirty="0">
                <a:latin typeface="Trebuchet MS"/>
                <a:cs typeface="Trebuchet MS"/>
              </a:rPr>
              <a:t>unnecessary </a:t>
            </a:r>
            <a:r>
              <a:rPr sz="2000" spc="20" dirty="0">
                <a:latin typeface="Trebuchet MS"/>
                <a:cs typeface="Trebuchet MS"/>
              </a:rPr>
              <a:t>data </a:t>
            </a:r>
            <a:r>
              <a:rPr sz="2000" spc="-15" dirty="0">
                <a:latin typeface="Trebuchet MS"/>
                <a:cs typeface="Trebuchet MS"/>
              </a:rPr>
              <a:t>is </a:t>
            </a:r>
            <a:r>
              <a:rPr sz="2000" spc="10" dirty="0">
                <a:latin typeface="Trebuchet MS"/>
                <a:cs typeface="Trebuchet MS"/>
              </a:rPr>
              <a:t>obtained </a:t>
            </a:r>
            <a:r>
              <a:rPr sz="2000" spc="50" dirty="0">
                <a:latin typeface="Trebuchet MS"/>
                <a:cs typeface="Trebuchet MS"/>
              </a:rPr>
              <a:t>when </a:t>
            </a:r>
            <a:r>
              <a:rPr sz="2000" spc="20" dirty="0">
                <a:latin typeface="Trebuchet MS"/>
                <a:cs typeface="Trebuchet MS"/>
              </a:rPr>
              <a:t>data </a:t>
            </a:r>
            <a:r>
              <a:rPr sz="2000" spc="5" dirty="0">
                <a:latin typeface="Trebuchet MS"/>
                <a:cs typeface="Trebuchet MS"/>
              </a:rPr>
              <a:t>in </a:t>
            </a:r>
            <a:r>
              <a:rPr sz="2000" spc="55" dirty="0">
                <a:latin typeface="Trebuchet MS"/>
                <a:cs typeface="Trebuchet MS"/>
              </a:rPr>
              <a:t>a </a:t>
            </a:r>
            <a:r>
              <a:rPr sz="2000" spc="40" dirty="0">
                <a:latin typeface="Trebuchet MS"/>
                <a:cs typeface="Trebuchet MS"/>
              </a:rPr>
              <a:t>column </a:t>
            </a:r>
            <a:r>
              <a:rPr sz="2000" spc="-15" dirty="0">
                <a:latin typeface="Trebuchet MS"/>
                <a:cs typeface="Trebuchet MS"/>
              </a:rPr>
              <a:t>is</a:t>
            </a:r>
            <a:r>
              <a:rPr sz="2000" spc="-120" dirty="0">
                <a:latin typeface="Trebuchet MS"/>
                <a:cs typeface="Trebuchet MS"/>
              </a:rPr>
              <a:t> </a:t>
            </a:r>
            <a:r>
              <a:rPr sz="2000" spc="-40" dirty="0">
                <a:latin typeface="Trebuchet MS"/>
                <a:cs typeface="Trebuchet MS"/>
              </a:rPr>
              <a:t>queried.</a:t>
            </a:r>
            <a:endParaRPr sz="2000" dirty="0">
              <a:latin typeface="Trebuchet MS"/>
              <a:cs typeface="Trebuchet MS"/>
            </a:endParaRPr>
          </a:p>
        </p:txBody>
      </p:sp>
      <p:sp>
        <p:nvSpPr>
          <p:cNvPr id="7" name="object 7"/>
          <p:cNvSpPr txBox="1"/>
          <p:nvPr/>
        </p:nvSpPr>
        <p:spPr>
          <a:xfrm>
            <a:off x="1203147" y="2514600"/>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graphicFrame>
        <p:nvGraphicFramePr>
          <p:cNvPr id="8" name="object 8"/>
          <p:cNvGraphicFramePr>
            <a:graphicFrameLocks noGrp="1"/>
          </p:cNvGraphicFramePr>
          <p:nvPr>
            <p:extLst>
              <p:ext uri="{D42A27DB-BD31-4B8C-83A1-F6EECF244321}">
                <p14:modId xmlns:p14="http://schemas.microsoft.com/office/powerpoint/2010/main" val="554580100"/>
              </p:ext>
            </p:extLst>
          </p:nvPr>
        </p:nvGraphicFramePr>
        <p:xfrm>
          <a:off x="696163" y="3853550"/>
          <a:ext cx="4156074" cy="344424"/>
        </p:xfrm>
        <a:graphic>
          <a:graphicData uri="http://schemas.openxmlformats.org/drawingml/2006/table">
            <a:tbl>
              <a:tblPr firstRow="1" bandRow="1">
                <a:tableStyleId>{2D5ABB26-0587-4C30-8999-92F81FD0307C}</a:tableStyleId>
              </a:tblPr>
              <a:tblGrid>
                <a:gridCol w="618490">
                  <a:extLst>
                    <a:ext uri="{9D8B030D-6E8A-4147-A177-3AD203B41FA5}">
                      <a16:colId xmlns:a16="http://schemas.microsoft.com/office/drawing/2014/main" val="20000"/>
                    </a:ext>
                  </a:extLst>
                </a:gridCol>
                <a:gridCol w="1061720">
                  <a:extLst>
                    <a:ext uri="{9D8B030D-6E8A-4147-A177-3AD203B41FA5}">
                      <a16:colId xmlns:a16="http://schemas.microsoft.com/office/drawing/2014/main" val="20001"/>
                    </a:ext>
                  </a:extLst>
                </a:gridCol>
                <a:gridCol w="1148714">
                  <a:extLst>
                    <a:ext uri="{9D8B030D-6E8A-4147-A177-3AD203B41FA5}">
                      <a16:colId xmlns:a16="http://schemas.microsoft.com/office/drawing/2014/main" val="20002"/>
                    </a:ext>
                  </a:extLst>
                </a:gridCol>
                <a:gridCol w="1327150">
                  <a:extLst>
                    <a:ext uri="{9D8B030D-6E8A-4147-A177-3AD203B41FA5}">
                      <a16:colId xmlns:a16="http://schemas.microsoft.com/office/drawing/2014/main" val="20003"/>
                    </a:ext>
                  </a:extLst>
                </a:gridCol>
              </a:tblGrid>
              <a:tr h="344424">
                <a:tc>
                  <a:txBody>
                    <a:bodyPr/>
                    <a:lstStyle/>
                    <a:p>
                      <a:pPr marL="201930">
                        <a:lnSpc>
                          <a:spcPct val="100000"/>
                        </a:lnSpc>
                        <a:spcBef>
                          <a:spcPts val="340"/>
                        </a:spcBef>
                      </a:pPr>
                      <a:r>
                        <a:rPr sz="1600" b="1" spc="35" dirty="0">
                          <a:latin typeface="Arial"/>
                          <a:cs typeface="Arial"/>
                        </a:rPr>
                        <a:t>ID</a:t>
                      </a:r>
                      <a:endParaRPr sz="1600">
                        <a:latin typeface="Arial"/>
                        <a:cs typeface="Arial"/>
                      </a:endParaRPr>
                    </a:p>
                  </a:txBody>
                  <a:tcPr marL="0" marR="0" marT="431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000"/>
                    </a:solidFill>
                  </a:tcPr>
                </a:tc>
                <a:tc>
                  <a:txBody>
                    <a:bodyPr/>
                    <a:lstStyle/>
                    <a:p>
                      <a:pPr marL="240029">
                        <a:lnSpc>
                          <a:spcPct val="100000"/>
                        </a:lnSpc>
                        <a:spcBef>
                          <a:spcPts val="340"/>
                        </a:spcBef>
                      </a:pPr>
                      <a:r>
                        <a:rPr sz="1600" b="1" spc="55" dirty="0">
                          <a:latin typeface="Arial"/>
                          <a:cs typeface="Arial"/>
                        </a:rPr>
                        <a:t>Name</a:t>
                      </a:r>
                      <a:endParaRPr sz="1600">
                        <a:latin typeface="Arial"/>
                        <a:cs typeface="Arial"/>
                      </a:endParaRPr>
                    </a:p>
                  </a:txBody>
                  <a:tcPr marL="0" marR="0" marT="431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000"/>
                    </a:solidFill>
                  </a:tcPr>
                </a:tc>
                <a:tc>
                  <a:txBody>
                    <a:bodyPr/>
                    <a:lstStyle/>
                    <a:p>
                      <a:pPr marL="269240">
                        <a:lnSpc>
                          <a:spcPct val="100000"/>
                        </a:lnSpc>
                        <a:spcBef>
                          <a:spcPts val="340"/>
                        </a:spcBef>
                      </a:pPr>
                      <a:r>
                        <a:rPr sz="1600" b="1" spc="-25" dirty="0">
                          <a:latin typeface="Arial"/>
                          <a:cs typeface="Arial"/>
                        </a:rPr>
                        <a:t>Phone</a:t>
                      </a:r>
                      <a:endParaRPr sz="1600">
                        <a:latin typeface="Arial"/>
                        <a:cs typeface="Arial"/>
                      </a:endParaRPr>
                    </a:p>
                  </a:txBody>
                  <a:tcPr marL="0" marR="0" marT="431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000"/>
                    </a:solidFill>
                  </a:tcPr>
                </a:tc>
                <a:tc>
                  <a:txBody>
                    <a:bodyPr/>
                    <a:lstStyle/>
                    <a:p>
                      <a:pPr marL="281305">
                        <a:lnSpc>
                          <a:spcPct val="100000"/>
                        </a:lnSpc>
                        <a:spcBef>
                          <a:spcPts val="340"/>
                        </a:spcBef>
                      </a:pPr>
                      <a:r>
                        <a:rPr sz="1600" b="1" spc="-60" dirty="0">
                          <a:latin typeface="Arial"/>
                          <a:cs typeface="Arial"/>
                        </a:rPr>
                        <a:t>Address</a:t>
                      </a:r>
                      <a:endParaRPr sz="1600" dirty="0">
                        <a:latin typeface="Arial"/>
                        <a:cs typeface="Arial"/>
                      </a:endParaRPr>
                    </a:p>
                  </a:txBody>
                  <a:tcPr marL="0" marR="0" marT="431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000"/>
                    </a:solidFill>
                  </a:tcPr>
                </a:tc>
                <a:extLst>
                  <a:ext uri="{0D108BD9-81ED-4DB2-BD59-A6C34878D82A}">
                    <a16:rowId xmlns:a16="http://schemas.microsoft.com/office/drawing/2014/main" val="10000"/>
                  </a:ext>
                </a:extLst>
              </a:tr>
            </a:tbl>
          </a:graphicData>
        </a:graphic>
      </p:graphicFrame>
      <p:grpSp>
        <p:nvGrpSpPr>
          <p:cNvPr id="9" name="object 9"/>
          <p:cNvGrpSpPr/>
          <p:nvPr/>
        </p:nvGrpSpPr>
        <p:grpSpPr>
          <a:xfrm>
            <a:off x="533400" y="3306778"/>
            <a:ext cx="5459349" cy="2721545"/>
            <a:chOff x="3459479" y="3520440"/>
            <a:chExt cx="5300980" cy="2350135"/>
          </a:xfrm>
        </p:grpSpPr>
        <p:sp>
          <p:nvSpPr>
            <p:cNvPr id="10" name="object 10"/>
            <p:cNvSpPr/>
            <p:nvPr/>
          </p:nvSpPr>
          <p:spPr>
            <a:xfrm>
              <a:off x="3648455" y="4402836"/>
              <a:ext cx="619125" cy="344805"/>
            </a:xfrm>
            <a:custGeom>
              <a:avLst/>
              <a:gdLst/>
              <a:ahLst/>
              <a:cxnLst/>
              <a:rect l="l" t="t" r="r" b="b"/>
              <a:pathLst>
                <a:path w="619125" h="344804">
                  <a:moveTo>
                    <a:pt x="618744" y="0"/>
                  </a:moveTo>
                  <a:lnTo>
                    <a:pt x="0" y="0"/>
                  </a:lnTo>
                  <a:lnTo>
                    <a:pt x="0" y="344424"/>
                  </a:lnTo>
                  <a:lnTo>
                    <a:pt x="618744" y="344424"/>
                  </a:lnTo>
                  <a:lnTo>
                    <a:pt x="618744" y="0"/>
                  </a:lnTo>
                  <a:close/>
                </a:path>
              </a:pathLst>
            </a:custGeom>
            <a:solidFill>
              <a:srgbClr val="FFC000"/>
            </a:solidFill>
          </p:spPr>
          <p:txBody>
            <a:bodyPr wrap="square" lIns="0" tIns="0" rIns="0" bIns="0" rtlCol="0"/>
            <a:lstStyle/>
            <a:p>
              <a:endParaRPr/>
            </a:p>
          </p:txBody>
        </p:sp>
        <p:sp>
          <p:nvSpPr>
            <p:cNvPr id="11" name="object 11"/>
            <p:cNvSpPr/>
            <p:nvPr/>
          </p:nvSpPr>
          <p:spPr>
            <a:xfrm>
              <a:off x="3648455" y="4402836"/>
              <a:ext cx="619125" cy="344805"/>
            </a:xfrm>
            <a:custGeom>
              <a:avLst/>
              <a:gdLst/>
              <a:ahLst/>
              <a:cxnLst/>
              <a:rect l="l" t="t" r="r" b="b"/>
              <a:pathLst>
                <a:path w="619125" h="344804">
                  <a:moveTo>
                    <a:pt x="0" y="344424"/>
                  </a:moveTo>
                  <a:lnTo>
                    <a:pt x="618744" y="344424"/>
                  </a:lnTo>
                  <a:lnTo>
                    <a:pt x="618744" y="0"/>
                  </a:lnTo>
                  <a:lnTo>
                    <a:pt x="0" y="0"/>
                  </a:lnTo>
                  <a:lnTo>
                    <a:pt x="0" y="344424"/>
                  </a:lnTo>
                  <a:close/>
                </a:path>
              </a:pathLst>
            </a:custGeom>
            <a:ln w="9143">
              <a:solidFill>
                <a:srgbClr val="000000"/>
              </a:solidFill>
            </a:ln>
          </p:spPr>
          <p:txBody>
            <a:bodyPr wrap="square" lIns="0" tIns="0" rIns="0" bIns="0" rtlCol="0"/>
            <a:lstStyle/>
            <a:p>
              <a:endParaRPr/>
            </a:p>
          </p:txBody>
        </p:sp>
        <p:sp>
          <p:nvSpPr>
            <p:cNvPr id="12" name="object 12"/>
            <p:cNvSpPr/>
            <p:nvPr/>
          </p:nvSpPr>
          <p:spPr>
            <a:xfrm>
              <a:off x="4227575" y="4402836"/>
              <a:ext cx="1062355" cy="344805"/>
            </a:xfrm>
            <a:custGeom>
              <a:avLst/>
              <a:gdLst/>
              <a:ahLst/>
              <a:cxnLst/>
              <a:rect l="l" t="t" r="r" b="b"/>
              <a:pathLst>
                <a:path w="1062354" h="344804">
                  <a:moveTo>
                    <a:pt x="1062227" y="0"/>
                  </a:moveTo>
                  <a:lnTo>
                    <a:pt x="0" y="0"/>
                  </a:lnTo>
                  <a:lnTo>
                    <a:pt x="0" y="344424"/>
                  </a:lnTo>
                  <a:lnTo>
                    <a:pt x="1062227" y="344424"/>
                  </a:lnTo>
                  <a:lnTo>
                    <a:pt x="1062227" y="0"/>
                  </a:lnTo>
                  <a:close/>
                </a:path>
              </a:pathLst>
            </a:custGeom>
            <a:solidFill>
              <a:srgbClr val="FFC000"/>
            </a:solidFill>
          </p:spPr>
          <p:txBody>
            <a:bodyPr wrap="square" lIns="0" tIns="0" rIns="0" bIns="0" rtlCol="0"/>
            <a:lstStyle/>
            <a:p>
              <a:endParaRPr/>
            </a:p>
          </p:txBody>
        </p:sp>
        <p:sp>
          <p:nvSpPr>
            <p:cNvPr id="13" name="object 13"/>
            <p:cNvSpPr/>
            <p:nvPr/>
          </p:nvSpPr>
          <p:spPr>
            <a:xfrm>
              <a:off x="4227575" y="4402836"/>
              <a:ext cx="1062355" cy="344805"/>
            </a:xfrm>
            <a:custGeom>
              <a:avLst/>
              <a:gdLst/>
              <a:ahLst/>
              <a:cxnLst/>
              <a:rect l="l" t="t" r="r" b="b"/>
              <a:pathLst>
                <a:path w="1062354" h="344804">
                  <a:moveTo>
                    <a:pt x="0" y="344424"/>
                  </a:moveTo>
                  <a:lnTo>
                    <a:pt x="1062227" y="344424"/>
                  </a:lnTo>
                  <a:lnTo>
                    <a:pt x="1062227" y="0"/>
                  </a:lnTo>
                  <a:lnTo>
                    <a:pt x="0" y="0"/>
                  </a:lnTo>
                  <a:lnTo>
                    <a:pt x="0" y="344424"/>
                  </a:lnTo>
                  <a:close/>
                </a:path>
              </a:pathLst>
            </a:custGeom>
            <a:ln w="9143">
              <a:solidFill>
                <a:srgbClr val="000000"/>
              </a:solidFill>
            </a:ln>
          </p:spPr>
          <p:txBody>
            <a:bodyPr wrap="square" lIns="0" tIns="0" rIns="0" bIns="0" rtlCol="0"/>
            <a:lstStyle/>
            <a:p>
              <a:endParaRPr/>
            </a:p>
          </p:txBody>
        </p:sp>
        <p:sp>
          <p:nvSpPr>
            <p:cNvPr id="14" name="object 14"/>
            <p:cNvSpPr/>
            <p:nvPr/>
          </p:nvSpPr>
          <p:spPr>
            <a:xfrm>
              <a:off x="6438900" y="4402836"/>
              <a:ext cx="1327785" cy="344805"/>
            </a:xfrm>
            <a:custGeom>
              <a:avLst/>
              <a:gdLst/>
              <a:ahLst/>
              <a:cxnLst/>
              <a:rect l="l" t="t" r="r" b="b"/>
              <a:pathLst>
                <a:path w="1327784" h="344804">
                  <a:moveTo>
                    <a:pt x="1327403" y="0"/>
                  </a:moveTo>
                  <a:lnTo>
                    <a:pt x="0" y="0"/>
                  </a:lnTo>
                  <a:lnTo>
                    <a:pt x="0" y="344424"/>
                  </a:lnTo>
                  <a:lnTo>
                    <a:pt x="1327403" y="344424"/>
                  </a:lnTo>
                  <a:lnTo>
                    <a:pt x="1327403" y="0"/>
                  </a:lnTo>
                  <a:close/>
                </a:path>
              </a:pathLst>
            </a:custGeom>
            <a:solidFill>
              <a:srgbClr val="FFC000"/>
            </a:solidFill>
          </p:spPr>
          <p:txBody>
            <a:bodyPr wrap="square" lIns="0" tIns="0" rIns="0" bIns="0" rtlCol="0"/>
            <a:lstStyle/>
            <a:p>
              <a:endParaRPr/>
            </a:p>
          </p:txBody>
        </p:sp>
        <p:sp>
          <p:nvSpPr>
            <p:cNvPr id="15" name="object 15"/>
            <p:cNvSpPr/>
            <p:nvPr/>
          </p:nvSpPr>
          <p:spPr>
            <a:xfrm>
              <a:off x="6438900" y="4402836"/>
              <a:ext cx="1327785" cy="344805"/>
            </a:xfrm>
            <a:custGeom>
              <a:avLst/>
              <a:gdLst/>
              <a:ahLst/>
              <a:cxnLst/>
              <a:rect l="l" t="t" r="r" b="b"/>
              <a:pathLst>
                <a:path w="1327784" h="344804">
                  <a:moveTo>
                    <a:pt x="0" y="344424"/>
                  </a:moveTo>
                  <a:lnTo>
                    <a:pt x="1327403" y="344424"/>
                  </a:lnTo>
                  <a:lnTo>
                    <a:pt x="1327403" y="0"/>
                  </a:lnTo>
                  <a:lnTo>
                    <a:pt x="0" y="0"/>
                  </a:lnTo>
                  <a:lnTo>
                    <a:pt x="0" y="344424"/>
                  </a:lnTo>
                  <a:close/>
                </a:path>
              </a:pathLst>
            </a:custGeom>
            <a:ln w="9144">
              <a:solidFill>
                <a:srgbClr val="000000"/>
              </a:solidFill>
            </a:ln>
          </p:spPr>
          <p:txBody>
            <a:bodyPr wrap="square" lIns="0" tIns="0" rIns="0" bIns="0" rtlCol="0"/>
            <a:lstStyle/>
            <a:p>
              <a:endParaRPr/>
            </a:p>
          </p:txBody>
        </p:sp>
        <p:sp>
          <p:nvSpPr>
            <p:cNvPr id="16" name="object 16"/>
            <p:cNvSpPr/>
            <p:nvPr/>
          </p:nvSpPr>
          <p:spPr>
            <a:xfrm>
              <a:off x="5289803" y="4402836"/>
              <a:ext cx="1149350" cy="344805"/>
            </a:xfrm>
            <a:custGeom>
              <a:avLst/>
              <a:gdLst/>
              <a:ahLst/>
              <a:cxnLst/>
              <a:rect l="l" t="t" r="r" b="b"/>
              <a:pathLst>
                <a:path w="1149350" h="344804">
                  <a:moveTo>
                    <a:pt x="1149096" y="0"/>
                  </a:moveTo>
                  <a:lnTo>
                    <a:pt x="0" y="0"/>
                  </a:lnTo>
                  <a:lnTo>
                    <a:pt x="0" y="344424"/>
                  </a:lnTo>
                  <a:lnTo>
                    <a:pt x="1149096" y="344424"/>
                  </a:lnTo>
                  <a:lnTo>
                    <a:pt x="1149096" y="0"/>
                  </a:lnTo>
                  <a:close/>
                </a:path>
              </a:pathLst>
            </a:custGeom>
            <a:solidFill>
              <a:srgbClr val="FFC000"/>
            </a:solidFill>
          </p:spPr>
          <p:txBody>
            <a:bodyPr wrap="square" lIns="0" tIns="0" rIns="0" bIns="0" rtlCol="0"/>
            <a:lstStyle/>
            <a:p>
              <a:endParaRPr/>
            </a:p>
          </p:txBody>
        </p:sp>
        <p:sp>
          <p:nvSpPr>
            <p:cNvPr id="17" name="object 17"/>
            <p:cNvSpPr/>
            <p:nvPr/>
          </p:nvSpPr>
          <p:spPr>
            <a:xfrm>
              <a:off x="5289803" y="4402836"/>
              <a:ext cx="1149350" cy="344805"/>
            </a:xfrm>
            <a:custGeom>
              <a:avLst/>
              <a:gdLst/>
              <a:ahLst/>
              <a:cxnLst/>
              <a:rect l="l" t="t" r="r" b="b"/>
              <a:pathLst>
                <a:path w="1149350" h="344804">
                  <a:moveTo>
                    <a:pt x="0" y="344424"/>
                  </a:moveTo>
                  <a:lnTo>
                    <a:pt x="1149096" y="344424"/>
                  </a:lnTo>
                  <a:lnTo>
                    <a:pt x="1149096" y="0"/>
                  </a:lnTo>
                  <a:lnTo>
                    <a:pt x="0" y="0"/>
                  </a:lnTo>
                  <a:lnTo>
                    <a:pt x="0" y="344424"/>
                  </a:lnTo>
                  <a:close/>
                </a:path>
              </a:pathLst>
            </a:custGeom>
            <a:ln w="9144">
              <a:solidFill>
                <a:srgbClr val="000000"/>
              </a:solidFill>
            </a:ln>
          </p:spPr>
          <p:txBody>
            <a:bodyPr wrap="square" lIns="0" tIns="0" rIns="0" bIns="0" rtlCol="0"/>
            <a:lstStyle/>
            <a:p>
              <a:endParaRPr/>
            </a:p>
          </p:txBody>
        </p:sp>
        <p:sp>
          <p:nvSpPr>
            <p:cNvPr id="18" name="object 18"/>
            <p:cNvSpPr/>
            <p:nvPr/>
          </p:nvSpPr>
          <p:spPr>
            <a:xfrm>
              <a:off x="3808475" y="4610100"/>
              <a:ext cx="619125" cy="344805"/>
            </a:xfrm>
            <a:custGeom>
              <a:avLst/>
              <a:gdLst/>
              <a:ahLst/>
              <a:cxnLst/>
              <a:rect l="l" t="t" r="r" b="b"/>
              <a:pathLst>
                <a:path w="619125" h="344804">
                  <a:moveTo>
                    <a:pt x="618744" y="0"/>
                  </a:moveTo>
                  <a:lnTo>
                    <a:pt x="0" y="0"/>
                  </a:lnTo>
                  <a:lnTo>
                    <a:pt x="0" y="344424"/>
                  </a:lnTo>
                  <a:lnTo>
                    <a:pt x="618744" y="344424"/>
                  </a:lnTo>
                  <a:lnTo>
                    <a:pt x="618744" y="0"/>
                  </a:lnTo>
                  <a:close/>
                </a:path>
              </a:pathLst>
            </a:custGeom>
            <a:solidFill>
              <a:srgbClr val="FFC000"/>
            </a:solidFill>
          </p:spPr>
          <p:txBody>
            <a:bodyPr wrap="square" lIns="0" tIns="0" rIns="0" bIns="0" rtlCol="0"/>
            <a:lstStyle/>
            <a:p>
              <a:endParaRPr/>
            </a:p>
          </p:txBody>
        </p:sp>
        <p:sp>
          <p:nvSpPr>
            <p:cNvPr id="19" name="object 19"/>
            <p:cNvSpPr/>
            <p:nvPr/>
          </p:nvSpPr>
          <p:spPr>
            <a:xfrm>
              <a:off x="3808475" y="4610100"/>
              <a:ext cx="619125" cy="344805"/>
            </a:xfrm>
            <a:custGeom>
              <a:avLst/>
              <a:gdLst/>
              <a:ahLst/>
              <a:cxnLst/>
              <a:rect l="l" t="t" r="r" b="b"/>
              <a:pathLst>
                <a:path w="619125" h="344804">
                  <a:moveTo>
                    <a:pt x="0" y="344424"/>
                  </a:moveTo>
                  <a:lnTo>
                    <a:pt x="618744" y="344424"/>
                  </a:lnTo>
                  <a:lnTo>
                    <a:pt x="618744" y="0"/>
                  </a:lnTo>
                  <a:lnTo>
                    <a:pt x="0" y="0"/>
                  </a:lnTo>
                  <a:lnTo>
                    <a:pt x="0" y="344424"/>
                  </a:lnTo>
                  <a:close/>
                </a:path>
              </a:pathLst>
            </a:custGeom>
            <a:ln w="9143">
              <a:solidFill>
                <a:srgbClr val="000000"/>
              </a:solidFill>
            </a:ln>
          </p:spPr>
          <p:txBody>
            <a:bodyPr wrap="square" lIns="0" tIns="0" rIns="0" bIns="0" rtlCol="0"/>
            <a:lstStyle/>
            <a:p>
              <a:endParaRPr/>
            </a:p>
          </p:txBody>
        </p:sp>
        <p:sp>
          <p:nvSpPr>
            <p:cNvPr id="20" name="object 20"/>
            <p:cNvSpPr/>
            <p:nvPr/>
          </p:nvSpPr>
          <p:spPr>
            <a:xfrm>
              <a:off x="4427219" y="4610100"/>
              <a:ext cx="1062355" cy="344805"/>
            </a:xfrm>
            <a:custGeom>
              <a:avLst/>
              <a:gdLst/>
              <a:ahLst/>
              <a:cxnLst/>
              <a:rect l="l" t="t" r="r" b="b"/>
              <a:pathLst>
                <a:path w="1062354" h="344804">
                  <a:moveTo>
                    <a:pt x="1062227" y="0"/>
                  </a:moveTo>
                  <a:lnTo>
                    <a:pt x="0" y="0"/>
                  </a:lnTo>
                  <a:lnTo>
                    <a:pt x="0" y="344424"/>
                  </a:lnTo>
                  <a:lnTo>
                    <a:pt x="1062227" y="344424"/>
                  </a:lnTo>
                  <a:lnTo>
                    <a:pt x="1062227" y="0"/>
                  </a:lnTo>
                  <a:close/>
                </a:path>
              </a:pathLst>
            </a:custGeom>
            <a:solidFill>
              <a:srgbClr val="FFC000"/>
            </a:solidFill>
          </p:spPr>
          <p:txBody>
            <a:bodyPr wrap="square" lIns="0" tIns="0" rIns="0" bIns="0" rtlCol="0"/>
            <a:lstStyle/>
            <a:p>
              <a:endParaRPr/>
            </a:p>
          </p:txBody>
        </p:sp>
        <p:sp>
          <p:nvSpPr>
            <p:cNvPr id="21" name="object 21"/>
            <p:cNvSpPr/>
            <p:nvPr/>
          </p:nvSpPr>
          <p:spPr>
            <a:xfrm>
              <a:off x="4427219" y="4610100"/>
              <a:ext cx="1062355" cy="344805"/>
            </a:xfrm>
            <a:custGeom>
              <a:avLst/>
              <a:gdLst/>
              <a:ahLst/>
              <a:cxnLst/>
              <a:rect l="l" t="t" r="r" b="b"/>
              <a:pathLst>
                <a:path w="1062354" h="344804">
                  <a:moveTo>
                    <a:pt x="0" y="344424"/>
                  </a:moveTo>
                  <a:lnTo>
                    <a:pt x="1062227" y="344424"/>
                  </a:lnTo>
                  <a:lnTo>
                    <a:pt x="1062227" y="0"/>
                  </a:lnTo>
                  <a:lnTo>
                    <a:pt x="0" y="0"/>
                  </a:lnTo>
                  <a:lnTo>
                    <a:pt x="0" y="344424"/>
                  </a:lnTo>
                  <a:close/>
                </a:path>
              </a:pathLst>
            </a:custGeom>
            <a:ln w="9143">
              <a:solidFill>
                <a:srgbClr val="000000"/>
              </a:solidFill>
            </a:ln>
          </p:spPr>
          <p:txBody>
            <a:bodyPr wrap="square" lIns="0" tIns="0" rIns="0" bIns="0" rtlCol="0"/>
            <a:lstStyle/>
            <a:p>
              <a:endParaRPr/>
            </a:p>
          </p:txBody>
        </p:sp>
        <p:sp>
          <p:nvSpPr>
            <p:cNvPr id="22" name="object 22"/>
            <p:cNvSpPr/>
            <p:nvPr/>
          </p:nvSpPr>
          <p:spPr>
            <a:xfrm>
              <a:off x="6638544" y="4610100"/>
              <a:ext cx="1327785" cy="344805"/>
            </a:xfrm>
            <a:custGeom>
              <a:avLst/>
              <a:gdLst/>
              <a:ahLst/>
              <a:cxnLst/>
              <a:rect l="l" t="t" r="r" b="b"/>
              <a:pathLst>
                <a:path w="1327784" h="344804">
                  <a:moveTo>
                    <a:pt x="1327403" y="0"/>
                  </a:moveTo>
                  <a:lnTo>
                    <a:pt x="0" y="0"/>
                  </a:lnTo>
                  <a:lnTo>
                    <a:pt x="0" y="344424"/>
                  </a:lnTo>
                  <a:lnTo>
                    <a:pt x="1327403" y="344424"/>
                  </a:lnTo>
                  <a:lnTo>
                    <a:pt x="1327403" y="0"/>
                  </a:lnTo>
                  <a:close/>
                </a:path>
              </a:pathLst>
            </a:custGeom>
            <a:solidFill>
              <a:srgbClr val="FFC000"/>
            </a:solidFill>
          </p:spPr>
          <p:txBody>
            <a:bodyPr wrap="square" lIns="0" tIns="0" rIns="0" bIns="0" rtlCol="0"/>
            <a:lstStyle/>
            <a:p>
              <a:endParaRPr/>
            </a:p>
          </p:txBody>
        </p:sp>
        <p:sp>
          <p:nvSpPr>
            <p:cNvPr id="23" name="object 23"/>
            <p:cNvSpPr/>
            <p:nvPr/>
          </p:nvSpPr>
          <p:spPr>
            <a:xfrm>
              <a:off x="6638544" y="4610100"/>
              <a:ext cx="1327785" cy="344805"/>
            </a:xfrm>
            <a:custGeom>
              <a:avLst/>
              <a:gdLst/>
              <a:ahLst/>
              <a:cxnLst/>
              <a:rect l="l" t="t" r="r" b="b"/>
              <a:pathLst>
                <a:path w="1327784" h="344804">
                  <a:moveTo>
                    <a:pt x="0" y="344424"/>
                  </a:moveTo>
                  <a:lnTo>
                    <a:pt x="1327403" y="344424"/>
                  </a:lnTo>
                  <a:lnTo>
                    <a:pt x="1327403" y="0"/>
                  </a:lnTo>
                  <a:lnTo>
                    <a:pt x="0" y="0"/>
                  </a:lnTo>
                  <a:lnTo>
                    <a:pt x="0" y="344424"/>
                  </a:lnTo>
                  <a:close/>
                </a:path>
              </a:pathLst>
            </a:custGeom>
            <a:ln w="9144">
              <a:solidFill>
                <a:srgbClr val="000000"/>
              </a:solidFill>
            </a:ln>
          </p:spPr>
          <p:txBody>
            <a:bodyPr wrap="square" lIns="0" tIns="0" rIns="0" bIns="0" rtlCol="0"/>
            <a:lstStyle/>
            <a:p>
              <a:endParaRPr/>
            </a:p>
          </p:txBody>
        </p:sp>
        <p:sp>
          <p:nvSpPr>
            <p:cNvPr id="24" name="object 24"/>
            <p:cNvSpPr/>
            <p:nvPr/>
          </p:nvSpPr>
          <p:spPr>
            <a:xfrm>
              <a:off x="5489447" y="4610100"/>
              <a:ext cx="1149350" cy="344805"/>
            </a:xfrm>
            <a:custGeom>
              <a:avLst/>
              <a:gdLst/>
              <a:ahLst/>
              <a:cxnLst/>
              <a:rect l="l" t="t" r="r" b="b"/>
              <a:pathLst>
                <a:path w="1149350" h="344804">
                  <a:moveTo>
                    <a:pt x="1149096" y="0"/>
                  </a:moveTo>
                  <a:lnTo>
                    <a:pt x="0" y="0"/>
                  </a:lnTo>
                  <a:lnTo>
                    <a:pt x="0" y="344424"/>
                  </a:lnTo>
                  <a:lnTo>
                    <a:pt x="1149096" y="344424"/>
                  </a:lnTo>
                  <a:lnTo>
                    <a:pt x="1149096" y="0"/>
                  </a:lnTo>
                  <a:close/>
                </a:path>
              </a:pathLst>
            </a:custGeom>
            <a:solidFill>
              <a:srgbClr val="FFC000"/>
            </a:solidFill>
          </p:spPr>
          <p:txBody>
            <a:bodyPr wrap="square" lIns="0" tIns="0" rIns="0" bIns="0" rtlCol="0"/>
            <a:lstStyle/>
            <a:p>
              <a:endParaRPr/>
            </a:p>
          </p:txBody>
        </p:sp>
        <p:sp>
          <p:nvSpPr>
            <p:cNvPr id="25" name="object 25"/>
            <p:cNvSpPr/>
            <p:nvPr/>
          </p:nvSpPr>
          <p:spPr>
            <a:xfrm>
              <a:off x="5489447" y="4610100"/>
              <a:ext cx="1149350" cy="344805"/>
            </a:xfrm>
            <a:custGeom>
              <a:avLst/>
              <a:gdLst/>
              <a:ahLst/>
              <a:cxnLst/>
              <a:rect l="l" t="t" r="r" b="b"/>
              <a:pathLst>
                <a:path w="1149350" h="344804">
                  <a:moveTo>
                    <a:pt x="0" y="344424"/>
                  </a:moveTo>
                  <a:lnTo>
                    <a:pt x="1149096" y="344424"/>
                  </a:lnTo>
                  <a:lnTo>
                    <a:pt x="1149096" y="0"/>
                  </a:lnTo>
                  <a:lnTo>
                    <a:pt x="0" y="0"/>
                  </a:lnTo>
                  <a:lnTo>
                    <a:pt x="0" y="344424"/>
                  </a:lnTo>
                  <a:close/>
                </a:path>
              </a:pathLst>
            </a:custGeom>
            <a:ln w="9144">
              <a:solidFill>
                <a:srgbClr val="000000"/>
              </a:solidFill>
            </a:ln>
          </p:spPr>
          <p:txBody>
            <a:bodyPr wrap="square" lIns="0" tIns="0" rIns="0" bIns="0" rtlCol="0"/>
            <a:lstStyle/>
            <a:p>
              <a:endParaRPr/>
            </a:p>
          </p:txBody>
        </p:sp>
        <p:sp>
          <p:nvSpPr>
            <p:cNvPr id="26" name="object 26"/>
            <p:cNvSpPr/>
            <p:nvPr/>
          </p:nvSpPr>
          <p:spPr>
            <a:xfrm>
              <a:off x="4008119" y="4815840"/>
              <a:ext cx="620395" cy="344805"/>
            </a:xfrm>
            <a:custGeom>
              <a:avLst/>
              <a:gdLst/>
              <a:ahLst/>
              <a:cxnLst/>
              <a:rect l="l" t="t" r="r" b="b"/>
              <a:pathLst>
                <a:path w="620395" h="344804">
                  <a:moveTo>
                    <a:pt x="620268" y="0"/>
                  </a:moveTo>
                  <a:lnTo>
                    <a:pt x="0" y="0"/>
                  </a:lnTo>
                  <a:lnTo>
                    <a:pt x="0" y="344424"/>
                  </a:lnTo>
                  <a:lnTo>
                    <a:pt x="620268" y="344424"/>
                  </a:lnTo>
                  <a:lnTo>
                    <a:pt x="620268" y="0"/>
                  </a:lnTo>
                  <a:close/>
                </a:path>
              </a:pathLst>
            </a:custGeom>
            <a:solidFill>
              <a:srgbClr val="FFC000"/>
            </a:solidFill>
          </p:spPr>
          <p:txBody>
            <a:bodyPr wrap="square" lIns="0" tIns="0" rIns="0" bIns="0" rtlCol="0"/>
            <a:lstStyle/>
            <a:p>
              <a:endParaRPr/>
            </a:p>
          </p:txBody>
        </p:sp>
        <p:sp>
          <p:nvSpPr>
            <p:cNvPr id="27" name="object 27"/>
            <p:cNvSpPr/>
            <p:nvPr/>
          </p:nvSpPr>
          <p:spPr>
            <a:xfrm>
              <a:off x="4008119" y="4815840"/>
              <a:ext cx="620395" cy="344805"/>
            </a:xfrm>
            <a:custGeom>
              <a:avLst/>
              <a:gdLst/>
              <a:ahLst/>
              <a:cxnLst/>
              <a:rect l="l" t="t" r="r" b="b"/>
              <a:pathLst>
                <a:path w="620395" h="344804">
                  <a:moveTo>
                    <a:pt x="0" y="344424"/>
                  </a:moveTo>
                  <a:lnTo>
                    <a:pt x="620268" y="344424"/>
                  </a:lnTo>
                  <a:lnTo>
                    <a:pt x="620268" y="0"/>
                  </a:lnTo>
                  <a:lnTo>
                    <a:pt x="0" y="0"/>
                  </a:lnTo>
                  <a:lnTo>
                    <a:pt x="0" y="344424"/>
                  </a:lnTo>
                  <a:close/>
                </a:path>
              </a:pathLst>
            </a:custGeom>
            <a:ln w="9143">
              <a:solidFill>
                <a:srgbClr val="000000"/>
              </a:solidFill>
            </a:ln>
          </p:spPr>
          <p:txBody>
            <a:bodyPr wrap="square" lIns="0" tIns="0" rIns="0" bIns="0" rtlCol="0"/>
            <a:lstStyle/>
            <a:p>
              <a:endParaRPr/>
            </a:p>
          </p:txBody>
        </p:sp>
        <p:sp>
          <p:nvSpPr>
            <p:cNvPr id="28" name="object 28"/>
            <p:cNvSpPr/>
            <p:nvPr/>
          </p:nvSpPr>
          <p:spPr>
            <a:xfrm>
              <a:off x="4628387" y="4815840"/>
              <a:ext cx="1061085" cy="344805"/>
            </a:xfrm>
            <a:custGeom>
              <a:avLst/>
              <a:gdLst/>
              <a:ahLst/>
              <a:cxnLst/>
              <a:rect l="l" t="t" r="r" b="b"/>
              <a:pathLst>
                <a:path w="1061085" h="344804">
                  <a:moveTo>
                    <a:pt x="1060703" y="0"/>
                  </a:moveTo>
                  <a:lnTo>
                    <a:pt x="0" y="0"/>
                  </a:lnTo>
                  <a:lnTo>
                    <a:pt x="0" y="344424"/>
                  </a:lnTo>
                  <a:lnTo>
                    <a:pt x="1060703" y="344424"/>
                  </a:lnTo>
                  <a:lnTo>
                    <a:pt x="1060703" y="0"/>
                  </a:lnTo>
                  <a:close/>
                </a:path>
              </a:pathLst>
            </a:custGeom>
            <a:solidFill>
              <a:srgbClr val="FFC000"/>
            </a:solidFill>
          </p:spPr>
          <p:txBody>
            <a:bodyPr wrap="square" lIns="0" tIns="0" rIns="0" bIns="0" rtlCol="0"/>
            <a:lstStyle/>
            <a:p>
              <a:endParaRPr/>
            </a:p>
          </p:txBody>
        </p:sp>
        <p:sp>
          <p:nvSpPr>
            <p:cNvPr id="29" name="object 29"/>
            <p:cNvSpPr/>
            <p:nvPr/>
          </p:nvSpPr>
          <p:spPr>
            <a:xfrm>
              <a:off x="4628387" y="4815840"/>
              <a:ext cx="1061085" cy="344805"/>
            </a:xfrm>
            <a:custGeom>
              <a:avLst/>
              <a:gdLst/>
              <a:ahLst/>
              <a:cxnLst/>
              <a:rect l="l" t="t" r="r" b="b"/>
              <a:pathLst>
                <a:path w="1061085" h="344804">
                  <a:moveTo>
                    <a:pt x="0" y="344424"/>
                  </a:moveTo>
                  <a:lnTo>
                    <a:pt x="1060703" y="344424"/>
                  </a:lnTo>
                  <a:lnTo>
                    <a:pt x="1060703" y="0"/>
                  </a:lnTo>
                  <a:lnTo>
                    <a:pt x="0" y="0"/>
                  </a:lnTo>
                  <a:lnTo>
                    <a:pt x="0" y="344424"/>
                  </a:lnTo>
                  <a:close/>
                </a:path>
              </a:pathLst>
            </a:custGeom>
            <a:ln w="9144">
              <a:solidFill>
                <a:srgbClr val="000000"/>
              </a:solidFill>
            </a:ln>
          </p:spPr>
          <p:txBody>
            <a:bodyPr wrap="square" lIns="0" tIns="0" rIns="0" bIns="0" rtlCol="0"/>
            <a:lstStyle/>
            <a:p>
              <a:endParaRPr/>
            </a:p>
          </p:txBody>
        </p:sp>
        <p:sp>
          <p:nvSpPr>
            <p:cNvPr id="30" name="object 30"/>
            <p:cNvSpPr/>
            <p:nvPr/>
          </p:nvSpPr>
          <p:spPr>
            <a:xfrm>
              <a:off x="6839711" y="4815840"/>
              <a:ext cx="1325880" cy="344805"/>
            </a:xfrm>
            <a:custGeom>
              <a:avLst/>
              <a:gdLst/>
              <a:ahLst/>
              <a:cxnLst/>
              <a:rect l="l" t="t" r="r" b="b"/>
              <a:pathLst>
                <a:path w="1325879" h="344804">
                  <a:moveTo>
                    <a:pt x="1325879" y="0"/>
                  </a:moveTo>
                  <a:lnTo>
                    <a:pt x="0" y="0"/>
                  </a:lnTo>
                  <a:lnTo>
                    <a:pt x="0" y="344424"/>
                  </a:lnTo>
                  <a:lnTo>
                    <a:pt x="1325879" y="344424"/>
                  </a:lnTo>
                  <a:lnTo>
                    <a:pt x="1325879" y="0"/>
                  </a:lnTo>
                  <a:close/>
                </a:path>
              </a:pathLst>
            </a:custGeom>
            <a:solidFill>
              <a:srgbClr val="FFC000"/>
            </a:solidFill>
          </p:spPr>
          <p:txBody>
            <a:bodyPr wrap="square" lIns="0" tIns="0" rIns="0" bIns="0" rtlCol="0"/>
            <a:lstStyle/>
            <a:p>
              <a:endParaRPr/>
            </a:p>
          </p:txBody>
        </p:sp>
        <p:sp>
          <p:nvSpPr>
            <p:cNvPr id="31" name="object 31"/>
            <p:cNvSpPr/>
            <p:nvPr/>
          </p:nvSpPr>
          <p:spPr>
            <a:xfrm>
              <a:off x="6839711" y="4815840"/>
              <a:ext cx="1325880" cy="344805"/>
            </a:xfrm>
            <a:custGeom>
              <a:avLst/>
              <a:gdLst/>
              <a:ahLst/>
              <a:cxnLst/>
              <a:rect l="l" t="t" r="r" b="b"/>
              <a:pathLst>
                <a:path w="1325879" h="344804">
                  <a:moveTo>
                    <a:pt x="0" y="344424"/>
                  </a:moveTo>
                  <a:lnTo>
                    <a:pt x="1325879" y="344424"/>
                  </a:lnTo>
                  <a:lnTo>
                    <a:pt x="1325879" y="0"/>
                  </a:lnTo>
                  <a:lnTo>
                    <a:pt x="0" y="0"/>
                  </a:lnTo>
                  <a:lnTo>
                    <a:pt x="0" y="344424"/>
                  </a:lnTo>
                  <a:close/>
                </a:path>
              </a:pathLst>
            </a:custGeom>
            <a:ln w="9144">
              <a:solidFill>
                <a:srgbClr val="000000"/>
              </a:solidFill>
            </a:ln>
          </p:spPr>
          <p:txBody>
            <a:bodyPr wrap="square" lIns="0" tIns="0" rIns="0" bIns="0" rtlCol="0"/>
            <a:lstStyle/>
            <a:p>
              <a:endParaRPr/>
            </a:p>
          </p:txBody>
        </p:sp>
        <p:sp>
          <p:nvSpPr>
            <p:cNvPr id="32" name="object 32"/>
            <p:cNvSpPr/>
            <p:nvPr/>
          </p:nvSpPr>
          <p:spPr>
            <a:xfrm>
              <a:off x="5689091" y="4815840"/>
              <a:ext cx="1150620" cy="344805"/>
            </a:xfrm>
            <a:custGeom>
              <a:avLst/>
              <a:gdLst/>
              <a:ahLst/>
              <a:cxnLst/>
              <a:rect l="l" t="t" r="r" b="b"/>
              <a:pathLst>
                <a:path w="1150620" h="344804">
                  <a:moveTo>
                    <a:pt x="1150619" y="0"/>
                  </a:moveTo>
                  <a:lnTo>
                    <a:pt x="0" y="0"/>
                  </a:lnTo>
                  <a:lnTo>
                    <a:pt x="0" y="344424"/>
                  </a:lnTo>
                  <a:lnTo>
                    <a:pt x="1150619" y="344424"/>
                  </a:lnTo>
                  <a:lnTo>
                    <a:pt x="1150619" y="0"/>
                  </a:lnTo>
                  <a:close/>
                </a:path>
              </a:pathLst>
            </a:custGeom>
            <a:solidFill>
              <a:srgbClr val="FFC000"/>
            </a:solidFill>
          </p:spPr>
          <p:txBody>
            <a:bodyPr wrap="square" lIns="0" tIns="0" rIns="0" bIns="0" rtlCol="0"/>
            <a:lstStyle/>
            <a:p>
              <a:endParaRPr/>
            </a:p>
          </p:txBody>
        </p:sp>
        <p:sp>
          <p:nvSpPr>
            <p:cNvPr id="33" name="object 33"/>
            <p:cNvSpPr/>
            <p:nvPr/>
          </p:nvSpPr>
          <p:spPr>
            <a:xfrm>
              <a:off x="5689091" y="4815840"/>
              <a:ext cx="1150620" cy="344805"/>
            </a:xfrm>
            <a:custGeom>
              <a:avLst/>
              <a:gdLst/>
              <a:ahLst/>
              <a:cxnLst/>
              <a:rect l="l" t="t" r="r" b="b"/>
              <a:pathLst>
                <a:path w="1150620" h="344804">
                  <a:moveTo>
                    <a:pt x="0" y="344424"/>
                  </a:moveTo>
                  <a:lnTo>
                    <a:pt x="1150619" y="344424"/>
                  </a:lnTo>
                  <a:lnTo>
                    <a:pt x="1150619" y="0"/>
                  </a:lnTo>
                  <a:lnTo>
                    <a:pt x="0" y="0"/>
                  </a:lnTo>
                  <a:lnTo>
                    <a:pt x="0" y="344424"/>
                  </a:lnTo>
                  <a:close/>
                </a:path>
              </a:pathLst>
            </a:custGeom>
            <a:ln w="9144">
              <a:solidFill>
                <a:srgbClr val="000000"/>
              </a:solidFill>
            </a:ln>
          </p:spPr>
          <p:txBody>
            <a:bodyPr wrap="square" lIns="0" tIns="0" rIns="0" bIns="0" rtlCol="0"/>
            <a:lstStyle/>
            <a:p>
              <a:endParaRPr/>
            </a:p>
          </p:txBody>
        </p:sp>
        <p:sp>
          <p:nvSpPr>
            <p:cNvPr id="34" name="object 34"/>
            <p:cNvSpPr/>
            <p:nvPr/>
          </p:nvSpPr>
          <p:spPr>
            <a:xfrm>
              <a:off x="4209287" y="5023104"/>
              <a:ext cx="619125" cy="344805"/>
            </a:xfrm>
            <a:custGeom>
              <a:avLst/>
              <a:gdLst/>
              <a:ahLst/>
              <a:cxnLst/>
              <a:rect l="l" t="t" r="r" b="b"/>
              <a:pathLst>
                <a:path w="619125" h="344804">
                  <a:moveTo>
                    <a:pt x="618743" y="0"/>
                  </a:moveTo>
                  <a:lnTo>
                    <a:pt x="0" y="0"/>
                  </a:lnTo>
                  <a:lnTo>
                    <a:pt x="0" y="344424"/>
                  </a:lnTo>
                  <a:lnTo>
                    <a:pt x="618743" y="344424"/>
                  </a:lnTo>
                  <a:lnTo>
                    <a:pt x="618743" y="0"/>
                  </a:lnTo>
                  <a:close/>
                </a:path>
              </a:pathLst>
            </a:custGeom>
            <a:solidFill>
              <a:srgbClr val="FFC000"/>
            </a:solidFill>
          </p:spPr>
          <p:txBody>
            <a:bodyPr wrap="square" lIns="0" tIns="0" rIns="0" bIns="0" rtlCol="0"/>
            <a:lstStyle/>
            <a:p>
              <a:endParaRPr/>
            </a:p>
          </p:txBody>
        </p:sp>
        <p:sp>
          <p:nvSpPr>
            <p:cNvPr id="35" name="object 35"/>
            <p:cNvSpPr/>
            <p:nvPr/>
          </p:nvSpPr>
          <p:spPr>
            <a:xfrm>
              <a:off x="4209287" y="5023104"/>
              <a:ext cx="619125" cy="344805"/>
            </a:xfrm>
            <a:custGeom>
              <a:avLst/>
              <a:gdLst/>
              <a:ahLst/>
              <a:cxnLst/>
              <a:rect l="l" t="t" r="r" b="b"/>
              <a:pathLst>
                <a:path w="619125" h="344804">
                  <a:moveTo>
                    <a:pt x="0" y="344424"/>
                  </a:moveTo>
                  <a:lnTo>
                    <a:pt x="618743" y="344424"/>
                  </a:lnTo>
                  <a:lnTo>
                    <a:pt x="618743" y="0"/>
                  </a:lnTo>
                  <a:lnTo>
                    <a:pt x="0" y="0"/>
                  </a:lnTo>
                  <a:lnTo>
                    <a:pt x="0" y="344424"/>
                  </a:lnTo>
                  <a:close/>
                </a:path>
              </a:pathLst>
            </a:custGeom>
            <a:ln w="9144">
              <a:solidFill>
                <a:srgbClr val="000000"/>
              </a:solidFill>
            </a:ln>
          </p:spPr>
          <p:txBody>
            <a:bodyPr wrap="square" lIns="0" tIns="0" rIns="0" bIns="0" rtlCol="0"/>
            <a:lstStyle/>
            <a:p>
              <a:endParaRPr/>
            </a:p>
          </p:txBody>
        </p:sp>
        <p:sp>
          <p:nvSpPr>
            <p:cNvPr id="36" name="object 36"/>
            <p:cNvSpPr/>
            <p:nvPr/>
          </p:nvSpPr>
          <p:spPr>
            <a:xfrm>
              <a:off x="4828031" y="5023104"/>
              <a:ext cx="1061085" cy="344805"/>
            </a:xfrm>
            <a:custGeom>
              <a:avLst/>
              <a:gdLst/>
              <a:ahLst/>
              <a:cxnLst/>
              <a:rect l="l" t="t" r="r" b="b"/>
              <a:pathLst>
                <a:path w="1061085" h="344804">
                  <a:moveTo>
                    <a:pt x="1060703" y="0"/>
                  </a:moveTo>
                  <a:lnTo>
                    <a:pt x="0" y="0"/>
                  </a:lnTo>
                  <a:lnTo>
                    <a:pt x="0" y="344424"/>
                  </a:lnTo>
                  <a:lnTo>
                    <a:pt x="1060703" y="344424"/>
                  </a:lnTo>
                  <a:lnTo>
                    <a:pt x="1060703" y="0"/>
                  </a:lnTo>
                  <a:close/>
                </a:path>
              </a:pathLst>
            </a:custGeom>
            <a:solidFill>
              <a:srgbClr val="FFC000"/>
            </a:solidFill>
          </p:spPr>
          <p:txBody>
            <a:bodyPr wrap="square" lIns="0" tIns="0" rIns="0" bIns="0" rtlCol="0"/>
            <a:lstStyle/>
            <a:p>
              <a:endParaRPr/>
            </a:p>
          </p:txBody>
        </p:sp>
        <p:sp>
          <p:nvSpPr>
            <p:cNvPr id="37" name="object 37"/>
            <p:cNvSpPr/>
            <p:nvPr/>
          </p:nvSpPr>
          <p:spPr>
            <a:xfrm>
              <a:off x="4828031" y="5023104"/>
              <a:ext cx="1061085" cy="344805"/>
            </a:xfrm>
            <a:custGeom>
              <a:avLst/>
              <a:gdLst/>
              <a:ahLst/>
              <a:cxnLst/>
              <a:rect l="l" t="t" r="r" b="b"/>
              <a:pathLst>
                <a:path w="1061085" h="344804">
                  <a:moveTo>
                    <a:pt x="0" y="344424"/>
                  </a:moveTo>
                  <a:lnTo>
                    <a:pt x="1060703" y="344424"/>
                  </a:lnTo>
                  <a:lnTo>
                    <a:pt x="1060703" y="0"/>
                  </a:lnTo>
                  <a:lnTo>
                    <a:pt x="0" y="0"/>
                  </a:lnTo>
                  <a:lnTo>
                    <a:pt x="0" y="344424"/>
                  </a:lnTo>
                  <a:close/>
                </a:path>
              </a:pathLst>
            </a:custGeom>
            <a:ln w="9144">
              <a:solidFill>
                <a:srgbClr val="000000"/>
              </a:solidFill>
            </a:ln>
          </p:spPr>
          <p:txBody>
            <a:bodyPr wrap="square" lIns="0" tIns="0" rIns="0" bIns="0" rtlCol="0"/>
            <a:lstStyle/>
            <a:p>
              <a:endParaRPr/>
            </a:p>
          </p:txBody>
        </p:sp>
        <p:sp>
          <p:nvSpPr>
            <p:cNvPr id="38" name="object 38"/>
            <p:cNvSpPr/>
            <p:nvPr/>
          </p:nvSpPr>
          <p:spPr>
            <a:xfrm>
              <a:off x="7039355" y="5023104"/>
              <a:ext cx="1325880" cy="344805"/>
            </a:xfrm>
            <a:custGeom>
              <a:avLst/>
              <a:gdLst/>
              <a:ahLst/>
              <a:cxnLst/>
              <a:rect l="l" t="t" r="r" b="b"/>
              <a:pathLst>
                <a:path w="1325879" h="344804">
                  <a:moveTo>
                    <a:pt x="1325879" y="0"/>
                  </a:moveTo>
                  <a:lnTo>
                    <a:pt x="0" y="0"/>
                  </a:lnTo>
                  <a:lnTo>
                    <a:pt x="0" y="344424"/>
                  </a:lnTo>
                  <a:lnTo>
                    <a:pt x="1325879" y="344424"/>
                  </a:lnTo>
                  <a:lnTo>
                    <a:pt x="1325879" y="0"/>
                  </a:lnTo>
                  <a:close/>
                </a:path>
              </a:pathLst>
            </a:custGeom>
            <a:solidFill>
              <a:srgbClr val="FFC000"/>
            </a:solidFill>
          </p:spPr>
          <p:txBody>
            <a:bodyPr wrap="square" lIns="0" tIns="0" rIns="0" bIns="0" rtlCol="0"/>
            <a:lstStyle/>
            <a:p>
              <a:endParaRPr/>
            </a:p>
          </p:txBody>
        </p:sp>
        <p:sp>
          <p:nvSpPr>
            <p:cNvPr id="39" name="object 39"/>
            <p:cNvSpPr/>
            <p:nvPr/>
          </p:nvSpPr>
          <p:spPr>
            <a:xfrm>
              <a:off x="7039355" y="5023104"/>
              <a:ext cx="1325880" cy="344805"/>
            </a:xfrm>
            <a:custGeom>
              <a:avLst/>
              <a:gdLst/>
              <a:ahLst/>
              <a:cxnLst/>
              <a:rect l="l" t="t" r="r" b="b"/>
              <a:pathLst>
                <a:path w="1325879" h="344804">
                  <a:moveTo>
                    <a:pt x="0" y="344424"/>
                  </a:moveTo>
                  <a:lnTo>
                    <a:pt x="1325879" y="344424"/>
                  </a:lnTo>
                  <a:lnTo>
                    <a:pt x="1325879" y="0"/>
                  </a:lnTo>
                  <a:lnTo>
                    <a:pt x="0" y="0"/>
                  </a:lnTo>
                  <a:lnTo>
                    <a:pt x="0" y="344424"/>
                  </a:lnTo>
                  <a:close/>
                </a:path>
              </a:pathLst>
            </a:custGeom>
            <a:ln w="9144">
              <a:solidFill>
                <a:srgbClr val="000000"/>
              </a:solidFill>
            </a:ln>
          </p:spPr>
          <p:txBody>
            <a:bodyPr wrap="square" lIns="0" tIns="0" rIns="0" bIns="0" rtlCol="0"/>
            <a:lstStyle/>
            <a:p>
              <a:endParaRPr/>
            </a:p>
          </p:txBody>
        </p:sp>
        <p:sp>
          <p:nvSpPr>
            <p:cNvPr id="40" name="object 40"/>
            <p:cNvSpPr/>
            <p:nvPr/>
          </p:nvSpPr>
          <p:spPr>
            <a:xfrm>
              <a:off x="5888735" y="5023104"/>
              <a:ext cx="1150620" cy="344805"/>
            </a:xfrm>
            <a:custGeom>
              <a:avLst/>
              <a:gdLst/>
              <a:ahLst/>
              <a:cxnLst/>
              <a:rect l="l" t="t" r="r" b="b"/>
              <a:pathLst>
                <a:path w="1150620" h="344804">
                  <a:moveTo>
                    <a:pt x="1150619" y="0"/>
                  </a:moveTo>
                  <a:lnTo>
                    <a:pt x="0" y="0"/>
                  </a:lnTo>
                  <a:lnTo>
                    <a:pt x="0" y="344424"/>
                  </a:lnTo>
                  <a:lnTo>
                    <a:pt x="1150619" y="344424"/>
                  </a:lnTo>
                  <a:lnTo>
                    <a:pt x="1150619" y="0"/>
                  </a:lnTo>
                  <a:close/>
                </a:path>
              </a:pathLst>
            </a:custGeom>
            <a:solidFill>
              <a:srgbClr val="FFC000"/>
            </a:solidFill>
          </p:spPr>
          <p:txBody>
            <a:bodyPr wrap="square" lIns="0" tIns="0" rIns="0" bIns="0" rtlCol="0"/>
            <a:lstStyle/>
            <a:p>
              <a:endParaRPr/>
            </a:p>
          </p:txBody>
        </p:sp>
        <p:sp>
          <p:nvSpPr>
            <p:cNvPr id="41" name="object 41"/>
            <p:cNvSpPr/>
            <p:nvPr/>
          </p:nvSpPr>
          <p:spPr>
            <a:xfrm>
              <a:off x="5888735" y="5023104"/>
              <a:ext cx="1150620" cy="344805"/>
            </a:xfrm>
            <a:custGeom>
              <a:avLst/>
              <a:gdLst/>
              <a:ahLst/>
              <a:cxnLst/>
              <a:rect l="l" t="t" r="r" b="b"/>
              <a:pathLst>
                <a:path w="1150620" h="344804">
                  <a:moveTo>
                    <a:pt x="0" y="344424"/>
                  </a:moveTo>
                  <a:lnTo>
                    <a:pt x="1150619" y="344424"/>
                  </a:lnTo>
                  <a:lnTo>
                    <a:pt x="1150619" y="0"/>
                  </a:lnTo>
                  <a:lnTo>
                    <a:pt x="0" y="0"/>
                  </a:lnTo>
                  <a:lnTo>
                    <a:pt x="0" y="344424"/>
                  </a:lnTo>
                  <a:close/>
                </a:path>
              </a:pathLst>
            </a:custGeom>
            <a:ln w="9144">
              <a:solidFill>
                <a:srgbClr val="000000"/>
              </a:solidFill>
            </a:ln>
          </p:spPr>
          <p:txBody>
            <a:bodyPr wrap="square" lIns="0" tIns="0" rIns="0" bIns="0" rtlCol="0"/>
            <a:lstStyle/>
            <a:p>
              <a:endParaRPr/>
            </a:p>
          </p:txBody>
        </p:sp>
        <p:sp>
          <p:nvSpPr>
            <p:cNvPr id="42" name="object 42"/>
            <p:cNvSpPr/>
            <p:nvPr/>
          </p:nvSpPr>
          <p:spPr>
            <a:xfrm>
              <a:off x="4408931" y="5228844"/>
              <a:ext cx="619125" cy="344805"/>
            </a:xfrm>
            <a:custGeom>
              <a:avLst/>
              <a:gdLst/>
              <a:ahLst/>
              <a:cxnLst/>
              <a:rect l="l" t="t" r="r" b="b"/>
              <a:pathLst>
                <a:path w="619125" h="344804">
                  <a:moveTo>
                    <a:pt x="618743" y="0"/>
                  </a:moveTo>
                  <a:lnTo>
                    <a:pt x="0" y="0"/>
                  </a:lnTo>
                  <a:lnTo>
                    <a:pt x="0" y="344423"/>
                  </a:lnTo>
                  <a:lnTo>
                    <a:pt x="618743" y="344423"/>
                  </a:lnTo>
                  <a:lnTo>
                    <a:pt x="618743" y="0"/>
                  </a:lnTo>
                  <a:close/>
                </a:path>
              </a:pathLst>
            </a:custGeom>
            <a:solidFill>
              <a:srgbClr val="FFC000"/>
            </a:solidFill>
          </p:spPr>
          <p:txBody>
            <a:bodyPr wrap="square" lIns="0" tIns="0" rIns="0" bIns="0" rtlCol="0"/>
            <a:lstStyle/>
            <a:p>
              <a:endParaRPr/>
            </a:p>
          </p:txBody>
        </p:sp>
        <p:sp>
          <p:nvSpPr>
            <p:cNvPr id="43" name="object 43"/>
            <p:cNvSpPr/>
            <p:nvPr/>
          </p:nvSpPr>
          <p:spPr>
            <a:xfrm>
              <a:off x="4408931" y="5228844"/>
              <a:ext cx="619125" cy="344805"/>
            </a:xfrm>
            <a:custGeom>
              <a:avLst/>
              <a:gdLst/>
              <a:ahLst/>
              <a:cxnLst/>
              <a:rect l="l" t="t" r="r" b="b"/>
              <a:pathLst>
                <a:path w="619125" h="344804">
                  <a:moveTo>
                    <a:pt x="0" y="344423"/>
                  </a:moveTo>
                  <a:lnTo>
                    <a:pt x="618743" y="344423"/>
                  </a:lnTo>
                  <a:lnTo>
                    <a:pt x="618743" y="0"/>
                  </a:lnTo>
                  <a:lnTo>
                    <a:pt x="0" y="0"/>
                  </a:lnTo>
                  <a:lnTo>
                    <a:pt x="0" y="344423"/>
                  </a:lnTo>
                  <a:close/>
                </a:path>
              </a:pathLst>
            </a:custGeom>
            <a:ln w="9144">
              <a:solidFill>
                <a:srgbClr val="000000"/>
              </a:solidFill>
            </a:ln>
          </p:spPr>
          <p:txBody>
            <a:bodyPr wrap="square" lIns="0" tIns="0" rIns="0" bIns="0" rtlCol="0"/>
            <a:lstStyle/>
            <a:p>
              <a:endParaRPr/>
            </a:p>
          </p:txBody>
        </p:sp>
        <p:sp>
          <p:nvSpPr>
            <p:cNvPr id="44" name="object 44"/>
            <p:cNvSpPr/>
            <p:nvPr/>
          </p:nvSpPr>
          <p:spPr>
            <a:xfrm>
              <a:off x="5027675" y="5228844"/>
              <a:ext cx="1061085" cy="344805"/>
            </a:xfrm>
            <a:custGeom>
              <a:avLst/>
              <a:gdLst/>
              <a:ahLst/>
              <a:cxnLst/>
              <a:rect l="l" t="t" r="r" b="b"/>
              <a:pathLst>
                <a:path w="1061085" h="344804">
                  <a:moveTo>
                    <a:pt x="1060703" y="0"/>
                  </a:moveTo>
                  <a:lnTo>
                    <a:pt x="0" y="0"/>
                  </a:lnTo>
                  <a:lnTo>
                    <a:pt x="0" y="344423"/>
                  </a:lnTo>
                  <a:lnTo>
                    <a:pt x="1060703" y="344423"/>
                  </a:lnTo>
                  <a:lnTo>
                    <a:pt x="1060703" y="0"/>
                  </a:lnTo>
                  <a:close/>
                </a:path>
              </a:pathLst>
            </a:custGeom>
            <a:solidFill>
              <a:srgbClr val="FFC000"/>
            </a:solidFill>
          </p:spPr>
          <p:txBody>
            <a:bodyPr wrap="square" lIns="0" tIns="0" rIns="0" bIns="0" rtlCol="0"/>
            <a:lstStyle/>
            <a:p>
              <a:endParaRPr/>
            </a:p>
          </p:txBody>
        </p:sp>
        <p:sp>
          <p:nvSpPr>
            <p:cNvPr id="45" name="object 45"/>
            <p:cNvSpPr/>
            <p:nvPr/>
          </p:nvSpPr>
          <p:spPr>
            <a:xfrm>
              <a:off x="5027675" y="5228844"/>
              <a:ext cx="1061085" cy="344805"/>
            </a:xfrm>
            <a:custGeom>
              <a:avLst/>
              <a:gdLst/>
              <a:ahLst/>
              <a:cxnLst/>
              <a:rect l="l" t="t" r="r" b="b"/>
              <a:pathLst>
                <a:path w="1061085" h="344804">
                  <a:moveTo>
                    <a:pt x="0" y="344423"/>
                  </a:moveTo>
                  <a:lnTo>
                    <a:pt x="1060703" y="344423"/>
                  </a:lnTo>
                  <a:lnTo>
                    <a:pt x="1060703" y="0"/>
                  </a:lnTo>
                  <a:lnTo>
                    <a:pt x="0" y="0"/>
                  </a:lnTo>
                  <a:lnTo>
                    <a:pt x="0" y="344423"/>
                  </a:lnTo>
                  <a:close/>
                </a:path>
              </a:pathLst>
            </a:custGeom>
            <a:ln w="9144">
              <a:solidFill>
                <a:srgbClr val="000000"/>
              </a:solidFill>
            </a:ln>
          </p:spPr>
          <p:txBody>
            <a:bodyPr wrap="square" lIns="0" tIns="0" rIns="0" bIns="0" rtlCol="0"/>
            <a:lstStyle/>
            <a:p>
              <a:endParaRPr/>
            </a:p>
          </p:txBody>
        </p:sp>
        <p:sp>
          <p:nvSpPr>
            <p:cNvPr id="46" name="object 46"/>
            <p:cNvSpPr/>
            <p:nvPr/>
          </p:nvSpPr>
          <p:spPr>
            <a:xfrm>
              <a:off x="7239000" y="5228844"/>
              <a:ext cx="1327785" cy="344805"/>
            </a:xfrm>
            <a:custGeom>
              <a:avLst/>
              <a:gdLst/>
              <a:ahLst/>
              <a:cxnLst/>
              <a:rect l="l" t="t" r="r" b="b"/>
              <a:pathLst>
                <a:path w="1327784" h="344804">
                  <a:moveTo>
                    <a:pt x="1327403" y="0"/>
                  </a:moveTo>
                  <a:lnTo>
                    <a:pt x="0" y="0"/>
                  </a:lnTo>
                  <a:lnTo>
                    <a:pt x="0" y="344423"/>
                  </a:lnTo>
                  <a:lnTo>
                    <a:pt x="1327403" y="344423"/>
                  </a:lnTo>
                  <a:lnTo>
                    <a:pt x="1327403" y="0"/>
                  </a:lnTo>
                  <a:close/>
                </a:path>
              </a:pathLst>
            </a:custGeom>
            <a:solidFill>
              <a:srgbClr val="FFC000"/>
            </a:solidFill>
          </p:spPr>
          <p:txBody>
            <a:bodyPr wrap="square" lIns="0" tIns="0" rIns="0" bIns="0" rtlCol="0"/>
            <a:lstStyle/>
            <a:p>
              <a:endParaRPr/>
            </a:p>
          </p:txBody>
        </p:sp>
        <p:sp>
          <p:nvSpPr>
            <p:cNvPr id="47" name="object 47"/>
            <p:cNvSpPr/>
            <p:nvPr/>
          </p:nvSpPr>
          <p:spPr>
            <a:xfrm>
              <a:off x="7239000" y="5228844"/>
              <a:ext cx="1327785" cy="344805"/>
            </a:xfrm>
            <a:custGeom>
              <a:avLst/>
              <a:gdLst/>
              <a:ahLst/>
              <a:cxnLst/>
              <a:rect l="l" t="t" r="r" b="b"/>
              <a:pathLst>
                <a:path w="1327784" h="344804">
                  <a:moveTo>
                    <a:pt x="0" y="344423"/>
                  </a:moveTo>
                  <a:lnTo>
                    <a:pt x="1327403" y="344423"/>
                  </a:lnTo>
                  <a:lnTo>
                    <a:pt x="1327403" y="0"/>
                  </a:lnTo>
                  <a:lnTo>
                    <a:pt x="0" y="0"/>
                  </a:lnTo>
                  <a:lnTo>
                    <a:pt x="0" y="344423"/>
                  </a:lnTo>
                  <a:close/>
                </a:path>
              </a:pathLst>
            </a:custGeom>
            <a:ln w="9144">
              <a:solidFill>
                <a:srgbClr val="000000"/>
              </a:solidFill>
            </a:ln>
          </p:spPr>
          <p:txBody>
            <a:bodyPr wrap="square" lIns="0" tIns="0" rIns="0" bIns="0" rtlCol="0"/>
            <a:lstStyle/>
            <a:p>
              <a:endParaRPr/>
            </a:p>
          </p:txBody>
        </p:sp>
        <p:sp>
          <p:nvSpPr>
            <p:cNvPr id="48" name="object 48"/>
            <p:cNvSpPr/>
            <p:nvPr/>
          </p:nvSpPr>
          <p:spPr>
            <a:xfrm>
              <a:off x="6088379" y="5228844"/>
              <a:ext cx="1150620" cy="344805"/>
            </a:xfrm>
            <a:custGeom>
              <a:avLst/>
              <a:gdLst/>
              <a:ahLst/>
              <a:cxnLst/>
              <a:rect l="l" t="t" r="r" b="b"/>
              <a:pathLst>
                <a:path w="1150620" h="344804">
                  <a:moveTo>
                    <a:pt x="1150620" y="0"/>
                  </a:moveTo>
                  <a:lnTo>
                    <a:pt x="0" y="0"/>
                  </a:lnTo>
                  <a:lnTo>
                    <a:pt x="0" y="344423"/>
                  </a:lnTo>
                  <a:lnTo>
                    <a:pt x="1150620" y="344423"/>
                  </a:lnTo>
                  <a:lnTo>
                    <a:pt x="1150620" y="0"/>
                  </a:lnTo>
                  <a:close/>
                </a:path>
              </a:pathLst>
            </a:custGeom>
            <a:solidFill>
              <a:srgbClr val="FFC000"/>
            </a:solidFill>
          </p:spPr>
          <p:txBody>
            <a:bodyPr wrap="square" lIns="0" tIns="0" rIns="0" bIns="0" rtlCol="0"/>
            <a:lstStyle/>
            <a:p>
              <a:endParaRPr/>
            </a:p>
          </p:txBody>
        </p:sp>
        <p:sp>
          <p:nvSpPr>
            <p:cNvPr id="49" name="object 49"/>
            <p:cNvSpPr/>
            <p:nvPr/>
          </p:nvSpPr>
          <p:spPr>
            <a:xfrm>
              <a:off x="6088379" y="5228844"/>
              <a:ext cx="1150620" cy="344805"/>
            </a:xfrm>
            <a:custGeom>
              <a:avLst/>
              <a:gdLst/>
              <a:ahLst/>
              <a:cxnLst/>
              <a:rect l="l" t="t" r="r" b="b"/>
              <a:pathLst>
                <a:path w="1150620" h="344804">
                  <a:moveTo>
                    <a:pt x="0" y="344423"/>
                  </a:moveTo>
                  <a:lnTo>
                    <a:pt x="1150620" y="344423"/>
                  </a:lnTo>
                  <a:lnTo>
                    <a:pt x="1150620" y="0"/>
                  </a:lnTo>
                  <a:lnTo>
                    <a:pt x="0" y="0"/>
                  </a:lnTo>
                  <a:lnTo>
                    <a:pt x="0" y="344423"/>
                  </a:lnTo>
                  <a:close/>
                </a:path>
              </a:pathLst>
            </a:custGeom>
            <a:ln w="9144">
              <a:solidFill>
                <a:srgbClr val="000000"/>
              </a:solidFill>
            </a:ln>
          </p:spPr>
          <p:txBody>
            <a:bodyPr wrap="square" lIns="0" tIns="0" rIns="0" bIns="0" rtlCol="0"/>
            <a:lstStyle/>
            <a:p>
              <a:endParaRPr/>
            </a:p>
          </p:txBody>
        </p:sp>
        <p:sp>
          <p:nvSpPr>
            <p:cNvPr id="50" name="object 50"/>
            <p:cNvSpPr/>
            <p:nvPr/>
          </p:nvSpPr>
          <p:spPr>
            <a:xfrm>
              <a:off x="3464051" y="3525012"/>
              <a:ext cx="5291455" cy="2341245"/>
            </a:xfrm>
            <a:custGeom>
              <a:avLst/>
              <a:gdLst/>
              <a:ahLst/>
              <a:cxnLst/>
              <a:rect l="l" t="t" r="r" b="b"/>
              <a:pathLst>
                <a:path w="5291455" h="2341245">
                  <a:moveTo>
                    <a:pt x="0" y="2340864"/>
                  </a:moveTo>
                  <a:lnTo>
                    <a:pt x="5291328" y="2340864"/>
                  </a:lnTo>
                  <a:lnTo>
                    <a:pt x="5291328" y="0"/>
                  </a:lnTo>
                  <a:lnTo>
                    <a:pt x="0" y="0"/>
                  </a:lnTo>
                  <a:lnTo>
                    <a:pt x="0" y="2340864"/>
                  </a:lnTo>
                  <a:close/>
                </a:path>
              </a:pathLst>
            </a:custGeom>
            <a:ln w="9144">
              <a:solidFill>
                <a:srgbClr val="D9D9D9"/>
              </a:solidFill>
            </a:ln>
          </p:spPr>
          <p:txBody>
            <a:bodyPr wrap="square" lIns="0" tIns="0" rIns="0" bIns="0" rtlCol="0"/>
            <a:lstStyle/>
            <a:p>
              <a:endParaRPr/>
            </a:p>
          </p:txBody>
        </p:sp>
      </p:grpSp>
      <p:sp>
        <p:nvSpPr>
          <p:cNvPr id="51" name="object 5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13	</a:t>
            </a:r>
            <a:r>
              <a:rPr spc="30" dirty="0"/>
              <a:t>Huawei</a:t>
            </a:r>
            <a:r>
              <a:rPr spc="-10" dirty="0"/>
              <a:t> </a:t>
            </a:r>
            <a:r>
              <a:rPr spc="5" dirty="0"/>
              <a:t>Confidential</a:t>
            </a:r>
          </a:p>
        </p:txBody>
      </p:sp>
      <p:sp>
        <p:nvSpPr>
          <p:cNvPr id="52" name="object 2">
            <a:extLst>
              <a:ext uri="{FF2B5EF4-FFF2-40B4-BE49-F238E27FC236}">
                <a16:creationId xmlns:a16="http://schemas.microsoft.com/office/drawing/2014/main" id="{B97F56E0-EF5B-43B4-9E8A-F016625A5FC2}"/>
              </a:ext>
            </a:extLst>
          </p:cNvPr>
          <p:cNvSpPr txBox="1"/>
          <p:nvPr/>
        </p:nvSpPr>
        <p:spPr>
          <a:xfrm>
            <a:off x="6137794" y="3200804"/>
            <a:ext cx="5770568" cy="2933495"/>
          </a:xfrm>
          <a:prstGeom prst="rect">
            <a:avLst/>
          </a:prstGeom>
        </p:spPr>
        <p:txBody>
          <a:bodyPr vert="horz" wrap="square" lIns="0" tIns="9525" rIns="0" bIns="0" rtlCol="0">
            <a:spAutoFit/>
          </a:bodyPr>
          <a:lstStyle/>
          <a:p>
            <a:pPr marL="138113" indent="-128588" algn="just">
              <a:buFont typeface="Wingdings"/>
              <a:buChar char=""/>
              <a:tabLst>
                <a:tab pos="138113" algn="l"/>
              </a:tabLst>
            </a:pPr>
            <a:r>
              <a:rPr lang="en-GB" sz="2400" u="sng" spc="19" dirty="0">
                <a:latin typeface="UKIJ CJK"/>
                <a:cs typeface="UKIJ CJK"/>
              </a:rPr>
              <a:t>This </a:t>
            </a:r>
            <a:r>
              <a:rPr lang="en-GB" sz="2400" u="sng" spc="23" dirty="0">
                <a:latin typeface="UKIJ CJK"/>
                <a:cs typeface="UKIJ CJK"/>
              </a:rPr>
              <a:t>kind </a:t>
            </a:r>
            <a:r>
              <a:rPr lang="en-GB" sz="2400" u="sng" spc="26" dirty="0">
                <a:latin typeface="UKIJ CJK"/>
                <a:cs typeface="UKIJ CJK"/>
              </a:rPr>
              <a:t>of </a:t>
            </a:r>
            <a:r>
              <a:rPr lang="en-GB" sz="2400" u="sng" spc="23" dirty="0">
                <a:latin typeface="UKIJ CJK"/>
                <a:cs typeface="UKIJ CJK"/>
              </a:rPr>
              <a:t>data </a:t>
            </a:r>
            <a:r>
              <a:rPr lang="en-GB" sz="2400" u="sng" spc="30" dirty="0">
                <a:latin typeface="UKIJ CJK"/>
                <a:cs typeface="UKIJ CJK"/>
              </a:rPr>
              <a:t>model </a:t>
            </a:r>
            <a:r>
              <a:rPr lang="en-GB" sz="2400" u="sng" spc="8" dirty="0">
                <a:latin typeface="UKIJ CJK"/>
                <a:cs typeface="UKIJ CJK"/>
              </a:rPr>
              <a:t>calls </a:t>
            </a:r>
            <a:r>
              <a:rPr lang="en-GB" sz="2400" u="sng" spc="11" dirty="0">
                <a:latin typeface="UKIJ CJK"/>
                <a:cs typeface="UKIJ CJK"/>
              </a:rPr>
              <a:t>relational </a:t>
            </a:r>
            <a:r>
              <a:rPr lang="en-GB" sz="2400" u="sng" spc="19" dirty="0">
                <a:latin typeface="UKIJ CJK"/>
                <a:cs typeface="UKIJ CJK"/>
              </a:rPr>
              <a:t>database</a:t>
            </a:r>
            <a:r>
              <a:rPr lang="en-GB" sz="2400" spc="19" dirty="0">
                <a:latin typeface="UKIJ CJK"/>
                <a:cs typeface="UKIJ CJK"/>
              </a:rPr>
              <a:t>. </a:t>
            </a:r>
            <a:r>
              <a:rPr lang="en-GB" sz="2400" u="sng" spc="26" dirty="0">
                <a:latin typeface="UKIJ CJK"/>
                <a:cs typeface="UKIJ CJK"/>
              </a:rPr>
              <a:t>Data </a:t>
            </a:r>
            <a:r>
              <a:rPr lang="en-GB" sz="2400" u="sng" spc="19" dirty="0">
                <a:latin typeface="UKIJ CJK"/>
                <a:cs typeface="UKIJ CJK"/>
              </a:rPr>
              <a:t>can </a:t>
            </a:r>
            <a:r>
              <a:rPr lang="en-GB" sz="2400" u="sng" spc="30" dirty="0">
                <a:latin typeface="UKIJ CJK"/>
                <a:cs typeface="UKIJ CJK"/>
              </a:rPr>
              <a:t>be </a:t>
            </a:r>
            <a:r>
              <a:rPr lang="en-GB" sz="2400" u="sng" spc="23" dirty="0">
                <a:latin typeface="UKIJ CJK"/>
                <a:cs typeface="UKIJ CJK"/>
              </a:rPr>
              <a:t>added, modified, </a:t>
            </a:r>
            <a:r>
              <a:rPr lang="en-GB" sz="2400" u="sng" spc="19" dirty="0" smtClean="0">
                <a:latin typeface="UKIJ CJK"/>
                <a:cs typeface="UKIJ CJK"/>
              </a:rPr>
              <a:t>row </a:t>
            </a:r>
            <a:r>
              <a:rPr lang="en-GB" sz="2400" u="sng" spc="34" dirty="0">
                <a:latin typeface="UKIJ CJK"/>
                <a:cs typeface="UKIJ CJK"/>
              </a:rPr>
              <a:t>by </a:t>
            </a:r>
            <a:r>
              <a:rPr lang="en-GB" sz="2400" u="sng" spc="8" dirty="0">
                <a:latin typeface="UKIJ CJK"/>
                <a:cs typeface="UKIJ CJK"/>
              </a:rPr>
              <a:t>row</a:t>
            </a:r>
            <a:r>
              <a:rPr lang="en-GB" sz="2400" spc="8" dirty="0">
                <a:latin typeface="UKIJ CJK"/>
                <a:cs typeface="UKIJ CJK"/>
              </a:rPr>
              <a:t>. </a:t>
            </a:r>
            <a:r>
              <a:rPr lang="en-GB" sz="2400" u="sng" spc="15" dirty="0">
                <a:latin typeface="UKIJ CJK"/>
                <a:cs typeface="UKIJ CJK"/>
              </a:rPr>
              <a:t>But </a:t>
            </a:r>
            <a:r>
              <a:rPr lang="en-GB" sz="2400" u="sng" spc="-8" dirty="0">
                <a:latin typeface="UKIJ CJK"/>
                <a:cs typeface="UKIJ CJK"/>
              </a:rPr>
              <a:t>It </a:t>
            </a:r>
            <a:r>
              <a:rPr lang="en-GB" sz="2400" u="sng" spc="19" dirty="0">
                <a:latin typeface="UKIJ CJK"/>
                <a:cs typeface="UKIJ CJK"/>
              </a:rPr>
              <a:t>can </a:t>
            </a:r>
            <a:r>
              <a:rPr lang="en-GB" sz="2400" u="sng" spc="15" dirty="0">
                <a:latin typeface="UKIJ CJK"/>
                <a:cs typeface="UKIJ CJK"/>
              </a:rPr>
              <a:t>cause </a:t>
            </a:r>
            <a:r>
              <a:rPr lang="en-GB" sz="2400" u="sng" spc="11" dirty="0">
                <a:latin typeface="UKIJ CJK"/>
                <a:cs typeface="UKIJ CJK"/>
              </a:rPr>
              <a:t>useless </a:t>
            </a:r>
            <a:r>
              <a:rPr lang="en-GB" sz="2400" u="sng" spc="26" dirty="0">
                <a:latin typeface="UKIJ CJK"/>
                <a:cs typeface="UKIJ CJK"/>
              </a:rPr>
              <a:t>wasting of </a:t>
            </a:r>
            <a:r>
              <a:rPr lang="en-GB" sz="2400" u="sng" spc="8" dirty="0" err="1">
                <a:latin typeface="UKIJ CJK"/>
                <a:cs typeface="UKIJ CJK"/>
              </a:rPr>
              <a:t>resourse</a:t>
            </a:r>
            <a:r>
              <a:rPr lang="en-GB" sz="2400" u="sng" spc="8" dirty="0">
                <a:latin typeface="UKIJ CJK"/>
                <a:cs typeface="UKIJ CJK"/>
              </a:rPr>
              <a:t>. </a:t>
            </a:r>
            <a:r>
              <a:rPr lang="en-GB" sz="2400" u="sng" spc="15" dirty="0">
                <a:latin typeface="UKIJ CJK"/>
                <a:cs typeface="UKIJ CJK"/>
              </a:rPr>
              <a:t>Because </a:t>
            </a:r>
            <a:r>
              <a:rPr lang="en-GB" sz="2400" u="sng" spc="4" dirty="0">
                <a:latin typeface="UKIJ CJK"/>
                <a:cs typeface="UKIJ CJK"/>
              </a:rPr>
              <a:t>if </a:t>
            </a:r>
            <a:r>
              <a:rPr lang="en-GB" sz="2400" u="sng" spc="26" dirty="0">
                <a:latin typeface="UKIJ CJK"/>
                <a:cs typeface="UKIJ CJK"/>
              </a:rPr>
              <a:t>we </a:t>
            </a:r>
            <a:r>
              <a:rPr lang="en-GB" sz="2400" u="sng" spc="23" dirty="0">
                <a:latin typeface="UKIJ CJK"/>
                <a:cs typeface="UKIJ CJK"/>
              </a:rPr>
              <a:t>want </a:t>
            </a:r>
            <a:r>
              <a:rPr lang="en-GB" sz="2400" u="sng" spc="34" dirty="0">
                <a:latin typeface="UKIJ CJK"/>
                <a:cs typeface="UKIJ CJK"/>
              </a:rPr>
              <a:t>to</a:t>
            </a:r>
            <a:r>
              <a:rPr lang="en-GB" sz="2400" u="sng" spc="120" dirty="0">
                <a:latin typeface="UKIJ CJK"/>
                <a:cs typeface="UKIJ CJK"/>
              </a:rPr>
              <a:t> </a:t>
            </a:r>
            <a:r>
              <a:rPr lang="en-GB" sz="2400" u="sng" spc="19" dirty="0">
                <a:latin typeface="UKIJ CJK"/>
                <a:cs typeface="UKIJ CJK"/>
              </a:rPr>
              <a:t>find</a:t>
            </a:r>
            <a:r>
              <a:rPr lang="en-GB" sz="2400" u="sng" dirty="0">
                <a:latin typeface="UKIJ CJK"/>
                <a:cs typeface="UKIJ CJK"/>
              </a:rPr>
              <a:t> </a:t>
            </a:r>
            <a:r>
              <a:rPr lang="en-GB" sz="2400" u="sng" spc="-4" dirty="0">
                <a:latin typeface="UKIJ CJK"/>
                <a:cs typeface="UKIJ CJK"/>
              </a:rPr>
              <a:t>xxx. </a:t>
            </a:r>
            <a:r>
              <a:rPr lang="en-GB" sz="2400" u="sng" spc="64" dirty="0">
                <a:latin typeface="UKIJ CJK"/>
                <a:cs typeface="UKIJ CJK"/>
              </a:rPr>
              <a:t>We </a:t>
            </a:r>
            <a:r>
              <a:rPr lang="en-GB" sz="2400" u="sng" spc="26" dirty="0">
                <a:latin typeface="UKIJ CJK"/>
                <a:cs typeface="UKIJ CJK"/>
              </a:rPr>
              <a:t>need </a:t>
            </a:r>
            <a:r>
              <a:rPr lang="en-GB" sz="2400" u="sng" spc="15" dirty="0">
                <a:latin typeface="UKIJ CJK"/>
                <a:cs typeface="UKIJ CJK"/>
              </a:rPr>
              <a:t>read </a:t>
            </a:r>
            <a:r>
              <a:rPr lang="en-GB" sz="2400" u="sng" spc="19" dirty="0">
                <a:latin typeface="UKIJ CJK"/>
                <a:cs typeface="UKIJ CJK"/>
              </a:rPr>
              <a:t>row one, row </a:t>
            </a:r>
            <a:r>
              <a:rPr lang="en-GB" sz="2400" u="sng" spc="34" dirty="0">
                <a:latin typeface="UKIJ CJK"/>
                <a:cs typeface="UKIJ CJK"/>
              </a:rPr>
              <a:t>two </a:t>
            </a:r>
            <a:r>
              <a:rPr lang="en-GB" sz="2400" u="sng" spc="26" dirty="0">
                <a:latin typeface="UKIJ CJK"/>
                <a:cs typeface="UKIJ CJK"/>
              </a:rPr>
              <a:t>and </a:t>
            </a:r>
            <a:r>
              <a:rPr lang="en-GB" sz="2400" u="sng" spc="19" dirty="0">
                <a:latin typeface="UKIJ CJK"/>
                <a:cs typeface="UKIJ CJK"/>
              </a:rPr>
              <a:t>row </a:t>
            </a:r>
            <a:r>
              <a:rPr lang="en-GB" sz="2400" u="sng" spc="8" dirty="0">
                <a:latin typeface="UKIJ CJK"/>
                <a:cs typeface="UKIJ CJK"/>
              </a:rPr>
              <a:t>three. </a:t>
            </a:r>
            <a:r>
              <a:rPr lang="en-GB" sz="2400" u="sng" spc="26" dirty="0">
                <a:latin typeface="UKIJ CJK"/>
                <a:cs typeface="UKIJ CJK"/>
              </a:rPr>
              <a:t>until we </a:t>
            </a:r>
            <a:r>
              <a:rPr lang="en-GB" sz="2400" u="sng" spc="19" dirty="0">
                <a:latin typeface="UKIJ CJK"/>
                <a:cs typeface="UKIJ CJK"/>
              </a:rPr>
              <a:t>find </a:t>
            </a:r>
            <a:r>
              <a:rPr lang="en-GB" sz="2400" u="sng" spc="15" dirty="0">
                <a:latin typeface="UKIJ CJK"/>
                <a:cs typeface="UKIJ CJK"/>
              </a:rPr>
              <a:t>this data.  </a:t>
            </a:r>
            <a:endParaRPr lang="en-GB" sz="2400" dirty="0">
              <a:latin typeface="UKIJ CJK"/>
              <a:cs typeface="UKIJ CJK"/>
            </a:endParaRPr>
          </a:p>
          <a:p>
            <a:pPr marL="138113" indent="-128588" algn="just">
              <a:buFont typeface="Wingdings"/>
              <a:buChar char=""/>
              <a:tabLst>
                <a:tab pos="138113" algn="l"/>
              </a:tabLst>
            </a:pPr>
            <a:endParaRPr sz="2200" dirty="0">
              <a:latin typeface="UKIJ CJK"/>
              <a:cs typeface="UKIJ CJK"/>
            </a:endParaRPr>
          </a:p>
        </p:txBody>
      </p:sp>
    </p:spTree>
    <p:extLst>
      <p:ext uri="{BB962C8B-B14F-4D97-AF65-F5344CB8AC3E}">
        <p14:creationId xmlns:p14="http://schemas.microsoft.com/office/powerpoint/2010/main" val="22405083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3620135" cy="513715"/>
          </a:xfrm>
          <a:prstGeom prst="rect">
            <a:avLst/>
          </a:prstGeom>
        </p:spPr>
        <p:txBody>
          <a:bodyPr vert="horz" wrap="square" lIns="0" tIns="13335" rIns="0" bIns="0" rtlCol="0">
            <a:spAutoFit/>
          </a:bodyPr>
          <a:lstStyle/>
          <a:p>
            <a:pPr marL="12700">
              <a:lnSpc>
                <a:spcPct val="100000"/>
              </a:lnSpc>
              <a:spcBef>
                <a:spcPts val="105"/>
              </a:spcBef>
            </a:pPr>
            <a:r>
              <a:rPr sz="3200" spc="70" dirty="0">
                <a:solidFill>
                  <a:srgbClr val="000000"/>
                </a:solidFill>
              </a:rPr>
              <a:t>Row-based</a:t>
            </a:r>
            <a:r>
              <a:rPr sz="3200" spc="-35" dirty="0">
                <a:solidFill>
                  <a:srgbClr val="000000"/>
                </a:solidFill>
              </a:rPr>
              <a:t> </a:t>
            </a:r>
            <a:r>
              <a:rPr sz="3200" spc="55" dirty="0">
                <a:solidFill>
                  <a:srgbClr val="000000"/>
                </a:solidFill>
              </a:rPr>
              <a:t>Storage</a:t>
            </a:r>
            <a:endParaRPr sz="3200"/>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086348" y="905128"/>
            <a:ext cx="10291445" cy="964565"/>
          </a:xfrm>
          <a:prstGeom prst="rect">
            <a:avLst/>
          </a:prstGeom>
        </p:spPr>
        <p:txBody>
          <a:bodyPr vert="horz" wrap="square" lIns="0" tIns="12700" rIns="0" bIns="0" rtlCol="0">
            <a:spAutoFit/>
          </a:bodyPr>
          <a:lstStyle/>
          <a:p>
            <a:pPr marL="12700" marR="5080">
              <a:lnSpc>
                <a:spcPct val="140000"/>
              </a:lnSpc>
              <a:spcBef>
                <a:spcPts val="100"/>
              </a:spcBef>
            </a:pPr>
            <a:r>
              <a:rPr sz="2200" spc="40" dirty="0">
                <a:latin typeface="Trebuchet MS"/>
                <a:cs typeface="Trebuchet MS"/>
              </a:rPr>
              <a:t>Row-based </a:t>
            </a:r>
            <a:r>
              <a:rPr sz="2200" spc="20" dirty="0">
                <a:latin typeface="Trebuchet MS"/>
                <a:cs typeface="Trebuchet MS"/>
              </a:rPr>
              <a:t>storage </a:t>
            </a:r>
            <a:r>
              <a:rPr sz="2200" spc="-25" dirty="0">
                <a:latin typeface="Trebuchet MS"/>
                <a:cs typeface="Trebuchet MS"/>
              </a:rPr>
              <a:t>refers </a:t>
            </a:r>
            <a:r>
              <a:rPr sz="2200" dirty="0">
                <a:latin typeface="Trebuchet MS"/>
                <a:cs typeface="Trebuchet MS"/>
              </a:rPr>
              <a:t>to </a:t>
            </a:r>
            <a:r>
              <a:rPr sz="2200" spc="20" dirty="0">
                <a:latin typeface="Trebuchet MS"/>
                <a:cs typeface="Trebuchet MS"/>
              </a:rPr>
              <a:t>data </a:t>
            </a:r>
            <a:r>
              <a:rPr sz="2200" spc="-5" dirty="0">
                <a:latin typeface="Trebuchet MS"/>
                <a:cs typeface="Trebuchet MS"/>
              </a:rPr>
              <a:t>stored </a:t>
            </a:r>
            <a:r>
              <a:rPr sz="2200" spc="15" dirty="0">
                <a:latin typeface="Trebuchet MS"/>
                <a:cs typeface="Trebuchet MS"/>
              </a:rPr>
              <a:t>by </a:t>
            </a:r>
            <a:r>
              <a:rPr sz="2200" spc="45" dirty="0">
                <a:latin typeface="Trebuchet MS"/>
                <a:cs typeface="Trebuchet MS"/>
              </a:rPr>
              <a:t>rows </a:t>
            </a:r>
            <a:r>
              <a:rPr sz="2200" spc="5" dirty="0">
                <a:latin typeface="Trebuchet MS"/>
                <a:cs typeface="Trebuchet MS"/>
              </a:rPr>
              <a:t>in </a:t>
            </a:r>
            <a:r>
              <a:rPr sz="2200" spc="65" dirty="0">
                <a:latin typeface="Trebuchet MS"/>
                <a:cs typeface="Trebuchet MS"/>
              </a:rPr>
              <a:t>an </a:t>
            </a:r>
            <a:r>
              <a:rPr sz="2200" spc="25" dirty="0">
                <a:latin typeface="Trebuchet MS"/>
                <a:cs typeface="Trebuchet MS"/>
              </a:rPr>
              <a:t>underlying </a:t>
            </a:r>
            <a:r>
              <a:rPr sz="2200" spc="-55" dirty="0">
                <a:latin typeface="Trebuchet MS"/>
                <a:cs typeface="Trebuchet MS"/>
              </a:rPr>
              <a:t>file </a:t>
            </a:r>
            <a:r>
              <a:rPr sz="2200" spc="-30" dirty="0">
                <a:latin typeface="Trebuchet MS"/>
                <a:cs typeface="Trebuchet MS"/>
              </a:rPr>
              <a:t>system.  Generally, </a:t>
            </a:r>
            <a:r>
              <a:rPr sz="2200" spc="55" dirty="0">
                <a:latin typeface="Trebuchet MS"/>
                <a:cs typeface="Trebuchet MS"/>
              </a:rPr>
              <a:t>a </a:t>
            </a:r>
            <a:r>
              <a:rPr sz="2200" spc="-35" dirty="0">
                <a:latin typeface="Trebuchet MS"/>
                <a:cs typeface="Trebuchet MS"/>
              </a:rPr>
              <a:t>fixed </a:t>
            </a:r>
            <a:r>
              <a:rPr sz="2200" spc="60" dirty="0">
                <a:latin typeface="Trebuchet MS"/>
                <a:cs typeface="Trebuchet MS"/>
              </a:rPr>
              <a:t>amount </a:t>
            </a:r>
            <a:r>
              <a:rPr sz="2200" spc="15" dirty="0">
                <a:latin typeface="Trebuchet MS"/>
                <a:cs typeface="Trebuchet MS"/>
              </a:rPr>
              <a:t>of </a:t>
            </a:r>
            <a:r>
              <a:rPr sz="2200" spc="-5" dirty="0">
                <a:latin typeface="Trebuchet MS"/>
                <a:cs typeface="Trebuchet MS"/>
              </a:rPr>
              <a:t>space </a:t>
            </a:r>
            <a:r>
              <a:rPr sz="2200" spc="-15" dirty="0">
                <a:latin typeface="Trebuchet MS"/>
                <a:cs typeface="Trebuchet MS"/>
              </a:rPr>
              <a:t>is </a:t>
            </a:r>
            <a:r>
              <a:rPr sz="2200" spc="-10" dirty="0">
                <a:latin typeface="Trebuchet MS"/>
                <a:cs typeface="Trebuchet MS"/>
              </a:rPr>
              <a:t>allocated </a:t>
            </a:r>
            <a:r>
              <a:rPr sz="2200" dirty="0">
                <a:latin typeface="Trebuchet MS"/>
                <a:cs typeface="Trebuchet MS"/>
              </a:rPr>
              <a:t>to each</a:t>
            </a:r>
            <a:r>
              <a:rPr sz="2200" spc="215" dirty="0">
                <a:latin typeface="Trebuchet MS"/>
                <a:cs typeface="Trebuchet MS"/>
              </a:rPr>
              <a:t> </a:t>
            </a:r>
            <a:r>
              <a:rPr sz="2200" spc="-45" dirty="0">
                <a:latin typeface="Trebuchet MS"/>
                <a:cs typeface="Trebuchet MS"/>
              </a:rPr>
              <a:t>row.</a:t>
            </a:r>
            <a:endParaRPr sz="2200" dirty="0">
              <a:latin typeface="Trebuchet MS"/>
              <a:cs typeface="Trebuchet MS"/>
            </a:endParaRPr>
          </a:p>
        </p:txBody>
      </p:sp>
      <p:sp>
        <p:nvSpPr>
          <p:cNvPr id="5" name="object 5"/>
          <p:cNvSpPr txBox="1"/>
          <p:nvPr/>
        </p:nvSpPr>
        <p:spPr>
          <a:xfrm>
            <a:off x="1203147" y="2057400"/>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dirty="0">
              <a:latin typeface="Wingdings"/>
              <a:cs typeface="Wingdings"/>
            </a:endParaRPr>
          </a:p>
        </p:txBody>
      </p:sp>
      <p:sp>
        <p:nvSpPr>
          <p:cNvPr id="6" name="object 6"/>
          <p:cNvSpPr txBox="1"/>
          <p:nvPr/>
        </p:nvSpPr>
        <p:spPr>
          <a:xfrm>
            <a:off x="1454351" y="1948670"/>
            <a:ext cx="9817735" cy="846455"/>
          </a:xfrm>
          <a:prstGeom prst="rect">
            <a:avLst/>
          </a:prstGeom>
        </p:spPr>
        <p:txBody>
          <a:bodyPr vert="horz" wrap="square" lIns="0" tIns="13335" rIns="0" bIns="0" rtlCol="0">
            <a:spAutoFit/>
          </a:bodyPr>
          <a:lstStyle/>
          <a:p>
            <a:pPr marL="12700">
              <a:lnSpc>
                <a:spcPct val="100000"/>
              </a:lnSpc>
              <a:spcBef>
                <a:spcPts val="105"/>
              </a:spcBef>
            </a:pPr>
            <a:r>
              <a:rPr sz="2000" spc="10" dirty="0">
                <a:latin typeface="Trebuchet MS"/>
                <a:cs typeface="Trebuchet MS"/>
              </a:rPr>
              <a:t>Advantages: </a:t>
            </a:r>
            <a:r>
              <a:rPr sz="2000" spc="65" dirty="0">
                <a:latin typeface="Trebuchet MS"/>
                <a:cs typeface="Trebuchet MS"/>
              </a:rPr>
              <a:t>Data </a:t>
            </a:r>
            <a:r>
              <a:rPr sz="2000" spc="15" dirty="0">
                <a:latin typeface="Trebuchet MS"/>
                <a:cs typeface="Trebuchet MS"/>
              </a:rPr>
              <a:t>can </a:t>
            </a:r>
            <a:r>
              <a:rPr sz="2000" dirty="0">
                <a:latin typeface="Trebuchet MS"/>
                <a:cs typeface="Trebuchet MS"/>
              </a:rPr>
              <a:t>be </a:t>
            </a:r>
            <a:r>
              <a:rPr sz="2000" spc="-25" dirty="0">
                <a:latin typeface="Trebuchet MS"/>
                <a:cs typeface="Trebuchet MS"/>
              </a:rPr>
              <a:t>added, </a:t>
            </a:r>
            <a:r>
              <a:rPr sz="2000" spc="-20" dirty="0">
                <a:latin typeface="Trebuchet MS"/>
                <a:cs typeface="Trebuchet MS"/>
              </a:rPr>
              <a:t>modified, </a:t>
            </a:r>
            <a:r>
              <a:rPr sz="2000" spc="20" dirty="0">
                <a:latin typeface="Trebuchet MS"/>
                <a:cs typeface="Trebuchet MS"/>
              </a:rPr>
              <a:t>or </a:t>
            </a:r>
            <a:r>
              <a:rPr sz="2000" spc="5" dirty="0">
                <a:latin typeface="Trebuchet MS"/>
                <a:cs typeface="Trebuchet MS"/>
              </a:rPr>
              <a:t>read </a:t>
            </a:r>
            <a:r>
              <a:rPr sz="2000" spc="15" dirty="0">
                <a:latin typeface="Trebuchet MS"/>
                <a:cs typeface="Trebuchet MS"/>
              </a:rPr>
              <a:t>by</a:t>
            </a:r>
            <a:r>
              <a:rPr sz="2000" spc="-15" dirty="0">
                <a:latin typeface="Trebuchet MS"/>
                <a:cs typeface="Trebuchet MS"/>
              </a:rPr>
              <a:t> </a:t>
            </a:r>
            <a:r>
              <a:rPr sz="2000" spc="-35" dirty="0">
                <a:latin typeface="Trebuchet MS"/>
                <a:cs typeface="Trebuchet MS"/>
              </a:rPr>
              <a:t>row.</a:t>
            </a:r>
            <a:endParaRPr sz="2000" dirty="0">
              <a:latin typeface="Trebuchet MS"/>
              <a:cs typeface="Trebuchet MS"/>
            </a:endParaRPr>
          </a:p>
          <a:p>
            <a:pPr marL="12700">
              <a:lnSpc>
                <a:spcPct val="100000"/>
              </a:lnSpc>
              <a:spcBef>
                <a:spcPts val="1655"/>
              </a:spcBef>
            </a:pPr>
            <a:r>
              <a:rPr sz="2000" spc="15" dirty="0">
                <a:latin typeface="Trebuchet MS"/>
                <a:cs typeface="Trebuchet MS"/>
              </a:rPr>
              <a:t>Disadvantage: </a:t>
            </a:r>
            <a:r>
              <a:rPr sz="2000" spc="70" dirty="0">
                <a:latin typeface="Trebuchet MS"/>
                <a:cs typeface="Trebuchet MS"/>
              </a:rPr>
              <a:t>Some </a:t>
            </a:r>
            <a:r>
              <a:rPr sz="2000" spc="10" dirty="0">
                <a:latin typeface="Trebuchet MS"/>
                <a:cs typeface="Trebuchet MS"/>
              </a:rPr>
              <a:t>unnecessary </a:t>
            </a:r>
            <a:r>
              <a:rPr sz="2000" spc="20" dirty="0">
                <a:latin typeface="Trebuchet MS"/>
                <a:cs typeface="Trebuchet MS"/>
              </a:rPr>
              <a:t>data </a:t>
            </a:r>
            <a:r>
              <a:rPr sz="2000" spc="-15" dirty="0">
                <a:latin typeface="Trebuchet MS"/>
                <a:cs typeface="Trebuchet MS"/>
              </a:rPr>
              <a:t>is </a:t>
            </a:r>
            <a:r>
              <a:rPr sz="2000" spc="10" dirty="0">
                <a:latin typeface="Trebuchet MS"/>
                <a:cs typeface="Trebuchet MS"/>
              </a:rPr>
              <a:t>obtained </a:t>
            </a:r>
            <a:r>
              <a:rPr sz="2000" spc="50" dirty="0">
                <a:latin typeface="Trebuchet MS"/>
                <a:cs typeface="Trebuchet MS"/>
              </a:rPr>
              <a:t>when </a:t>
            </a:r>
            <a:r>
              <a:rPr sz="2000" spc="20" dirty="0">
                <a:latin typeface="Trebuchet MS"/>
                <a:cs typeface="Trebuchet MS"/>
              </a:rPr>
              <a:t>data </a:t>
            </a:r>
            <a:r>
              <a:rPr sz="2000" spc="5" dirty="0">
                <a:latin typeface="Trebuchet MS"/>
                <a:cs typeface="Trebuchet MS"/>
              </a:rPr>
              <a:t>in </a:t>
            </a:r>
            <a:r>
              <a:rPr sz="2000" spc="55" dirty="0">
                <a:latin typeface="Trebuchet MS"/>
                <a:cs typeface="Trebuchet MS"/>
              </a:rPr>
              <a:t>a </a:t>
            </a:r>
            <a:r>
              <a:rPr sz="2000" spc="40" dirty="0">
                <a:latin typeface="Trebuchet MS"/>
                <a:cs typeface="Trebuchet MS"/>
              </a:rPr>
              <a:t>column </a:t>
            </a:r>
            <a:r>
              <a:rPr sz="2000" spc="-15" dirty="0">
                <a:latin typeface="Trebuchet MS"/>
                <a:cs typeface="Trebuchet MS"/>
              </a:rPr>
              <a:t>is</a:t>
            </a:r>
            <a:r>
              <a:rPr sz="2000" spc="-120" dirty="0">
                <a:latin typeface="Trebuchet MS"/>
                <a:cs typeface="Trebuchet MS"/>
              </a:rPr>
              <a:t> </a:t>
            </a:r>
            <a:r>
              <a:rPr sz="2000" spc="-40" dirty="0">
                <a:latin typeface="Trebuchet MS"/>
                <a:cs typeface="Trebuchet MS"/>
              </a:rPr>
              <a:t>queried.</a:t>
            </a:r>
            <a:endParaRPr sz="2000" dirty="0">
              <a:latin typeface="Trebuchet MS"/>
              <a:cs typeface="Trebuchet MS"/>
            </a:endParaRPr>
          </a:p>
        </p:txBody>
      </p:sp>
      <p:sp>
        <p:nvSpPr>
          <p:cNvPr id="7" name="object 7"/>
          <p:cNvSpPr txBox="1"/>
          <p:nvPr/>
        </p:nvSpPr>
        <p:spPr>
          <a:xfrm>
            <a:off x="1203147" y="2514600"/>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graphicFrame>
        <p:nvGraphicFramePr>
          <p:cNvPr id="8" name="object 8"/>
          <p:cNvGraphicFramePr>
            <a:graphicFrameLocks noGrp="1"/>
          </p:cNvGraphicFramePr>
          <p:nvPr/>
        </p:nvGraphicFramePr>
        <p:xfrm>
          <a:off x="1006313" y="3200804"/>
          <a:ext cx="4156074" cy="344424"/>
        </p:xfrm>
        <a:graphic>
          <a:graphicData uri="http://schemas.openxmlformats.org/drawingml/2006/table">
            <a:tbl>
              <a:tblPr firstRow="1" bandRow="1">
                <a:tableStyleId>{2D5ABB26-0587-4C30-8999-92F81FD0307C}</a:tableStyleId>
              </a:tblPr>
              <a:tblGrid>
                <a:gridCol w="618490">
                  <a:extLst>
                    <a:ext uri="{9D8B030D-6E8A-4147-A177-3AD203B41FA5}">
                      <a16:colId xmlns:a16="http://schemas.microsoft.com/office/drawing/2014/main" val="20000"/>
                    </a:ext>
                  </a:extLst>
                </a:gridCol>
                <a:gridCol w="1061720">
                  <a:extLst>
                    <a:ext uri="{9D8B030D-6E8A-4147-A177-3AD203B41FA5}">
                      <a16:colId xmlns:a16="http://schemas.microsoft.com/office/drawing/2014/main" val="20001"/>
                    </a:ext>
                  </a:extLst>
                </a:gridCol>
                <a:gridCol w="1148714">
                  <a:extLst>
                    <a:ext uri="{9D8B030D-6E8A-4147-A177-3AD203B41FA5}">
                      <a16:colId xmlns:a16="http://schemas.microsoft.com/office/drawing/2014/main" val="20002"/>
                    </a:ext>
                  </a:extLst>
                </a:gridCol>
                <a:gridCol w="1327150">
                  <a:extLst>
                    <a:ext uri="{9D8B030D-6E8A-4147-A177-3AD203B41FA5}">
                      <a16:colId xmlns:a16="http://schemas.microsoft.com/office/drawing/2014/main" val="20003"/>
                    </a:ext>
                  </a:extLst>
                </a:gridCol>
              </a:tblGrid>
              <a:tr h="344424">
                <a:tc>
                  <a:txBody>
                    <a:bodyPr/>
                    <a:lstStyle/>
                    <a:p>
                      <a:pPr marL="201930">
                        <a:lnSpc>
                          <a:spcPct val="100000"/>
                        </a:lnSpc>
                        <a:spcBef>
                          <a:spcPts val="340"/>
                        </a:spcBef>
                      </a:pPr>
                      <a:r>
                        <a:rPr sz="1600" b="1" spc="35" dirty="0">
                          <a:latin typeface="Arial"/>
                          <a:cs typeface="Arial"/>
                        </a:rPr>
                        <a:t>ID</a:t>
                      </a:r>
                      <a:endParaRPr sz="1600">
                        <a:latin typeface="Arial"/>
                        <a:cs typeface="Arial"/>
                      </a:endParaRPr>
                    </a:p>
                  </a:txBody>
                  <a:tcPr marL="0" marR="0" marT="431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000"/>
                    </a:solidFill>
                  </a:tcPr>
                </a:tc>
                <a:tc>
                  <a:txBody>
                    <a:bodyPr/>
                    <a:lstStyle/>
                    <a:p>
                      <a:pPr marL="240029">
                        <a:lnSpc>
                          <a:spcPct val="100000"/>
                        </a:lnSpc>
                        <a:spcBef>
                          <a:spcPts val="340"/>
                        </a:spcBef>
                      </a:pPr>
                      <a:r>
                        <a:rPr sz="1600" b="1" spc="55" dirty="0">
                          <a:latin typeface="Arial"/>
                          <a:cs typeface="Arial"/>
                        </a:rPr>
                        <a:t>Name</a:t>
                      </a:r>
                      <a:endParaRPr sz="1600">
                        <a:latin typeface="Arial"/>
                        <a:cs typeface="Arial"/>
                      </a:endParaRPr>
                    </a:p>
                  </a:txBody>
                  <a:tcPr marL="0" marR="0" marT="431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000"/>
                    </a:solidFill>
                  </a:tcPr>
                </a:tc>
                <a:tc>
                  <a:txBody>
                    <a:bodyPr/>
                    <a:lstStyle/>
                    <a:p>
                      <a:pPr marL="269240">
                        <a:lnSpc>
                          <a:spcPct val="100000"/>
                        </a:lnSpc>
                        <a:spcBef>
                          <a:spcPts val="340"/>
                        </a:spcBef>
                      </a:pPr>
                      <a:r>
                        <a:rPr sz="1600" b="1" spc="-25" dirty="0">
                          <a:latin typeface="Arial"/>
                          <a:cs typeface="Arial"/>
                        </a:rPr>
                        <a:t>Phone</a:t>
                      </a:r>
                      <a:endParaRPr sz="1600">
                        <a:latin typeface="Arial"/>
                        <a:cs typeface="Arial"/>
                      </a:endParaRPr>
                    </a:p>
                  </a:txBody>
                  <a:tcPr marL="0" marR="0" marT="431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000"/>
                    </a:solidFill>
                  </a:tcPr>
                </a:tc>
                <a:tc>
                  <a:txBody>
                    <a:bodyPr/>
                    <a:lstStyle/>
                    <a:p>
                      <a:pPr marL="281305">
                        <a:lnSpc>
                          <a:spcPct val="100000"/>
                        </a:lnSpc>
                        <a:spcBef>
                          <a:spcPts val="340"/>
                        </a:spcBef>
                      </a:pPr>
                      <a:r>
                        <a:rPr sz="1600" b="1" spc="-60" dirty="0">
                          <a:latin typeface="Arial"/>
                          <a:cs typeface="Arial"/>
                        </a:rPr>
                        <a:t>Address</a:t>
                      </a:r>
                      <a:endParaRPr sz="1600" dirty="0">
                        <a:latin typeface="Arial"/>
                        <a:cs typeface="Arial"/>
                      </a:endParaRPr>
                    </a:p>
                  </a:txBody>
                  <a:tcPr marL="0" marR="0" marT="43180" marB="0">
                    <a:lnL w="9525">
                      <a:solidFill>
                        <a:srgbClr val="000000"/>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000"/>
                    </a:solidFill>
                  </a:tcPr>
                </a:tc>
                <a:extLst>
                  <a:ext uri="{0D108BD9-81ED-4DB2-BD59-A6C34878D82A}">
                    <a16:rowId xmlns:a16="http://schemas.microsoft.com/office/drawing/2014/main" val="10000"/>
                  </a:ext>
                </a:extLst>
              </a:tr>
            </a:tbl>
          </a:graphicData>
        </a:graphic>
      </p:graphicFrame>
      <p:grpSp>
        <p:nvGrpSpPr>
          <p:cNvPr id="9" name="object 9"/>
          <p:cNvGrpSpPr/>
          <p:nvPr/>
        </p:nvGrpSpPr>
        <p:grpSpPr>
          <a:xfrm>
            <a:off x="838200" y="2742775"/>
            <a:ext cx="5459349" cy="2721545"/>
            <a:chOff x="3459479" y="3520440"/>
            <a:chExt cx="5300980" cy="2350135"/>
          </a:xfrm>
        </p:grpSpPr>
        <p:sp>
          <p:nvSpPr>
            <p:cNvPr id="10" name="object 10"/>
            <p:cNvSpPr/>
            <p:nvPr/>
          </p:nvSpPr>
          <p:spPr>
            <a:xfrm>
              <a:off x="3648455" y="4402836"/>
              <a:ext cx="619125" cy="344805"/>
            </a:xfrm>
            <a:custGeom>
              <a:avLst/>
              <a:gdLst/>
              <a:ahLst/>
              <a:cxnLst/>
              <a:rect l="l" t="t" r="r" b="b"/>
              <a:pathLst>
                <a:path w="619125" h="344804">
                  <a:moveTo>
                    <a:pt x="618744" y="0"/>
                  </a:moveTo>
                  <a:lnTo>
                    <a:pt x="0" y="0"/>
                  </a:lnTo>
                  <a:lnTo>
                    <a:pt x="0" y="344424"/>
                  </a:lnTo>
                  <a:lnTo>
                    <a:pt x="618744" y="344424"/>
                  </a:lnTo>
                  <a:lnTo>
                    <a:pt x="618744" y="0"/>
                  </a:lnTo>
                  <a:close/>
                </a:path>
              </a:pathLst>
            </a:custGeom>
            <a:solidFill>
              <a:srgbClr val="FFC000"/>
            </a:solidFill>
          </p:spPr>
          <p:txBody>
            <a:bodyPr wrap="square" lIns="0" tIns="0" rIns="0" bIns="0" rtlCol="0"/>
            <a:lstStyle/>
            <a:p>
              <a:endParaRPr/>
            </a:p>
          </p:txBody>
        </p:sp>
        <p:sp>
          <p:nvSpPr>
            <p:cNvPr id="11" name="object 11"/>
            <p:cNvSpPr/>
            <p:nvPr/>
          </p:nvSpPr>
          <p:spPr>
            <a:xfrm>
              <a:off x="3648455" y="4402836"/>
              <a:ext cx="619125" cy="344805"/>
            </a:xfrm>
            <a:custGeom>
              <a:avLst/>
              <a:gdLst/>
              <a:ahLst/>
              <a:cxnLst/>
              <a:rect l="l" t="t" r="r" b="b"/>
              <a:pathLst>
                <a:path w="619125" h="344804">
                  <a:moveTo>
                    <a:pt x="0" y="344424"/>
                  </a:moveTo>
                  <a:lnTo>
                    <a:pt x="618744" y="344424"/>
                  </a:lnTo>
                  <a:lnTo>
                    <a:pt x="618744" y="0"/>
                  </a:lnTo>
                  <a:lnTo>
                    <a:pt x="0" y="0"/>
                  </a:lnTo>
                  <a:lnTo>
                    <a:pt x="0" y="344424"/>
                  </a:lnTo>
                  <a:close/>
                </a:path>
              </a:pathLst>
            </a:custGeom>
            <a:ln w="9143">
              <a:solidFill>
                <a:srgbClr val="000000"/>
              </a:solidFill>
            </a:ln>
          </p:spPr>
          <p:txBody>
            <a:bodyPr wrap="square" lIns="0" tIns="0" rIns="0" bIns="0" rtlCol="0"/>
            <a:lstStyle/>
            <a:p>
              <a:endParaRPr/>
            </a:p>
          </p:txBody>
        </p:sp>
        <p:sp>
          <p:nvSpPr>
            <p:cNvPr id="12" name="object 12"/>
            <p:cNvSpPr/>
            <p:nvPr/>
          </p:nvSpPr>
          <p:spPr>
            <a:xfrm>
              <a:off x="4227575" y="4402836"/>
              <a:ext cx="1062355" cy="344805"/>
            </a:xfrm>
            <a:custGeom>
              <a:avLst/>
              <a:gdLst/>
              <a:ahLst/>
              <a:cxnLst/>
              <a:rect l="l" t="t" r="r" b="b"/>
              <a:pathLst>
                <a:path w="1062354" h="344804">
                  <a:moveTo>
                    <a:pt x="1062227" y="0"/>
                  </a:moveTo>
                  <a:lnTo>
                    <a:pt x="0" y="0"/>
                  </a:lnTo>
                  <a:lnTo>
                    <a:pt x="0" y="344424"/>
                  </a:lnTo>
                  <a:lnTo>
                    <a:pt x="1062227" y="344424"/>
                  </a:lnTo>
                  <a:lnTo>
                    <a:pt x="1062227" y="0"/>
                  </a:lnTo>
                  <a:close/>
                </a:path>
              </a:pathLst>
            </a:custGeom>
            <a:solidFill>
              <a:srgbClr val="FFC000"/>
            </a:solidFill>
          </p:spPr>
          <p:txBody>
            <a:bodyPr wrap="square" lIns="0" tIns="0" rIns="0" bIns="0" rtlCol="0"/>
            <a:lstStyle/>
            <a:p>
              <a:endParaRPr/>
            </a:p>
          </p:txBody>
        </p:sp>
        <p:sp>
          <p:nvSpPr>
            <p:cNvPr id="13" name="object 13"/>
            <p:cNvSpPr/>
            <p:nvPr/>
          </p:nvSpPr>
          <p:spPr>
            <a:xfrm>
              <a:off x="4227575" y="4402836"/>
              <a:ext cx="1062355" cy="344805"/>
            </a:xfrm>
            <a:custGeom>
              <a:avLst/>
              <a:gdLst/>
              <a:ahLst/>
              <a:cxnLst/>
              <a:rect l="l" t="t" r="r" b="b"/>
              <a:pathLst>
                <a:path w="1062354" h="344804">
                  <a:moveTo>
                    <a:pt x="0" y="344424"/>
                  </a:moveTo>
                  <a:lnTo>
                    <a:pt x="1062227" y="344424"/>
                  </a:lnTo>
                  <a:lnTo>
                    <a:pt x="1062227" y="0"/>
                  </a:lnTo>
                  <a:lnTo>
                    <a:pt x="0" y="0"/>
                  </a:lnTo>
                  <a:lnTo>
                    <a:pt x="0" y="344424"/>
                  </a:lnTo>
                  <a:close/>
                </a:path>
              </a:pathLst>
            </a:custGeom>
            <a:ln w="9143">
              <a:solidFill>
                <a:srgbClr val="000000"/>
              </a:solidFill>
            </a:ln>
          </p:spPr>
          <p:txBody>
            <a:bodyPr wrap="square" lIns="0" tIns="0" rIns="0" bIns="0" rtlCol="0"/>
            <a:lstStyle/>
            <a:p>
              <a:endParaRPr/>
            </a:p>
          </p:txBody>
        </p:sp>
        <p:sp>
          <p:nvSpPr>
            <p:cNvPr id="14" name="object 14"/>
            <p:cNvSpPr/>
            <p:nvPr/>
          </p:nvSpPr>
          <p:spPr>
            <a:xfrm>
              <a:off x="6438900" y="4402836"/>
              <a:ext cx="1327785" cy="344805"/>
            </a:xfrm>
            <a:custGeom>
              <a:avLst/>
              <a:gdLst/>
              <a:ahLst/>
              <a:cxnLst/>
              <a:rect l="l" t="t" r="r" b="b"/>
              <a:pathLst>
                <a:path w="1327784" h="344804">
                  <a:moveTo>
                    <a:pt x="1327403" y="0"/>
                  </a:moveTo>
                  <a:lnTo>
                    <a:pt x="0" y="0"/>
                  </a:lnTo>
                  <a:lnTo>
                    <a:pt x="0" y="344424"/>
                  </a:lnTo>
                  <a:lnTo>
                    <a:pt x="1327403" y="344424"/>
                  </a:lnTo>
                  <a:lnTo>
                    <a:pt x="1327403" y="0"/>
                  </a:lnTo>
                  <a:close/>
                </a:path>
              </a:pathLst>
            </a:custGeom>
            <a:solidFill>
              <a:srgbClr val="FFC000"/>
            </a:solidFill>
          </p:spPr>
          <p:txBody>
            <a:bodyPr wrap="square" lIns="0" tIns="0" rIns="0" bIns="0" rtlCol="0"/>
            <a:lstStyle/>
            <a:p>
              <a:endParaRPr/>
            </a:p>
          </p:txBody>
        </p:sp>
        <p:sp>
          <p:nvSpPr>
            <p:cNvPr id="15" name="object 15"/>
            <p:cNvSpPr/>
            <p:nvPr/>
          </p:nvSpPr>
          <p:spPr>
            <a:xfrm>
              <a:off x="6438900" y="4402836"/>
              <a:ext cx="1327785" cy="344805"/>
            </a:xfrm>
            <a:custGeom>
              <a:avLst/>
              <a:gdLst/>
              <a:ahLst/>
              <a:cxnLst/>
              <a:rect l="l" t="t" r="r" b="b"/>
              <a:pathLst>
                <a:path w="1327784" h="344804">
                  <a:moveTo>
                    <a:pt x="0" y="344424"/>
                  </a:moveTo>
                  <a:lnTo>
                    <a:pt x="1327403" y="344424"/>
                  </a:lnTo>
                  <a:lnTo>
                    <a:pt x="1327403" y="0"/>
                  </a:lnTo>
                  <a:lnTo>
                    <a:pt x="0" y="0"/>
                  </a:lnTo>
                  <a:lnTo>
                    <a:pt x="0" y="344424"/>
                  </a:lnTo>
                  <a:close/>
                </a:path>
              </a:pathLst>
            </a:custGeom>
            <a:ln w="9144">
              <a:solidFill>
                <a:srgbClr val="000000"/>
              </a:solidFill>
            </a:ln>
          </p:spPr>
          <p:txBody>
            <a:bodyPr wrap="square" lIns="0" tIns="0" rIns="0" bIns="0" rtlCol="0"/>
            <a:lstStyle/>
            <a:p>
              <a:endParaRPr/>
            </a:p>
          </p:txBody>
        </p:sp>
        <p:sp>
          <p:nvSpPr>
            <p:cNvPr id="16" name="object 16"/>
            <p:cNvSpPr/>
            <p:nvPr/>
          </p:nvSpPr>
          <p:spPr>
            <a:xfrm>
              <a:off x="5289803" y="4402836"/>
              <a:ext cx="1149350" cy="344805"/>
            </a:xfrm>
            <a:custGeom>
              <a:avLst/>
              <a:gdLst/>
              <a:ahLst/>
              <a:cxnLst/>
              <a:rect l="l" t="t" r="r" b="b"/>
              <a:pathLst>
                <a:path w="1149350" h="344804">
                  <a:moveTo>
                    <a:pt x="1149096" y="0"/>
                  </a:moveTo>
                  <a:lnTo>
                    <a:pt x="0" y="0"/>
                  </a:lnTo>
                  <a:lnTo>
                    <a:pt x="0" y="344424"/>
                  </a:lnTo>
                  <a:lnTo>
                    <a:pt x="1149096" y="344424"/>
                  </a:lnTo>
                  <a:lnTo>
                    <a:pt x="1149096" y="0"/>
                  </a:lnTo>
                  <a:close/>
                </a:path>
              </a:pathLst>
            </a:custGeom>
            <a:solidFill>
              <a:srgbClr val="FFC000"/>
            </a:solidFill>
          </p:spPr>
          <p:txBody>
            <a:bodyPr wrap="square" lIns="0" tIns="0" rIns="0" bIns="0" rtlCol="0"/>
            <a:lstStyle/>
            <a:p>
              <a:endParaRPr/>
            </a:p>
          </p:txBody>
        </p:sp>
        <p:sp>
          <p:nvSpPr>
            <p:cNvPr id="17" name="object 17"/>
            <p:cNvSpPr/>
            <p:nvPr/>
          </p:nvSpPr>
          <p:spPr>
            <a:xfrm>
              <a:off x="5289803" y="4402836"/>
              <a:ext cx="1149350" cy="344805"/>
            </a:xfrm>
            <a:custGeom>
              <a:avLst/>
              <a:gdLst/>
              <a:ahLst/>
              <a:cxnLst/>
              <a:rect l="l" t="t" r="r" b="b"/>
              <a:pathLst>
                <a:path w="1149350" h="344804">
                  <a:moveTo>
                    <a:pt x="0" y="344424"/>
                  </a:moveTo>
                  <a:lnTo>
                    <a:pt x="1149096" y="344424"/>
                  </a:lnTo>
                  <a:lnTo>
                    <a:pt x="1149096" y="0"/>
                  </a:lnTo>
                  <a:lnTo>
                    <a:pt x="0" y="0"/>
                  </a:lnTo>
                  <a:lnTo>
                    <a:pt x="0" y="344424"/>
                  </a:lnTo>
                  <a:close/>
                </a:path>
              </a:pathLst>
            </a:custGeom>
            <a:ln w="9144">
              <a:solidFill>
                <a:srgbClr val="000000"/>
              </a:solidFill>
            </a:ln>
          </p:spPr>
          <p:txBody>
            <a:bodyPr wrap="square" lIns="0" tIns="0" rIns="0" bIns="0" rtlCol="0"/>
            <a:lstStyle/>
            <a:p>
              <a:endParaRPr/>
            </a:p>
          </p:txBody>
        </p:sp>
        <p:sp>
          <p:nvSpPr>
            <p:cNvPr id="18" name="object 18"/>
            <p:cNvSpPr/>
            <p:nvPr/>
          </p:nvSpPr>
          <p:spPr>
            <a:xfrm>
              <a:off x="3808475" y="4610100"/>
              <a:ext cx="619125" cy="344805"/>
            </a:xfrm>
            <a:custGeom>
              <a:avLst/>
              <a:gdLst/>
              <a:ahLst/>
              <a:cxnLst/>
              <a:rect l="l" t="t" r="r" b="b"/>
              <a:pathLst>
                <a:path w="619125" h="344804">
                  <a:moveTo>
                    <a:pt x="618744" y="0"/>
                  </a:moveTo>
                  <a:lnTo>
                    <a:pt x="0" y="0"/>
                  </a:lnTo>
                  <a:lnTo>
                    <a:pt x="0" y="344424"/>
                  </a:lnTo>
                  <a:lnTo>
                    <a:pt x="618744" y="344424"/>
                  </a:lnTo>
                  <a:lnTo>
                    <a:pt x="618744" y="0"/>
                  </a:lnTo>
                  <a:close/>
                </a:path>
              </a:pathLst>
            </a:custGeom>
            <a:solidFill>
              <a:srgbClr val="FFC000"/>
            </a:solidFill>
          </p:spPr>
          <p:txBody>
            <a:bodyPr wrap="square" lIns="0" tIns="0" rIns="0" bIns="0" rtlCol="0"/>
            <a:lstStyle/>
            <a:p>
              <a:endParaRPr/>
            </a:p>
          </p:txBody>
        </p:sp>
        <p:sp>
          <p:nvSpPr>
            <p:cNvPr id="19" name="object 19"/>
            <p:cNvSpPr/>
            <p:nvPr/>
          </p:nvSpPr>
          <p:spPr>
            <a:xfrm>
              <a:off x="3808475" y="4610100"/>
              <a:ext cx="619125" cy="344805"/>
            </a:xfrm>
            <a:custGeom>
              <a:avLst/>
              <a:gdLst/>
              <a:ahLst/>
              <a:cxnLst/>
              <a:rect l="l" t="t" r="r" b="b"/>
              <a:pathLst>
                <a:path w="619125" h="344804">
                  <a:moveTo>
                    <a:pt x="0" y="344424"/>
                  </a:moveTo>
                  <a:lnTo>
                    <a:pt x="618744" y="344424"/>
                  </a:lnTo>
                  <a:lnTo>
                    <a:pt x="618744" y="0"/>
                  </a:lnTo>
                  <a:lnTo>
                    <a:pt x="0" y="0"/>
                  </a:lnTo>
                  <a:lnTo>
                    <a:pt x="0" y="344424"/>
                  </a:lnTo>
                  <a:close/>
                </a:path>
              </a:pathLst>
            </a:custGeom>
            <a:ln w="9143">
              <a:solidFill>
                <a:srgbClr val="000000"/>
              </a:solidFill>
            </a:ln>
          </p:spPr>
          <p:txBody>
            <a:bodyPr wrap="square" lIns="0" tIns="0" rIns="0" bIns="0" rtlCol="0"/>
            <a:lstStyle/>
            <a:p>
              <a:endParaRPr/>
            </a:p>
          </p:txBody>
        </p:sp>
        <p:sp>
          <p:nvSpPr>
            <p:cNvPr id="20" name="object 20"/>
            <p:cNvSpPr/>
            <p:nvPr/>
          </p:nvSpPr>
          <p:spPr>
            <a:xfrm>
              <a:off x="4427219" y="4610100"/>
              <a:ext cx="1062355" cy="344805"/>
            </a:xfrm>
            <a:custGeom>
              <a:avLst/>
              <a:gdLst/>
              <a:ahLst/>
              <a:cxnLst/>
              <a:rect l="l" t="t" r="r" b="b"/>
              <a:pathLst>
                <a:path w="1062354" h="344804">
                  <a:moveTo>
                    <a:pt x="1062227" y="0"/>
                  </a:moveTo>
                  <a:lnTo>
                    <a:pt x="0" y="0"/>
                  </a:lnTo>
                  <a:lnTo>
                    <a:pt x="0" y="344424"/>
                  </a:lnTo>
                  <a:lnTo>
                    <a:pt x="1062227" y="344424"/>
                  </a:lnTo>
                  <a:lnTo>
                    <a:pt x="1062227" y="0"/>
                  </a:lnTo>
                  <a:close/>
                </a:path>
              </a:pathLst>
            </a:custGeom>
            <a:solidFill>
              <a:srgbClr val="FFC000"/>
            </a:solidFill>
          </p:spPr>
          <p:txBody>
            <a:bodyPr wrap="square" lIns="0" tIns="0" rIns="0" bIns="0" rtlCol="0"/>
            <a:lstStyle/>
            <a:p>
              <a:endParaRPr/>
            </a:p>
          </p:txBody>
        </p:sp>
        <p:sp>
          <p:nvSpPr>
            <p:cNvPr id="21" name="object 21"/>
            <p:cNvSpPr/>
            <p:nvPr/>
          </p:nvSpPr>
          <p:spPr>
            <a:xfrm>
              <a:off x="4427219" y="4610100"/>
              <a:ext cx="1062355" cy="344805"/>
            </a:xfrm>
            <a:custGeom>
              <a:avLst/>
              <a:gdLst/>
              <a:ahLst/>
              <a:cxnLst/>
              <a:rect l="l" t="t" r="r" b="b"/>
              <a:pathLst>
                <a:path w="1062354" h="344804">
                  <a:moveTo>
                    <a:pt x="0" y="344424"/>
                  </a:moveTo>
                  <a:lnTo>
                    <a:pt x="1062227" y="344424"/>
                  </a:lnTo>
                  <a:lnTo>
                    <a:pt x="1062227" y="0"/>
                  </a:lnTo>
                  <a:lnTo>
                    <a:pt x="0" y="0"/>
                  </a:lnTo>
                  <a:lnTo>
                    <a:pt x="0" y="344424"/>
                  </a:lnTo>
                  <a:close/>
                </a:path>
              </a:pathLst>
            </a:custGeom>
            <a:ln w="9143">
              <a:solidFill>
                <a:srgbClr val="000000"/>
              </a:solidFill>
            </a:ln>
          </p:spPr>
          <p:txBody>
            <a:bodyPr wrap="square" lIns="0" tIns="0" rIns="0" bIns="0" rtlCol="0"/>
            <a:lstStyle/>
            <a:p>
              <a:endParaRPr/>
            </a:p>
          </p:txBody>
        </p:sp>
        <p:sp>
          <p:nvSpPr>
            <p:cNvPr id="22" name="object 22"/>
            <p:cNvSpPr/>
            <p:nvPr/>
          </p:nvSpPr>
          <p:spPr>
            <a:xfrm>
              <a:off x="6638544" y="4610100"/>
              <a:ext cx="1327785" cy="344805"/>
            </a:xfrm>
            <a:custGeom>
              <a:avLst/>
              <a:gdLst/>
              <a:ahLst/>
              <a:cxnLst/>
              <a:rect l="l" t="t" r="r" b="b"/>
              <a:pathLst>
                <a:path w="1327784" h="344804">
                  <a:moveTo>
                    <a:pt x="1327403" y="0"/>
                  </a:moveTo>
                  <a:lnTo>
                    <a:pt x="0" y="0"/>
                  </a:lnTo>
                  <a:lnTo>
                    <a:pt x="0" y="344424"/>
                  </a:lnTo>
                  <a:lnTo>
                    <a:pt x="1327403" y="344424"/>
                  </a:lnTo>
                  <a:lnTo>
                    <a:pt x="1327403" y="0"/>
                  </a:lnTo>
                  <a:close/>
                </a:path>
              </a:pathLst>
            </a:custGeom>
            <a:solidFill>
              <a:srgbClr val="FFC000"/>
            </a:solidFill>
          </p:spPr>
          <p:txBody>
            <a:bodyPr wrap="square" lIns="0" tIns="0" rIns="0" bIns="0" rtlCol="0"/>
            <a:lstStyle/>
            <a:p>
              <a:endParaRPr/>
            </a:p>
          </p:txBody>
        </p:sp>
        <p:sp>
          <p:nvSpPr>
            <p:cNvPr id="23" name="object 23"/>
            <p:cNvSpPr/>
            <p:nvPr/>
          </p:nvSpPr>
          <p:spPr>
            <a:xfrm>
              <a:off x="6638544" y="4610100"/>
              <a:ext cx="1327785" cy="344805"/>
            </a:xfrm>
            <a:custGeom>
              <a:avLst/>
              <a:gdLst/>
              <a:ahLst/>
              <a:cxnLst/>
              <a:rect l="l" t="t" r="r" b="b"/>
              <a:pathLst>
                <a:path w="1327784" h="344804">
                  <a:moveTo>
                    <a:pt x="0" y="344424"/>
                  </a:moveTo>
                  <a:lnTo>
                    <a:pt x="1327403" y="344424"/>
                  </a:lnTo>
                  <a:lnTo>
                    <a:pt x="1327403" y="0"/>
                  </a:lnTo>
                  <a:lnTo>
                    <a:pt x="0" y="0"/>
                  </a:lnTo>
                  <a:lnTo>
                    <a:pt x="0" y="344424"/>
                  </a:lnTo>
                  <a:close/>
                </a:path>
              </a:pathLst>
            </a:custGeom>
            <a:ln w="9144">
              <a:solidFill>
                <a:srgbClr val="000000"/>
              </a:solidFill>
            </a:ln>
          </p:spPr>
          <p:txBody>
            <a:bodyPr wrap="square" lIns="0" tIns="0" rIns="0" bIns="0" rtlCol="0"/>
            <a:lstStyle/>
            <a:p>
              <a:endParaRPr/>
            </a:p>
          </p:txBody>
        </p:sp>
        <p:sp>
          <p:nvSpPr>
            <p:cNvPr id="24" name="object 24"/>
            <p:cNvSpPr/>
            <p:nvPr/>
          </p:nvSpPr>
          <p:spPr>
            <a:xfrm>
              <a:off x="5489447" y="4610100"/>
              <a:ext cx="1149350" cy="344805"/>
            </a:xfrm>
            <a:custGeom>
              <a:avLst/>
              <a:gdLst/>
              <a:ahLst/>
              <a:cxnLst/>
              <a:rect l="l" t="t" r="r" b="b"/>
              <a:pathLst>
                <a:path w="1149350" h="344804">
                  <a:moveTo>
                    <a:pt x="1149096" y="0"/>
                  </a:moveTo>
                  <a:lnTo>
                    <a:pt x="0" y="0"/>
                  </a:lnTo>
                  <a:lnTo>
                    <a:pt x="0" y="344424"/>
                  </a:lnTo>
                  <a:lnTo>
                    <a:pt x="1149096" y="344424"/>
                  </a:lnTo>
                  <a:lnTo>
                    <a:pt x="1149096" y="0"/>
                  </a:lnTo>
                  <a:close/>
                </a:path>
              </a:pathLst>
            </a:custGeom>
            <a:solidFill>
              <a:srgbClr val="FFC000"/>
            </a:solidFill>
          </p:spPr>
          <p:txBody>
            <a:bodyPr wrap="square" lIns="0" tIns="0" rIns="0" bIns="0" rtlCol="0"/>
            <a:lstStyle/>
            <a:p>
              <a:endParaRPr/>
            </a:p>
          </p:txBody>
        </p:sp>
        <p:sp>
          <p:nvSpPr>
            <p:cNvPr id="25" name="object 25"/>
            <p:cNvSpPr/>
            <p:nvPr/>
          </p:nvSpPr>
          <p:spPr>
            <a:xfrm>
              <a:off x="5489447" y="4610100"/>
              <a:ext cx="1149350" cy="344805"/>
            </a:xfrm>
            <a:custGeom>
              <a:avLst/>
              <a:gdLst/>
              <a:ahLst/>
              <a:cxnLst/>
              <a:rect l="l" t="t" r="r" b="b"/>
              <a:pathLst>
                <a:path w="1149350" h="344804">
                  <a:moveTo>
                    <a:pt x="0" y="344424"/>
                  </a:moveTo>
                  <a:lnTo>
                    <a:pt x="1149096" y="344424"/>
                  </a:lnTo>
                  <a:lnTo>
                    <a:pt x="1149096" y="0"/>
                  </a:lnTo>
                  <a:lnTo>
                    <a:pt x="0" y="0"/>
                  </a:lnTo>
                  <a:lnTo>
                    <a:pt x="0" y="344424"/>
                  </a:lnTo>
                  <a:close/>
                </a:path>
              </a:pathLst>
            </a:custGeom>
            <a:ln w="9144">
              <a:solidFill>
                <a:srgbClr val="000000"/>
              </a:solidFill>
            </a:ln>
          </p:spPr>
          <p:txBody>
            <a:bodyPr wrap="square" lIns="0" tIns="0" rIns="0" bIns="0" rtlCol="0"/>
            <a:lstStyle/>
            <a:p>
              <a:endParaRPr/>
            </a:p>
          </p:txBody>
        </p:sp>
        <p:sp>
          <p:nvSpPr>
            <p:cNvPr id="26" name="object 26"/>
            <p:cNvSpPr/>
            <p:nvPr/>
          </p:nvSpPr>
          <p:spPr>
            <a:xfrm>
              <a:off x="4008119" y="4815840"/>
              <a:ext cx="620395" cy="344805"/>
            </a:xfrm>
            <a:custGeom>
              <a:avLst/>
              <a:gdLst/>
              <a:ahLst/>
              <a:cxnLst/>
              <a:rect l="l" t="t" r="r" b="b"/>
              <a:pathLst>
                <a:path w="620395" h="344804">
                  <a:moveTo>
                    <a:pt x="620268" y="0"/>
                  </a:moveTo>
                  <a:lnTo>
                    <a:pt x="0" y="0"/>
                  </a:lnTo>
                  <a:lnTo>
                    <a:pt x="0" y="344424"/>
                  </a:lnTo>
                  <a:lnTo>
                    <a:pt x="620268" y="344424"/>
                  </a:lnTo>
                  <a:lnTo>
                    <a:pt x="620268" y="0"/>
                  </a:lnTo>
                  <a:close/>
                </a:path>
              </a:pathLst>
            </a:custGeom>
            <a:solidFill>
              <a:srgbClr val="FFC000"/>
            </a:solidFill>
          </p:spPr>
          <p:txBody>
            <a:bodyPr wrap="square" lIns="0" tIns="0" rIns="0" bIns="0" rtlCol="0"/>
            <a:lstStyle/>
            <a:p>
              <a:endParaRPr/>
            </a:p>
          </p:txBody>
        </p:sp>
        <p:sp>
          <p:nvSpPr>
            <p:cNvPr id="27" name="object 27"/>
            <p:cNvSpPr/>
            <p:nvPr/>
          </p:nvSpPr>
          <p:spPr>
            <a:xfrm>
              <a:off x="4008119" y="4815840"/>
              <a:ext cx="620395" cy="344805"/>
            </a:xfrm>
            <a:custGeom>
              <a:avLst/>
              <a:gdLst/>
              <a:ahLst/>
              <a:cxnLst/>
              <a:rect l="l" t="t" r="r" b="b"/>
              <a:pathLst>
                <a:path w="620395" h="344804">
                  <a:moveTo>
                    <a:pt x="0" y="344424"/>
                  </a:moveTo>
                  <a:lnTo>
                    <a:pt x="620268" y="344424"/>
                  </a:lnTo>
                  <a:lnTo>
                    <a:pt x="620268" y="0"/>
                  </a:lnTo>
                  <a:lnTo>
                    <a:pt x="0" y="0"/>
                  </a:lnTo>
                  <a:lnTo>
                    <a:pt x="0" y="344424"/>
                  </a:lnTo>
                  <a:close/>
                </a:path>
              </a:pathLst>
            </a:custGeom>
            <a:ln w="9143">
              <a:solidFill>
                <a:srgbClr val="000000"/>
              </a:solidFill>
            </a:ln>
          </p:spPr>
          <p:txBody>
            <a:bodyPr wrap="square" lIns="0" tIns="0" rIns="0" bIns="0" rtlCol="0"/>
            <a:lstStyle/>
            <a:p>
              <a:endParaRPr/>
            </a:p>
          </p:txBody>
        </p:sp>
        <p:sp>
          <p:nvSpPr>
            <p:cNvPr id="28" name="object 28"/>
            <p:cNvSpPr/>
            <p:nvPr/>
          </p:nvSpPr>
          <p:spPr>
            <a:xfrm>
              <a:off x="4628387" y="4815840"/>
              <a:ext cx="1061085" cy="344805"/>
            </a:xfrm>
            <a:custGeom>
              <a:avLst/>
              <a:gdLst/>
              <a:ahLst/>
              <a:cxnLst/>
              <a:rect l="l" t="t" r="r" b="b"/>
              <a:pathLst>
                <a:path w="1061085" h="344804">
                  <a:moveTo>
                    <a:pt x="1060703" y="0"/>
                  </a:moveTo>
                  <a:lnTo>
                    <a:pt x="0" y="0"/>
                  </a:lnTo>
                  <a:lnTo>
                    <a:pt x="0" y="344424"/>
                  </a:lnTo>
                  <a:lnTo>
                    <a:pt x="1060703" y="344424"/>
                  </a:lnTo>
                  <a:lnTo>
                    <a:pt x="1060703" y="0"/>
                  </a:lnTo>
                  <a:close/>
                </a:path>
              </a:pathLst>
            </a:custGeom>
            <a:solidFill>
              <a:srgbClr val="FFC000"/>
            </a:solidFill>
          </p:spPr>
          <p:txBody>
            <a:bodyPr wrap="square" lIns="0" tIns="0" rIns="0" bIns="0" rtlCol="0"/>
            <a:lstStyle/>
            <a:p>
              <a:endParaRPr/>
            </a:p>
          </p:txBody>
        </p:sp>
        <p:sp>
          <p:nvSpPr>
            <p:cNvPr id="29" name="object 29"/>
            <p:cNvSpPr/>
            <p:nvPr/>
          </p:nvSpPr>
          <p:spPr>
            <a:xfrm>
              <a:off x="4628387" y="4815840"/>
              <a:ext cx="1061085" cy="344805"/>
            </a:xfrm>
            <a:custGeom>
              <a:avLst/>
              <a:gdLst/>
              <a:ahLst/>
              <a:cxnLst/>
              <a:rect l="l" t="t" r="r" b="b"/>
              <a:pathLst>
                <a:path w="1061085" h="344804">
                  <a:moveTo>
                    <a:pt x="0" y="344424"/>
                  </a:moveTo>
                  <a:lnTo>
                    <a:pt x="1060703" y="344424"/>
                  </a:lnTo>
                  <a:lnTo>
                    <a:pt x="1060703" y="0"/>
                  </a:lnTo>
                  <a:lnTo>
                    <a:pt x="0" y="0"/>
                  </a:lnTo>
                  <a:lnTo>
                    <a:pt x="0" y="344424"/>
                  </a:lnTo>
                  <a:close/>
                </a:path>
              </a:pathLst>
            </a:custGeom>
            <a:ln w="9144">
              <a:solidFill>
                <a:srgbClr val="000000"/>
              </a:solidFill>
            </a:ln>
          </p:spPr>
          <p:txBody>
            <a:bodyPr wrap="square" lIns="0" tIns="0" rIns="0" bIns="0" rtlCol="0"/>
            <a:lstStyle/>
            <a:p>
              <a:endParaRPr/>
            </a:p>
          </p:txBody>
        </p:sp>
        <p:sp>
          <p:nvSpPr>
            <p:cNvPr id="30" name="object 30"/>
            <p:cNvSpPr/>
            <p:nvPr/>
          </p:nvSpPr>
          <p:spPr>
            <a:xfrm>
              <a:off x="6839711" y="4815840"/>
              <a:ext cx="1325880" cy="344805"/>
            </a:xfrm>
            <a:custGeom>
              <a:avLst/>
              <a:gdLst/>
              <a:ahLst/>
              <a:cxnLst/>
              <a:rect l="l" t="t" r="r" b="b"/>
              <a:pathLst>
                <a:path w="1325879" h="344804">
                  <a:moveTo>
                    <a:pt x="1325879" y="0"/>
                  </a:moveTo>
                  <a:lnTo>
                    <a:pt x="0" y="0"/>
                  </a:lnTo>
                  <a:lnTo>
                    <a:pt x="0" y="344424"/>
                  </a:lnTo>
                  <a:lnTo>
                    <a:pt x="1325879" y="344424"/>
                  </a:lnTo>
                  <a:lnTo>
                    <a:pt x="1325879" y="0"/>
                  </a:lnTo>
                  <a:close/>
                </a:path>
              </a:pathLst>
            </a:custGeom>
            <a:solidFill>
              <a:srgbClr val="FFC000"/>
            </a:solidFill>
          </p:spPr>
          <p:txBody>
            <a:bodyPr wrap="square" lIns="0" tIns="0" rIns="0" bIns="0" rtlCol="0"/>
            <a:lstStyle/>
            <a:p>
              <a:endParaRPr/>
            </a:p>
          </p:txBody>
        </p:sp>
        <p:sp>
          <p:nvSpPr>
            <p:cNvPr id="31" name="object 31"/>
            <p:cNvSpPr/>
            <p:nvPr/>
          </p:nvSpPr>
          <p:spPr>
            <a:xfrm>
              <a:off x="6839711" y="4815840"/>
              <a:ext cx="1325880" cy="344805"/>
            </a:xfrm>
            <a:custGeom>
              <a:avLst/>
              <a:gdLst/>
              <a:ahLst/>
              <a:cxnLst/>
              <a:rect l="l" t="t" r="r" b="b"/>
              <a:pathLst>
                <a:path w="1325879" h="344804">
                  <a:moveTo>
                    <a:pt x="0" y="344424"/>
                  </a:moveTo>
                  <a:lnTo>
                    <a:pt x="1325879" y="344424"/>
                  </a:lnTo>
                  <a:lnTo>
                    <a:pt x="1325879" y="0"/>
                  </a:lnTo>
                  <a:lnTo>
                    <a:pt x="0" y="0"/>
                  </a:lnTo>
                  <a:lnTo>
                    <a:pt x="0" y="344424"/>
                  </a:lnTo>
                  <a:close/>
                </a:path>
              </a:pathLst>
            </a:custGeom>
            <a:ln w="9144">
              <a:solidFill>
                <a:srgbClr val="000000"/>
              </a:solidFill>
            </a:ln>
          </p:spPr>
          <p:txBody>
            <a:bodyPr wrap="square" lIns="0" tIns="0" rIns="0" bIns="0" rtlCol="0"/>
            <a:lstStyle/>
            <a:p>
              <a:endParaRPr/>
            </a:p>
          </p:txBody>
        </p:sp>
        <p:sp>
          <p:nvSpPr>
            <p:cNvPr id="32" name="object 32"/>
            <p:cNvSpPr/>
            <p:nvPr/>
          </p:nvSpPr>
          <p:spPr>
            <a:xfrm>
              <a:off x="5689091" y="4815840"/>
              <a:ext cx="1150620" cy="344805"/>
            </a:xfrm>
            <a:custGeom>
              <a:avLst/>
              <a:gdLst/>
              <a:ahLst/>
              <a:cxnLst/>
              <a:rect l="l" t="t" r="r" b="b"/>
              <a:pathLst>
                <a:path w="1150620" h="344804">
                  <a:moveTo>
                    <a:pt x="1150619" y="0"/>
                  </a:moveTo>
                  <a:lnTo>
                    <a:pt x="0" y="0"/>
                  </a:lnTo>
                  <a:lnTo>
                    <a:pt x="0" y="344424"/>
                  </a:lnTo>
                  <a:lnTo>
                    <a:pt x="1150619" y="344424"/>
                  </a:lnTo>
                  <a:lnTo>
                    <a:pt x="1150619" y="0"/>
                  </a:lnTo>
                  <a:close/>
                </a:path>
              </a:pathLst>
            </a:custGeom>
            <a:solidFill>
              <a:srgbClr val="FFC000"/>
            </a:solidFill>
          </p:spPr>
          <p:txBody>
            <a:bodyPr wrap="square" lIns="0" tIns="0" rIns="0" bIns="0" rtlCol="0"/>
            <a:lstStyle/>
            <a:p>
              <a:endParaRPr/>
            </a:p>
          </p:txBody>
        </p:sp>
        <p:sp>
          <p:nvSpPr>
            <p:cNvPr id="33" name="object 33"/>
            <p:cNvSpPr/>
            <p:nvPr/>
          </p:nvSpPr>
          <p:spPr>
            <a:xfrm>
              <a:off x="5689091" y="4815840"/>
              <a:ext cx="1150620" cy="344805"/>
            </a:xfrm>
            <a:custGeom>
              <a:avLst/>
              <a:gdLst/>
              <a:ahLst/>
              <a:cxnLst/>
              <a:rect l="l" t="t" r="r" b="b"/>
              <a:pathLst>
                <a:path w="1150620" h="344804">
                  <a:moveTo>
                    <a:pt x="0" y="344424"/>
                  </a:moveTo>
                  <a:lnTo>
                    <a:pt x="1150619" y="344424"/>
                  </a:lnTo>
                  <a:lnTo>
                    <a:pt x="1150619" y="0"/>
                  </a:lnTo>
                  <a:lnTo>
                    <a:pt x="0" y="0"/>
                  </a:lnTo>
                  <a:lnTo>
                    <a:pt x="0" y="344424"/>
                  </a:lnTo>
                  <a:close/>
                </a:path>
              </a:pathLst>
            </a:custGeom>
            <a:ln w="9144">
              <a:solidFill>
                <a:srgbClr val="000000"/>
              </a:solidFill>
            </a:ln>
          </p:spPr>
          <p:txBody>
            <a:bodyPr wrap="square" lIns="0" tIns="0" rIns="0" bIns="0" rtlCol="0"/>
            <a:lstStyle/>
            <a:p>
              <a:endParaRPr/>
            </a:p>
          </p:txBody>
        </p:sp>
        <p:sp>
          <p:nvSpPr>
            <p:cNvPr id="34" name="object 34"/>
            <p:cNvSpPr/>
            <p:nvPr/>
          </p:nvSpPr>
          <p:spPr>
            <a:xfrm>
              <a:off x="4209287" y="5023104"/>
              <a:ext cx="619125" cy="344805"/>
            </a:xfrm>
            <a:custGeom>
              <a:avLst/>
              <a:gdLst/>
              <a:ahLst/>
              <a:cxnLst/>
              <a:rect l="l" t="t" r="r" b="b"/>
              <a:pathLst>
                <a:path w="619125" h="344804">
                  <a:moveTo>
                    <a:pt x="618743" y="0"/>
                  </a:moveTo>
                  <a:lnTo>
                    <a:pt x="0" y="0"/>
                  </a:lnTo>
                  <a:lnTo>
                    <a:pt x="0" y="344424"/>
                  </a:lnTo>
                  <a:lnTo>
                    <a:pt x="618743" y="344424"/>
                  </a:lnTo>
                  <a:lnTo>
                    <a:pt x="618743" y="0"/>
                  </a:lnTo>
                  <a:close/>
                </a:path>
              </a:pathLst>
            </a:custGeom>
            <a:solidFill>
              <a:srgbClr val="FFC000"/>
            </a:solidFill>
          </p:spPr>
          <p:txBody>
            <a:bodyPr wrap="square" lIns="0" tIns="0" rIns="0" bIns="0" rtlCol="0"/>
            <a:lstStyle/>
            <a:p>
              <a:endParaRPr/>
            </a:p>
          </p:txBody>
        </p:sp>
        <p:sp>
          <p:nvSpPr>
            <p:cNvPr id="35" name="object 35"/>
            <p:cNvSpPr/>
            <p:nvPr/>
          </p:nvSpPr>
          <p:spPr>
            <a:xfrm>
              <a:off x="4209287" y="5023104"/>
              <a:ext cx="619125" cy="344805"/>
            </a:xfrm>
            <a:custGeom>
              <a:avLst/>
              <a:gdLst/>
              <a:ahLst/>
              <a:cxnLst/>
              <a:rect l="l" t="t" r="r" b="b"/>
              <a:pathLst>
                <a:path w="619125" h="344804">
                  <a:moveTo>
                    <a:pt x="0" y="344424"/>
                  </a:moveTo>
                  <a:lnTo>
                    <a:pt x="618743" y="344424"/>
                  </a:lnTo>
                  <a:lnTo>
                    <a:pt x="618743" y="0"/>
                  </a:lnTo>
                  <a:lnTo>
                    <a:pt x="0" y="0"/>
                  </a:lnTo>
                  <a:lnTo>
                    <a:pt x="0" y="344424"/>
                  </a:lnTo>
                  <a:close/>
                </a:path>
              </a:pathLst>
            </a:custGeom>
            <a:ln w="9144">
              <a:solidFill>
                <a:srgbClr val="000000"/>
              </a:solidFill>
            </a:ln>
          </p:spPr>
          <p:txBody>
            <a:bodyPr wrap="square" lIns="0" tIns="0" rIns="0" bIns="0" rtlCol="0"/>
            <a:lstStyle/>
            <a:p>
              <a:endParaRPr/>
            </a:p>
          </p:txBody>
        </p:sp>
        <p:sp>
          <p:nvSpPr>
            <p:cNvPr id="36" name="object 36"/>
            <p:cNvSpPr/>
            <p:nvPr/>
          </p:nvSpPr>
          <p:spPr>
            <a:xfrm>
              <a:off x="4828031" y="5023104"/>
              <a:ext cx="1061085" cy="344805"/>
            </a:xfrm>
            <a:custGeom>
              <a:avLst/>
              <a:gdLst/>
              <a:ahLst/>
              <a:cxnLst/>
              <a:rect l="l" t="t" r="r" b="b"/>
              <a:pathLst>
                <a:path w="1061085" h="344804">
                  <a:moveTo>
                    <a:pt x="1060703" y="0"/>
                  </a:moveTo>
                  <a:lnTo>
                    <a:pt x="0" y="0"/>
                  </a:lnTo>
                  <a:lnTo>
                    <a:pt x="0" y="344424"/>
                  </a:lnTo>
                  <a:lnTo>
                    <a:pt x="1060703" y="344424"/>
                  </a:lnTo>
                  <a:lnTo>
                    <a:pt x="1060703" y="0"/>
                  </a:lnTo>
                  <a:close/>
                </a:path>
              </a:pathLst>
            </a:custGeom>
            <a:solidFill>
              <a:srgbClr val="FFC000"/>
            </a:solidFill>
          </p:spPr>
          <p:txBody>
            <a:bodyPr wrap="square" lIns="0" tIns="0" rIns="0" bIns="0" rtlCol="0"/>
            <a:lstStyle/>
            <a:p>
              <a:endParaRPr/>
            </a:p>
          </p:txBody>
        </p:sp>
        <p:sp>
          <p:nvSpPr>
            <p:cNvPr id="37" name="object 37"/>
            <p:cNvSpPr/>
            <p:nvPr/>
          </p:nvSpPr>
          <p:spPr>
            <a:xfrm>
              <a:off x="4828031" y="5023104"/>
              <a:ext cx="1061085" cy="344805"/>
            </a:xfrm>
            <a:custGeom>
              <a:avLst/>
              <a:gdLst/>
              <a:ahLst/>
              <a:cxnLst/>
              <a:rect l="l" t="t" r="r" b="b"/>
              <a:pathLst>
                <a:path w="1061085" h="344804">
                  <a:moveTo>
                    <a:pt x="0" y="344424"/>
                  </a:moveTo>
                  <a:lnTo>
                    <a:pt x="1060703" y="344424"/>
                  </a:lnTo>
                  <a:lnTo>
                    <a:pt x="1060703" y="0"/>
                  </a:lnTo>
                  <a:lnTo>
                    <a:pt x="0" y="0"/>
                  </a:lnTo>
                  <a:lnTo>
                    <a:pt x="0" y="344424"/>
                  </a:lnTo>
                  <a:close/>
                </a:path>
              </a:pathLst>
            </a:custGeom>
            <a:ln w="9144">
              <a:solidFill>
                <a:srgbClr val="000000"/>
              </a:solidFill>
            </a:ln>
          </p:spPr>
          <p:txBody>
            <a:bodyPr wrap="square" lIns="0" tIns="0" rIns="0" bIns="0" rtlCol="0"/>
            <a:lstStyle/>
            <a:p>
              <a:endParaRPr/>
            </a:p>
          </p:txBody>
        </p:sp>
        <p:sp>
          <p:nvSpPr>
            <p:cNvPr id="38" name="object 38"/>
            <p:cNvSpPr/>
            <p:nvPr/>
          </p:nvSpPr>
          <p:spPr>
            <a:xfrm>
              <a:off x="7039355" y="5023104"/>
              <a:ext cx="1325880" cy="344805"/>
            </a:xfrm>
            <a:custGeom>
              <a:avLst/>
              <a:gdLst/>
              <a:ahLst/>
              <a:cxnLst/>
              <a:rect l="l" t="t" r="r" b="b"/>
              <a:pathLst>
                <a:path w="1325879" h="344804">
                  <a:moveTo>
                    <a:pt x="1325879" y="0"/>
                  </a:moveTo>
                  <a:lnTo>
                    <a:pt x="0" y="0"/>
                  </a:lnTo>
                  <a:lnTo>
                    <a:pt x="0" y="344424"/>
                  </a:lnTo>
                  <a:lnTo>
                    <a:pt x="1325879" y="344424"/>
                  </a:lnTo>
                  <a:lnTo>
                    <a:pt x="1325879" y="0"/>
                  </a:lnTo>
                  <a:close/>
                </a:path>
              </a:pathLst>
            </a:custGeom>
            <a:solidFill>
              <a:srgbClr val="FFC000"/>
            </a:solidFill>
          </p:spPr>
          <p:txBody>
            <a:bodyPr wrap="square" lIns="0" tIns="0" rIns="0" bIns="0" rtlCol="0"/>
            <a:lstStyle/>
            <a:p>
              <a:endParaRPr/>
            </a:p>
          </p:txBody>
        </p:sp>
        <p:sp>
          <p:nvSpPr>
            <p:cNvPr id="39" name="object 39"/>
            <p:cNvSpPr/>
            <p:nvPr/>
          </p:nvSpPr>
          <p:spPr>
            <a:xfrm>
              <a:off x="7039355" y="5023104"/>
              <a:ext cx="1325880" cy="344805"/>
            </a:xfrm>
            <a:custGeom>
              <a:avLst/>
              <a:gdLst/>
              <a:ahLst/>
              <a:cxnLst/>
              <a:rect l="l" t="t" r="r" b="b"/>
              <a:pathLst>
                <a:path w="1325879" h="344804">
                  <a:moveTo>
                    <a:pt x="0" y="344424"/>
                  </a:moveTo>
                  <a:lnTo>
                    <a:pt x="1325879" y="344424"/>
                  </a:lnTo>
                  <a:lnTo>
                    <a:pt x="1325879" y="0"/>
                  </a:lnTo>
                  <a:lnTo>
                    <a:pt x="0" y="0"/>
                  </a:lnTo>
                  <a:lnTo>
                    <a:pt x="0" y="344424"/>
                  </a:lnTo>
                  <a:close/>
                </a:path>
              </a:pathLst>
            </a:custGeom>
            <a:ln w="9144">
              <a:solidFill>
                <a:srgbClr val="000000"/>
              </a:solidFill>
            </a:ln>
          </p:spPr>
          <p:txBody>
            <a:bodyPr wrap="square" lIns="0" tIns="0" rIns="0" bIns="0" rtlCol="0"/>
            <a:lstStyle/>
            <a:p>
              <a:endParaRPr/>
            </a:p>
          </p:txBody>
        </p:sp>
        <p:sp>
          <p:nvSpPr>
            <p:cNvPr id="40" name="object 40"/>
            <p:cNvSpPr/>
            <p:nvPr/>
          </p:nvSpPr>
          <p:spPr>
            <a:xfrm>
              <a:off x="5888735" y="5023104"/>
              <a:ext cx="1150620" cy="344805"/>
            </a:xfrm>
            <a:custGeom>
              <a:avLst/>
              <a:gdLst/>
              <a:ahLst/>
              <a:cxnLst/>
              <a:rect l="l" t="t" r="r" b="b"/>
              <a:pathLst>
                <a:path w="1150620" h="344804">
                  <a:moveTo>
                    <a:pt x="1150619" y="0"/>
                  </a:moveTo>
                  <a:lnTo>
                    <a:pt x="0" y="0"/>
                  </a:lnTo>
                  <a:lnTo>
                    <a:pt x="0" y="344424"/>
                  </a:lnTo>
                  <a:lnTo>
                    <a:pt x="1150619" y="344424"/>
                  </a:lnTo>
                  <a:lnTo>
                    <a:pt x="1150619" y="0"/>
                  </a:lnTo>
                  <a:close/>
                </a:path>
              </a:pathLst>
            </a:custGeom>
            <a:solidFill>
              <a:srgbClr val="FFC000"/>
            </a:solidFill>
          </p:spPr>
          <p:txBody>
            <a:bodyPr wrap="square" lIns="0" tIns="0" rIns="0" bIns="0" rtlCol="0"/>
            <a:lstStyle/>
            <a:p>
              <a:endParaRPr/>
            </a:p>
          </p:txBody>
        </p:sp>
        <p:sp>
          <p:nvSpPr>
            <p:cNvPr id="41" name="object 41"/>
            <p:cNvSpPr/>
            <p:nvPr/>
          </p:nvSpPr>
          <p:spPr>
            <a:xfrm>
              <a:off x="5888735" y="5023104"/>
              <a:ext cx="1150620" cy="344805"/>
            </a:xfrm>
            <a:custGeom>
              <a:avLst/>
              <a:gdLst/>
              <a:ahLst/>
              <a:cxnLst/>
              <a:rect l="l" t="t" r="r" b="b"/>
              <a:pathLst>
                <a:path w="1150620" h="344804">
                  <a:moveTo>
                    <a:pt x="0" y="344424"/>
                  </a:moveTo>
                  <a:lnTo>
                    <a:pt x="1150619" y="344424"/>
                  </a:lnTo>
                  <a:lnTo>
                    <a:pt x="1150619" y="0"/>
                  </a:lnTo>
                  <a:lnTo>
                    <a:pt x="0" y="0"/>
                  </a:lnTo>
                  <a:lnTo>
                    <a:pt x="0" y="344424"/>
                  </a:lnTo>
                  <a:close/>
                </a:path>
              </a:pathLst>
            </a:custGeom>
            <a:ln w="9144">
              <a:solidFill>
                <a:srgbClr val="000000"/>
              </a:solidFill>
            </a:ln>
          </p:spPr>
          <p:txBody>
            <a:bodyPr wrap="square" lIns="0" tIns="0" rIns="0" bIns="0" rtlCol="0"/>
            <a:lstStyle/>
            <a:p>
              <a:endParaRPr/>
            </a:p>
          </p:txBody>
        </p:sp>
        <p:sp>
          <p:nvSpPr>
            <p:cNvPr id="42" name="object 42"/>
            <p:cNvSpPr/>
            <p:nvPr/>
          </p:nvSpPr>
          <p:spPr>
            <a:xfrm>
              <a:off x="4408931" y="5228844"/>
              <a:ext cx="619125" cy="344805"/>
            </a:xfrm>
            <a:custGeom>
              <a:avLst/>
              <a:gdLst/>
              <a:ahLst/>
              <a:cxnLst/>
              <a:rect l="l" t="t" r="r" b="b"/>
              <a:pathLst>
                <a:path w="619125" h="344804">
                  <a:moveTo>
                    <a:pt x="618743" y="0"/>
                  </a:moveTo>
                  <a:lnTo>
                    <a:pt x="0" y="0"/>
                  </a:lnTo>
                  <a:lnTo>
                    <a:pt x="0" y="344423"/>
                  </a:lnTo>
                  <a:lnTo>
                    <a:pt x="618743" y="344423"/>
                  </a:lnTo>
                  <a:lnTo>
                    <a:pt x="618743" y="0"/>
                  </a:lnTo>
                  <a:close/>
                </a:path>
              </a:pathLst>
            </a:custGeom>
            <a:solidFill>
              <a:srgbClr val="FFC000"/>
            </a:solidFill>
          </p:spPr>
          <p:txBody>
            <a:bodyPr wrap="square" lIns="0" tIns="0" rIns="0" bIns="0" rtlCol="0"/>
            <a:lstStyle/>
            <a:p>
              <a:endParaRPr/>
            </a:p>
          </p:txBody>
        </p:sp>
        <p:sp>
          <p:nvSpPr>
            <p:cNvPr id="43" name="object 43"/>
            <p:cNvSpPr/>
            <p:nvPr/>
          </p:nvSpPr>
          <p:spPr>
            <a:xfrm>
              <a:off x="4408931" y="5228844"/>
              <a:ext cx="619125" cy="344805"/>
            </a:xfrm>
            <a:custGeom>
              <a:avLst/>
              <a:gdLst/>
              <a:ahLst/>
              <a:cxnLst/>
              <a:rect l="l" t="t" r="r" b="b"/>
              <a:pathLst>
                <a:path w="619125" h="344804">
                  <a:moveTo>
                    <a:pt x="0" y="344423"/>
                  </a:moveTo>
                  <a:lnTo>
                    <a:pt x="618743" y="344423"/>
                  </a:lnTo>
                  <a:lnTo>
                    <a:pt x="618743" y="0"/>
                  </a:lnTo>
                  <a:lnTo>
                    <a:pt x="0" y="0"/>
                  </a:lnTo>
                  <a:lnTo>
                    <a:pt x="0" y="344423"/>
                  </a:lnTo>
                  <a:close/>
                </a:path>
              </a:pathLst>
            </a:custGeom>
            <a:ln w="9144">
              <a:solidFill>
                <a:srgbClr val="000000"/>
              </a:solidFill>
            </a:ln>
          </p:spPr>
          <p:txBody>
            <a:bodyPr wrap="square" lIns="0" tIns="0" rIns="0" bIns="0" rtlCol="0"/>
            <a:lstStyle/>
            <a:p>
              <a:endParaRPr/>
            </a:p>
          </p:txBody>
        </p:sp>
        <p:sp>
          <p:nvSpPr>
            <p:cNvPr id="44" name="object 44"/>
            <p:cNvSpPr/>
            <p:nvPr/>
          </p:nvSpPr>
          <p:spPr>
            <a:xfrm>
              <a:off x="5027675" y="5228844"/>
              <a:ext cx="1061085" cy="344805"/>
            </a:xfrm>
            <a:custGeom>
              <a:avLst/>
              <a:gdLst/>
              <a:ahLst/>
              <a:cxnLst/>
              <a:rect l="l" t="t" r="r" b="b"/>
              <a:pathLst>
                <a:path w="1061085" h="344804">
                  <a:moveTo>
                    <a:pt x="1060703" y="0"/>
                  </a:moveTo>
                  <a:lnTo>
                    <a:pt x="0" y="0"/>
                  </a:lnTo>
                  <a:lnTo>
                    <a:pt x="0" y="344423"/>
                  </a:lnTo>
                  <a:lnTo>
                    <a:pt x="1060703" y="344423"/>
                  </a:lnTo>
                  <a:lnTo>
                    <a:pt x="1060703" y="0"/>
                  </a:lnTo>
                  <a:close/>
                </a:path>
              </a:pathLst>
            </a:custGeom>
            <a:solidFill>
              <a:srgbClr val="FFC000"/>
            </a:solidFill>
          </p:spPr>
          <p:txBody>
            <a:bodyPr wrap="square" lIns="0" tIns="0" rIns="0" bIns="0" rtlCol="0"/>
            <a:lstStyle/>
            <a:p>
              <a:endParaRPr/>
            </a:p>
          </p:txBody>
        </p:sp>
        <p:sp>
          <p:nvSpPr>
            <p:cNvPr id="45" name="object 45"/>
            <p:cNvSpPr/>
            <p:nvPr/>
          </p:nvSpPr>
          <p:spPr>
            <a:xfrm>
              <a:off x="5027675" y="5228844"/>
              <a:ext cx="1061085" cy="344805"/>
            </a:xfrm>
            <a:custGeom>
              <a:avLst/>
              <a:gdLst/>
              <a:ahLst/>
              <a:cxnLst/>
              <a:rect l="l" t="t" r="r" b="b"/>
              <a:pathLst>
                <a:path w="1061085" h="344804">
                  <a:moveTo>
                    <a:pt x="0" y="344423"/>
                  </a:moveTo>
                  <a:lnTo>
                    <a:pt x="1060703" y="344423"/>
                  </a:lnTo>
                  <a:lnTo>
                    <a:pt x="1060703" y="0"/>
                  </a:lnTo>
                  <a:lnTo>
                    <a:pt x="0" y="0"/>
                  </a:lnTo>
                  <a:lnTo>
                    <a:pt x="0" y="344423"/>
                  </a:lnTo>
                  <a:close/>
                </a:path>
              </a:pathLst>
            </a:custGeom>
            <a:ln w="9144">
              <a:solidFill>
                <a:srgbClr val="000000"/>
              </a:solidFill>
            </a:ln>
          </p:spPr>
          <p:txBody>
            <a:bodyPr wrap="square" lIns="0" tIns="0" rIns="0" bIns="0" rtlCol="0"/>
            <a:lstStyle/>
            <a:p>
              <a:endParaRPr/>
            </a:p>
          </p:txBody>
        </p:sp>
        <p:sp>
          <p:nvSpPr>
            <p:cNvPr id="46" name="object 46"/>
            <p:cNvSpPr/>
            <p:nvPr/>
          </p:nvSpPr>
          <p:spPr>
            <a:xfrm>
              <a:off x="7239000" y="5228844"/>
              <a:ext cx="1327785" cy="344805"/>
            </a:xfrm>
            <a:custGeom>
              <a:avLst/>
              <a:gdLst/>
              <a:ahLst/>
              <a:cxnLst/>
              <a:rect l="l" t="t" r="r" b="b"/>
              <a:pathLst>
                <a:path w="1327784" h="344804">
                  <a:moveTo>
                    <a:pt x="1327403" y="0"/>
                  </a:moveTo>
                  <a:lnTo>
                    <a:pt x="0" y="0"/>
                  </a:lnTo>
                  <a:lnTo>
                    <a:pt x="0" y="344423"/>
                  </a:lnTo>
                  <a:lnTo>
                    <a:pt x="1327403" y="344423"/>
                  </a:lnTo>
                  <a:lnTo>
                    <a:pt x="1327403" y="0"/>
                  </a:lnTo>
                  <a:close/>
                </a:path>
              </a:pathLst>
            </a:custGeom>
            <a:solidFill>
              <a:srgbClr val="FFC000"/>
            </a:solidFill>
          </p:spPr>
          <p:txBody>
            <a:bodyPr wrap="square" lIns="0" tIns="0" rIns="0" bIns="0" rtlCol="0"/>
            <a:lstStyle/>
            <a:p>
              <a:endParaRPr/>
            </a:p>
          </p:txBody>
        </p:sp>
        <p:sp>
          <p:nvSpPr>
            <p:cNvPr id="47" name="object 47"/>
            <p:cNvSpPr/>
            <p:nvPr/>
          </p:nvSpPr>
          <p:spPr>
            <a:xfrm>
              <a:off x="7239000" y="5228844"/>
              <a:ext cx="1327785" cy="344805"/>
            </a:xfrm>
            <a:custGeom>
              <a:avLst/>
              <a:gdLst/>
              <a:ahLst/>
              <a:cxnLst/>
              <a:rect l="l" t="t" r="r" b="b"/>
              <a:pathLst>
                <a:path w="1327784" h="344804">
                  <a:moveTo>
                    <a:pt x="0" y="344423"/>
                  </a:moveTo>
                  <a:lnTo>
                    <a:pt x="1327403" y="344423"/>
                  </a:lnTo>
                  <a:lnTo>
                    <a:pt x="1327403" y="0"/>
                  </a:lnTo>
                  <a:lnTo>
                    <a:pt x="0" y="0"/>
                  </a:lnTo>
                  <a:lnTo>
                    <a:pt x="0" y="344423"/>
                  </a:lnTo>
                  <a:close/>
                </a:path>
              </a:pathLst>
            </a:custGeom>
            <a:ln w="9144">
              <a:solidFill>
                <a:srgbClr val="000000"/>
              </a:solidFill>
            </a:ln>
          </p:spPr>
          <p:txBody>
            <a:bodyPr wrap="square" lIns="0" tIns="0" rIns="0" bIns="0" rtlCol="0"/>
            <a:lstStyle/>
            <a:p>
              <a:endParaRPr/>
            </a:p>
          </p:txBody>
        </p:sp>
        <p:sp>
          <p:nvSpPr>
            <p:cNvPr id="48" name="object 48"/>
            <p:cNvSpPr/>
            <p:nvPr/>
          </p:nvSpPr>
          <p:spPr>
            <a:xfrm>
              <a:off x="6088379" y="5228844"/>
              <a:ext cx="1150620" cy="344805"/>
            </a:xfrm>
            <a:custGeom>
              <a:avLst/>
              <a:gdLst/>
              <a:ahLst/>
              <a:cxnLst/>
              <a:rect l="l" t="t" r="r" b="b"/>
              <a:pathLst>
                <a:path w="1150620" h="344804">
                  <a:moveTo>
                    <a:pt x="1150620" y="0"/>
                  </a:moveTo>
                  <a:lnTo>
                    <a:pt x="0" y="0"/>
                  </a:lnTo>
                  <a:lnTo>
                    <a:pt x="0" y="344423"/>
                  </a:lnTo>
                  <a:lnTo>
                    <a:pt x="1150620" y="344423"/>
                  </a:lnTo>
                  <a:lnTo>
                    <a:pt x="1150620" y="0"/>
                  </a:lnTo>
                  <a:close/>
                </a:path>
              </a:pathLst>
            </a:custGeom>
            <a:solidFill>
              <a:srgbClr val="FFC000"/>
            </a:solidFill>
          </p:spPr>
          <p:txBody>
            <a:bodyPr wrap="square" lIns="0" tIns="0" rIns="0" bIns="0" rtlCol="0"/>
            <a:lstStyle/>
            <a:p>
              <a:endParaRPr/>
            </a:p>
          </p:txBody>
        </p:sp>
        <p:sp>
          <p:nvSpPr>
            <p:cNvPr id="49" name="object 49"/>
            <p:cNvSpPr/>
            <p:nvPr/>
          </p:nvSpPr>
          <p:spPr>
            <a:xfrm>
              <a:off x="6088379" y="5228844"/>
              <a:ext cx="1150620" cy="344805"/>
            </a:xfrm>
            <a:custGeom>
              <a:avLst/>
              <a:gdLst/>
              <a:ahLst/>
              <a:cxnLst/>
              <a:rect l="l" t="t" r="r" b="b"/>
              <a:pathLst>
                <a:path w="1150620" h="344804">
                  <a:moveTo>
                    <a:pt x="0" y="344423"/>
                  </a:moveTo>
                  <a:lnTo>
                    <a:pt x="1150620" y="344423"/>
                  </a:lnTo>
                  <a:lnTo>
                    <a:pt x="1150620" y="0"/>
                  </a:lnTo>
                  <a:lnTo>
                    <a:pt x="0" y="0"/>
                  </a:lnTo>
                  <a:lnTo>
                    <a:pt x="0" y="344423"/>
                  </a:lnTo>
                  <a:close/>
                </a:path>
              </a:pathLst>
            </a:custGeom>
            <a:ln w="9144">
              <a:solidFill>
                <a:srgbClr val="000000"/>
              </a:solidFill>
            </a:ln>
          </p:spPr>
          <p:txBody>
            <a:bodyPr wrap="square" lIns="0" tIns="0" rIns="0" bIns="0" rtlCol="0"/>
            <a:lstStyle/>
            <a:p>
              <a:endParaRPr/>
            </a:p>
          </p:txBody>
        </p:sp>
        <p:sp>
          <p:nvSpPr>
            <p:cNvPr id="50" name="object 50"/>
            <p:cNvSpPr/>
            <p:nvPr/>
          </p:nvSpPr>
          <p:spPr>
            <a:xfrm>
              <a:off x="3464051" y="3525012"/>
              <a:ext cx="5291455" cy="2341245"/>
            </a:xfrm>
            <a:custGeom>
              <a:avLst/>
              <a:gdLst/>
              <a:ahLst/>
              <a:cxnLst/>
              <a:rect l="l" t="t" r="r" b="b"/>
              <a:pathLst>
                <a:path w="5291455" h="2341245">
                  <a:moveTo>
                    <a:pt x="0" y="2340864"/>
                  </a:moveTo>
                  <a:lnTo>
                    <a:pt x="5291328" y="2340864"/>
                  </a:lnTo>
                  <a:lnTo>
                    <a:pt x="5291328" y="0"/>
                  </a:lnTo>
                  <a:lnTo>
                    <a:pt x="0" y="0"/>
                  </a:lnTo>
                  <a:lnTo>
                    <a:pt x="0" y="2340864"/>
                  </a:lnTo>
                  <a:close/>
                </a:path>
              </a:pathLst>
            </a:custGeom>
            <a:ln w="9144">
              <a:solidFill>
                <a:srgbClr val="D9D9D9"/>
              </a:solidFill>
            </a:ln>
          </p:spPr>
          <p:txBody>
            <a:bodyPr wrap="square" lIns="0" tIns="0" rIns="0" bIns="0" rtlCol="0"/>
            <a:lstStyle/>
            <a:p>
              <a:endParaRPr/>
            </a:p>
          </p:txBody>
        </p:sp>
      </p:grpSp>
      <p:sp>
        <p:nvSpPr>
          <p:cNvPr id="51" name="object 5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13	</a:t>
            </a:r>
            <a:r>
              <a:rPr spc="30" dirty="0"/>
              <a:t>Huawei</a:t>
            </a:r>
            <a:r>
              <a:rPr spc="-10" dirty="0"/>
              <a:t> </a:t>
            </a:r>
            <a:r>
              <a:rPr spc="5" dirty="0"/>
              <a:t>Confidential</a:t>
            </a:r>
          </a:p>
        </p:txBody>
      </p:sp>
      <p:sp>
        <p:nvSpPr>
          <p:cNvPr id="52" name="object 2">
            <a:extLst>
              <a:ext uri="{FF2B5EF4-FFF2-40B4-BE49-F238E27FC236}">
                <a16:creationId xmlns:a16="http://schemas.microsoft.com/office/drawing/2014/main" id="{B97F56E0-EF5B-43B4-9E8A-F016625A5FC2}"/>
              </a:ext>
            </a:extLst>
          </p:cNvPr>
          <p:cNvSpPr txBox="1"/>
          <p:nvPr/>
        </p:nvSpPr>
        <p:spPr>
          <a:xfrm>
            <a:off x="6288819" y="2900073"/>
            <a:ext cx="5674581" cy="4041491"/>
          </a:xfrm>
          <a:prstGeom prst="rect">
            <a:avLst/>
          </a:prstGeom>
        </p:spPr>
        <p:txBody>
          <a:bodyPr vert="horz" wrap="square" lIns="0" tIns="9525" rIns="0" bIns="0" rtlCol="0">
            <a:spAutoFit/>
          </a:bodyPr>
          <a:lstStyle/>
          <a:p>
            <a:pPr marL="352425" marR="66675" indent="-342900" algn="just">
              <a:spcBef>
                <a:spcPts val="4"/>
              </a:spcBef>
              <a:buFont typeface="Wingdings" panose="05000000000000000000" pitchFamily="2" charset="2"/>
              <a:buChar char="§"/>
              <a:tabLst>
                <a:tab pos="138113" algn="l"/>
              </a:tabLst>
            </a:pPr>
            <a:r>
              <a:rPr lang="en-GB" sz="2400" u="sng" spc="23" dirty="0">
                <a:latin typeface="UKIJ CJK"/>
                <a:cs typeface="UKIJ CJK"/>
              </a:rPr>
              <a:t>data </a:t>
            </a:r>
            <a:r>
              <a:rPr lang="en-GB" sz="2400" u="sng" spc="19" dirty="0">
                <a:latin typeface="UKIJ CJK"/>
                <a:cs typeface="UKIJ CJK"/>
              </a:rPr>
              <a:t>stored </a:t>
            </a:r>
            <a:r>
              <a:rPr lang="en-GB" sz="2400" u="sng" spc="34" dirty="0">
                <a:latin typeface="UKIJ CJK"/>
                <a:cs typeface="UKIJ CJK"/>
              </a:rPr>
              <a:t>by </a:t>
            </a:r>
            <a:r>
              <a:rPr lang="en-GB" sz="2400" u="sng" spc="23" dirty="0">
                <a:latin typeface="UKIJ CJK"/>
                <a:cs typeface="UKIJ CJK"/>
              </a:rPr>
              <a:t>column </a:t>
            </a:r>
            <a:r>
              <a:rPr lang="en-GB" sz="2400" spc="19" dirty="0" smtClean="0">
                <a:latin typeface="UKIJ CJK"/>
                <a:cs typeface="UKIJ CJK"/>
              </a:rPr>
              <a:t>can </a:t>
            </a:r>
            <a:r>
              <a:rPr lang="en-GB" sz="2400" spc="23" dirty="0">
                <a:latin typeface="UKIJ CJK"/>
                <a:cs typeface="UKIJ CJK"/>
              </a:rPr>
              <a:t>solve </a:t>
            </a:r>
            <a:r>
              <a:rPr lang="en-GB" sz="2400" spc="15" dirty="0">
                <a:latin typeface="UKIJ CJK"/>
                <a:cs typeface="UKIJ CJK"/>
              </a:rPr>
              <a:t>this problem. </a:t>
            </a:r>
            <a:r>
              <a:rPr lang="en-GB" sz="2400" u="sng" spc="-11" dirty="0">
                <a:latin typeface="UKIJ CJK"/>
                <a:cs typeface="UKIJ CJK"/>
              </a:rPr>
              <a:t>If </a:t>
            </a:r>
            <a:r>
              <a:rPr lang="en-GB" sz="2400" u="sng" spc="26" dirty="0">
                <a:latin typeface="UKIJ CJK"/>
                <a:cs typeface="UKIJ CJK"/>
              </a:rPr>
              <a:t>we </a:t>
            </a:r>
            <a:r>
              <a:rPr lang="en-GB" sz="2400" u="sng" spc="23" dirty="0">
                <a:latin typeface="UKIJ CJK"/>
                <a:cs typeface="UKIJ CJK"/>
              </a:rPr>
              <a:t>want </a:t>
            </a:r>
            <a:r>
              <a:rPr lang="en-GB" sz="2400" u="sng" spc="34" dirty="0">
                <a:latin typeface="UKIJ CJK"/>
                <a:cs typeface="UKIJ CJK"/>
              </a:rPr>
              <a:t>to </a:t>
            </a:r>
            <a:r>
              <a:rPr lang="en-GB" sz="2400" u="sng" spc="19" dirty="0">
                <a:latin typeface="UKIJ CJK"/>
                <a:cs typeface="UKIJ CJK"/>
              </a:rPr>
              <a:t>find </a:t>
            </a:r>
            <a:r>
              <a:rPr lang="en-GB" sz="2400" u="sng" spc="49" dirty="0">
                <a:latin typeface="UKIJ CJK"/>
                <a:cs typeface="UKIJ CJK"/>
              </a:rPr>
              <a:t>XXX. </a:t>
            </a:r>
            <a:r>
              <a:rPr lang="en-GB" sz="2400" u="sng" spc="23" dirty="0">
                <a:latin typeface="UKIJ CJK"/>
                <a:cs typeface="UKIJ CJK"/>
              </a:rPr>
              <a:t>So, </a:t>
            </a:r>
            <a:r>
              <a:rPr lang="en-GB" sz="2400" u="sng" spc="26" dirty="0">
                <a:latin typeface="UKIJ CJK"/>
                <a:cs typeface="UKIJ CJK"/>
              </a:rPr>
              <a:t>we </a:t>
            </a:r>
            <a:r>
              <a:rPr lang="en-GB" sz="2400" u="sng" spc="23" dirty="0">
                <a:latin typeface="UKIJ CJK"/>
                <a:cs typeface="UKIJ CJK"/>
              </a:rPr>
              <a:t>only </a:t>
            </a:r>
            <a:r>
              <a:rPr lang="en-GB" sz="2400" u="sng" spc="26" dirty="0">
                <a:latin typeface="UKIJ CJK"/>
                <a:cs typeface="UKIJ CJK"/>
              </a:rPr>
              <a:t>need </a:t>
            </a:r>
            <a:r>
              <a:rPr lang="en-GB" sz="2400" u="sng" spc="19" dirty="0">
                <a:latin typeface="UKIJ CJK"/>
                <a:cs typeface="UKIJ CJK"/>
              </a:rPr>
              <a:t>find </a:t>
            </a:r>
            <a:r>
              <a:rPr lang="en-GB" sz="2400" u="sng" spc="53" dirty="0">
                <a:latin typeface="UKIJ CJK"/>
                <a:cs typeface="UKIJ CJK"/>
              </a:rPr>
              <a:t>XXX</a:t>
            </a:r>
            <a:r>
              <a:rPr lang="en-GB" sz="2400" spc="53" dirty="0">
                <a:latin typeface="UKIJ CJK"/>
                <a:cs typeface="UKIJ CJK"/>
              </a:rPr>
              <a:t>, </a:t>
            </a:r>
            <a:r>
              <a:rPr lang="en-GB" sz="2400" u="sng" spc="23" dirty="0">
                <a:latin typeface="UKIJ CJK"/>
                <a:cs typeface="UKIJ CJK"/>
              </a:rPr>
              <a:t>then </a:t>
            </a:r>
            <a:r>
              <a:rPr lang="en-GB" sz="2400" u="sng" spc="34" dirty="0">
                <a:latin typeface="UKIJ CJK"/>
                <a:cs typeface="UKIJ CJK"/>
              </a:rPr>
              <a:t>by </a:t>
            </a:r>
            <a:r>
              <a:rPr lang="en-GB" sz="2400" u="sng" spc="26" dirty="0">
                <a:latin typeface="UKIJ CJK"/>
                <a:cs typeface="UKIJ CJK"/>
              </a:rPr>
              <a:t>reading </a:t>
            </a:r>
            <a:r>
              <a:rPr lang="en-GB" sz="2400" u="sng" spc="15" dirty="0">
                <a:latin typeface="UKIJ CJK"/>
                <a:cs typeface="UKIJ CJK"/>
              </a:rPr>
              <a:t>this column, </a:t>
            </a:r>
            <a:r>
              <a:rPr lang="en-GB" sz="2400" u="sng" spc="26" dirty="0">
                <a:latin typeface="UKIJ CJK"/>
                <a:cs typeface="UKIJ CJK"/>
              </a:rPr>
              <a:t>we </a:t>
            </a:r>
            <a:r>
              <a:rPr lang="en-GB" sz="2400" u="sng" spc="15" dirty="0">
                <a:latin typeface="UKIJ CJK"/>
                <a:cs typeface="UKIJ CJK"/>
              </a:rPr>
              <a:t>can  </a:t>
            </a:r>
            <a:r>
              <a:rPr lang="en-GB" sz="2400" u="sng" spc="19" dirty="0">
                <a:latin typeface="UKIJ CJK"/>
                <a:cs typeface="UKIJ CJK"/>
              </a:rPr>
              <a:t>find </a:t>
            </a:r>
            <a:r>
              <a:rPr lang="en-GB" sz="2400" u="sng" spc="23" dirty="0">
                <a:latin typeface="UKIJ CJK"/>
                <a:cs typeface="UKIJ CJK"/>
              </a:rPr>
              <a:t>the </a:t>
            </a:r>
            <a:r>
              <a:rPr lang="en-GB" sz="2400" u="sng" spc="15" dirty="0">
                <a:latin typeface="UKIJ CJK"/>
                <a:cs typeface="UKIJ CJK"/>
              </a:rPr>
              <a:t>data</a:t>
            </a:r>
            <a:r>
              <a:rPr lang="en-GB" sz="2400" spc="15" dirty="0">
                <a:latin typeface="UKIJ CJK"/>
                <a:cs typeface="UKIJ CJK"/>
              </a:rPr>
              <a:t>. </a:t>
            </a:r>
            <a:r>
              <a:rPr lang="en-GB" sz="2400" spc="15" dirty="0" smtClean="0">
                <a:latin typeface="UKIJ CJK"/>
                <a:cs typeface="UKIJ CJK"/>
              </a:rPr>
              <a:t>Thus</a:t>
            </a:r>
            <a:r>
              <a:rPr lang="en-GB" sz="2400" spc="15" dirty="0">
                <a:latin typeface="UKIJ CJK"/>
                <a:cs typeface="UKIJ CJK"/>
              </a:rPr>
              <a:t>, </a:t>
            </a:r>
            <a:r>
              <a:rPr lang="en-GB" sz="2400" u="sng" spc="23" dirty="0">
                <a:latin typeface="UKIJ CJK"/>
                <a:cs typeface="UKIJ CJK"/>
              </a:rPr>
              <a:t>data </a:t>
            </a:r>
            <a:r>
              <a:rPr lang="en-GB" sz="2400" u="sng" spc="19" dirty="0">
                <a:latin typeface="UKIJ CJK"/>
                <a:cs typeface="UKIJ CJK"/>
              </a:rPr>
              <a:t>stored </a:t>
            </a:r>
            <a:r>
              <a:rPr lang="en-GB" sz="2400" u="sng" spc="34" dirty="0">
                <a:latin typeface="UKIJ CJK"/>
                <a:cs typeface="UKIJ CJK"/>
              </a:rPr>
              <a:t>by </a:t>
            </a:r>
            <a:r>
              <a:rPr lang="en-GB" sz="2400" u="sng" spc="23" dirty="0">
                <a:latin typeface="UKIJ CJK"/>
                <a:cs typeface="UKIJ CJK"/>
              </a:rPr>
              <a:t>column is </a:t>
            </a:r>
            <a:r>
              <a:rPr lang="en-GB" sz="2400" u="sng" spc="11" dirty="0">
                <a:latin typeface="UKIJ CJK"/>
                <a:cs typeface="UKIJ CJK"/>
              </a:rPr>
              <a:t>preferred  </a:t>
            </a:r>
            <a:r>
              <a:rPr lang="en-GB" sz="2400" u="sng" spc="11" dirty="0" smtClean="0">
                <a:latin typeface="UKIJ CJK"/>
                <a:cs typeface="UKIJ CJK"/>
              </a:rPr>
              <a:t>rather </a:t>
            </a:r>
            <a:r>
              <a:rPr lang="en-GB" sz="2400" u="sng" spc="19" dirty="0" smtClean="0">
                <a:latin typeface="UKIJ CJK"/>
                <a:cs typeface="UKIJ CJK"/>
              </a:rPr>
              <a:t>than </a:t>
            </a:r>
            <a:r>
              <a:rPr lang="en-GB" sz="2400" u="sng" spc="23" dirty="0">
                <a:latin typeface="UKIJ CJK"/>
                <a:cs typeface="UKIJ CJK"/>
              </a:rPr>
              <a:t>data </a:t>
            </a:r>
            <a:r>
              <a:rPr lang="en-GB" sz="2400" u="sng" spc="19" dirty="0">
                <a:latin typeface="UKIJ CJK"/>
                <a:cs typeface="UKIJ CJK"/>
              </a:rPr>
              <a:t>stored </a:t>
            </a:r>
            <a:r>
              <a:rPr lang="en-GB" sz="2400" u="sng" spc="34" dirty="0">
                <a:latin typeface="UKIJ CJK"/>
                <a:cs typeface="UKIJ CJK"/>
              </a:rPr>
              <a:t>by </a:t>
            </a:r>
            <a:r>
              <a:rPr lang="en-GB" sz="2400" u="sng" spc="8" dirty="0">
                <a:latin typeface="UKIJ CJK"/>
                <a:cs typeface="UKIJ CJK"/>
              </a:rPr>
              <a:t>row. </a:t>
            </a:r>
          </a:p>
          <a:p>
            <a:pPr marL="352425" marR="66675" indent="-342900" algn="just">
              <a:spcBef>
                <a:spcPts val="4"/>
              </a:spcBef>
              <a:buFont typeface="Wingdings" panose="05000000000000000000" pitchFamily="2" charset="2"/>
              <a:buChar char="§"/>
              <a:tabLst>
                <a:tab pos="138113" algn="l"/>
              </a:tabLst>
            </a:pPr>
            <a:r>
              <a:rPr lang="en-GB" sz="2400" spc="26" dirty="0">
                <a:latin typeface="UKIJ CJK"/>
                <a:cs typeface="UKIJ CJK"/>
              </a:rPr>
              <a:t>Hbase </a:t>
            </a:r>
            <a:r>
              <a:rPr lang="en-GB" sz="2400" spc="4" dirty="0">
                <a:latin typeface="UKIJ CJK"/>
                <a:cs typeface="UKIJ CJK"/>
              </a:rPr>
              <a:t>is </a:t>
            </a:r>
            <a:r>
              <a:rPr lang="en-GB" sz="2400" spc="15" dirty="0">
                <a:latin typeface="UKIJ CJK"/>
                <a:cs typeface="UKIJ CJK"/>
              </a:rPr>
              <a:t>a </a:t>
            </a:r>
            <a:r>
              <a:rPr lang="en-GB" sz="2400" spc="23" dirty="0">
                <a:latin typeface="UKIJ CJK"/>
                <a:cs typeface="UKIJ CJK"/>
              </a:rPr>
              <a:t>column-oriented</a:t>
            </a:r>
            <a:r>
              <a:rPr lang="en-GB" sz="2400" spc="83" dirty="0">
                <a:latin typeface="UKIJ CJK"/>
                <a:cs typeface="UKIJ CJK"/>
              </a:rPr>
              <a:t> </a:t>
            </a:r>
            <a:r>
              <a:rPr lang="en-GB" sz="2400" spc="15" dirty="0">
                <a:latin typeface="UKIJ CJK"/>
                <a:cs typeface="UKIJ CJK"/>
              </a:rPr>
              <a:t>database.</a:t>
            </a:r>
            <a:endParaRPr lang="en-GB" sz="2400" dirty="0">
              <a:latin typeface="UKIJ CJK"/>
              <a:cs typeface="UKIJ CJK"/>
            </a:endParaRPr>
          </a:p>
          <a:p>
            <a:pPr marL="352425" marR="27623" indent="-342900" algn="just">
              <a:buFont typeface="Wingdings" panose="05000000000000000000" pitchFamily="2" charset="2"/>
              <a:buChar char="§"/>
              <a:tabLst>
                <a:tab pos="138113" algn="l"/>
              </a:tabLst>
            </a:pPr>
            <a:r>
              <a:rPr lang="en-GB" sz="2400" spc="19" dirty="0">
                <a:latin typeface="UKIJ CJK"/>
                <a:cs typeface="UKIJ CJK"/>
              </a:rPr>
              <a:t>This </a:t>
            </a:r>
            <a:r>
              <a:rPr lang="en-GB" sz="2400" spc="26" dirty="0">
                <a:latin typeface="UKIJ CJK"/>
                <a:cs typeface="UKIJ CJK"/>
              </a:rPr>
              <a:t>way </a:t>
            </a:r>
            <a:r>
              <a:rPr lang="en-GB" sz="2400" spc="19" dirty="0">
                <a:latin typeface="UKIJ CJK"/>
                <a:cs typeface="UKIJ CJK"/>
              </a:rPr>
              <a:t>can </a:t>
            </a:r>
            <a:r>
              <a:rPr lang="en-GB" sz="2400" spc="30" dirty="0">
                <a:latin typeface="UKIJ CJK"/>
                <a:cs typeface="UKIJ CJK"/>
              </a:rPr>
              <a:t>be </a:t>
            </a:r>
            <a:r>
              <a:rPr lang="en-GB" sz="2400" spc="19" dirty="0">
                <a:latin typeface="UKIJ CJK"/>
                <a:cs typeface="UKIJ CJK"/>
              </a:rPr>
              <a:t>used  </a:t>
            </a:r>
            <a:r>
              <a:rPr lang="en-GB" sz="2400" spc="34" dirty="0">
                <a:latin typeface="UKIJ CJK"/>
                <a:cs typeface="UKIJ CJK"/>
              </a:rPr>
              <a:t>to </a:t>
            </a:r>
            <a:r>
              <a:rPr lang="en-GB" sz="2400" spc="15" dirty="0">
                <a:latin typeface="UKIJ CJK"/>
                <a:cs typeface="UKIJ CJK"/>
              </a:rPr>
              <a:t>store massive</a:t>
            </a:r>
            <a:r>
              <a:rPr lang="en-GB" sz="2400" spc="26" dirty="0">
                <a:latin typeface="UKIJ CJK"/>
                <a:cs typeface="UKIJ CJK"/>
              </a:rPr>
              <a:t> </a:t>
            </a:r>
            <a:r>
              <a:rPr lang="en-GB" sz="2400" spc="15" dirty="0">
                <a:latin typeface="UKIJ CJK"/>
                <a:cs typeface="UKIJ CJK"/>
              </a:rPr>
              <a:t>data.</a:t>
            </a:r>
            <a:endParaRPr lang="en-GB" sz="2400" dirty="0">
              <a:latin typeface="UKIJ CJK"/>
              <a:cs typeface="UKIJ CJK"/>
            </a:endParaRPr>
          </a:p>
          <a:p>
            <a:pPr marL="138113" indent="-128588" algn="just">
              <a:buFont typeface="Wingdings"/>
              <a:buChar char=""/>
              <a:tabLst>
                <a:tab pos="138113" algn="l"/>
              </a:tabLst>
            </a:pPr>
            <a:endParaRPr sz="2200" dirty="0">
              <a:latin typeface="UKIJ CJK"/>
              <a:cs typeface="UKIJ CJK"/>
            </a:endParaRPr>
          </a:p>
        </p:txBody>
      </p:sp>
    </p:spTree>
    <p:extLst>
      <p:ext uri="{BB962C8B-B14F-4D97-AF65-F5344CB8AC3E}">
        <p14:creationId xmlns:p14="http://schemas.microsoft.com/office/powerpoint/2010/main" val="21602044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4257675" cy="513715"/>
          </a:xfrm>
          <a:prstGeom prst="rect">
            <a:avLst/>
          </a:prstGeom>
        </p:spPr>
        <p:txBody>
          <a:bodyPr vert="horz" wrap="square" lIns="0" tIns="13335" rIns="0" bIns="0" rtlCol="0">
            <a:spAutoFit/>
          </a:bodyPr>
          <a:lstStyle/>
          <a:p>
            <a:pPr marL="12700">
              <a:lnSpc>
                <a:spcPct val="100000"/>
              </a:lnSpc>
              <a:spcBef>
                <a:spcPts val="105"/>
              </a:spcBef>
            </a:pPr>
            <a:r>
              <a:rPr sz="3200" spc="70" dirty="0">
                <a:solidFill>
                  <a:srgbClr val="000000"/>
                </a:solidFill>
              </a:rPr>
              <a:t>Column-based</a:t>
            </a:r>
            <a:r>
              <a:rPr sz="3200" spc="-5" dirty="0">
                <a:solidFill>
                  <a:srgbClr val="000000"/>
                </a:solidFill>
              </a:rPr>
              <a:t> </a:t>
            </a:r>
            <a:r>
              <a:rPr sz="3200" spc="55" dirty="0">
                <a:solidFill>
                  <a:srgbClr val="000000"/>
                </a:solidFill>
              </a:rPr>
              <a:t>Storage</a:t>
            </a:r>
            <a:endParaRPr sz="3200"/>
          </a:p>
        </p:txBody>
      </p:sp>
      <p:sp>
        <p:nvSpPr>
          <p:cNvPr id="4" name="object 4"/>
          <p:cNvSpPr txBox="1"/>
          <p:nvPr/>
        </p:nvSpPr>
        <p:spPr>
          <a:xfrm>
            <a:off x="1131836" y="963103"/>
            <a:ext cx="10290175" cy="689932"/>
          </a:xfrm>
          <a:prstGeom prst="rect">
            <a:avLst/>
          </a:prstGeom>
        </p:spPr>
        <p:txBody>
          <a:bodyPr vert="horz" wrap="square" lIns="0" tIns="12700" rIns="0" bIns="0" rtlCol="0">
            <a:spAutoFit/>
          </a:bodyPr>
          <a:lstStyle/>
          <a:p>
            <a:pPr marL="355600" marR="5080" indent="-342900" algn="l">
              <a:spcBef>
                <a:spcPts val="600"/>
              </a:spcBef>
              <a:buFont typeface="Arial" panose="020B0604020202020204" pitchFamily="34" charset="0"/>
              <a:buChar char="•"/>
              <a:tabLst>
                <a:tab pos="1981835" algn="l"/>
                <a:tab pos="3063875" algn="l"/>
                <a:tab pos="3918585" algn="l"/>
                <a:tab pos="4314825" algn="l"/>
                <a:tab pos="5019040" algn="l"/>
                <a:tab pos="5949315" algn="l"/>
                <a:tab pos="6380480" algn="l"/>
                <a:tab pos="7576820" algn="l"/>
                <a:tab pos="7945755" algn="l"/>
                <a:tab pos="8399780" algn="l"/>
                <a:tab pos="9884410" algn="l"/>
              </a:tabLst>
            </a:pPr>
            <a:r>
              <a:rPr sz="2200" spc="55" dirty="0" smtClean="0">
                <a:latin typeface="Trebuchet MS"/>
                <a:cs typeface="Trebuchet MS"/>
              </a:rPr>
              <a:t>Column-</a:t>
            </a:r>
            <a:r>
              <a:rPr sz="2200" spc="20" dirty="0" smtClean="0">
                <a:latin typeface="Trebuchet MS"/>
                <a:cs typeface="Trebuchet MS"/>
              </a:rPr>
              <a:t>bas</a:t>
            </a:r>
            <a:r>
              <a:rPr sz="2200" spc="25" dirty="0" smtClean="0">
                <a:latin typeface="Trebuchet MS"/>
                <a:cs typeface="Trebuchet MS"/>
              </a:rPr>
              <a:t>e</a:t>
            </a:r>
            <a:r>
              <a:rPr sz="2200" spc="35" dirty="0" smtClean="0">
                <a:latin typeface="Trebuchet MS"/>
                <a:cs typeface="Trebuchet MS"/>
              </a:rPr>
              <a:t>d</a:t>
            </a:r>
            <a:r>
              <a:rPr lang="en-US" sz="2200" dirty="0">
                <a:latin typeface="Trebuchet MS"/>
                <a:cs typeface="Trebuchet MS"/>
              </a:rPr>
              <a:t> </a:t>
            </a:r>
            <a:r>
              <a:rPr sz="2200" spc="25" dirty="0" smtClean="0">
                <a:latin typeface="Trebuchet MS"/>
                <a:cs typeface="Trebuchet MS"/>
              </a:rPr>
              <a:t>storage</a:t>
            </a:r>
            <a:r>
              <a:rPr lang="en-US" sz="2200" dirty="0">
                <a:latin typeface="Trebuchet MS"/>
                <a:cs typeface="Trebuchet MS"/>
              </a:rPr>
              <a:t> </a:t>
            </a:r>
            <a:r>
              <a:rPr sz="2200" spc="-35" dirty="0" smtClean="0">
                <a:latin typeface="Trebuchet MS"/>
                <a:cs typeface="Trebuchet MS"/>
              </a:rPr>
              <a:t>r</a:t>
            </a:r>
            <a:r>
              <a:rPr sz="2200" spc="-40" dirty="0" smtClean="0">
                <a:latin typeface="Trebuchet MS"/>
                <a:cs typeface="Trebuchet MS"/>
              </a:rPr>
              <a:t>e</a:t>
            </a:r>
            <a:r>
              <a:rPr sz="2200" spc="-50" dirty="0" smtClean="0">
                <a:latin typeface="Trebuchet MS"/>
                <a:cs typeface="Trebuchet MS"/>
              </a:rPr>
              <a:t>fe</a:t>
            </a:r>
            <a:r>
              <a:rPr sz="2200" spc="-35" dirty="0" smtClean="0">
                <a:latin typeface="Trebuchet MS"/>
                <a:cs typeface="Trebuchet MS"/>
              </a:rPr>
              <a:t>r</a:t>
            </a:r>
            <a:r>
              <a:rPr sz="2200" spc="35" dirty="0" smtClean="0">
                <a:latin typeface="Trebuchet MS"/>
                <a:cs typeface="Trebuchet MS"/>
              </a:rPr>
              <a:t>s</a:t>
            </a:r>
            <a:r>
              <a:rPr lang="en-US" sz="2200" dirty="0">
                <a:latin typeface="Trebuchet MS"/>
                <a:cs typeface="Trebuchet MS"/>
              </a:rPr>
              <a:t> </a:t>
            </a:r>
            <a:r>
              <a:rPr sz="2200" spc="-10" dirty="0" smtClean="0">
                <a:latin typeface="Trebuchet MS"/>
                <a:cs typeface="Trebuchet MS"/>
              </a:rPr>
              <a:t>t</a:t>
            </a:r>
            <a:r>
              <a:rPr sz="2200" spc="5" dirty="0" smtClean="0">
                <a:latin typeface="Trebuchet MS"/>
                <a:cs typeface="Trebuchet MS"/>
              </a:rPr>
              <a:t>o</a:t>
            </a:r>
            <a:r>
              <a:rPr lang="en-US" sz="2200" dirty="0" smtClean="0">
                <a:latin typeface="Trebuchet MS"/>
                <a:cs typeface="Trebuchet MS"/>
              </a:rPr>
              <a:t> </a:t>
            </a:r>
            <a:r>
              <a:rPr sz="2200" spc="40" dirty="0" smtClean="0">
                <a:latin typeface="Trebuchet MS"/>
                <a:cs typeface="Trebuchet MS"/>
              </a:rPr>
              <a:t>d</a:t>
            </a:r>
            <a:r>
              <a:rPr sz="2200" spc="-15" dirty="0" smtClean="0">
                <a:latin typeface="Trebuchet MS"/>
                <a:cs typeface="Trebuchet MS"/>
              </a:rPr>
              <a:t>a</a:t>
            </a:r>
            <a:r>
              <a:rPr sz="2200" spc="-20" dirty="0" smtClean="0">
                <a:latin typeface="Trebuchet MS"/>
                <a:cs typeface="Trebuchet MS"/>
              </a:rPr>
              <a:t>t</a:t>
            </a:r>
            <a:r>
              <a:rPr sz="2200" spc="55" dirty="0" smtClean="0">
                <a:latin typeface="Trebuchet MS"/>
                <a:cs typeface="Trebuchet MS"/>
              </a:rPr>
              <a:t>a</a:t>
            </a:r>
            <a:r>
              <a:rPr sz="2200" dirty="0">
                <a:latin typeface="Trebuchet MS"/>
                <a:cs typeface="Trebuchet MS"/>
              </a:rPr>
              <a:t>	</a:t>
            </a:r>
            <a:r>
              <a:rPr sz="2200" spc="35" dirty="0" smtClean="0">
                <a:latin typeface="Trebuchet MS"/>
                <a:cs typeface="Trebuchet MS"/>
              </a:rPr>
              <a:t>s</a:t>
            </a:r>
            <a:r>
              <a:rPr sz="2200" spc="-5" dirty="0" smtClean="0">
                <a:latin typeface="Trebuchet MS"/>
                <a:cs typeface="Trebuchet MS"/>
              </a:rPr>
              <a:t>t</a:t>
            </a:r>
            <a:r>
              <a:rPr sz="2200" spc="-10" dirty="0" smtClean="0">
                <a:latin typeface="Trebuchet MS"/>
                <a:cs typeface="Trebuchet MS"/>
              </a:rPr>
              <a:t>o</a:t>
            </a:r>
            <a:r>
              <a:rPr sz="2200" spc="-35" dirty="0" smtClean="0">
                <a:latin typeface="Trebuchet MS"/>
                <a:cs typeface="Trebuchet MS"/>
              </a:rPr>
              <a:t>r</a:t>
            </a:r>
            <a:r>
              <a:rPr sz="2200" spc="-40" dirty="0" smtClean="0">
                <a:latin typeface="Trebuchet MS"/>
                <a:cs typeface="Trebuchet MS"/>
              </a:rPr>
              <a:t>e</a:t>
            </a:r>
            <a:r>
              <a:rPr sz="2200" spc="35" dirty="0" smtClean="0">
                <a:latin typeface="Trebuchet MS"/>
                <a:cs typeface="Trebuchet MS"/>
              </a:rPr>
              <a:t>d</a:t>
            </a:r>
            <a:r>
              <a:rPr lang="en-US" sz="2200" dirty="0">
                <a:latin typeface="Trebuchet MS"/>
                <a:cs typeface="Trebuchet MS"/>
              </a:rPr>
              <a:t> </a:t>
            </a:r>
            <a:r>
              <a:rPr sz="2200" spc="10" dirty="0" smtClean="0">
                <a:latin typeface="Trebuchet MS"/>
                <a:cs typeface="Trebuchet MS"/>
              </a:rPr>
              <a:t>b</a:t>
            </a:r>
            <a:r>
              <a:rPr sz="2200" spc="15" dirty="0" smtClean="0">
                <a:latin typeface="Trebuchet MS"/>
                <a:cs typeface="Trebuchet MS"/>
              </a:rPr>
              <a:t>y</a:t>
            </a:r>
            <a:r>
              <a:rPr lang="en-US" sz="2200" dirty="0" smtClean="0">
                <a:latin typeface="Trebuchet MS"/>
                <a:cs typeface="Trebuchet MS"/>
              </a:rPr>
              <a:t> </a:t>
            </a:r>
            <a:r>
              <a:rPr sz="2200" spc="5" dirty="0" smtClean="0">
                <a:latin typeface="Trebuchet MS"/>
                <a:cs typeface="Trebuchet MS"/>
              </a:rPr>
              <a:t>col</a:t>
            </a:r>
            <a:r>
              <a:rPr sz="2200" spc="15" dirty="0" smtClean="0">
                <a:latin typeface="Trebuchet MS"/>
                <a:cs typeface="Trebuchet MS"/>
              </a:rPr>
              <a:t>u</a:t>
            </a:r>
            <a:r>
              <a:rPr sz="2200" spc="100" dirty="0" smtClean="0">
                <a:latin typeface="Trebuchet MS"/>
                <a:cs typeface="Trebuchet MS"/>
              </a:rPr>
              <a:t>mn</a:t>
            </a:r>
            <a:r>
              <a:rPr sz="2200" spc="60" dirty="0" smtClean="0">
                <a:latin typeface="Trebuchet MS"/>
                <a:cs typeface="Trebuchet MS"/>
              </a:rPr>
              <a:t>s</a:t>
            </a:r>
            <a:r>
              <a:rPr lang="en-US" sz="2200" spc="60" dirty="0" smtClean="0">
                <a:latin typeface="Trebuchet MS"/>
                <a:cs typeface="Trebuchet MS"/>
              </a:rPr>
              <a:t> </a:t>
            </a:r>
            <a:r>
              <a:rPr sz="2200" spc="5" dirty="0" smtClean="0">
                <a:latin typeface="Trebuchet MS"/>
                <a:cs typeface="Trebuchet MS"/>
              </a:rPr>
              <a:t>in</a:t>
            </a:r>
            <a:r>
              <a:rPr lang="en-US" sz="2200" dirty="0">
                <a:latin typeface="Trebuchet MS"/>
                <a:cs typeface="Trebuchet MS"/>
              </a:rPr>
              <a:t> </a:t>
            </a:r>
            <a:r>
              <a:rPr sz="2200" spc="75" dirty="0" smtClean="0">
                <a:latin typeface="Trebuchet MS"/>
                <a:cs typeface="Trebuchet MS"/>
              </a:rPr>
              <a:t>a</a:t>
            </a:r>
            <a:r>
              <a:rPr sz="2200" spc="70" dirty="0" smtClean="0">
                <a:latin typeface="Trebuchet MS"/>
                <a:cs typeface="Trebuchet MS"/>
              </a:rPr>
              <a:t>n</a:t>
            </a:r>
            <a:r>
              <a:rPr lang="en-US" sz="2200" dirty="0">
                <a:latin typeface="Trebuchet MS"/>
                <a:cs typeface="Trebuchet MS"/>
              </a:rPr>
              <a:t> </a:t>
            </a:r>
            <a:r>
              <a:rPr sz="2200" spc="65" dirty="0" smtClean="0">
                <a:latin typeface="Trebuchet MS"/>
                <a:cs typeface="Trebuchet MS"/>
              </a:rPr>
              <a:t>un</a:t>
            </a:r>
            <a:r>
              <a:rPr sz="2200" spc="70" dirty="0" smtClean="0">
                <a:latin typeface="Trebuchet MS"/>
                <a:cs typeface="Trebuchet MS"/>
              </a:rPr>
              <a:t>d</a:t>
            </a:r>
            <a:r>
              <a:rPr sz="2200" spc="-45" dirty="0" smtClean="0">
                <a:latin typeface="Trebuchet MS"/>
                <a:cs typeface="Trebuchet MS"/>
              </a:rPr>
              <a:t>e</a:t>
            </a:r>
            <a:r>
              <a:rPr sz="2200" spc="10" dirty="0" smtClean="0">
                <a:latin typeface="Trebuchet MS"/>
                <a:cs typeface="Trebuchet MS"/>
              </a:rPr>
              <a:t>rlying</a:t>
            </a:r>
            <a:r>
              <a:rPr lang="en-US" sz="2200" dirty="0">
                <a:latin typeface="Trebuchet MS"/>
                <a:cs typeface="Trebuchet MS"/>
              </a:rPr>
              <a:t> </a:t>
            </a:r>
            <a:r>
              <a:rPr sz="2200" spc="-55" dirty="0" smtClean="0">
                <a:latin typeface="Trebuchet MS"/>
                <a:cs typeface="Trebuchet MS"/>
              </a:rPr>
              <a:t>file  </a:t>
            </a:r>
            <a:r>
              <a:rPr sz="2200" spc="-35" dirty="0">
                <a:latin typeface="Trebuchet MS"/>
                <a:cs typeface="Trebuchet MS"/>
              </a:rPr>
              <a:t>system.</a:t>
            </a:r>
            <a:endParaRPr sz="2200" dirty="0">
              <a:latin typeface="Trebuchet MS"/>
              <a:cs typeface="Trebuchet MS"/>
            </a:endParaRPr>
          </a:p>
        </p:txBody>
      </p:sp>
      <p:sp>
        <p:nvSpPr>
          <p:cNvPr id="6" name="object 6"/>
          <p:cNvSpPr txBox="1"/>
          <p:nvPr/>
        </p:nvSpPr>
        <p:spPr>
          <a:xfrm>
            <a:off x="1487337" y="1718567"/>
            <a:ext cx="10222123" cy="705962"/>
          </a:xfrm>
          <a:prstGeom prst="rect">
            <a:avLst/>
          </a:prstGeom>
        </p:spPr>
        <p:txBody>
          <a:bodyPr vert="horz" wrap="square" lIns="0" tIns="13335" rIns="0" bIns="0" rtlCol="0">
            <a:spAutoFit/>
          </a:bodyPr>
          <a:lstStyle/>
          <a:p>
            <a:pPr marL="355600" indent="-342900">
              <a:lnSpc>
                <a:spcPct val="100000"/>
              </a:lnSpc>
              <a:spcBef>
                <a:spcPts val="600"/>
              </a:spcBef>
              <a:buFont typeface="Arial" panose="020B0604020202020204" pitchFamily="34" charset="0"/>
              <a:buChar char="•"/>
            </a:pPr>
            <a:r>
              <a:rPr sz="2000" spc="10" dirty="0">
                <a:latin typeface="Trebuchet MS"/>
                <a:cs typeface="Trebuchet MS"/>
              </a:rPr>
              <a:t>Advantage: </a:t>
            </a:r>
            <a:r>
              <a:rPr sz="2000" spc="65" dirty="0">
                <a:latin typeface="Trebuchet MS"/>
                <a:cs typeface="Trebuchet MS"/>
              </a:rPr>
              <a:t>Data </a:t>
            </a:r>
            <a:r>
              <a:rPr sz="2000" spc="15" dirty="0">
                <a:latin typeface="Trebuchet MS"/>
                <a:cs typeface="Trebuchet MS"/>
              </a:rPr>
              <a:t>can </a:t>
            </a:r>
            <a:r>
              <a:rPr sz="2000" dirty="0">
                <a:latin typeface="Trebuchet MS"/>
                <a:cs typeface="Trebuchet MS"/>
              </a:rPr>
              <a:t>be </a:t>
            </a:r>
            <a:r>
              <a:rPr sz="2000" spc="5" dirty="0">
                <a:latin typeface="Trebuchet MS"/>
                <a:cs typeface="Trebuchet MS"/>
              </a:rPr>
              <a:t>read </a:t>
            </a:r>
            <a:r>
              <a:rPr sz="2000" spc="20" dirty="0">
                <a:latin typeface="Trebuchet MS"/>
                <a:cs typeface="Trebuchet MS"/>
              </a:rPr>
              <a:t>or </a:t>
            </a:r>
            <a:r>
              <a:rPr sz="2000" spc="-15" dirty="0">
                <a:latin typeface="Trebuchet MS"/>
                <a:cs typeface="Trebuchet MS"/>
              </a:rPr>
              <a:t>calculated </a:t>
            </a:r>
            <a:r>
              <a:rPr sz="2000" spc="15" dirty="0">
                <a:latin typeface="Trebuchet MS"/>
                <a:cs typeface="Trebuchet MS"/>
              </a:rPr>
              <a:t>by</a:t>
            </a:r>
            <a:r>
              <a:rPr sz="2000" spc="-60" dirty="0">
                <a:latin typeface="Trebuchet MS"/>
                <a:cs typeface="Trebuchet MS"/>
              </a:rPr>
              <a:t> </a:t>
            </a:r>
            <a:r>
              <a:rPr sz="2000" spc="-5" dirty="0">
                <a:latin typeface="Trebuchet MS"/>
                <a:cs typeface="Trebuchet MS"/>
              </a:rPr>
              <a:t>column.</a:t>
            </a:r>
            <a:endParaRPr sz="2000" dirty="0">
              <a:latin typeface="Trebuchet MS"/>
              <a:cs typeface="Trebuchet MS"/>
            </a:endParaRPr>
          </a:p>
          <a:p>
            <a:pPr marL="355600" indent="-342900">
              <a:lnSpc>
                <a:spcPct val="100000"/>
              </a:lnSpc>
              <a:spcBef>
                <a:spcPts val="600"/>
              </a:spcBef>
              <a:buFont typeface="Arial" panose="020B0604020202020204" pitchFamily="34" charset="0"/>
              <a:buChar char="•"/>
            </a:pPr>
            <a:r>
              <a:rPr sz="2000" spc="15" dirty="0">
                <a:latin typeface="Trebuchet MS"/>
                <a:cs typeface="Trebuchet MS"/>
              </a:rPr>
              <a:t>Disadvantage: </a:t>
            </a:r>
            <a:r>
              <a:rPr sz="2000" spc="85" dirty="0">
                <a:latin typeface="Trebuchet MS"/>
                <a:cs typeface="Trebuchet MS"/>
              </a:rPr>
              <a:t>When </a:t>
            </a:r>
            <a:r>
              <a:rPr sz="2000" spc="55" dirty="0">
                <a:latin typeface="Trebuchet MS"/>
                <a:cs typeface="Trebuchet MS"/>
              </a:rPr>
              <a:t>a </a:t>
            </a:r>
            <a:r>
              <a:rPr sz="2000" spc="45" dirty="0">
                <a:latin typeface="Trebuchet MS"/>
                <a:cs typeface="Trebuchet MS"/>
              </a:rPr>
              <a:t>row </a:t>
            </a:r>
            <a:r>
              <a:rPr sz="2000" spc="-15" dirty="0">
                <a:latin typeface="Trebuchet MS"/>
                <a:cs typeface="Trebuchet MS"/>
              </a:rPr>
              <a:t>is </a:t>
            </a:r>
            <a:r>
              <a:rPr sz="2000" spc="-45" dirty="0">
                <a:latin typeface="Trebuchet MS"/>
                <a:cs typeface="Trebuchet MS"/>
              </a:rPr>
              <a:t>read, </a:t>
            </a:r>
            <a:r>
              <a:rPr sz="2000" dirty="0">
                <a:latin typeface="Trebuchet MS"/>
                <a:cs typeface="Trebuchet MS"/>
              </a:rPr>
              <a:t>multiple </a:t>
            </a:r>
            <a:r>
              <a:rPr sz="2000" spc="-15" dirty="0">
                <a:latin typeface="Trebuchet MS"/>
                <a:cs typeface="Trebuchet MS"/>
              </a:rPr>
              <a:t>I/O </a:t>
            </a:r>
            <a:r>
              <a:rPr sz="2000" spc="10" dirty="0">
                <a:latin typeface="Trebuchet MS"/>
                <a:cs typeface="Trebuchet MS"/>
              </a:rPr>
              <a:t>operations </a:t>
            </a:r>
            <a:r>
              <a:rPr sz="2000" spc="65" dirty="0">
                <a:latin typeface="Trebuchet MS"/>
                <a:cs typeface="Trebuchet MS"/>
              </a:rPr>
              <a:t>may </a:t>
            </a:r>
            <a:r>
              <a:rPr sz="2000" dirty="0">
                <a:latin typeface="Trebuchet MS"/>
                <a:cs typeface="Trebuchet MS"/>
              </a:rPr>
              <a:t>be</a:t>
            </a:r>
            <a:r>
              <a:rPr sz="2000" spc="-100" dirty="0">
                <a:latin typeface="Trebuchet MS"/>
                <a:cs typeface="Trebuchet MS"/>
              </a:rPr>
              <a:t> </a:t>
            </a:r>
            <a:r>
              <a:rPr sz="2000" spc="-35" dirty="0">
                <a:latin typeface="Trebuchet MS"/>
                <a:cs typeface="Trebuchet MS"/>
              </a:rPr>
              <a:t>required.</a:t>
            </a:r>
            <a:endParaRPr sz="2000" dirty="0">
              <a:latin typeface="Trebuchet MS"/>
              <a:cs typeface="Trebuchet MS"/>
            </a:endParaRPr>
          </a:p>
        </p:txBody>
      </p:sp>
      <p:sp>
        <p:nvSpPr>
          <p:cNvPr id="8" name="object 8"/>
          <p:cNvSpPr txBox="1"/>
          <p:nvPr/>
        </p:nvSpPr>
        <p:spPr>
          <a:xfrm>
            <a:off x="847649" y="3445764"/>
            <a:ext cx="623570" cy="379730"/>
          </a:xfrm>
          <a:prstGeom prst="rect">
            <a:avLst/>
          </a:prstGeom>
          <a:solidFill>
            <a:srgbClr val="FFC000"/>
          </a:solidFill>
          <a:ln w="9144">
            <a:solidFill>
              <a:srgbClr val="000000"/>
            </a:solidFill>
          </a:ln>
        </p:spPr>
        <p:txBody>
          <a:bodyPr vert="horz" wrap="square" lIns="0" tIns="43180" rIns="0" bIns="0" rtlCol="0">
            <a:spAutoFit/>
          </a:bodyPr>
          <a:lstStyle/>
          <a:p>
            <a:pPr marL="205104">
              <a:lnSpc>
                <a:spcPct val="100000"/>
              </a:lnSpc>
              <a:spcBef>
                <a:spcPts val="340"/>
              </a:spcBef>
            </a:pPr>
            <a:r>
              <a:rPr sz="1600" b="1" spc="35" dirty="0">
                <a:latin typeface="Arial"/>
                <a:cs typeface="Arial"/>
              </a:rPr>
              <a:t>ID</a:t>
            </a:r>
            <a:endParaRPr sz="1600">
              <a:latin typeface="Arial"/>
              <a:cs typeface="Arial"/>
            </a:endParaRPr>
          </a:p>
        </p:txBody>
      </p:sp>
      <p:sp>
        <p:nvSpPr>
          <p:cNvPr id="9" name="object 9"/>
          <p:cNvSpPr txBox="1"/>
          <p:nvPr/>
        </p:nvSpPr>
        <p:spPr>
          <a:xfrm>
            <a:off x="1827581" y="3445764"/>
            <a:ext cx="1068705" cy="379730"/>
          </a:xfrm>
          <a:prstGeom prst="rect">
            <a:avLst/>
          </a:prstGeom>
          <a:solidFill>
            <a:srgbClr val="FFC000"/>
          </a:solidFill>
          <a:ln w="9144">
            <a:solidFill>
              <a:srgbClr val="000000"/>
            </a:solidFill>
          </a:ln>
        </p:spPr>
        <p:txBody>
          <a:bodyPr vert="horz" wrap="square" lIns="0" tIns="43180" rIns="0" bIns="0" rtlCol="0">
            <a:spAutoFit/>
          </a:bodyPr>
          <a:lstStyle/>
          <a:p>
            <a:pPr marL="243204">
              <a:lnSpc>
                <a:spcPct val="100000"/>
              </a:lnSpc>
              <a:spcBef>
                <a:spcPts val="340"/>
              </a:spcBef>
            </a:pPr>
            <a:r>
              <a:rPr sz="1600" b="1" spc="55" dirty="0">
                <a:latin typeface="Arial"/>
                <a:cs typeface="Arial"/>
              </a:rPr>
              <a:t>Name</a:t>
            </a:r>
            <a:endParaRPr sz="1600">
              <a:latin typeface="Arial"/>
              <a:cs typeface="Arial"/>
            </a:endParaRPr>
          </a:p>
        </p:txBody>
      </p:sp>
      <p:sp>
        <p:nvSpPr>
          <p:cNvPr id="10" name="object 10"/>
          <p:cNvSpPr txBox="1"/>
          <p:nvPr/>
        </p:nvSpPr>
        <p:spPr>
          <a:xfrm>
            <a:off x="4587545" y="3445764"/>
            <a:ext cx="1336675" cy="379730"/>
          </a:xfrm>
          <a:prstGeom prst="rect">
            <a:avLst/>
          </a:prstGeom>
          <a:solidFill>
            <a:srgbClr val="FFC000"/>
          </a:solidFill>
          <a:ln w="9144">
            <a:solidFill>
              <a:srgbClr val="000000"/>
            </a:solidFill>
          </a:ln>
        </p:spPr>
        <p:txBody>
          <a:bodyPr vert="horz" wrap="square" lIns="0" tIns="43180" rIns="0" bIns="0" rtlCol="0">
            <a:spAutoFit/>
          </a:bodyPr>
          <a:lstStyle/>
          <a:p>
            <a:pPr marL="285750">
              <a:lnSpc>
                <a:spcPct val="100000"/>
              </a:lnSpc>
              <a:spcBef>
                <a:spcPts val="340"/>
              </a:spcBef>
            </a:pPr>
            <a:r>
              <a:rPr sz="1600" b="1" spc="-60" dirty="0">
                <a:latin typeface="Arial"/>
                <a:cs typeface="Arial"/>
              </a:rPr>
              <a:t>Address</a:t>
            </a:r>
            <a:endParaRPr sz="1600">
              <a:latin typeface="Arial"/>
              <a:cs typeface="Arial"/>
            </a:endParaRPr>
          </a:p>
        </p:txBody>
      </p:sp>
      <p:sp>
        <p:nvSpPr>
          <p:cNvPr id="11" name="object 11"/>
          <p:cNvSpPr txBox="1"/>
          <p:nvPr/>
        </p:nvSpPr>
        <p:spPr>
          <a:xfrm>
            <a:off x="3162605" y="3445764"/>
            <a:ext cx="1158240" cy="379730"/>
          </a:xfrm>
          <a:prstGeom prst="rect">
            <a:avLst/>
          </a:prstGeom>
          <a:solidFill>
            <a:srgbClr val="FFC000"/>
          </a:solidFill>
          <a:ln w="9144">
            <a:solidFill>
              <a:srgbClr val="000000"/>
            </a:solidFill>
          </a:ln>
        </p:spPr>
        <p:txBody>
          <a:bodyPr vert="horz" wrap="square" lIns="0" tIns="43180" rIns="0" bIns="0" rtlCol="0">
            <a:spAutoFit/>
          </a:bodyPr>
          <a:lstStyle/>
          <a:p>
            <a:pPr marL="275590">
              <a:lnSpc>
                <a:spcPct val="100000"/>
              </a:lnSpc>
              <a:spcBef>
                <a:spcPts val="340"/>
              </a:spcBef>
            </a:pPr>
            <a:r>
              <a:rPr sz="1600" b="1" spc="-25" dirty="0">
                <a:latin typeface="Arial"/>
                <a:cs typeface="Arial"/>
              </a:rPr>
              <a:t>Phone</a:t>
            </a:r>
            <a:endParaRPr sz="1600">
              <a:latin typeface="Arial"/>
              <a:cs typeface="Arial"/>
            </a:endParaRPr>
          </a:p>
        </p:txBody>
      </p:sp>
      <p:grpSp>
        <p:nvGrpSpPr>
          <p:cNvPr id="12" name="object 12"/>
          <p:cNvGrpSpPr/>
          <p:nvPr/>
        </p:nvGrpSpPr>
        <p:grpSpPr>
          <a:xfrm>
            <a:off x="1946263" y="4017074"/>
            <a:ext cx="771525" cy="387985"/>
            <a:chOff x="4719637" y="4629721"/>
            <a:chExt cx="771525" cy="387985"/>
          </a:xfrm>
        </p:grpSpPr>
        <p:sp>
          <p:nvSpPr>
            <p:cNvPr id="13" name="object 13"/>
            <p:cNvSpPr/>
            <p:nvPr/>
          </p:nvSpPr>
          <p:spPr>
            <a:xfrm>
              <a:off x="4724400" y="4634484"/>
              <a:ext cx="762000" cy="378460"/>
            </a:xfrm>
            <a:custGeom>
              <a:avLst/>
              <a:gdLst/>
              <a:ahLst/>
              <a:cxnLst/>
              <a:rect l="l" t="t" r="r" b="b"/>
              <a:pathLst>
                <a:path w="762000" h="378460">
                  <a:moveTo>
                    <a:pt x="762000" y="0"/>
                  </a:moveTo>
                  <a:lnTo>
                    <a:pt x="0" y="0"/>
                  </a:lnTo>
                  <a:lnTo>
                    <a:pt x="0" y="377951"/>
                  </a:lnTo>
                  <a:lnTo>
                    <a:pt x="762000" y="377951"/>
                  </a:lnTo>
                  <a:lnTo>
                    <a:pt x="762000" y="0"/>
                  </a:lnTo>
                  <a:close/>
                </a:path>
              </a:pathLst>
            </a:custGeom>
            <a:solidFill>
              <a:srgbClr val="FFC000"/>
            </a:solidFill>
          </p:spPr>
          <p:txBody>
            <a:bodyPr wrap="square" lIns="0" tIns="0" rIns="0" bIns="0" rtlCol="0"/>
            <a:lstStyle/>
            <a:p>
              <a:endParaRPr/>
            </a:p>
          </p:txBody>
        </p:sp>
        <p:sp>
          <p:nvSpPr>
            <p:cNvPr id="14" name="object 14"/>
            <p:cNvSpPr/>
            <p:nvPr/>
          </p:nvSpPr>
          <p:spPr>
            <a:xfrm>
              <a:off x="4724400" y="4634484"/>
              <a:ext cx="762000" cy="378460"/>
            </a:xfrm>
            <a:custGeom>
              <a:avLst/>
              <a:gdLst/>
              <a:ahLst/>
              <a:cxnLst/>
              <a:rect l="l" t="t" r="r" b="b"/>
              <a:pathLst>
                <a:path w="762000" h="378460">
                  <a:moveTo>
                    <a:pt x="0" y="377951"/>
                  </a:moveTo>
                  <a:lnTo>
                    <a:pt x="762000" y="377951"/>
                  </a:lnTo>
                  <a:lnTo>
                    <a:pt x="762000" y="0"/>
                  </a:lnTo>
                  <a:lnTo>
                    <a:pt x="0" y="0"/>
                  </a:lnTo>
                  <a:lnTo>
                    <a:pt x="0" y="377951"/>
                  </a:lnTo>
                  <a:close/>
                </a:path>
              </a:pathLst>
            </a:custGeom>
            <a:ln w="9144">
              <a:solidFill>
                <a:srgbClr val="000000"/>
              </a:solidFill>
            </a:ln>
          </p:spPr>
          <p:txBody>
            <a:bodyPr wrap="square" lIns="0" tIns="0" rIns="0" bIns="0" rtlCol="0"/>
            <a:lstStyle/>
            <a:p>
              <a:endParaRPr/>
            </a:p>
          </p:txBody>
        </p:sp>
        <p:sp>
          <p:nvSpPr>
            <p:cNvPr id="15" name="object 15"/>
            <p:cNvSpPr/>
            <p:nvPr/>
          </p:nvSpPr>
          <p:spPr>
            <a:xfrm>
              <a:off x="5073395" y="4634484"/>
              <a:ext cx="0" cy="315595"/>
            </a:xfrm>
            <a:custGeom>
              <a:avLst/>
              <a:gdLst/>
              <a:ahLst/>
              <a:cxnLst/>
              <a:rect l="l" t="t" r="r" b="b"/>
              <a:pathLst>
                <a:path h="315595">
                  <a:moveTo>
                    <a:pt x="0" y="0"/>
                  </a:moveTo>
                  <a:lnTo>
                    <a:pt x="0" y="315468"/>
                  </a:lnTo>
                </a:path>
              </a:pathLst>
            </a:custGeom>
            <a:ln w="6096">
              <a:solidFill>
                <a:srgbClr val="5B9BD4"/>
              </a:solidFill>
            </a:ln>
          </p:spPr>
          <p:txBody>
            <a:bodyPr wrap="square" lIns="0" tIns="0" rIns="0" bIns="0" rtlCol="0"/>
            <a:lstStyle/>
            <a:p>
              <a:endParaRPr/>
            </a:p>
          </p:txBody>
        </p:sp>
      </p:grpSp>
      <p:sp>
        <p:nvSpPr>
          <p:cNvPr id="16" name="object 16"/>
          <p:cNvSpPr txBox="1"/>
          <p:nvPr/>
        </p:nvSpPr>
        <p:spPr>
          <a:xfrm>
            <a:off x="1955597" y="4026408"/>
            <a:ext cx="354330" cy="306705"/>
          </a:xfrm>
          <a:prstGeom prst="rect">
            <a:avLst/>
          </a:prstGeom>
          <a:solidFill>
            <a:srgbClr val="FFC000"/>
          </a:solidFill>
        </p:spPr>
        <p:txBody>
          <a:bodyPr vert="horz" wrap="square" lIns="0" tIns="59690" rIns="0" bIns="0" rtlCol="0">
            <a:spAutoFit/>
          </a:bodyPr>
          <a:lstStyle/>
          <a:p>
            <a:pPr marL="78105">
              <a:lnSpc>
                <a:spcPts val="1939"/>
              </a:lnSpc>
              <a:spcBef>
                <a:spcPts val="470"/>
              </a:spcBef>
            </a:pPr>
            <a:r>
              <a:rPr sz="1800" spc="65" dirty="0">
                <a:latin typeface="Trebuchet MS"/>
                <a:cs typeface="Trebuchet MS"/>
              </a:rPr>
              <a:t>K2</a:t>
            </a:r>
            <a:endParaRPr sz="1800">
              <a:latin typeface="Trebuchet MS"/>
              <a:cs typeface="Trebuchet MS"/>
            </a:endParaRPr>
          </a:p>
        </p:txBody>
      </p:sp>
      <p:sp>
        <p:nvSpPr>
          <p:cNvPr id="17" name="object 17"/>
          <p:cNvSpPr txBox="1"/>
          <p:nvPr/>
        </p:nvSpPr>
        <p:spPr>
          <a:xfrm>
            <a:off x="2303070" y="4026408"/>
            <a:ext cx="405765" cy="306705"/>
          </a:xfrm>
          <a:prstGeom prst="rect">
            <a:avLst/>
          </a:prstGeom>
          <a:solidFill>
            <a:srgbClr val="FFC000"/>
          </a:solidFill>
        </p:spPr>
        <p:txBody>
          <a:bodyPr vert="horz" wrap="square" lIns="0" tIns="59690" rIns="0" bIns="0" rtlCol="0">
            <a:spAutoFit/>
          </a:bodyPr>
          <a:lstStyle/>
          <a:p>
            <a:pPr marL="68580">
              <a:lnSpc>
                <a:spcPts val="1939"/>
              </a:lnSpc>
              <a:spcBef>
                <a:spcPts val="470"/>
              </a:spcBef>
            </a:pPr>
            <a:r>
              <a:rPr sz="1800" spc="65" dirty="0">
                <a:latin typeface="Trebuchet MS"/>
                <a:cs typeface="Trebuchet MS"/>
              </a:rPr>
              <a:t>V2</a:t>
            </a:r>
            <a:endParaRPr sz="1800">
              <a:latin typeface="Trebuchet MS"/>
              <a:cs typeface="Trebuchet MS"/>
            </a:endParaRPr>
          </a:p>
        </p:txBody>
      </p:sp>
      <p:grpSp>
        <p:nvGrpSpPr>
          <p:cNvPr id="18" name="object 18"/>
          <p:cNvGrpSpPr/>
          <p:nvPr/>
        </p:nvGrpSpPr>
        <p:grpSpPr>
          <a:xfrm>
            <a:off x="4861675" y="4044506"/>
            <a:ext cx="770255" cy="389255"/>
            <a:chOff x="7635049" y="4657153"/>
            <a:chExt cx="770255" cy="389255"/>
          </a:xfrm>
        </p:grpSpPr>
        <p:sp>
          <p:nvSpPr>
            <p:cNvPr id="19" name="object 19"/>
            <p:cNvSpPr/>
            <p:nvPr/>
          </p:nvSpPr>
          <p:spPr>
            <a:xfrm>
              <a:off x="7639811" y="4661915"/>
              <a:ext cx="760730" cy="379730"/>
            </a:xfrm>
            <a:custGeom>
              <a:avLst/>
              <a:gdLst/>
              <a:ahLst/>
              <a:cxnLst/>
              <a:rect l="l" t="t" r="r" b="b"/>
              <a:pathLst>
                <a:path w="760729" h="379729">
                  <a:moveTo>
                    <a:pt x="760476" y="0"/>
                  </a:moveTo>
                  <a:lnTo>
                    <a:pt x="0" y="0"/>
                  </a:lnTo>
                  <a:lnTo>
                    <a:pt x="0" y="379475"/>
                  </a:lnTo>
                  <a:lnTo>
                    <a:pt x="760476" y="379475"/>
                  </a:lnTo>
                  <a:lnTo>
                    <a:pt x="760476" y="0"/>
                  </a:lnTo>
                  <a:close/>
                </a:path>
              </a:pathLst>
            </a:custGeom>
            <a:solidFill>
              <a:srgbClr val="FFC000"/>
            </a:solidFill>
          </p:spPr>
          <p:txBody>
            <a:bodyPr wrap="square" lIns="0" tIns="0" rIns="0" bIns="0" rtlCol="0"/>
            <a:lstStyle/>
            <a:p>
              <a:endParaRPr/>
            </a:p>
          </p:txBody>
        </p:sp>
        <p:sp>
          <p:nvSpPr>
            <p:cNvPr id="20" name="object 20"/>
            <p:cNvSpPr/>
            <p:nvPr/>
          </p:nvSpPr>
          <p:spPr>
            <a:xfrm>
              <a:off x="7639811" y="4661915"/>
              <a:ext cx="760730" cy="379730"/>
            </a:xfrm>
            <a:custGeom>
              <a:avLst/>
              <a:gdLst/>
              <a:ahLst/>
              <a:cxnLst/>
              <a:rect l="l" t="t" r="r" b="b"/>
              <a:pathLst>
                <a:path w="760729" h="379729">
                  <a:moveTo>
                    <a:pt x="0" y="379475"/>
                  </a:moveTo>
                  <a:lnTo>
                    <a:pt x="760476" y="379475"/>
                  </a:lnTo>
                  <a:lnTo>
                    <a:pt x="760476" y="0"/>
                  </a:lnTo>
                  <a:lnTo>
                    <a:pt x="0" y="0"/>
                  </a:lnTo>
                  <a:lnTo>
                    <a:pt x="0" y="379475"/>
                  </a:lnTo>
                  <a:close/>
                </a:path>
              </a:pathLst>
            </a:custGeom>
            <a:ln w="9143">
              <a:solidFill>
                <a:srgbClr val="000000"/>
              </a:solidFill>
            </a:ln>
          </p:spPr>
          <p:txBody>
            <a:bodyPr wrap="square" lIns="0" tIns="0" rIns="0" bIns="0" rtlCol="0"/>
            <a:lstStyle/>
            <a:p>
              <a:endParaRPr/>
            </a:p>
          </p:txBody>
        </p:sp>
        <p:sp>
          <p:nvSpPr>
            <p:cNvPr id="21" name="object 21"/>
            <p:cNvSpPr/>
            <p:nvPr/>
          </p:nvSpPr>
          <p:spPr>
            <a:xfrm>
              <a:off x="7987283" y="4661915"/>
              <a:ext cx="0" cy="318770"/>
            </a:xfrm>
            <a:custGeom>
              <a:avLst/>
              <a:gdLst/>
              <a:ahLst/>
              <a:cxnLst/>
              <a:rect l="l" t="t" r="r" b="b"/>
              <a:pathLst>
                <a:path h="318770">
                  <a:moveTo>
                    <a:pt x="0" y="0"/>
                  </a:moveTo>
                  <a:lnTo>
                    <a:pt x="0" y="318515"/>
                  </a:lnTo>
                </a:path>
              </a:pathLst>
            </a:custGeom>
            <a:ln w="6096">
              <a:solidFill>
                <a:srgbClr val="5B9BD4"/>
              </a:solidFill>
            </a:ln>
          </p:spPr>
          <p:txBody>
            <a:bodyPr wrap="square" lIns="0" tIns="0" rIns="0" bIns="0" rtlCol="0"/>
            <a:lstStyle/>
            <a:p>
              <a:endParaRPr/>
            </a:p>
          </p:txBody>
        </p:sp>
      </p:grpSp>
      <p:sp>
        <p:nvSpPr>
          <p:cNvPr id="22" name="object 22"/>
          <p:cNvSpPr txBox="1"/>
          <p:nvPr/>
        </p:nvSpPr>
        <p:spPr>
          <a:xfrm>
            <a:off x="4871009" y="4053841"/>
            <a:ext cx="353060" cy="309880"/>
          </a:xfrm>
          <a:prstGeom prst="rect">
            <a:avLst/>
          </a:prstGeom>
          <a:solidFill>
            <a:srgbClr val="FFC000"/>
          </a:solidFill>
        </p:spPr>
        <p:txBody>
          <a:bodyPr vert="horz" wrap="square" lIns="0" tIns="60960" rIns="0" bIns="0" rtlCol="0">
            <a:spAutoFit/>
          </a:bodyPr>
          <a:lstStyle/>
          <a:p>
            <a:pPr marL="77470">
              <a:lnSpc>
                <a:spcPts val="1955"/>
              </a:lnSpc>
              <a:spcBef>
                <a:spcPts val="480"/>
              </a:spcBef>
            </a:pPr>
            <a:r>
              <a:rPr sz="1800" spc="60" dirty="0">
                <a:latin typeface="Trebuchet MS"/>
                <a:cs typeface="Trebuchet MS"/>
              </a:rPr>
              <a:t>K4</a:t>
            </a:r>
            <a:endParaRPr sz="1800">
              <a:latin typeface="Trebuchet MS"/>
              <a:cs typeface="Trebuchet MS"/>
            </a:endParaRPr>
          </a:p>
        </p:txBody>
      </p:sp>
      <p:sp>
        <p:nvSpPr>
          <p:cNvPr id="23" name="object 23"/>
          <p:cNvSpPr txBox="1"/>
          <p:nvPr/>
        </p:nvSpPr>
        <p:spPr>
          <a:xfrm>
            <a:off x="5216957" y="4053841"/>
            <a:ext cx="405765" cy="309880"/>
          </a:xfrm>
          <a:prstGeom prst="rect">
            <a:avLst/>
          </a:prstGeom>
          <a:solidFill>
            <a:srgbClr val="FFC000"/>
          </a:solidFill>
        </p:spPr>
        <p:txBody>
          <a:bodyPr vert="horz" wrap="square" lIns="0" tIns="60960" rIns="0" bIns="0" rtlCol="0">
            <a:spAutoFit/>
          </a:bodyPr>
          <a:lstStyle/>
          <a:p>
            <a:pPr marL="69850">
              <a:lnSpc>
                <a:spcPts val="1955"/>
              </a:lnSpc>
              <a:spcBef>
                <a:spcPts val="480"/>
              </a:spcBef>
            </a:pPr>
            <a:r>
              <a:rPr sz="1800" spc="65" dirty="0">
                <a:latin typeface="Trebuchet MS"/>
                <a:cs typeface="Trebuchet MS"/>
              </a:rPr>
              <a:t>V4</a:t>
            </a:r>
            <a:endParaRPr sz="1800">
              <a:latin typeface="Trebuchet MS"/>
              <a:cs typeface="Trebuchet MS"/>
            </a:endParaRPr>
          </a:p>
        </p:txBody>
      </p:sp>
      <p:graphicFrame>
        <p:nvGraphicFramePr>
          <p:cNvPr id="24" name="object 24"/>
          <p:cNvGraphicFramePr>
            <a:graphicFrameLocks noGrp="1"/>
          </p:cNvGraphicFramePr>
          <p:nvPr>
            <p:extLst>
              <p:ext uri="{D42A27DB-BD31-4B8C-83A1-F6EECF244321}">
                <p14:modId xmlns:p14="http://schemas.microsoft.com/office/powerpoint/2010/main" val="3112430578"/>
              </p:ext>
            </p:extLst>
          </p:nvPr>
        </p:nvGraphicFramePr>
        <p:xfrm>
          <a:off x="847649" y="4017264"/>
          <a:ext cx="925195" cy="714755"/>
        </p:xfrm>
        <a:graphic>
          <a:graphicData uri="http://schemas.openxmlformats.org/drawingml/2006/table">
            <a:tbl>
              <a:tblPr firstRow="1" bandRow="1">
                <a:tableStyleId>{2D5ABB26-0587-4C30-8999-92F81FD0307C}</a:tableStyleId>
              </a:tblPr>
              <a:tblGrid>
                <a:gridCol w="146050">
                  <a:extLst>
                    <a:ext uri="{9D8B030D-6E8A-4147-A177-3AD203B41FA5}">
                      <a16:colId xmlns:a16="http://schemas.microsoft.com/office/drawing/2014/main" val="20000"/>
                    </a:ext>
                  </a:extLst>
                </a:gridCol>
                <a:gridCol w="212090">
                  <a:extLst>
                    <a:ext uri="{9D8B030D-6E8A-4147-A177-3AD203B41FA5}">
                      <a16:colId xmlns:a16="http://schemas.microsoft.com/office/drawing/2014/main" val="20001"/>
                    </a:ext>
                  </a:extLst>
                </a:gridCol>
                <a:gridCol w="154305">
                  <a:extLst>
                    <a:ext uri="{9D8B030D-6E8A-4147-A177-3AD203B41FA5}">
                      <a16:colId xmlns:a16="http://schemas.microsoft.com/office/drawing/2014/main" val="20002"/>
                    </a:ext>
                  </a:extLst>
                </a:gridCol>
                <a:gridCol w="267970">
                  <a:extLst>
                    <a:ext uri="{9D8B030D-6E8A-4147-A177-3AD203B41FA5}">
                      <a16:colId xmlns:a16="http://schemas.microsoft.com/office/drawing/2014/main" val="20003"/>
                    </a:ext>
                  </a:extLst>
                </a:gridCol>
                <a:gridCol w="144780">
                  <a:extLst>
                    <a:ext uri="{9D8B030D-6E8A-4147-A177-3AD203B41FA5}">
                      <a16:colId xmlns:a16="http://schemas.microsoft.com/office/drawing/2014/main" val="20004"/>
                    </a:ext>
                  </a:extLst>
                </a:gridCol>
              </a:tblGrid>
              <a:tr h="356615">
                <a:tc gridSpan="2">
                  <a:txBody>
                    <a:bodyPr/>
                    <a:lstStyle/>
                    <a:p>
                      <a:pPr marL="82550">
                        <a:lnSpc>
                          <a:spcPct val="100000"/>
                        </a:lnSpc>
                        <a:spcBef>
                          <a:spcPts val="505"/>
                        </a:spcBef>
                      </a:pPr>
                      <a:r>
                        <a:rPr sz="1800" dirty="0">
                          <a:latin typeface="Trebuchet MS"/>
                          <a:cs typeface="Trebuchet MS"/>
                        </a:rPr>
                        <a:t>K1</a:t>
                      </a:r>
                      <a:endParaRPr sz="1800">
                        <a:latin typeface="Trebuchet MS"/>
                        <a:cs typeface="Trebuchet MS"/>
                      </a:endParaRPr>
                    </a:p>
                  </a:txBody>
                  <a:tcPr marL="0" marR="0" marT="64135" marB="0">
                    <a:lnL w="9525">
                      <a:solidFill>
                        <a:srgbClr val="000000"/>
                      </a:solidFill>
                      <a:prstDash val="solid"/>
                    </a:lnL>
                    <a:lnR w="6350">
                      <a:solidFill>
                        <a:srgbClr val="5B9BD4"/>
                      </a:solidFill>
                      <a:prstDash val="solid"/>
                    </a:lnR>
                    <a:lnT w="9525">
                      <a:solidFill>
                        <a:srgbClr val="000000"/>
                      </a:solidFill>
                      <a:prstDash val="solid"/>
                    </a:lnT>
                    <a:lnB w="9525">
                      <a:solidFill>
                        <a:srgbClr val="000000"/>
                      </a:solidFill>
                      <a:prstDash val="solid"/>
                    </a:lnB>
                    <a:solidFill>
                      <a:srgbClr val="FFC000"/>
                    </a:solidFill>
                  </a:tcPr>
                </a:tc>
                <a:tc hMerge="1">
                  <a:txBody>
                    <a:bodyPr/>
                    <a:lstStyle/>
                    <a:p>
                      <a:endParaRPr/>
                    </a:p>
                  </a:txBody>
                  <a:tcPr marL="0" marR="0" marT="0" marB="0"/>
                </a:tc>
                <a:tc gridSpan="2">
                  <a:txBody>
                    <a:bodyPr/>
                    <a:lstStyle/>
                    <a:p>
                      <a:pPr marL="71120">
                        <a:lnSpc>
                          <a:spcPct val="100000"/>
                        </a:lnSpc>
                        <a:spcBef>
                          <a:spcPts val="505"/>
                        </a:spcBef>
                      </a:pPr>
                      <a:r>
                        <a:rPr sz="1800" spc="65" dirty="0">
                          <a:latin typeface="Trebuchet MS"/>
                          <a:cs typeface="Trebuchet MS"/>
                        </a:rPr>
                        <a:t>V1</a:t>
                      </a:r>
                      <a:endParaRPr sz="1800">
                        <a:latin typeface="Trebuchet MS"/>
                        <a:cs typeface="Trebuchet MS"/>
                      </a:endParaRPr>
                    </a:p>
                  </a:txBody>
                  <a:tcPr marL="0" marR="0" marT="64135" marB="0">
                    <a:lnL w="6350">
                      <a:solidFill>
                        <a:srgbClr val="5B9BD4"/>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000"/>
                    </a:solidFill>
                  </a:tcPr>
                </a:tc>
                <a:tc hMerge="1">
                  <a:txBody>
                    <a:bodyPr/>
                    <a:lstStyle/>
                    <a:p>
                      <a:endParaRPr/>
                    </a:p>
                  </a:txBody>
                  <a:tcPr marL="0" marR="0" marT="0" marB="0"/>
                </a:tc>
                <a:tc>
                  <a:txBody>
                    <a:bodyPr/>
                    <a:lstStyle/>
                    <a:p>
                      <a:pPr>
                        <a:lnSpc>
                          <a:spcPct val="100000"/>
                        </a:lnSpc>
                      </a:pPr>
                      <a:endParaRPr sz="1900">
                        <a:latin typeface="Times New Roman"/>
                        <a:cs typeface="Times New Roman"/>
                      </a:endParaRPr>
                    </a:p>
                  </a:txBody>
                  <a:tcPr marL="0" marR="0" marT="0" marB="0">
                    <a:lnL w="9525">
                      <a:solidFill>
                        <a:srgbClr val="000000"/>
                      </a:solidFill>
                      <a:prstDash val="solid"/>
                    </a:lnL>
                    <a:lnB w="9525">
                      <a:solidFill>
                        <a:srgbClr val="000000"/>
                      </a:solidFill>
                      <a:prstDash val="solid"/>
                    </a:lnB>
                  </a:tcPr>
                </a:tc>
                <a:extLst>
                  <a:ext uri="{0D108BD9-81ED-4DB2-BD59-A6C34878D82A}">
                    <a16:rowId xmlns:a16="http://schemas.microsoft.com/office/drawing/2014/main" val="10000"/>
                  </a:ext>
                </a:extLst>
              </a:tr>
              <a:tr h="358140">
                <a:tc>
                  <a:txBody>
                    <a:bodyPr/>
                    <a:lstStyle/>
                    <a:p>
                      <a:pPr>
                        <a:lnSpc>
                          <a:spcPct val="100000"/>
                        </a:lnSpc>
                      </a:pPr>
                      <a:endParaRPr sz="1900">
                        <a:latin typeface="Times New Roman"/>
                        <a:cs typeface="Times New Roman"/>
                      </a:endParaRPr>
                    </a:p>
                  </a:txBody>
                  <a:tcPr marL="0" marR="0" marT="0" marB="0">
                    <a:lnR w="9525">
                      <a:solidFill>
                        <a:srgbClr val="000000"/>
                      </a:solidFill>
                      <a:prstDash val="solid"/>
                    </a:lnR>
                    <a:lnT w="9525">
                      <a:solidFill>
                        <a:srgbClr val="000000"/>
                      </a:solidFill>
                      <a:prstDash val="solid"/>
                    </a:lnT>
                  </a:tcPr>
                </a:tc>
                <a:tc gridSpan="2">
                  <a:txBody>
                    <a:bodyPr/>
                    <a:lstStyle/>
                    <a:p>
                      <a:pPr marL="81915">
                        <a:lnSpc>
                          <a:spcPct val="100000"/>
                        </a:lnSpc>
                        <a:spcBef>
                          <a:spcPts val="350"/>
                        </a:spcBef>
                      </a:pPr>
                      <a:r>
                        <a:rPr sz="1800" dirty="0">
                          <a:latin typeface="Trebuchet MS"/>
                          <a:cs typeface="Trebuchet MS"/>
                        </a:rPr>
                        <a:t>K5</a:t>
                      </a:r>
                      <a:endParaRPr sz="1800">
                        <a:latin typeface="Trebuchet MS"/>
                        <a:cs typeface="Trebuchet MS"/>
                      </a:endParaRPr>
                    </a:p>
                  </a:txBody>
                  <a:tcPr marL="0" marR="0" marT="44450" marB="0">
                    <a:lnL w="9525">
                      <a:solidFill>
                        <a:srgbClr val="000000"/>
                      </a:solidFill>
                      <a:prstDash val="solid"/>
                    </a:lnL>
                    <a:lnR w="6350">
                      <a:solidFill>
                        <a:srgbClr val="5B9BD4"/>
                      </a:solidFill>
                      <a:prstDash val="solid"/>
                    </a:lnR>
                    <a:lnT w="9525">
                      <a:solidFill>
                        <a:srgbClr val="000000"/>
                      </a:solidFill>
                      <a:prstDash val="solid"/>
                    </a:lnT>
                    <a:lnB w="9525">
                      <a:solidFill>
                        <a:srgbClr val="000000"/>
                      </a:solidFill>
                      <a:prstDash val="solid"/>
                    </a:lnB>
                    <a:solidFill>
                      <a:srgbClr val="FFC000"/>
                    </a:solidFill>
                  </a:tcPr>
                </a:tc>
                <a:tc hMerge="1">
                  <a:txBody>
                    <a:bodyPr/>
                    <a:lstStyle/>
                    <a:p>
                      <a:endParaRPr/>
                    </a:p>
                  </a:txBody>
                  <a:tcPr marL="0" marR="0" marT="0" marB="0"/>
                </a:tc>
                <a:tc gridSpan="2">
                  <a:txBody>
                    <a:bodyPr/>
                    <a:lstStyle/>
                    <a:p>
                      <a:pPr marL="71755">
                        <a:lnSpc>
                          <a:spcPct val="100000"/>
                        </a:lnSpc>
                        <a:spcBef>
                          <a:spcPts val="350"/>
                        </a:spcBef>
                      </a:pPr>
                      <a:r>
                        <a:rPr sz="1800" spc="65" dirty="0">
                          <a:latin typeface="Trebuchet MS"/>
                          <a:cs typeface="Trebuchet MS"/>
                        </a:rPr>
                        <a:t>V5</a:t>
                      </a:r>
                      <a:endParaRPr sz="1800">
                        <a:latin typeface="Trebuchet MS"/>
                        <a:cs typeface="Trebuchet MS"/>
                      </a:endParaRPr>
                    </a:p>
                  </a:txBody>
                  <a:tcPr marL="0" marR="0" marT="44450" marB="0">
                    <a:lnL w="6350">
                      <a:solidFill>
                        <a:srgbClr val="5B9BD4"/>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000"/>
                    </a:solidFill>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grpSp>
        <p:nvGrpSpPr>
          <p:cNvPr id="25" name="object 25"/>
          <p:cNvGrpSpPr/>
          <p:nvPr/>
        </p:nvGrpSpPr>
        <p:grpSpPr>
          <a:xfrm>
            <a:off x="2069707" y="4332542"/>
            <a:ext cx="770255" cy="389255"/>
            <a:chOff x="4843081" y="4945189"/>
            <a:chExt cx="770255" cy="389255"/>
          </a:xfrm>
        </p:grpSpPr>
        <p:sp>
          <p:nvSpPr>
            <p:cNvPr id="26" name="object 26"/>
            <p:cNvSpPr/>
            <p:nvPr/>
          </p:nvSpPr>
          <p:spPr>
            <a:xfrm>
              <a:off x="4847844" y="4949952"/>
              <a:ext cx="760730" cy="379730"/>
            </a:xfrm>
            <a:custGeom>
              <a:avLst/>
              <a:gdLst/>
              <a:ahLst/>
              <a:cxnLst/>
              <a:rect l="l" t="t" r="r" b="b"/>
              <a:pathLst>
                <a:path w="760729" h="379729">
                  <a:moveTo>
                    <a:pt x="760476" y="0"/>
                  </a:moveTo>
                  <a:lnTo>
                    <a:pt x="0" y="0"/>
                  </a:lnTo>
                  <a:lnTo>
                    <a:pt x="0" y="379476"/>
                  </a:lnTo>
                  <a:lnTo>
                    <a:pt x="760476" y="379476"/>
                  </a:lnTo>
                  <a:lnTo>
                    <a:pt x="760476" y="0"/>
                  </a:lnTo>
                  <a:close/>
                </a:path>
              </a:pathLst>
            </a:custGeom>
            <a:solidFill>
              <a:srgbClr val="FFC000"/>
            </a:solidFill>
          </p:spPr>
          <p:txBody>
            <a:bodyPr wrap="square" lIns="0" tIns="0" rIns="0" bIns="0" rtlCol="0"/>
            <a:lstStyle/>
            <a:p>
              <a:endParaRPr/>
            </a:p>
          </p:txBody>
        </p:sp>
        <p:sp>
          <p:nvSpPr>
            <p:cNvPr id="27" name="object 27"/>
            <p:cNvSpPr/>
            <p:nvPr/>
          </p:nvSpPr>
          <p:spPr>
            <a:xfrm>
              <a:off x="4847844" y="4949952"/>
              <a:ext cx="760730" cy="379730"/>
            </a:xfrm>
            <a:custGeom>
              <a:avLst/>
              <a:gdLst/>
              <a:ahLst/>
              <a:cxnLst/>
              <a:rect l="l" t="t" r="r" b="b"/>
              <a:pathLst>
                <a:path w="760729" h="379729">
                  <a:moveTo>
                    <a:pt x="0" y="379476"/>
                  </a:moveTo>
                  <a:lnTo>
                    <a:pt x="760476" y="379476"/>
                  </a:lnTo>
                  <a:lnTo>
                    <a:pt x="760476" y="0"/>
                  </a:lnTo>
                  <a:lnTo>
                    <a:pt x="0" y="0"/>
                  </a:lnTo>
                  <a:lnTo>
                    <a:pt x="0" y="379476"/>
                  </a:lnTo>
                  <a:close/>
                </a:path>
              </a:pathLst>
            </a:custGeom>
            <a:ln w="9144">
              <a:solidFill>
                <a:srgbClr val="000000"/>
              </a:solidFill>
            </a:ln>
          </p:spPr>
          <p:txBody>
            <a:bodyPr wrap="square" lIns="0" tIns="0" rIns="0" bIns="0" rtlCol="0"/>
            <a:lstStyle/>
            <a:p>
              <a:endParaRPr/>
            </a:p>
          </p:txBody>
        </p:sp>
        <p:sp>
          <p:nvSpPr>
            <p:cNvPr id="28" name="object 28"/>
            <p:cNvSpPr/>
            <p:nvPr/>
          </p:nvSpPr>
          <p:spPr>
            <a:xfrm>
              <a:off x="5196840" y="4949952"/>
              <a:ext cx="0" cy="379730"/>
            </a:xfrm>
            <a:custGeom>
              <a:avLst/>
              <a:gdLst/>
              <a:ahLst/>
              <a:cxnLst/>
              <a:rect l="l" t="t" r="r" b="b"/>
              <a:pathLst>
                <a:path h="379729">
                  <a:moveTo>
                    <a:pt x="0" y="0"/>
                  </a:moveTo>
                  <a:lnTo>
                    <a:pt x="0" y="379349"/>
                  </a:lnTo>
                </a:path>
              </a:pathLst>
            </a:custGeom>
            <a:ln w="6096">
              <a:solidFill>
                <a:srgbClr val="5B9BD4"/>
              </a:solidFill>
            </a:ln>
          </p:spPr>
          <p:txBody>
            <a:bodyPr wrap="square" lIns="0" tIns="0" rIns="0" bIns="0" rtlCol="0"/>
            <a:lstStyle/>
            <a:p>
              <a:endParaRPr/>
            </a:p>
          </p:txBody>
        </p:sp>
      </p:grpSp>
      <p:sp>
        <p:nvSpPr>
          <p:cNvPr id="29" name="object 29"/>
          <p:cNvSpPr txBox="1"/>
          <p:nvPr/>
        </p:nvSpPr>
        <p:spPr>
          <a:xfrm>
            <a:off x="2079041" y="4404361"/>
            <a:ext cx="354330" cy="307975"/>
          </a:xfrm>
          <a:prstGeom prst="rect">
            <a:avLst/>
          </a:prstGeom>
          <a:solidFill>
            <a:srgbClr val="FFC000"/>
          </a:solidFill>
        </p:spPr>
        <p:txBody>
          <a:bodyPr vert="horz" wrap="square" lIns="0" tIns="0" rIns="0" bIns="0" rtlCol="0">
            <a:spAutoFit/>
          </a:bodyPr>
          <a:lstStyle/>
          <a:p>
            <a:pPr marL="76835">
              <a:lnSpc>
                <a:spcPts val="2145"/>
              </a:lnSpc>
            </a:pPr>
            <a:r>
              <a:rPr sz="1800" spc="60" dirty="0">
                <a:latin typeface="Trebuchet MS"/>
                <a:cs typeface="Trebuchet MS"/>
              </a:rPr>
              <a:t>K6</a:t>
            </a:r>
            <a:endParaRPr sz="1800">
              <a:latin typeface="Trebuchet MS"/>
              <a:cs typeface="Trebuchet MS"/>
            </a:endParaRPr>
          </a:p>
        </p:txBody>
      </p:sp>
      <p:sp>
        <p:nvSpPr>
          <p:cNvPr id="30" name="object 30"/>
          <p:cNvSpPr txBox="1"/>
          <p:nvPr/>
        </p:nvSpPr>
        <p:spPr>
          <a:xfrm>
            <a:off x="2426514" y="4404361"/>
            <a:ext cx="403860" cy="307975"/>
          </a:xfrm>
          <a:prstGeom prst="rect">
            <a:avLst/>
          </a:prstGeom>
          <a:solidFill>
            <a:srgbClr val="FFC000"/>
          </a:solidFill>
        </p:spPr>
        <p:txBody>
          <a:bodyPr vert="horz" wrap="square" lIns="0" tIns="0" rIns="0" bIns="0" rtlCol="0">
            <a:spAutoFit/>
          </a:bodyPr>
          <a:lstStyle/>
          <a:p>
            <a:pPr marL="67945">
              <a:lnSpc>
                <a:spcPts val="2145"/>
              </a:lnSpc>
            </a:pPr>
            <a:r>
              <a:rPr sz="1800" spc="65" dirty="0">
                <a:latin typeface="Trebuchet MS"/>
                <a:cs typeface="Trebuchet MS"/>
              </a:rPr>
              <a:t>V6</a:t>
            </a:r>
            <a:endParaRPr sz="1800">
              <a:latin typeface="Trebuchet MS"/>
              <a:cs typeface="Trebuchet MS"/>
            </a:endParaRPr>
          </a:p>
        </p:txBody>
      </p:sp>
      <p:graphicFrame>
        <p:nvGraphicFramePr>
          <p:cNvPr id="31" name="object 31"/>
          <p:cNvGraphicFramePr>
            <a:graphicFrameLocks noGrp="1"/>
          </p:cNvGraphicFramePr>
          <p:nvPr>
            <p:extLst>
              <p:ext uri="{D42A27DB-BD31-4B8C-83A1-F6EECF244321}">
                <p14:modId xmlns:p14="http://schemas.microsoft.com/office/powerpoint/2010/main" val="3754464092"/>
              </p:ext>
            </p:extLst>
          </p:nvPr>
        </p:nvGraphicFramePr>
        <p:xfrm>
          <a:off x="3319578" y="4034029"/>
          <a:ext cx="859789" cy="681226"/>
        </p:xfrm>
        <a:graphic>
          <a:graphicData uri="http://schemas.openxmlformats.org/drawingml/2006/table">
            <a:tbl>
              <a:tblPr firstRow="1" bandRow="1">
                <a:tableStyleId>{2D5ABB26-0587-4C30-8999-92F81FD0307C}</a:tableStyleId>
              </a:tblPr>
              <a:tblGrid>
                <a:gridCol w="79375">
                  <a:extLst>
                    <a:ext uri="{9D8B030D-6E8A-4147-A177-3AD203B41FA5}">
                      <a16:colId xmlns:a16="http://schemas.microsoft.com/office/drawing/2014/main" val="20000"/>
                    </a:ext>
                  </a:extLst>
                </a:gridCol>
                <a:gridCol w="279400">
                  <a:extLst>
                    <a:ext uri="{9D8B030D-6E8A-4147-A177-3AD203B41FA5}">
                      <a16:colId xmlns:a16="http://schemas.microsoft.com/office/drawing/2014/main" val="20001"/>
                    </a:ext>
                  </a:extLst>
                </a:gridCol>
                <a:gridCol w="87629">
                  <a:extLst>
                    <a:ext uri="{9D8B030D-6E8A-4147-A177-3AD203B41FA5}">
                      <a16:colId xmlns:a16="http://schemas.microsoft.com/office/drawing/2014/main" val="20002"/>
                    </a:ext>
                  </a:extLst>
                </a:gridCol>
                <a:gridCol w="334010">
                  <a:extLst>
                    <a:ext uri="{9D8B030D-6E8A-4147-A177-3AD203B41FA5}">
                      <a16:colId xmlns:a16="http://schemas.microsoft.com/office/drawing/2014/main" val="20003"/>
                    </a:ext>
                  </a:extLst>
                </a:gridCol>
                <a:gridCol w="79375">
                  <a:extLst>
                    <a:ext uri="{9D8B030D-6E8A-4147-A177-3AD203B41FA5}">
                      <a16:colId xmlns:a16="http://schemas.microsoft.com/office/drawing/2014/main" val="20004"/>
                    </a:ext>
                  </a:extLst>
                </a:gridCol>
              </a:tblGrid>
              <a:tr h="301751">
                <a:tc gridSpan="2">
                  <a:txBody>
                    <a:bodyPr/>
                    <a:lstStyle/>
                    <a:p>
                      <a:pPr marL="81915">
                        <a:lnSpc>
                          <a:spcPts val="1760"/>
                        </a:lnSpc>
                        <a:spcBef>
                          <a:spcPts val="515"/>
                        </a:spcBef>
                      </a:pPr>
                      <a:r>
                        <a:rPr sz="1800" dirty="0">
                          <a:latin typeface="Trebuchet MS"/>
                          <a:cs typeface="Trebuchet MS"/>
                        </a:rPr>
                        <a:t>K3</a:t>
                      </a:r>
                      <a:endParaRPr sz="1800">
                        <a:latin typeface="Trebuchet MS"/>
                        <a:cs typeface="Trebuchet MS"/>
                      </a:endParaRPr>
                    </a:p>
                  </a:txBody>
                  <a:tcPr marL="0" marR="0" marT="65404" marB="0">
                    <a:lnL w="9525">
                      <a:solidFill>
                        <a:srgbClr val="000000"/>
                      </a:solidFill>
                      <a:prstDash val="solid"/>
                    </a:lnL>
                    <a:lnR w="6350">
                      <a:solidFill>
                        <a:srgbClr val="5B9BD4"/>
                      </a:solidFill>
                      <a:prstDash val="solid"/>
                    </a:lnR>
                    <a:lnT w="9525">
                      <a:solidFill>
                        <a:srgbClr val="000000"/>
                      </a:solidFill>
                      <a:prstDash val="solid"/>
                    </a:lnT>
                    <a:lnB w="9525">
                      <a:solidFill>
                        <a:srgbClr val="000000"/>
                      </a:solidFill>
                      <a:prstDash val="solid"/>
                    </a:lnB>
                    <a:solidFill>
                      <a:srgbClr val="FFC000"/>
                    </a:solidFill>
                  </a:tcPr>
                </a:tc>
                <a:tc hMerge="1">
                  <a:txBody>
                    <a:bodyPr/>
                    <a:lstStyle/>
                    <a:p>
                      <a:endParaRPr/>
                    </a:p>
                  </a:txBody>
                  <a:tcPr marL="0" marR="0" marT="0" marB="0"/>
                </a:tc>
                <a:tc gridSpan="2">
                  <a:txBody>
                    <a:bodyPr/>
                    <a:lstStyle/>
                    <a:p>
                      <a:pPr marL="71120">
                        <a:lnSpc>
                          <a:spcPts val="1760"/>
                        </a:lnSpc>
                        <a:spcBef>
                          <a:spcPts val="515"/>
                        </a:spcBef>
                      </a:pPr>
                      <a:r>
                        <a:rPr sz="1800" spc="65" dirty="0">
                          <a:latin typeface="Trebuchet MS"/>
                          <a:cs typeface="Trebuchet MS"/>
                        </a:rPr>
                        <a:t>V3</a:t>
                      </a:r>
                      <a:endParaRPr sz="1800">
                        <a:latin typeface="Trebuchet MS"/>
                        <a:cs typeface="Trebuchet MS"/>
                      </a:endParaRPr>
                    </a:p>
                  </a:txBody>
                  <a:tcPr marL="0" marR="0" marT="65404" marB="0">
                    <a:lnL w="6350">
                      <a:solidFill>
                        <a:srgbClr val="5B9BD4"/>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000"/>
                    </a:solidFill>
                  </a:tcPr>
                </a:tc>
                <a:tc hMerge="1">
                  <a:txBody>
                    <a:bodyPr/>
                    <a:lstStyle/>
                    <a:p>
                      <a:endParaRPr/>
                    </a:p>
                  </a:txBody>
                  <a:tcPr marL="0" marR="0" marT="0" marB="0"/>
                </a:tc>
                <a:tc>
                  <a:txBody>
                    <a:bodyPr/>
                    <a:lstStyle/>
                    <a:p>
                      <a:pPr>
                        <a:lnSpc>
                          <a:spcPct val="100000"/>
                        </a:lnSpc>
                      </a:pPr>
                      <a:endParaRPr sz="1800">
                        <a:latin typeface="Times New Roman"/>
                        <a:cs typeface="Times New Roman"/>
                      </a:endParaRPr>
                    </a:p>
                  </a:txBody>
                  <a:tcPr marL="0" marR="0" marT="0" marB="0">
                    <a:lnL w="9525">
                      <a:solidFill>
                        <a:srgbClr val="000000"/>
                      </a:solidFill>
                      <a:prstDash val="solid"/>
                    </a:lnL>
                    <a:lnB w="9525">
                      <a:solidFill>
                        <a:srgbClr val="000000"/>
                      </a:solidFill>
                      <a:prstDash val="solid"/>
                    </a:lnB>
                  </a:tcPr>
                </a:tc>
                <a:extLst>
                  <a:ext uri="{0D108BD9-81ED-4DB2-BD59-A6C34878D82A}">
                    <a16:rowId xmlns:a16="http://schemas.microsoft.com/office/drawing/2014/main" val="10000"/>
                  </a:ext>
                </a:extLst>
              </a:tr>
              <a:tr h="77724">
                <a:tc>
                  <a:txBody>
                    <a:bodyPr/>
                    <a:lstStyle/>
                    <a:p>
                      <a:pPr>
                        <a:lnSpc>
                          <a:spcPct val="100000"/>
                        </a:lnSpc>
                      </a:pPr>
                      <a:endParaRPr sz="300">
                        <a:latin typeface="Times New Roman"/>
                        <a:cs typeface="Times New Roman"/>
                      </a:endParaRPr>
                    </a:p>
                  </a:txBody>
                  <a:tcPr marL="0" marR="0" marT="0" marB="0">
                    <a:lnL w="9525">
                      <a:solidFill>
                        <a:srgbClr val="000000"/>
                      </a:solidFill>
                      <a:prstDash val="solid"/>
                    </a:lnL>
                    <a:lnR w="9525">
                      <a:solidFill>
                        <a:srgbClr val="000000"/>
                      </a:solidFill>
                      <a:prstDash val="solid"/>
                    </a:lnR>
                    <a:lnT w="9525" cap="flat" cmpd="sng" algn="ctr">
                      <a:solidFill>
                        <a:srgbClr val="000000"/>
                      </a:solidFill>
                      <a:prstDash val="solid"/>
                      <a:round/>
                      <a:headEnd type="none" w="med" len="med"/>
                      <a:tailEnd type="none" w="med" len="med"/>
                    </a:lnT>
                    <a:lnB w="9525">
                      <a:solidFill>
                        <a:srgbClr val="000000"/>
                      </a:solidFill>
                      <a:prstDash val="solid"/>
                    </a:lnB>
                    <a:solidFill>
                      <a:srgbClr val="FFC000"/>
                    </a:solidFill>
                  </a:tcPr>
                </a:tc>
                <a:tc gridSpan="2">
                  <a:txBody>
                    <a:bodyPr/>
                    <a:lstStyle/>
                    <a:p>
                      <a:pPr marR="3175">
                        <a:lnSpc>
                          <a:spcPct val="100000"/>
                        </a:lnSpc>
                      </a:pPr>
                      <a:endParaRPr sz="300">
                        <a:latin typeface="Times New Roman"/>
                        <a:cs typeface="Times New Roman"/>
                      </a:endParaRPr>
                    </a:p>
                  </a:txBody>
                  <a:tcPr marL="0" marR="0" marT="0" marB="0">
                    <a:lnL w="9525">
                      <a:solidFill>
                        <a:srgbClr val="000000"/>
                      </a:solidFill>
                      <a:prstDash val="solid"/>
                    </a:lnL>
                    <a:lnR w="6350">
                      <a:solidFill>
                        <a:srgbClr val="5B9BD4"/>
                      </a:solidFill>
                      <a:prstDash val="solid"/>
                    </a:lnR>
                    <a:lnT w="9525">
                      <a:solidFill>
                        <a:srgbClr val="000000"/>
                      </a:solidFill>
                      <a:prstDash val="solid"/>
                    </a:lnT>
                    <a:lnB w="9525">
                      <a:solidFill>
                        <a:srgbClr val="000000"/>
                      </a:solidFill>
                      <a:prstDash val="solid"/>
                    </a:lnB>
                    <a:solidFill>
                      <a:srgbClr val="FFC000"/>
                    </a:solidFill>
                  </a:tcPr>
                </a:tc>
                <a:tc hMerge="1">
                  <a:txBody>
                    <a:bodyPr/>
                    <a:lstStyle/>
                    <a:p>
                      <a:endParaRPr/>
                    </a:p>
                  </a:txBody>
                  <a:tcPr marL="0" marR="0" marT="0" marB="0"/>
                </a:tc>
                <a:tc>
                  <a:txBody>
                    <a:bodyPr/>
                    <a:lstStyle/>
                    <a:p>
                      <a:pPr>
                        <a:lnSpc>
                          <a:spcPct val="100000"/>
                        </a:lnSpc>
                      </a:pPr>
                      <a:endParaRPr sz="300">
                        <a:latin typeface="Times New Roman"/>
                        <a:cs typeface="Times New Roman"/>
                      </a:endParaRPr>
                    </a:p>
                  </a:txBody>
                  <a:tcPr marL="0" marR="0" marT="0" marB="0">
                    <a:lnL w="6350">
                      <a:solidFill>
                        <a:srgbClr val="5B9BD4"/>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000"/>
                    </a:solidFill>
                  </a:tcPr>
                </a:tc>
                <a:tc>
                  <a:txBody>
                    <a:bodyPr/>
                    <a:lstStyle/>
                    <a:p>
                      <a:pPr>
                        <a:lnSpc>
                          <a:spcPct val="100000"/>
                        </a:lnSpc>
                      </a:pPr>
                      <a:endParaRPr sz="300">
                        <a:latin typeface="Times New Roman"/>
                        <a:cs typeface="Times New Roman"/>
                      </a:endParaRPr>
                    </a:p>
                  </a:txBody>
                  <a:tcPr marL="0" marR="0" marT="0" marB="0">
                    <a:lnL w="9525">
                      <a:solidFill>
                        <a:srgbClr val="000000"/>
                      </a:solidFill>
                      <a:prstDash val="solid"/>
                    </a:lnL>
                    <a:lnR w="9525">
                      <a:solidFill>
                        <a:srgbClr val="000000"/>
                      </a:solidFill>
                      <a:prstDash val="solid"/>
                    </a:lnR>
                    <a:lnT w="9525">
                      <a:solidFill>
                        <a:srgbClr val="000000"/>
                      </a:solidFill>
                      <a:prstDash val="solid"/>
                    </a:lnT>
                    <a:solidFill>
                      <a:srgbClr val="FFC000"/>
                    </a:solidFill>
                  </a:tcPr>
                </a:tc>
                <a:extLst>
                  <a:ext uri="{0D108BD9-81ED-4DB2-BD59-A6C34878D82A}">
                    <a16:rowId xmlns:a16="http://schemas.microsoft.com/office/drawing/2014/main" val="10001"/>
                  </a:ext>
                </a:extLst>
              </a:tr>
              <a:tr h="301751">
                <a:tc>
                  <a:txBody>
                    <a:bodyPr/>
                    <a:lstStyle/>
                    <a:p>
                      <a:pPr>
                        <a:lnSpc>
                          <a:spcPct val="100000"/>
                        </a:lnSpc>
                      </a:pPr>
                      <a:endParaRPr sz="1800">
                        <a:latin typeface="Times New Roman"/>
                        <a:cs typeface="Times New Roman"/>
                      </a:endParaRPr>
                    </a:p>
                  </a:txBody>
                  <a:tcPr marL="0" marR="0" marT="0" marB="0">
                    <a:lnR w="9525">
                      <a:solidFill>
                        <a:srgbClr val="000000"/>
                      </a:solidFill>
                      <a:prstDash val="solid"/>
                    </a:lnR>
                    <a:lnT w="9525">
                      <a:solidFill>
                        <a:srgbClr val="000000"/>
                      </a:solidFill>
                      <a:prstDash val="solid"/>
                    </a:lnT>
                  </a:tcPr>
                </a:tc>
                <a:tc gridSpan="2">
                  <a:txBody>
                    <a:bodyPr/>
                    <a:lstStyle/>
                    <a:p>
                      <a:pPr marL="81915">
                        <a:lnSpc>
                          <a:spcPts val="2065"/>
                        </a:lnSpc>
                      </a:pPr>
                      <a:r>
                        <a:rPr sz="1800" dirty="0">
                          <a:latin typeface="Trebuchet MS"/>
                          <a:cs typeface="Trebuchet MS"/>
                        </a:rPr>
                        <a:t>K7</a:t>
                      </a:r>
                      <a:endParaRPr sz="1800">
                        <a:latin typeface="Trebuchet MS"/>
                        <a:cs typeface="Trebuchet MS"/>
                      </a:endParaRPr>
                    </a:p>
                  </a:txBody>
                  <a:tcPr marL="0" marR="0" marT="0" marB="0">
                    <a:lnL w="9525">
                      <a:solidFill>
                        <a:srgbClr val="000000"/>
                      </a:solidFill>
                      <a:prstDash val="solid"/>
                    </a:lnL>
                    <a:lnR w="6350">
                      <a:solidFill>
                        <a:srgbClr val="5B9BD4"/>
                      </a:solidFill>
                      <a:prstDash val="solid"/>
                    </a:lnR>
                    <a:lnT w="9525">
                      <a:solidFill>
                        <a:srgbClr val="000000"/>
                      </a:solidFill>
                      <a:prstDash val="solid"/>
                    </a:lnT>
                    <a:lnB w="9525">
                      <a:solidFill>
                        <a:srgbClr val="000000"/>
                      </a:solidFill>
                      <a:prstDash val="solid"/>
                    </a:lnB>
                    <a:solidFill>
                      <a:srgbClr val="FFC000"/>
                    </a:solidFill>
                  </a:tcPr>
                </a:tc>
                <a:tc hMerge="1">
                  <a:txBody>
                    <a:bodyPr/>
                    <a:lstStyle/>
                    <a:p>
                      <a:endParaRPr/>
                    </a:p>
                  </a:txBody>
                  <a:tcPr marL="0" marR="0" marT="0" marB="0"/>
                </a:tc>
                <a:tc gridSpan="2">
                  <a:txBody>
                    <a:bodyPr/>
                    <a:lstStyle/>
                    <a:p>
                      <a:pPr marL="71755">
                        <a:lnSpc>
                          <a:spcPts val="2065"/>
                        </a:lnSpc>
                      </a:pPr>
                      <a:r>
                        <a:rPr sz="1800" spc="65" dirty="0">
                          <a:latin typeface="Trebuchet MS"/>
                          <a:cs typeface="Trebuchet MS"/>
                        </a:rPr>
                        <a:t>V7</a:t>
                      </a:r>
                      <a:endParaRPr sz="1800">
                        <a:latin typeface="Trebuchet MS"/>
                        <a:cs typeface="Trebuchet MS"/>
                      </a:endParaRPr>
                    </a:p>
                  </a:txBody>
                  <a:tcPr marL="0" marR="0" marT="0" marB="0">
                    <a:lnL w="6350">
                      <a:solidFill>
                        <a:srgbClr val="5B9BD4"/>
                      </a:solidFill>
                      <a:prstDash val="solid"/>
                    </a:lnL>
                    <a:lnR w="9525">
                      <a:solidFill>
                        <a:srgbClr val="000000"/>
                      </a:solidFill>
                      <a:prstDash val="solid"/>
                    </a:lnR>
                    <a:lnT w="9525">
                      <a:solidFill>
                        <a:srgbClr val="000000"/>
                      </a:solidFill>
                      <a:prstDash val="solid"/>
                    </a:lnT>
                    <a:lnB w="9525">
                      <a:solidFill>
                        <a:srgbClr val="000000"/>
                      </a:solidFill>
                      <a:prstDash val="solid"/>
                    </a:lnB>
                    <a:solidFill>
                      <a:srgbClr val="FFC000"/>
                    </a:solidFill>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grpSp>
        <p:nvGrpSpPr>
          <p:cNvPr id="32" name="object 32"/>
          <p:cNvGrpSpPr/>
          <p:nvPr/>
        </p:nvGrpSpPr>
        <p:grpSpPr>
          <a:xfrm>
            <a:off x="4983595" y="4363022"/>
            <a:ext cx="771525" cy="389255"/>
            <a:chOff x="7756969" y="4975669"/>
            <a:chExt cx="771525" cy="389255"/>
          </a:xfrm>
        </p:grpSpPr>
        <p:sp>
          <p:nvSpPr>
            <p:cNvPr id="33" name="object 33"/>
            <p:cNvSpPr/>
            <p:nvPr/>
          </p:nvSpPr>
          <p:spPr>
            <a:xfrm>
              <a:off x="7761731" y="4980432"/>
              <a:ext cx="762000" cy="379730"/>
            </a:xfrm>
            <a:custGeom>
              <a:avLst/>
              <a:gdLst/>
              <a:ahLst/>
              <a:cxnLst/>
              <a:rect l="l" t="t" r="r" b="b"/>
              <a:pathLst>
                <a:path w="762000" h="379729">
                  <a:moveTo>
                    <a:pt x="762000" y="0"/>
                  </a:moveTo>
                  <a:lnTo>
                    <a:pt x="0" y="0"/>
                  </a:lnTo>
                  <a:lnTo>
                    <a:pt x="0" y="379476"/>
                  </a:lnTo>
                  <a:lnTo>
                    <a:pt x="762000" y="379476"/>
                  </a:lnTo>
                  <a:lnTo>
                    <a:pt x="762000" y="0"/>
                  </a:lnTo>
                  <a:close/>
                </a:path>
              </a:pathLst>
            </a:custGeom>
            <a:solidFill>
              <a:srgbClr val="FFC000"/>
            </a:solidFill>
          </p:spPr>
          <p:txBody>
            <a:bodyPr wrap="square" lIns="0" tIns="0" rIns="0" bIns="0" rtlCol="0"/>
            <a:lstStyle/>
            <a:p>
              <a:endParaRPr/>
            </a:p>
          </p:txBody>
        </p:sp>
        <p:sp>
          <p:nvSpPr>
            <p:cNvPr id="34" name="object 34"/>
            <p:cNvSpPr/>
            <p:nvPr/>
          </p:nvSpPr>
          <p:spPr>
            <a:xfrm>
              <a:off x="7761731" y="4980432"/>
              <a:ext cx="762000" cy="379730"/>
            </a:xfrm>
            <a:custGeom>
              <a:avLst/>
              <a:gdLst/>
              <a:ahLst/>
              <a:cxnLst/>
              <a:rect l="l" t="t" r="r" b="b"/>
              <a:pathLst>
                <a:path w="762000" h="379729">
                  <a:moveTo>
                    <a:pt x="0" y="379476"/>
                  </a:moveTo>
                  <a:lnTo>
                    <a:pt x="762000" y="379476"/>
                  </a:lnTo>
                  <a:lnTo>
                    <a:pt x="762000" y="0"/>
                  </a:lnTo>
                  <a:lnTo>
                    <a:pt x="0" y="0"/>
                  </a:lnTo>
                  <a:lnTo>
                    <a:pt x="0" y="379476"/>
                  </a:lnTo>
                  <a:close/>
                </a:path>
              </a:pathLst>
            </a:custGeom>
            <a:ln w="9144">
              <a:solidFill>
                <a:srgbClr val="000000"/>
              </a:solidFill>
            </a:ln>
          </p:spPr>
          <p:txBody>
            <a:bodyPr wrap="square" lIns="0" tIns="0" rIns="0" bIns="0" rtlCol="0"/>
            <a:lstStyle/>
            <a:p>
              <a:endParaRPr/>
            </a:p>
          </p:txBody>
        </p:sp>
        <p:sp>
          <p:nvSpPr>
            <p:cNvPr id="35" name="object 35"/>
            <p:cNvSpPr/>
            <p:nvPr/>
          </p:nvSpPr>
          <p:spPr>
            <a:xfrm>
              <a:off x="8110727" y="4980432"/>
              <a:ext cx="0" cy="379730"/>
            </a:xfrm>
            <a:custGeom>
              <a:avLst/>
              <a:gdLst/>
              <a:ahLst/>
              <a:cxnLst/>
              <a:rect l="l" t="t" r="r" b="b"/>
              <a:pathLst>
                <a:path h="379729">
                  <a:moveTo>
                    <a:pt x="0" y="0"/>
                  </a:moveTo>
                  <a:lnTo>
                    <a:pt x="0" y="379349"/>
                  </a:lnTo>
                </a:path>
              </a:pathLst>
            </a:custGeom>
            <a:ln w="6096">
              <a:solidFill>
                <a:srgbClr val="5B9BD4"/>
              </a:solidFill>
            </a:ln>
          </p:spPr>
          <p:txBody>
            <a:bodyPr wrap="square" lIns="0" tIns="0" rIns="0" bIns="0" rtlCol="0"/>
            <a:lstStyle/>
            <a:p>
              <a:endParaRPr/>
            </a:p>
          </p:txBody>
        </p:sp>
      </p:grpSp>
      <p:sp>
        <p:nvSpPr>
          <p:cNvPr id="36" name="object 36"/>
          <p:cNvSpPr txBox="1"/>
          <p:nvPr/>
        </p:nvSpPr>
        <p:spPr>
          <a:xfrm>
            <a:off x="4992930" y="4433317"/>
            <a:ext cx="354330" cy="309880"/>
          </a:xfrm>
          <a:prstGeom prst="rect">
            <a:avLst/>
          </a:prstGeom>
          <a:solidFill>
            <a:srgbClr val="FFC000"/>
          </a:solidFill>
        </p:spPr>
        <p:txBody>
          <a:bodyPr vert="horz" wrap="square" lIns="0" tIns="0" rIns="0" bIns="0" rtlCol="0">
            <a:spAutoFit/>
          </a:bodyPr>
          <a:lstStyle/>
          <a:p>
            <a:pPr marL="77470">
              <a:lnSpc>
                <a:spcPct val="100000"/>
              </a:lnSpc>
            </a:pPr>
            <a:r>
              <a:rPr sz="1800" spc="65" dirty="0">
                <a:latin typeface="Trebuchet MS"/>
                <a:cs typeface="Trebuchet MS"/>
              </a:rPr>
              <a:t>K8</a:t>
            </a:r>
            <a:endParaRPr sz="1800">
              <a:latin typeface="Trebuchet MS"/>
              <a:cs typeface="Trebuchet MS"/>
            </a:endParaRPr>
          </a:p>
        </p:txBody>
      </p:sp>
      <p:sp>
        <p:nvSpPr>
          <p:cNvPr id="37" name="object 37"/>
          <p:cNvSpPr txBox="1"/>
          <p:nvPr/>
        </p:nvSpPr>
        <p:spPr>
          <a:xfrm>
            <a:off x="5340402" y="4433317"/>
            <a:ext cx="405765" cy="309880"/>
          </a:xfrm>
          <a:prstGeom prst="rect">
            <a:avLst/>
          </a:prstGeom>
          <a:solidFill>
            <a:srgbClr val="FFC000"/>
          </a:solidFill>
        </p:spPr>
        <p:txBody>
          <a:bodyPr vert="horz" wrap="square" lIns="0" tIns="0" rIns="0" bIns="0" rtlCol="0">
            <a:spAutoFit/>
          </a:bodyPr>
          <a:lstStyle/>
          <a:p>
            <a:pPr marL="67945">
              <a:lnSpc>
                <a:spcPct val="100000"/>
              </a:lnSpc>
            </a:pPr>
            <a:r>
              <a:rPr sz="1800" spc="65" dirty="0">
                <a:latin typeface="Trebuchet MS"/>
                <a:cs typeface="Trebuchet MS"/>
              </a:rPr>
              <a:t>V8</a:t>
            </a:r>
            <a:endParaRPr sz="1800">
              <a:latin typeface="Trebuchet MS"/>
              <a:cs typeface="Trebuchet MS"/>
            </a:endParaRPr>
          </a:p>
        </p:txBody>
      </p:sp>
      <p:sp>
        <p:nvSpPr>
          <p:cNvPr id="38" name="object 38"/>
          <p:cNvSpPr/>
          <p:nvPr/>
        </p:nvSpPr>
        <p:spPr>
          <a:xfrm>
            <a:off x="751637" y="3124200"/>
            <a:ext cx="5374419" cy="1949450"/>
          </a:xfrm>
          <a:custGeom>
            <a:avLst/>
            <a:gdLst/>
            <a:ahLst/>
            <a:cxnLst/>
            <a:rect l="l" t="t" r="r" b="b"/>
            <a:pathLst>
              <a:path w="5878195" h="1949450">
                <a:moveTo>
                  <a:pt x="0" y="1949195"/>
                </a:moveTo>
                <a:lnTo>
                  <a:pt x="5878068" y="1949195"/>
                </a:lnTo>
                <a:lnTo>
                  <a:pt x="5878068" y="0"/>
                </a:lnTo>
                <a:lnTo>
                  <a:pt x="0" y="0"/>
                </a:lnTo>
                <a:lnTo>
                  <a:pt x="0" y="1949195"/>
                </a:lnTo>
                <a:close/>
              </a:path>
            </a:pathLst>
          </a:custGeom>
          <a:ln w="9143">
            <a:solidFill>
              <a:srgbClr val="D9D9D9"/>
            </a:solidFill>
          </a:ln>
        </p:spPr>
        <p:txBody>
          <a:bodyPr wrap="square" lIns="0" tIns="0" rIns="0" bIns="0" rtlCol="0"/>
          <a:lstStyle/>
          <a:p>
            <a:endParaRPr/>
          </a:p>
        </p:txBody>
      </p:sp>
      <p:sp>
        <p:nvSpPr>
          <p:cNvPr id="39" name="object 39"/>
          <p:cNvSpPr txBox="1">
            <a:spLocks noGrp="1"/>
          </p:cNvSpPr>
          <p:nvPr>
            <p:ph type="sldNum" sz="quarter" idx="7"/>
          </p:nvPr>
        </p:nvSpPr>
        <p:spPr>
          <a:xfrm>
            <a:off x="533400" y="6286044"/>
            <a:ext cx="1649730" cy="170815"/>
          </a:xfrm>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14	</a:t>
            </a:r>
            <a:r>
              <a:rPr spc="30" dirty="0"/>
              <a:t>Huawei</a:t>
            </a:r>
            <a:r>
              <a:rPr spc="-10" dirty="0"/>
              <a:t> </a:t>
            </a:r>
            <a:r>
              <a:rPr spc="5" dirty="0"/>
              <a:t>Confidential</a:t>
            </a:r>
          </a:p>
        </p:txBody>
      </p:sp>
      <p:sp>
        <p:nvSpPr>
          <p:cNvPr id="40" name="object 2">
            <a:extLst>
              <a:ext uri="{FF2B5EF4-FFF2-40B4-BE49-F238E27FC236}">
                <a16:creationId xmlns:a16="http://schemas.microsoft.com/office/drawing/2014/main" id="{B97F56E0-EF5B-43B4-9E8A-F016625A5FC2}"/>
              </a:ext>
            </a:extLst>
          </p:cNvPr>
          <p:cNvSpPr txBox="1"/>
          <p:nvPr/>
        </p:nvSpPr>
        <p:spPr>
          <a:xfrm>
            <a:off x="6190920" y="2567511"/>
            <a:ext cx="5674581" cy="4041491"/>
          </a:xfrm>
          <a:prstGeom prst="rect">
            <a:avLst/>
          </a:prstGeom>
        </p:spPr>
        <p:txBody>
          <a:bodyPr vert="horz" wrap="square" lIns="0" tIns="9525" rIns="0" bIns="0" rtlCol="0">
            <a:spAutoFit/>
          </a:bodyPr>
          <a:lstStyle/>
          <a:p>
            <a:pPr marL="352425" marR="66675" indent="-342900" algn="just">
              <a:spcBef>
                <a:spcPts val="4"/>
              </a:spcBef>
              <a:buFont typeface="Wingdings" panose="05000000000000000000" pitchFamily="2" charset="2"/>
              <a:buChar char="§"/>
              <a:tabLst>
                <a:tab pos="138113" algn="l"/>
              </a:tabLst>
            </a:pPr>
            <a:r>
              <a:rPr lang="en-GB" sz="2400" u="sng" spc="23" dirty="0">
                <a:latin typeface="UKIJ CJK"/>
                <a:cs typeface="UKIJ CJK"/>
              </a:rPr>
              <a:t>data </a:t>
            </a:r>
            <a:r>
              <a:rPr lang="en-GB" sz="2400" u="sng" spc="19" dirty="0">
                <a:latin typeface="UKIJ CJK"/>
                <a:cs typeface="UKIJ CJK"/>
              </a:rPr>
              <a:t>stored </a:t>
            </a:r>
            <a:r>
              <a:rPr lang="en-GB" sz="2400" u="sng" spc="34" dirty="0">
                <a:latin typeface="UKIJ CJK"/>
                <a:cs typeface="UKIJ CJK"/>
              </a:rPr>
              <a:t>by </a:t>
            </a:r>
            <a:r>
              <a:rPr lang="en-GB" sz="2400" u="sng" spc="23" dirty="0">
                <a:latin typeface="UKIJ CJK"/>
                <a:cs typeface="UKIJ CJK"/>
              </a:rPr>
              <a:t>column </a:t>
            </a:r>
            <a:r>
              <a:rPr lang="en-GB" sz="2400" spc="19" dirty="0" smtClean="0">
                <a:latin typeface="UKIJ CJK"/>
                <a:cs typeface="UKIJ CJK"/>
              </a:rPr>
              <a:t>can </a:t>
            </a:r>
            <a:r>
              <a:rPr lang="en-GB" sz="2400" spc="23" dirty="0">
                <a:latin typeface="UKIJ CJK"/>
                <a:cs typeface="UKIJ CJK"/>
              </a:rPr>
              <a:t>solve </a:t>
            </a:r>
            <a:r>
              <a:rPr lang="en-GB" sz="2400" spc="15" dirty="0">
                <a:latin typeface="UKIJ CJK"/>
                <a:cs typeface="UKIJ CJK"/>
              </a:rPr>
              <a:t>this problem. </a:t>
            </a:r>
            <a:r>
              <a:rPr lang="en-GB" sz="2400" u="sng" spc="-11" dirty="0">
                <a:latin typeface="UKIJ CJK"/>
                <a:cs typeface="UKIJ CJK"/>
              </a:rPr>
              <a:t>If </a:t>
            </a:r>
            <a:r>
              <a:rPr lang="en-GB" sz="2400" u="sng" spc="26" dirty="0">
                <a:latin typeface="UKIJ CJK"/>
                <a:cs typeface="UKIJ CJK"/>
              </a:rPr>
              <a:t>we </a:t>
            </a:r>
            <a:r>
              <a:rPr lang="en-GB" sz="2400" u="sng" spc="23" dirty="0">
                <a:latin typeface="UKIJ CJK"/>
                <a:cs typeface="UKIJ CJK"/>
              </a:rPr>
              <a:t>want </a:t>
            </a:r>
            <a:r>
              <a:rPr lang="en-GB" sz="2400" u="sng" spc="34" dirty="0">
                <a:latin typeface="UKIJ CJK"/>
                <a:cs typeface="UKIJ CJK"/>
              </a:rPr>
              <a:t>to </a:t>
            </a:r>
            <a:r>
              <a:rPr lang="en-GB" sz="2400" u="sng" spc="19" dirty="0">
                <a:latin typeface="UKIJ CJK"/>
                <a:cs typeface="UKIJ CJK"/>
              </a:rPr>
              <a:t>find </a:t>
            </a:r>
            <a:r>
              <a:rPr lang="en-GB" sz="2400" u="sng" spc="19" dirty="0" smtClean="0">
                <a:latin typeface="UKIJ CJK"/>
                <a:cs typeface="UKIJ CJK"/>
              </a:rPr>
              <a:t>value ‘</a:t>
            </a:r>
            <a:r>
              <a:rPr lang="en-GB" sz="2400" u="sng" spc="49" dirty="0" smtClean="0">
                <a:latin typeface="UKIJ CJK"/>
                <a:cs typeface="UKIJ CJK"/>
              </a:rPr>
              <a:t>OO’. </a:t>
            </a:r>
            <a:r>
              <a:rPr lang="en-GB" sz="2400" u="sng" spc="23" dirty="0">
                <a:latin typeface="UKIJ CJK"/>
                <a:cs typeface="UKIJ CJK"/>
              </a:rPr>
              <a:t>So, </a:t>
            </a:r>
            <a:r>
              <a:rPr lang="en-GB" sz="2400" u="sng" spc="26" dirty="0">
                <a:latin typeface="UKIJ CJK"/>
                <a:cs typeface="UKIJ CJK"/>
              </a:rPr>
              <a:t>we </a:t>
            </a:r>
            <a:r>
              <a:rPr lang="en-GB" sz="2400" u="sng" spc="23" dirty="0">
                <a:latin typeface="UKIJ CJK"/>
                <a:cs typeface="UKIJ CJK"/>
              </a:rPr>
              <a:t>only </a:t>
            </a:r>
            <a:r>
              <a:rPr lang="en-GB" sz="2400" u="sng" spc="26" dirty="0">
                <a:latin typeface="UKIJ CJK"/>
                <a:cs typeface="UKIJ CJK"/>
              </a:rPr>
              <a:t>need </a:t>
            </a:r>
            <a:r>
              <a:rPr lang="en-GB" sz="2400" u="sng" spc="19" dirty="0">
                <a:latin typeface="UKIJ CJK"/>
                <a:cs typeface="UKIJ CJK"/>
              </a:rPr>
              <a:t>find ‘</a:t>
            </a:r>
            <a:r>
              <a:rPr lang="en-GB" sz="2400" u="sng" spc="49" dirty="0" smtClean="0">
                <a:latin typeface="UKIJ CJK"/>
                <a:cs typeface="UKIJ CJK"/>
              </a:rPr>
              <a:t>OO’</a:t>
            </a:r>
            <a:r>
              <a:rPr lang="en-GB" sz="2400" spc="53" dirty="0">
                <a:latin typeface="UKIJ CJK"/>
                <a:cs typeface="UKIJ CJK"/>
              </a:rPr>
              <a:t> </a:t>
            </a:r>
            <a:r>
              <a:rPr lang="en-GB" sz="2400" u="sng" spc="34" dirty="0" smtClean="0">
                <a:latin typeface="UKIJ CJK"/>
                <a:cs typeface="UKIJ CJK"/>
              </a:rPr>
              <a:t>by </a:t>
            </a:r>
            <a:r>
              <a:rPr lang="en-GB" sz="2400" u="sng" spc="26" dirty="0">
                <a:latin typeface="UKIJ CJK"/>
                <a:cs typeface="UKIJ CJK"/>
              </a:rPr>
              <a:t>reading </a:t>
            </a:r>
            <a:r>
              <a:rPr lang="en-GB" sz="2400" u="sng" spc="15" dirty="0">
                <a:latin typeface="UKIJ CJK"/>
                <a:cs typeface="UKIJ CJK"/>
              </a:rPr>
              <a:t>this column, </a:t>
            </a:r>
            <a:r>
              <a:rPr lang="en-GB" sz="2400" u="sng" spc="26" dirty="0">
                <a:latin typeface="UKIJ CJK"/>
                <a:cs typeface="UKIJ CJK"/>
              </a:rPr>
              <a:t>we </a:t>
            </a:r>
            <a:r>
              <a:rPr lang="en-GB" sz="2400" u="sng" spc="15" dirty="0">
                <a:latin typeface="UKIJ CJK"/>
                <a:cs typeface="UKIJ CJK"/>
              </a:rPr>
              <a:t>can </a:t>
            </a:r>
            <a:r>
              <a:rPr lang="en-GB" sz="2400" u="sng" spc="15" dirty="0" smtClean="0">
                <a:latin typeface="UKIJ CJK"/>
                <a:cs typeface="UKIJ CJK"/>
              </a:rPr>
              <a:t>to </a:t>
            </a:r>
            <a:r>
              <a:rPr lang="en-GB" sz="2400" u="sng" spc="19" dirty="0">
                <a:latin typeface="UKIJ CJK"/>
                <a:cs typeface="UKIJ CJK"/>
              </a:rPr>
              <a:t>find </a:t>
            </a:r>
            <a:r>
              <a:rPr lang="en-GB" sz="2400" u="sng" spc="23" dirty="0">
                <a:latin typeface="UKIJ CJK"/>
                <a:cs typeface="UKIJ CJK"/>
              </a:rPr>
              <a:t>the </a:t>
            </a:r>
            <a:r>
              <a:rPr lang="en-GB" sz="2400" u="sng" spc="15" dirty="0">
                <a:latin typeface="UKIJ CJK"/>
                <a:cs typeface="UKIJ CJK"/>
              </a:rPr>
              <a:t>data</a:t>
            </a:r>
            <a:r>
              <a:rPr lang="en-GB" sz="2400" spc="15" dirty="0">
                <a:latin typeface="UKIJ CJK"/>
                <a:cs typeface="UKIJ CJK"/>
              </a:rPr>
              <a:t>. </a:t>
            </a:r>
            <a:r>
              <a:rPr lang="en-GB" sz="2400" spc="15" dirty="0" smtClean="0">
                <a:latin typeface="UKIJ CJK"/>
                <a:cs typeface="UKIJ CJK"/>
              </a:rPr>
              <a:t>Thus</a:t>
            </a:r>
            <a:r>
              <a:rPr lang="en-GB" sz="2400" spc="15" dirty="0">
                <a:latin typeface="UKIJ CJK"/>
                <a:cs typeface="UKIJ CJK"/>
              </a:rPr>
              <a:t>, </a:t>
            </a:r>
            <a:r>
              <a:rPr lang="en-GB" sz="2400" u="sng" spc="23" dirty="0">
                <a:latin typeface="UKIJ CJK"/>
                <a:cs typeface="UKIJ CJK"/>
              </a:rPr>
              <a:t>data </a:t>
            </a:r>
            <a:r>
              <a:rPr lang="en-GB" sz="2400" u="sng" spc="19" dirty="0">
                <a:latin typeface="UKIJ CJK"/>
                <a:cs typeface="UKIJ CJK"/>
              </a:rPr>
              <a:t>stored </a:t>
            </a:r>
            <a:r>
              <a:rPr lang="en-GB" sz="2400" u="sng" spc="34" dirty="0">
                <a:latin typeface="UKIJ CJK"/>
                <a:cs typeface="UKIJ CJK"/>
              </a:rPr>
              <a:t>by </a:t>
            </a:r>
            <a:r>
              <a:rPr lang="en-GB" sz="2400" u="sng" spc="23" dirty="0">
                <a:latin typeface="UKIJ CJK"/>
                <a:cs typeface="UKIJ CJK"/>
              </a:rPr>
              <a:t>column is </a:t>
            </a:r>
            <a:r>
              <a:rPr lang="en-GB" sz="2400" u="sng" spc="11" dirty="0">
                <a:latin typeface="UKIJ CJK"/>
                <a:cs typeface="UKIJ CJK"/>
              </a:rPr>
              <a:t>preferred  </a:t>
            </a:r>
            <a:r>
              <a:rPr lang="en-GB" sz="2400" u="sng" spc="11" dirty="0" smtClean="0">
                <a:latin typeface="UKIJ CJK"/>
                <a:cs typeface="UKIJ CJK"/>
              </a:rPr>
              <a:t>rather </a:t>
            </a:r>
            <a:r>
              <a:rPr lang="en-GB" sz="2400" u="sng" spc="19" dirty="0" smtClean="0">
                <a:latin typeface="UKIJ CJK"/>
                <a:cs typeface="UKIJ CJK"/>
              </a:rPr>
              <a:t>than </a:t>
            </a:r>
            <a:r>
              <a:rPr lang="en-GB" sz="2400" u="sng" spc="23" dirty="0">
                <a:latin typeface="UKIJ CJK"/>
                <a:cs typeface="UKIJ CJK"/>
              </a:rPr>
              <a:t>data </a:t>
            </a:r>
            <a:r>
              <a:rPr lang="en-GB" sz="2400" u="sng" spc="19" dirty="0">
                <a:latin typeface="UKIJ CJK"/>
                <a:cs typeface="UKIJ CJK"/>
              </a:rPr>
              <a:t>stored </a:t>
            </a:r>
            <a:r>
              <a:rPr lang="en-GB" sz="2400" u="sng" spc="34" dirty="0">
                <a:latin typeface="UKIJ CJK"/>
                <a:cs typeface="UKIJ CJK"/>
              </a:rPr>
              <a:t>by </a:t>
            </a:r>
            <a:r>
              <a:rPr lang="en-GB" sz="2400" u="sng" spc="8" dirty="0">
                <a:latin typeface="UKIJ CJK"/>
                <a:cs typeface="UKIJ CJK"/>
              </a:rPr>
              <a:t>row. </a:t>
            </a:r>
          </a:p>
          <a:p>
            <a:pPr marL="352425" marR="66675" indent="-342900" algn="just">
              <a:spcBef>
                <a:spcPts val="4"/>
              </a:spcBef>
              <a:buFont typeface="Wingdings" panose="05000000000000000000" pitchFamily="2" charset="2"/>
              <a:buChar char="§"/>
              <a:tabLst>
                <a:tab pos="138113" algn="l"/>
              </a:tabLst>
            </a:pPr>
            <a:r>
              <a:rPr lang="en-GB" sz="2400" spc="26" dirty="0">
                <a:latin typeface="UKIJ CJK"/>
                <a:cs typeface="UKIJ CJK"/>
              </a:rPr>
              <a:t>Hbase </a:t>
            </a:r>
            <a:r>
              <a:rPr lang="en-GB" sz="2400" spc="4" dirty="0">
                <a:latin typeface="UKIJ CJK"/>
                <a:cs typeface="UKIJ CJK"/>
              </a:rPr>
              <a:t>is </a:t>
            </a:r>
            <a:r>
              <a:rPr lang="en-GB" sz="2400" spc="15" dirty="0">
                <a:latin typeface="UKIJ CJK"/>
                <a:cs typeface="UKIJ CJK"/>
              </a:rPr>
              <a:t>a </a:t>
            </a:r>
            <a:r>
              <a:rPr lang="en-GB" sz="2400" spc="23" dirty="0">
                <a:latin typeface="UKIJ CJK"/>
                <a:cs typeface="UKIJ CJK"/>
              </a:rPr>
              <a:t>column-oriented</a:t>
            </a:r>
            <a:r>
              <a:rPr lang="en-GB" sz="2400" spc="83" dirty="0">
                <a:latin typeface="UKIJ CJK"/>
                <a:cs typeface="UKIJ CJK"/>
              </a:rPr>
              <a:t> </a:t>
            </a:r>
            <a:r>
              <a:rPr lang="en-GB" sz="2400" spc="15" dirty="0">
                <a:latin typeface="UKIJ CJK"/>
                <a:cs typeface="UKIJ CJK"/>
              </a:rPr>
              <a:t>database.</a:t>
            </a:r>
            <a:endParaRPr lang="en-GB" sz="2400" dirty="0">
              <a:latin typeface="UKIJ CJK"/>
              <a:cs typeface="UKIJ CJK"/>
            </a:endParaRPr>
          </a:p>
          <a:p>
            <a:pPr marL="352425" marR="27623" indent="-342900" algn="just">
              <a:buFont typeface="Wingdings" panose="05000000000000000000" pitchFamily="2" charset="2"/>
              <a:buChar char="§"/>
              <a:tabLst>
                <a:tab pos="138113" algn="l"/>
              </a:tabLst>
            </a:pPr>
            <a:r>
              <a:rPr lang="en-GB" sz="2400" spc="19" dirty="0">
                <a:latin typeface="UKIJ CJK"/>
                <a:cs typeface="UKIJ CJK"/>
              </a:rPr>
              <a:t>This </a:t>
            </a:r>
            <a:r>
              <a:rPr lang="en-GB" sz="2400" spc="26" dirty="0">
                <a:latin typeface="UKIJ CJK"/>
                <a:cs typeface="UKIJ CJK"/>
              </a:rPr>
              <a:t>way </a:t>
            </a:r>
            <a:r>
              <a:rPr lang="en-GB" sz="2400" spc="19" dirty="0">
                <a:latin typeface="UKIJ CJK"/>
                <a:cs typeface="UKIJ CJK"/>
              </a:rPr>
              <a:t>can </a:t>
            </a:r>
            <a:r>
              <a:rPr lang="en-GB" sz="2400" spc="30" dirty="0">
                <a:latin typeface="UKIJ CJK"/>
                <a:cs typeface="UKIJ CJK"/>
              </a:rPr>
              <a:t>be </a:t>
            </a:r>
            <a:r>
              <a:rPr lang="en-GB" sz="2400" spc="19" dirty="0">
                <a:latin typeface="UKIJ CJK"/>
                <a:cs typeface="UKIJ CJK"/>
              </a:rPr>
              <a:t>used  </a:t>
            </a:r>
            <a:r>
              <a:rPr lang="en-GB" sz="2400" spc="34" dirty="0">
                <a:latin typeface="UKIJ CJK"/>
                <a:cs typeface="UKIJ CJK"/>
              </a:rPr>
              <a:t>to </a:t>
            </a:r>
            <a:r>
              <a:rPr lang="en-GB" sz="2400" spc="15" dirty="0">
                <a:latin typeface="UKIJ CJK"/>
                <a:cs typeface="UKIJ CJK"/>
              </a:rPr>
              <a:t>store massive</a:t>
            </a:r>
            <a:r>
              <a:rPr lang="en-GB" sz="2400" spc="26" dirty="0">
                <a:latin typeface="UKIJ CJK"/>
                <a:cs typeface="UKIJ CJK"/>
              </a:rPr>
              <a:t> </a:t>
            </a:r>
            <a:r>
              <a:rPr lang="en-GB" sz="2400" spc="15" dirty="0">
                <a:latin typeface="UKIJ CJK"/>
                <a:cs typeface="UKIJ CJK"/>
              </a:rPr>
              <a:t>data.</a:t>
            </a:r>
            <a:endParaRPr lang="en-GB" sz="2400" dirty="0">
              <a:latin typeface="UKIJ CJK"/>
              <a:cs typeface="UKIJ CJK"/>
            </a:endParaRPr>
          </a:p>
          <a:p>
            <a:pPr marL="138113" indent="-128588" algn="just">
              <a:buFont typeface="Wingdings"/>
              <a:buChar char=""/>
              <a:tabLst>
                <a:tab pos="138113" algn="l"/>
              </a:tabLst>
            </a:pPr>
            <a:endParaRPr sz="2200" dirty="0">
              <a:latin typeface="UKIJ CJK"/>
              <a:cs typeface="UKIJ CJK"/>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46063" y="236646"/>
            <a:ext cx="11542287" cy="6199780"/>
            <a:chOff x="376427" y="679704"/>
            <a:chExt cx="6106160" cy="3442335"/>
          </a:xfrm>
        </p:grpSpPr>
        <p:sp>
          <p:nvSpPr>
            <p:cNvPr id="4" name="object 4"/>
            <p:cNvSpPr/>
            <p:nvPr/>
          </p:nvSpPr>
          <p:spPr>
            <a:xfrm>
              <a:off x="611619" y="841836"/>
              <a:ext cx="5731583" cy="3209251"/>
            </a:xfrm>
            <a:prstGeom prst="rect">
              <a:avLst/>
            </a:prstGeom>
            <a:blipFill>
              <a:blip r:embed="rId2" cstate="print"/>
              <a:stretch>
                <a:fillRect/>
              </a:stretch>
            </a:blipFill>
          </p:spPr>
          <p:txBody>
            <a:bodyPr wrap="square" lIns="0" tIns="0" rIns="0" bIns="0" rtlCol="0"/>
            <a:lstStyle/>
            <a:p>
              <a:endParaRPr sz="1350"/>
            </a:p>
          </p:txBody>
        </p:sp>
        <p:sp>
          <p:nvSpPr>
            <p:cNvPr id="5" name="object 5"/>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Tree>
    <p:extLst>
      <p:ext uri="{BB962C8B-B14F-4D97-AF65-F5344CB8AC3E}">
        <p14:creationId xmlns:p14="http://schemas.microsoft.com/office/powerpoint/2010/main" val="41928091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2016125" cy="0"/>
          </a:xfrm>
          <a:custGeom>
            <a:avLst/>
            <a:gdLst/>
            <a:ahLst/>
            <a:cxnLst/>
            <a:rect l="l" t="t" r="r" b="b"/>
            <a:pathLst>
              <a:path w="2016125">
                <a:moveTo>
                  <a:pt x="2015997"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2072639" cy="635000"/>
          </a:xfrm>
          <a:prstGeom prst="rect">
            <a:avLst/>
          </a:prstGeom>
        </p:spPr>
        <p:txBody>
          <a:bodyPr vert="horz" wrap="square" lIns="0" tIns="12065" rIns="0" bIns="0" rtlCol="0">
            <a:spAutoFit/>
          </a:bodyPr>
          <a:lstStyle/>
          <a:p>
            <a:pPr marL="12700">
              <a:lnSpc>
                <a:spcPct val="100000"/>
              </a:lnSpc>
              <a:spcBef>
                <a:spcPts val="95"/>
              </a:spcBef>
            </a:pPr>
            <a:r>
              <a:rPr sz="4000" spc="40" dirty="0">
                <a:solidFill>
                  <a:srgbClr val="404040"/>
                </a:solidFill>
              </a:rPr>
              <a:t>Conte</a:t>
            </a:r>
            <a:r>
              <a:rPr sz="4000" spc="55" dirty="0">
                <a:solidFill>
                  <a:srgbClr val="404040"/>
                </a:solidFill>
              </a:rPr>
              <a:t>n</a:t>
            </a:r>
            <a:r>
              <a:rPr sz="4000" spc="-40" dirty="0">
                <a:solidFill>
                  <a:srgbClr val="404040"/>
                </a:solidFill>
              </a:rPr>
              <a:t>ts</a:t>
            </a:r>
            <a:endParaRPr sz="4000"/>
          </a:p>
        </p:txBody>
      </p:sp>
      <p:sp>
        <p:nvSpPr>
          <p:cNvPr id="7" name="object 7"/>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15	</a:t>
            </a:r>
            <a:r>
              <a:rPr spc="30" dirty="0"/>
              <a:t>Huawei</a:t>
            </a:r>
            <a:r>
              <a:rPr spc="-10" dirty="0"/>
              <a:t> </a:t>
            </a:r>
            <a:r>
              <a:rPr spc="5" dirty="0"/>
              <a:t>Confidential</a:t>
            </a:r>
          </a:p>
        </p:txBody>
      </p:sp>
      <p:sp>
        <p:nvSpPr>
          <p:cNvPr id="6" name="object 6"/>
          <p:cNvSpPr txBox="1"/>
          <p:nvPr/>
        </p:nvSpPr>
        <p:spPr>
          <a:xfrm>
            <a:off x="1097991" y="2009393"/>
            <a:ext cx="4744720" cy="3779520"/>
          </a:xfrm>
          <a:prstGeom prst="rect">
            <a:avLst/>
          </a:prstGeom>
        </p:spPr>
        <p:txBody>
          <a:bodyPr vert="horz" wrap="square" lIns="0" tIns="12065" rIns="0" bIns="0" rtlCol="0">
            <a:spAutoFit/>
          </a:bodyPr>
          <a:lstStyle/>
          <a:p>
            <a:pPr marL="469900" indent="-457834">
              <a:lnSpc>
                <a:spcPct val="100000"/>
              </a:lnSpc>
              <a:spcBef>
                <a:spcPts val="95"/>
              </a:spcBef>
              <a:buAutoNum type="arabicPeriod"/>
              <a:tabLst>
                <a:tab pos="469265" algn="l"/>
                <a:tab pos="470534" algn="l"/>
              </a:tabLst>
            </a:pPr>
            <a:r>
              <a:rPr sz="2200" spc="10" dirty="0">
                <a:solidFill>
                  <a:srgbClr val="7E7E7E"/>
                </a:solidFill>
                <a:latin typeface="Trebuchet MS"/>
                <a:cs typeface="Trebuchet MS"/>
              </a:rPr>
              <a:t>Introduction </a:t>
            </a:r>
            <a:r>
              <a:rPr sz="2200" dirty="0">
                <a:solidFill>
                  <a:srgbClr val="7E7E7E"/>
                </a:solidFill>
                <a:latin typeface="Trebuchet MS"/>
                <a:cs typeface="Trebuchet MS"/>
              </a:rPr>
              <a:t>to</a:t>
            </a:r>
            <a:r>
              <a:rPr sz="2200" spc="40" dirty="0">
                <a:solidFill>
                  <a:srgbClr val="7E7E7E"/>
                </a:solidFill>
                <a:latin typeface="Trebuchet MS"/>
                <a:cs typeface="Trebuchet MS"/>
              </a:rPr>
              <a:t> </a:t>
            </a:r>
            <a:r>
              <a:rPr sz="2200" spc="60" dirty="0">
                <a:solidFill>
                  <a:srgbClr val="7E7E7E"/>
                </a:solidFill>
                <a:latin typeface="Trebuchet MS"/>
                <a:cs typeface="Trebuchet MS"/>
              </a:rPr>
              <a:t>HBase</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spc="65" dirty="0">
                <a:solidFill>
                  <a:srgbClr val="7E7E7E"/>
                </a:solidFill>
                <a:latin typeface="Trebuchet MS"/>
                <a:cs typeface="Trebuchet MS"/>
              </a:rPr>
              <a:t>HBase </a:t>
            </a:r>
            <a:r>
              <a:rPr sz="2200" spc="-10" dirty="0">
                <a:solidFill>
                  <a:srgbClr val="7E7E7E"/>
                </a:solidFill>
                <a:latin typeface="Trebuchet MS"/>
                <a:cs typeface="Trebuchet MS"/>
              </a:rPr>
              <a:t>Related</a:t>
            </a:r>
            <a:r>
              <a:rPr sz="2200" spc="-5" dirty="0">
                <a:solidFill>
                  <a:srgbClr val="7E7E7E"/>
                </a:solidFill>
                <a:latin typeface="Trebuchet MS"/>
                <a:cs typeface="Trebuchet MS"/>
              </a:rPr>
              <a:t> </a:t>
            </a:r>
            <a:r>
              <a:rPr sz="2200" dirty="0">
                <a:solidFill>
                  <a:srgbClr val="7E7E7E"/>
                </a:solidFill>
                <a:latin typeface="Trebuchet MS"/>
                <a:cs typeface="Trebuchet MS"/>
              </a:rPr>
              <a:t>Concepts</a:t>
            </a:r>
            <a:endParaRPr sz="2200">
              <a:latin typeface="Trebuchet MS"/>
              <a:cs typeface="Trebuchet MS"/>
            </a:endParaRPr>
          </a:p>
          <a:p>
            <a:pPr marL="469900" indent="-457834">
              <a:lnSpc>
                <a:spcPct val="100000"/>
              </a:lnSpc>
              <a:spcBef>
                <a:spcPts val="1845"/>
              </a:spcBef>
              <a:buAutoNum type="arabicPeriod"/>
              <a:tabLst>
                <a:tab pos="469265" algn="l"/>
                <a:tab pos="470534" algn="l"/>
              </a:tabLst>
            </a:pPr>
            <a:r>
              <a:rPr sz="2200" b="1" spc="-65" dirty="0">
                <a:latin typeface="Arial"/>
                <a:cs typeface="Arial"/>
              </a:rPr>
              <a:t>HBase</a:t>
            </a:r>
            <a:r>
              <a:rPr sz="2200" b="1" spc="85" dirty="0">
                <a:latin typeface="Arial"/>
                <a:cs typeface="Arial"/>
              </a:rPr>
              <a:t> </a:t>
            </a:r>
            <a:r>
              <a:rPr sz="2200" b="1" spc="5" dirty="0">
                <a:latin typeface="Arial"/>
                <a:cs typeface="Arial"/>
              </a:rPr>
              <a:t>Architecture</a:t>
            </a:r>
            <a:endParaRPr sz="2200">
              <a:latin typeface="Arial"/>
              <a:cs typeface="Arial"/>
            </a:endParaRPr>
          </a:p>
          <a:p>
            <a:pPr marL="469900" indent="-457834">
              <a:lnSpc>
                <a:spcPct val="100000"/>
              </a:lnSpc>
              <a:spcBef>
                <a:spcPts val="1839"/>
              </a:spcBef>
              <a:buAutoNum type="arabicPeriod"/>
              <a:tabLst>
                <a:tab pos="469265" algn="l"/>
                <a:tab pos="470534" algn="l"/>
              </a:tabLst>
            </a:pPr>
            <a:r>
              <a:rPr sz="2200" spc="65" dirty="0">
                <a:solidFill>
                  <a:srgbClr val="7E7E7E"/>
                </a:solidFill>
                <a:latin typeface="Trebuchet MS"/>
                <a:cs typeface="Trebuchet MS"/>
              </a:rPr>
              <a:t>HBase </a:t>
            </a:r>
            <a:r>
              <a:rPr sz="2200" spc="5" dirty="0">
                <a:solidFill>
                  <a:srgbClr val="7E7E7E"/>
                </a:solidFill>
                <a:latin typeface="Trebuchet MS"/>
                <a:cs typeface="Trebuchet MS"/>
              </a:rPr>
              <a:t>Key </a:t>
            </a:r>
            <a:r>
              <a:rPr sz="2200" spc="-5" dirty="0">
                <a:solidFill>
                  <a:srgbClr val="7E7E7E"/>
                </a:solidFill>
                <a:latin typeface="Trebuchet MS"/>
                <a:cs typeface="Trebuchet MS"/>
              </a:rPr>
              <a:t>Processes</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spc="60" dirty="0">
                <a:solidFill>
                  <a:srgbClr val="7E7E7E"/>
                </a:solidFill>
                <a:latin typeface="Trebuchet MS"/>
                <a:cs typeface="Trebuchet MS"/>
              </a:rPr>
              <a:t>HBase</a:t>
            </a:r>
            <a:r>
              <a:rPr sz="2200" spc="35" dirty="0">
                <a:solidFill>
                  <a:srgbClr val="7E7E7E"/>
                </a:solidFill>
                <a:latin typeface="Trebuchet MS"/>
                <a:cs typeface="Trebuchet MS"/>
              </a:rPr>
              <a:t> </a:t>
            </a:r>
            <a:r>
              <a:rPr sz="2200" spc="40" dirty="0">
                <a:solidFill>
                  <a:srgbClr val="7E7E7E"/>
                </a:solidFill>
                <a:latin typeface="Trebuchet MS"/>
                <a:cs typeface="Trebuchet MS"/>
              </a:rPr>
              <a:t>Highlights</a:t>
            </a:r>
            <a:endParaRPr sz="2200">
              <a:latin typeface="Trebuchet MS"/>
              <a:cs typeface="Trebuchet MS"/>
            </a:endParaRPr>
          </a:p>
          <a:p>
            <a:pPr marL="469900" indent="-457834">
              <a:lnSpc>
                <a:spcPct val="100000"/>
              </a:lnSpc>
              <a:spcBef>
                <a:spcPts val="1845"/>
              </a:spcBef>
              <a:buAutoNum type="arabicPeriod"/>
              <a:tabLst>
                <a:tab pos="469265" algn="l"/>
                <a:tab pos="470534" algn="l"/>
              </a:tabLst>
            </a:pPr>
            <a:r>
              <a:rPr sz="2200" spc="65" dirty="0">
                <a:solidFill>
                  <a:srgbClr val="7E7E7E"/>
                </a:solidFill>
                <a:latin typeface="Trebuchet MS"/>
                <a:cs typeface="Trebuchet MS"/>
              </a:rPr>
              <a:t>HBase </a:t>
            </a:r>
            <a:r>
              <a:rPr sz="2200" spc="5" dirty="0">
                <a:solidFill>
                  <a:srgbClr val="7E7E7E"/>
                </a:solidFill>
                <a:latin typeface="Trebuchet MS"/>
                <a:cs typeface="Trebuchet MS"/>
              </a:rPr>
              <a:t>Performance</a:t>
            </a:r>
            <a:r>
              <a:rPr sz="2200" dirty="0">
                <a:solidFill>
                  <a:srgbClr val="7E7E7E"/>
                </a:solidFill>
                <a:latin typeface="Trebuchet MS"/>
                <a:cs typeface="Trebuchet MS"/>
              </a:rPr>
              <a:t> </a:t>
            </a:r>
            <a:r>
              <a:rPr sz="2200" spc="45" dirty="0">
                <a:solidFill>
                  <a:srgbClr val="7E7E7E"/>
                </a:solidFill>
                <a:latin typeface="Trebuchet MS"/>
                <a:cs typeface="Trebuchet MS"/>
              </a:rPr>
              <a:t>Tuning</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spc="90" dirty="0">
                <a:solidFill>
                  <a:srgbClr val="7E7E7E"/>
                </a:solidFill>
                <a:latin typeface="Trebuchet MS"/>
                <a:cs typeface="Trebuchet MS"/>
              </a:rPr>
              <a:t>Common </a:t>
            </a:r>
            <a:r>
              <a:rPr sz="2200" spc="60" dirty="0">
                <a:solidFill>
                  <a:srgbClr val="7E7E7E"/>
                </a:solidFill>
                <a:latin typeface="Trebuchet MS"/>
                <a:cs typeface="Trebuchet MS"/>
              </a:rPr>
              <a:t>HBase </a:t>
            </a:r>
            <a:r>
              <a:rPr sz="2200" spc="10" dirty="0">
                <a:solidFill>
                  <a:srgbClr val="7E7E7E"/>
                </a:solidFill>
                <a:latin typeface="Trebuchet MS"/>
                <a:cs typeface="Trebuchet MS"/>
              </a:rPr>
              <a:t>Shell</a:t>
            </a:r>
            <a:r>
              <a:rPr sz="2200" spc="-100" dirty="0">
                <a:solidFill>
                  <a:srgbClr val="7E7E7E"/>
                </a:solidFill>
                <a:latin typeface="Trebuchet MS"/>
                <a:cs typeface="Trebuchet MS"/>
              </a:rPr>
              <a:t> </a:t>
            </a:r>
            <a:r>
              <a:rPr sz="2200" spc="75" dirty="0">
                <a:solidFill>
                  <a:srgbClr val="7E7E7E"/>
                </a:solidFill>
                <a:latin typeface="Trebuchet MS"/>
                <a:cs typeface="Trebuchet MS"/>
              </a:rPr>
              <a:t>Commands</a:t>
            </a:r>
            <a:endParaRPr sz="2200">
              <a:latin typeface="Trebuchet MS"/>
              <a:cs typeface="Trebuchet MS"/>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4245" y="4800600"/>
            <a:ext cx="11714830" cy="1855797"/>
          </a:xfrm>
          <a:prstGeom prst="rect">
            <a:avLst/>
          </a:prstGeom>
        </p:spPr>
        <p:txBody>
          <a:bodyPr vert="horz" wrap="square" lIns="0" tIns="9049" rIns="0" bIns="0" rtlCol="0">
            <a:spAutoFit/>
          </a:bodyPr>
          <a:lstStyle/>
          <a:p>
            <a:pPr marL="138113" marR="123825" indent="-128588" algn="just">
              <a:spcBef>
                <a:spcPts val="71"/>
              </a:spcBef>
              <a:buFont typeface="Wingdings"/>
              <a:buChar char=""/>
              <a:tabLst>
                <a:tab pos="138113" algn="l"/>
              </a:tabLst>
            </a:pPr>
            <a:r>
              <a:rPr sz="2000" u="sng" spc="30" dirty="0">
                <a:latin typeface="UKIJ CJK"/>
                <a:cs typeface="UKIJ CJK"/>
              </a:rPr>
              <a:t>ZooKeeper </a:t>
            </a:r>
            <a:r>
              <a:rPr sz="2000" u="sng" spc="23" dirty="0">
                <a:latin typeface="UKIJ CJK"/>
                <a:cs typeface="UKIJ CJK"/>
              </a:rPr>
              <a:t>provides </a:t>
            </a:r>
            <a:r>
              <a:rPr sz="2000" u="sng" spc="19" dirty="0">
                <a:latin typeface="UKIJ CJK"/>
                <a:cs typeface="UKIJ CJK"/>
              </a:rPr>
              <a:t>distributed coordination </a:t>
            </a:r>
            <a:r>
              <a:rPr sz="2000" u="sng" spc="15" dirty="0">
                <a:latin typeface="UKIJ CJK"/>
                <a:cs typeface="UKIJ CJK"/>
              </a:rPr>
              <a:t>services for </a:t>
            </a:r>
            <a:r>
              <a:rPr sz="2000" u="sng" spc="19" dirty="0">
                <a:latin typeface="UKIJ CJK"/>
                <a:cs typeface="UKIJ CJK"/>
              </a:rPr>
              <a:t>processes </a:t>
            </a:r>
            <a:r>
              <a:rPr sz="2000" u="sng" spc="11" dirty="0">
                <a:latin typeface="UKIJ CJK"/>
                <a:cs typeface="UKIJ CJK"/>
              </a:rPr>
              <a:t>in </a:t>
            </a:r>
            <a:r>
              <a:rPr sz="2000" u="sng" spc="23" dirty="0">
                <a:latin typeface="UKIJ CJK"/>
                <a:cs typeface="UKIJ CJK"/>
              </a:rPr>
              <a:t>the </a:t>
            </a:r>
            <a:r>
              <a:rPr sz="2000" u="sng" spc="19" dirty="0" err="1">
                <a:latin typeface="UKIJ CJK"/>
                <a:cs typeface="UKIJ CJK"/>
              </a:rPr>
              <a:t>HBase</a:t>
            </a:r>
            <a:r>
              <a:rPr sz="2000" u="sng" spc="19" dirty="0">
                <a:latin typeface="UKIJ CJK"/>
                <a:cs typeface="UKIJ CJK"/>
              </a:rPr>
              <a:t> </a:t>
            </a:r>
            <a:r>
              <a:rPr sz="2000" u="sng" spc="4" dirty="0">
                <a:latin typeface="UKIJ CJK"/>
                <a:cs typeface="UKIJ CJK"/>
              </a:rPr>
              <a:t>cluster.</a:t>
            </a:r>
            <a:r>
              <a:rPr sz="2000" spc="4" dirty="0">
                <a:latin typeface="UKIJ CJK"/>
                <a:cs typeface="UKIJ CJK"/>
              </a:rPr>
              <a:t> </a:t>
            </a:r>
            <a:endParaRPr lang="en-US" sz="2000" spc="4" dirty="0">
              <a:latin typeface="UKIJ CJK"/>
              <a:cs typeface="UKIJ CJK"/>
            </a:endParaRPr>
          </a:p>
          <a:p>
            <a:pPr marL="138113" marR="123825" indent="-128588" algn="just">
              <a:spcBef>
                <a:spcPts val="71"/>
              </a:spcBef>
              <a:buFont typeface="Wingdings"/>
              <a:buChar char=""/>
              <a:tabLst>
                <a:tab pos="138113" algn="l"/>
              </a:tabLst>
            </a:pPr>
            <a:r>
              <a:rPr sz="2000" u="sng" spc="19" dirty="0">
                <a:latin typeface="UKIJ CJK"/>
                <a:cs typeface="UKIJ CJK"/>
              </a:rPr>
              <a:t>Each </a:t>
            </a:r>
            <a:r>
              <a:rPr sz="2000" u="sng" spc="26" dirty="0">
                <a:latin typeface="UKIJ CJK"/>
                <a:cs typeface="UKIJ CJK"/>
              </a:rPr>
              <a:t>RegionServer </a:t>
            </a:r>
            <a:r>
              <a:rPr sz="2000" u="sng" spc="4" dirty="0">
                <a:latin typeface="UKIJ CJK"/>
                <a:cs typeface="UKIJ CJK"/>
              </a:rPr>
              <a:t>is </a:t>
            </a:r>
            <a:r>
              <a:rPr sz="2000" u="sng" spc="23" dirty="0">
                <a:latin typeface="UKIJ CJK"/>
                <a:cs typeface="UKIJ CJK"/>
              </a:rPr>
              <a:t>registered </a:t>
            </a:r>
            <a:r>
              <a:rPr sz="2000" u="sng" spc="19" dirty="0">
                <a:latin typeface="UKIJ CJK"/>
                <a:cs typeface="UKIJ CJK"/>
              </a:rPr>
              <a:t>with </a:t>
            </a:r>
            <a:r>
              <a:rPr sz="2000" u="sng" spc="30" dirty="0">
                <a:latin typeface="UKIJ CJK"/>
                <a:cs typeface="UKIJ CJK"/>
              </a:rPr>
              <a:t>ZooKeeper </a:t>
            </a:r>
            <a:r>
              <a:rPr sz="2000" u="sng" spc="26" dirty="0">
                <a:latin typeface="UKIJ CJK"/>
                <a:cs typeface="UKIJ CJK"/>
              </a:rPr>
              <a:t>so </a:t>
            </a:r>
            <a:r>
              <a:rPr sz="2000" u="sng" spc="23" dirty="0">
                <a:latin typeface="UKIJ CJK"/>
                <a:cs typeface="UKIJ CJK"/>
              </a:rPr>
              <a:t>that the  active </a:t>
            </a:r>
            <a:r>
              <a:rPr sz="2000" u="sng" spc="19" dirty="0">
                <a:latin typeface="UKIJ CJK"/>
                <a:cs typeface="UKIJ CJK"/>
              </a:rPr>
              <a:t>Master can </a:t>
            </a:r>
            <a:r>
              <a:rPr sz="2000" u="sng" spc="26" dirty="0">
                <a:latin typeface="UKIJ CJK"/>
                <a:cs typeface="UKIJ CJK"/>
              </a:rPr>
              <a:t>obtain </a:t>
            </a:r>
            <a:r>
              <a:rPr sz="2000" u="sng" spc="23" dirty="0">
                <a:latin typeface="UKIJ CJK"/>
                <a:cs typeface="UKIJ CJK"/>
              </a:rPr>
              <a:t>the </a:t>
            </a:r>
            <a:r>
              <a:rPr sz="2000" u="sng" spc="19" dirty="0">
                <a:latin typeface="UKIJ CJK"/>
                <a:cs typeface="UKIJ CJK"/>
              </a:rPr>
              <a:t>health </a:t>
            </a:r>
            <a:r>
              <a:rPr sz="2000" u="sng" spc="15" dirty="0">
                <a:latin typeface="UKIJ CJK"/>
                <a:cs typeface="UKIJ CJK"/>
              </a:rPr>
              <a:t>status </a:t>
            </a:r>
            <a:r>
              <a:rPr sz="2000" u="sng" spc="30" dirty="0">
                <a:latin typeface="UKIJ CJK"/>
                <a:cs typeface="UKIJ CJK"/>
              </a:rPr>
              <a:t>of </a:t>
            </a:r>
            <a:r>
              <a:rPr sz="2000" u="sng" spc="19" dirty="0">
                <a:latin typeface="UKIJ CJK"/>
                <a:cs typeface="UKIJ CJK"/>
              </a:rPr>
              <a:t>each</a:t>
            </a:r>
            <a:r>
              <a:rPr sz="2000" u="sng" spc="83" dirty="0">
                <a:latin typeface="UKIJ CJK"/>
                <a:cs typeface="UKIJ CJK"/>
              </a:rPr>
              <a:t> </a:t>
            </a:r>
            <a:r>
              <a:rPr sz="2000" u="sng" spc="23" dirty="0">
                <a:latin typeface="UKIJ CJK"/>
                <a:cs typeface="UKIJ CJK"/>
              </a:rPr>
              <a:t>RegionServer.</a:t>
            </a:r>
            <a:endParaRPr sz="2000" u="sng" dirty="0">
              <a:latin typeface="UKIJ CJK"/>
              <a:cs typeface="UKIJ CJK"/>
            </a:endParaRPr>
          </a:p>
          <a:p>
            <a:pPr marL="138113" marR="222885" indent="-128588" algn="just">
              <a:spcBef>
                <a:spcPts val="4"/>
              </a:spcBef>
              <a:buFont typeface="Wingdings"/>
              <a:buChar char=""/>
              <a:tabLst>
                <a:tab pos="138113" algn="l"/>
              </a:tabLst>
            </a:pPr>
            <a:r>
              <a:rPr sz="2000" spc="23" dirty="0">
                <a:latin typeface="UKIJ CJK"/>
                <a:cs typeface="UKIJ CJK"/>
              </a:rPr>
              <a:t>Client communicates </a:t>
            </a:r>
            <a:r>
              <a:rPr sz="2000" spc="19" dirty="0">
                <a:latin typeface="UKIJ CJK"/>
                <a:cs typeface="UKIJ CJK"/>
              </a:rPr>
              <a:t>with </a:t>
            </a:r>
            <a:r>
              <a:rPr lang="en-US" sz="2000" spc="19" dirty="0" err="1" smtClean="0">
                <a:latin typeface="UKIJ CJK"/>
                <a:cs typeface="UKIJ CJK"/>
              </a:rPr>
              <a:t>H</a:t>
            </a:r>
            <a:r>
              <a:rPr sz="2000" spc="23" dirty="0" err="1" smtClean="0">
                <a:latin typeface="UKIJ CJK"/>
                <a:cs typeface="UKIJ CJK"/>
              </a:rPr>
              <a:t>Master</a:t>
            </a:r>
            <a:r>
              <a:rPr sz="2000" spc="23" dirty="0" smtClean="0">
                <a:latin typeface="UKIJ CJK"/>
                <a:cs typeface="UKIJ CJK"/>
              </a:rPr>
              <a:t> </a:t>
            </a:r>
            <a:r>
              <a:rPr sz="2000" spc="26" dirty="0">
                <a:latin typeface="UKIJ CJK"/>
                <a:cs typeface="UKIJ CJK"/>
              </a:rPr>
              <a:t>and RegionServer </a:t>
            </a:r>
            <a:r>
              <a:rPr sz="2000" spc="38" dirty="0">
                <a:latin typeface="UKIJ CJK"/>
                <a:cs typeface="UKIJ CJK"/>
              </a:rPr>
              <a:t>by </a:t>
            </a:r>
            <a:r>
              <a:rPr sz="2000" spc="19" dirty="0">
                <a:latin typeface="UKIJ CJK"/>
                <a:cs typeface="UKIJ CJK"/>
              </a:rPr>
              <a:t>HBase's </a:t>
            </a:r>
            <a:r>
              <a:rPr sz="2000" spc="41" dirty="0">
                <a:latin typeface="UKIJ CJK"/>
                <a:cs typeface="UKIJ CJK"/>
              </a:rPr>
              <a:t>RPC  </a:t>
            </a:r>
            <a:r>
              <a:rPr sz="2000" spc="15" dirty="0">
                <a:latin typeface="UKIJ CJK"/>
                <a:cs typeface="UKIJ CJK"/>
              </a:rPr>
              <a:t>mechanism. </a:t>
            </a:r>
            <a:endParaRPr lang="en-US" sz="2000" spc="15" dirty="0">
              <a:latin typeface="UKIJ CJK"/>
              <a:cs typeface="UKIJ CJK"/>
            </a:endParaRPr>
          </a:p>
          <a:p>
            <a:pPr marL="138113" marR="222885" indent="-128588" algn="just">
              <a:spcBef>
                <a:spcPts val="4"/>
              </a:spcBef>
              <a:buFont typeface="Wingdings"/>
              <a:buChar char=""/>
              <a:tabLst>
                <a:tab pos="138113" algn="l"/>
              </a:tabLst>
            </a:pPr>
            <a:r>
              <a:rPr sz="2000" spc="26" dirty="0">
                <a:latin typeface="UKIJ CJK"/>
                <a:cs typeface="UKIJ CJK"/>
              </a:rPr>
              <a:t>The </a:t>
            </a:r>
            <a:r>
              <a:rPr sz="2000" spc="23" dirty="0">
                <a:latin typeface="UKIJ CJK"/>
                <a:cs typeface="UKIJ CJK"/>
              </a:rPr>
              <a:t>Client communicates </a:t>
            </a:r>
            <a:r>
              <a:rPr sz="2000" u="sng" spc="19" dirty="0">
                <a:latin typeface="UKIJ CJK"/>
                <a:cs typeface="UKIJ CJK"/>
              </a:rPr>
              <a:t>with </a:t>
            </a:r>
            <a:r>
              <a:rPr lang="en-US" sz="2000" u="sng" spc="19" dirty="0" err="1" smtClean="0">
                <a:latin typeface="UKIJ CJK"/>
                <a:cs typeface="UKIJ CJK"/>
              </a:rPr>
              <a:t>H</a:t>
            </a:r>
            <a:r>
              <a:rPr sz="2000" u="sng" spc="23" dirty="0" err="1" smtClean="0">
                <a:latin typeface="UKIJ CJK"/>
                <a:cs typeface="UKIJ CJK"/>
              </a:rPr>
              <a:t>Master</a:t>
            </a:r>
            <a:r>
              <a:rPr sz="2000" u="sng" spc="23" dirty="0" smtClean="0">
                <a:latin typeface="UKIJ CJK"/>
                <a:cs typeface="UKIJ CJK"/>
              </a:rPr>
              <a:t> </a:t>
            </a:r>
            <a:r>
              <a:rPr sz="2000" u="sng" spc="11" dirty="0">
                <a:latin typeface="UKIJ CJK"/>
                <a:cs typeface="UKIJ CJK"/>
              </a:rPr>
              <a:t>for </a:t>
            </a:r>
            <a:r>
              <a:rPr sz="2000" u="sng" spc="30" dirty="0">
                <a:latin typeface="UKIJ CJK"/>
                <a:cs typeface="UKIJ CJK"/>
              </a:rPr>
              <a:t>management </a:t>
            </a:r>
            <a:r>
              <a:rPr sz="2000" spc="26" dirty="0">
                <a:latin typeface="UKIJ CJK"/>
                <a:cs typeface="UKIJ CJK"/>
              </a:rPr>
              <a:t>and  </a:t>
            </a:r>
            <a:r>
              <a:rPr sz="2000" spc="23" dirty="0">
                <a:latin typeface="UKIJ CJK"/>
                <a:cs typeface="UKIJ CJK"/>
              </a:rPr>
              <a:t>communicates </a:t>
            </a:r>
            <a:r>
              <a:rPr sz="2000" u="sng" spc="19" dirty="0">
                <a:latin typeface="UKIJ CJK"/>
                <a:cs typeface="UKIJ CJK"/>
              </a:rPr>
              <a:t>with </a:t>
            </a:r>
            <a:r>
              <a:rPr sz="2000" u="sng" spc="26" dirty="0">
                <a:latin typeface="UKIJ CJK"/>
                <a:cs typeface="UKIJ CJK"/>
              </a:rPr>
              <a:t>RegionServer </a:t>
            </a:r>
            <a:r>
              <a:rPr sz="2000" u="sng" spc="11" dirty="0">
                <a:latin typeface="UKIJ CJK"/>
                <a:cs typeface="UKIJ CJK"/>
              </a:rPr>
              <a:t>for </a:t>
            </a:r>
            <a:r>
              <a:rPr sz="2000" u="sng" spc="23" dirty="0">
                <a:latin typeface="UKIJ CJK"/>
                <a:cs typeface="UKIJ CJK"/>
              </a:rPr>
              <a:t>data</a:t>
            </a:r>
            <a:r>
              <a:rPr sz="2000" u="sng" spc="71" dirty="0">
                <a:latin typeface="UKIJ CJK"/>
                <a:cs typeface="UKIJ CJK"/>
              </a:rPr>
              <a:t> </a:t>
            </a:r>
            <a:r>
              <a:rPr sz="2000" u="sng" spc="19" dirty="0">
                <a:latin typeface="UKIJ CJK"/>
                <a:cs typeface="UKIJ CJK"/>
              </a:rPr>
              <a:t>operation.</a:t>
            </a:r>
            <a:endParaRPr sz="2000" u="sng" dirty="0">
              <a:latin typeface="UKIJ CJK"/>
              <a:cs typeface="UKIJ CJK"/>
            </a:endParaRPr>
          </a:p>
        </p:txBody>
      </p:sp>
      <p:grpSp>
        <p:nvGrpSpPr>
          <p:cNvPr id="3" name="object 3"/>
          <p:cNvGrpSpPr/>
          <p:nvPr/>
        </p:nvGrpSpPr>
        <p:grpSpPr>
          <a:xfrm>
            <a:off x="300735" y="248522"/>
            <a:ext cx="11477607" cy="4454107"/>
            <a:chOff x="376427" y="679704"/>
            <a:chExt cx="6106160" cy="3442335"/>
          </a:xfrm>
        </p:grpSpPr>
        <p:sp>
          <p:nvSpPr>
            <p:cNvPr id="4" name="object 4"/>
            <p:cNvSpPr/>
            <p:nvPr/>
          </p:nvSpPr>
          <p:spPr>
            <a:xfrm>
              <a:off x="611619" y="841836"/>
              <a:ext cx="5731583" cy="3209251"/>
            </a:xfrm>
            <a:prstGeom prst="rect">
              <a:avLst/>
            </a:prstGeom>
            <a:blipFill>
              <a:blip r:embed="rId2" cstate="print"/>
              <a:stretch>
                <a:fillRect/>
              </a:stretch>
            </a:blipFill>
          </p:spPr>
          <p:txBody>
            <a:bodyPr wrap="square" lIns="0" tIns="0" rIns="0" bIns="0" rtlCol="0"/>
            <a:lstStyle/>
            <a:p>
              <a:endParaRPr sz="1350"/>
            </a:p>
          </p:txBody>
        </p:sp>
        <p:sp>
          <p:nvSpPr>
            <p:cNvPr id="5" name="object 5"/>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Tree>
    <p:extLst>
      <p:ext uri="{BB962C8B-B14F-4D97-AF65-F5344CB8AC3E}">
        <p14:creationId xmlns:p14="http://schemas.microsoft.com/office/powerpoint/2010/main" val="206014685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0316" y="5724820"/>
            <a:ext cx="11582400" cy="932467"/>
          </a:xfrm>
          <a:prstGeom prst="rect">
            <a:avLst/>
          </a:prstGeom>
        </p:spPr>
        <p:txBody>
          <a:bodyPr vert="horz" wrap="square" lIns="0" tIns="9049" rIns="0" bIns="0" rtlCol="0">
            <a:spAutoFit/>
          </a:bodyPr>
          <a:lstStyle/>
          <a:p>
            <a:pPr marL="138113" marR="91440" indent="-128588">
              <a:buFont typeface="Wingdings"/>
              <a:buChar char=""/>
              <a:tabLst>
                <a:tab pos="138113" algn="l"/>
              </a:tabLst>
            </a:pPr>
            <a:r>
              <a:rPr sz="2000" spc="26" dirty="0" err="1">
                <a:latin typeface="UKIJ CJK"/>
                <a:cs typeface="UKIJ CJK"/>
              </a:rPr>
              <a:t>RegionServer</a:t>
            </a:r>
            <a:r>
              <a:rPr sz="2000" spc="26" dirty="0">
                <a:latin typeface="UKIJ CJK"/>
                <a:cs typeface="UKIJ CJK"/>
              </a:rPr>
              <a:t> </a:t>
            </a:r>
            <a:r>
              <a:rPr sz="2000" spc="23" dirty="0">
                <a:latin typeface="UKIJ CJK"/>
                <a:cs typeface="UKIJ CJK"/>
              </a:rPr>
              <a:t>provides </a:t>
            </a:r>
            <a:r>
              <a:rPr sz="2000" spc="15" dirty="0">
                <a:latin typeface="UKIJ CJK"/>
                <a:cs typeface="UKIJ CJK"/>
              </a:rPr>
              <a:t>read </a:t>
            </a:r>
            <a:r>
              <a:rPr sz="2000" spc="26" dirty="0">
                <a:latin typeface="UKIJ CJK"/>
                <a:cs typeface="UKIJ CJK"/>
              </a:rPr>
              <a:t>and </a:t>
            </a:r>
            <a:r>
              <a:rPr sz="2000" spc="15" dirty="0">
                <a:latin typeface="UKIJ CJK"/>
                <a:cs typeface="UKIJ CJK"/>
              </a:rPr>
              <a:t>write services </a:t>
            </a:r>
            <a:r>
              <a:rPr sz="2000" spc="30" dirty="0">
                <a:latin typeface="UKIJ CJK"/>
                <a:cs typeface="UKIJ CJK"/>
              </a:rPr>
              <a:t>of </a:t>
            </a:r>
            <a:r>
              <a:rPr sz="2000" spc="23" dirty="0">
                <a:latin typeface="UKIJ CJK"/>
                <a:cs typeface="UKIJ CJK"/>
              </a:rPr>
              <a:t>table data </a:t>
            </a:r>
            <a:r>
              <a:rPr sz="2000" spc="11" dirty="0">
                <a:latin typeface="UKIJ CJK"/>
                <a:cs typeface="UKIJ CJK"/>
              </a:rPr>
              <a:t>as </a:t>
            </a:r>
            <a:r>
              <a:rPr sz="2000" spc="15" dirty="0">
                <a:latin typeface="UKIJ CJK"/>
                <a:cs typeface="UKIJ CJK"/>
              </a:rPr>
              <a:t>a </a:t>
            </a:r>
            <a:r>
              <a:rPr sz="2000" spc="23" dirty="0">
                <a:latin typeface="UKIJ CJK"/>
                <a:cs typeface="UKIJ CJK"/>
              </a:rPr>
              <a:t>data  </a:t>
            </a:r>
            <a:r>
              <a:rPr sz="2000" spc="26" dirty="0">
                <a:latin typeface="UKIJ CJK"/>
                <a:cs typeface="UKIJ CJK"/>
              </a:rPr>
              <a:t>processing and </a:t>
            </a:r>
            <a:r>
              <a:rPr sz="2000" spc="34" dirty="0">
                <a:latin typeface="UKIJ CJK"/>
                <a:cs typeface="UKIJ CJK"/>
              </a:rPr>
              <a:t>computing </a:t>
            </a:r>
            <a:r>
              <a:rPr sz="2000" spc="15" dirty="0">
                <a:latin typeface="UKIJ CJK"/>
                <a:cs typeface="UKIJ CJK"/>
              </a:rPr>
              <a:t>unit </a:t>
            </a:r>
            <a:r>
              <a:rPr sz="2000" spc="11" dirty="0">
                <a:latin typeface="UKIJ CJK"/>
                <a:cs typeface="UKIJ CJK"/>
              </a:rPr>
              <a:t>in </a:t>
            </a:r>
            <a:r>
              <a:rPr sz="2000" spc="19" dirty="0">
                <a:latin typeface="UKIJ CJK"/>
                <a:cs typeface="UKIJ CJK"/>
              </a:rPr>
              <a:t>Hbase. </a:t>
            </a:r>
            <a:r>
              <a:rPr sz="2000" spc="26" dirty="0">
                <a:latin typeface="UKIJ CJK"/>
                <a:cs typeface="UKIJ CJK"/>
              </a:rPr>
              <a:t>RegionServer </a:t>
            </a:r>
            <a:r>
              <a:rPr sz="2000" spc="4" dirty="0">
                <a:latin typeface="UKIJ CJK"/>
                <a:cs typeface="UKIJ CJK"/>
              </a:rPr>
              <a:t>is </a:t>
            </a:r>
            <a:r>
              <a:rPr sz="2000" spc="11" dirty="0">
                <a:latin typeface="UKIJ CJK"/>
                <a:cs typeface="UKIJ CJK"/>
              </a:rPr>
              <a:t>usually </a:t>
            </a:r>
            <a:r>
              <a:rPr sz="2000" spc="30" dirty="0">
                <a:latin typeface="UKIJ CJK"/>
                <a:cs typeface="UKIJ CJK"/>
              </a:rPr>
              <a:t>deployed  together </a:t>
            </a:r>
            <a:r>
              <a:rPr sz="2000" spc="19" dirty="0">
                <a:latin typeface="UKIJ CJK"/>
                <a:cs typeface="UKIJ CJK"/>
              </a:rPr>
              <a:t>with </a:t>
            </a:r>
            <a:r>
              <a:rPr sz="2000" spc="23" dirty="0">
                <a:latin typeface="UKIJ CJK"/>
                <a:cs typeface="UKIJ CJK"/>
              </a:rPr>
              <a:t>the </a:t>
            </a:r>
            <a:r>
              <a:rPr sz="2000" spc="38" dirty="0">
                <a:latin typeface="UKIJ CJK"/>
                <a:cs typeface="UKIJ CJK"/>
              </a:rPr>
              <a:t>DataNode </a:t>
            </a:r>
            <a:r>
              <a:rPr sz="2000" spc="30" dirty="0">
                <a:latin typeface="UKIJ CJK"/>
                <a:cs typeface="UKIJ CJK"/>
              </a:rPr>
              <a:t>of </a:t>
            </a:r>
            <a:r>
              <a:rPr sz="2000" spc="23" dirty="0">
                <a:latin typeface="UKIJ CJK"/>
                <a:cs typeface="UKIJ CJK"/>
              </a:rPr>
              <a:t>the </a:t>
            </a:r>
            <a:r>
              <a:rPr sz="2000" spc="45" dirty="0">
                <a:latin typeface="UKIJ CJK"/>
                <a:cs typeface="UKIJ CJK"/>
              </a:rPr>
              <a:t>HDFS </a:t>
            </a:r>
            <a:r>
              <a:rPr sz="2000" spc="11" dirty="0">
                <a:latin typeface="UKIJ CJK"/>
                <a:cs typeface="UKIJ CJK"/>
              </a:rPr>
              <a:t>cluster </a:t>
            </a:r>
            <a:r>
              <a:rPr sz="2000" spc="34" dirty="0">
                <a:latin typeface="UKIJ CJK"/>
                <a:cs typeface="UKIJ CJK"/>
              </a:rPr>
              <a:t>to </a:t>
            </a:r>
            <a:r>
              <a:rPr sz="2000" spc="19" dirty="0">
                <a:latin typeface="UKIJ CJK"/>
                <a:cs typeface="UKIJ CJK"/>
              </a:rPr>
              <a:t>perform </a:t>
            </a:r>
            <a:r>
              <a:rPr sz="2000" spc="23" dirty="0">
                <a:latin typeface="UKIJ CJK"/>
                <a:cs typeface="UKIJ CJK"/>
              </a:rPr>
              <a:t>data</a:t>
            </a:r>
            <a:r>
              <a:rPr sz="2000" spc="90" dirty="0">
                <a:latin typeface="UKIJ CJK"/>
                <a:cs typeface="UKIJ CJK"/>
              </a:rPr>
              <a:t> </a:t>
            </a:r>
            <a:r>
              <a:rPr sz="2000" spc="19" dirty="0">
                <a:latin typeface="UKIJ CJK"/>
                <a:cs typeface="UKIJ CJK"/>
              </a:rPr>
              <a:t>storage.</a:t>
            </a:r>
            <a:endParaRPr sz="2000" dirty="0">
              <a:latin typeface="UKIJ CJK"/>
              <a:cs typeface="UKIJ CJK"/>
            </a:endParaRPr>
          </a:p>
        </p:txBody>
      </p:sp>
      <p:grpSp>
        <p:nvGrpSpPr>
          <p:cNvPr id="3" name="object 3"/>
          <p:cNvGrpSpPr/>
          <p:nvPr/>
        </p:nvGrpSpPr>
        <p:grpSpPr>
          <a:xfrm>
            <a:off x="288860" y="212895"/>
            <a:ext cx="11453855" cy="5392258"/>
            <a:chOff x="376427" y="679704"/>
            <a:chExt cx="6106160" cy="3442335"/>
          </a:xfrm>
        </p:grpSpPr>
        <p:sp>
          <p:nvSpPr>
            <p:cNvPr id="4" name="object 4"/>
            <p:cNvSpPr/>
            <p:nvPr/>
          </p:nvSpPr>
          <p:spPr>
            <a:xfrm>
              <a:off x="611619" y="841836"/>
              <a:ext cx="5731583" cy="3209251"/>
            </a:xfrm>
            <a:prstGeom prst="rect">
              <a:avLst/>
            </a:prstGeom>
            <a:blipFill>
              <a:blip r:embed="rId2" cstate="print"/>
              <a:stretch>
                <a:fillRect/>
              </a:stretch>
            </a:blipFill>
          </p:spPr>
          <p:txBody>
            <a:bodyPr wrap="square" lIns="0" tIns="0" rIns="0" bIns="0" rtlCol="0"/>
            <a:lstStyle/>
            <a:p>
              <a:endParaRPr sz="1350"/>
            </a:p>
          </p:txBody>
        </p:sp>
        <p:sp>
          <p:nvSpPr>
            <p:cNvPr id="5" name="object 5"/>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Tree>
    <p:extLst>
      <p:ext uri="{BB962C8B-B14F-4D97-AF65-F5344CB8AC3E}">
        <p14:creationId xmlns:p14="http://schemas.microsoft.com/office/powerpoint/2010/main" val="13990350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2192" y="5105400"/>
            <a:ext cx="11582400" cy="1548020"/>
          </a:xfrm>
          <a:prstGeom prst="rect">
            <a:avLst/>
          </a:prstGeom>
        </p:spPr>
        <p:txBody>
          <a:bodyPr vert="horz" wrap="square" lIns="0" tIns="9049" rIns="0" bIns="0" rtlCol="0">
            <a:spAutoFit/>
          </a:bodyPr>
          <a:lstStyle/>
          <a:p>
            <a:pPr marL="138113" indent="-128588">
              <a:buFont typeface="Wingdings"/>
              <a:buChar char=""/>
              <a:tabLst>
                <a:tab pos="138113" algn="l"/>
              </a:tabLst>
            </a:pPr>
            <a:r>
              <a:rPr sz="2000" spc="26" dirty="0" err="1">
                <a:latin typeface="UKIJ CJK"/>
                <a:cs typeface="UKIJ CJK"/>
              </a:rPr>
              <a:t>HMaster</a:t>
            </a:r>
            <a:r>
              <a:rPr sz="2000" spc="26" dirty="0">
                <a:latin typeface="UKIJ CJK"/>
                <a:cs typeface="UKIJ CJK"/>
              </a:rPr>
              <a:t> </a:t>
            </a:r>
            <a:r>
              <a:rPr sz="2000" spc="23" dirty="0">
                <a:latin typeface="UKIJ CJK"/>
                <a:cs typeface="UKIJ CJK"/>
              </a:rPr>
              <a:t>involves the active </a:t>
            </a:r>
            <a:r>
              <a:rPr sz="2000" spc="19" dirty="0">
                <a:latin typeface="UKIJ CJK"/>
                <a:cs typeface="UKIJ CJK"/>
              </a:rPr>
              <a:t>Master </a:t>
            </a:r>
            <a:r>
              <a:rPr sz="2000" spc="26" dirty="0">
                <a:latin typeface="UKIJ CJK"/>
                <a:cs typeface="UKIJ CJK"/>
              </a:rPr>
              <a:t>and standby </a:t>
            </a:r>
            <a:r>
              <a:rPr sz="2000" spc="19" dirty="0">
                <a:latin typeface="UKIJ CJK"/>
                <a:cs typeface="UKIJ CJK"/>
              </a:rPr>
              <a:t>Master </a:t>
            </a:r>
            <a:r>
              <a:rPr sz="2000" spc="-11" dirty="0">
                <a:latin typeface="UKIJ CJK"/>
                <a:cs typeface="UKIJ CJK"/>
              </a:rPr>
              <a:t>In </a:t>
            </a:r>
            <a:r>
              <a:rPr sz="2000" spc="64" dirty="0">
                <a:latin typeface="UKIJ CJK"/>
                <a:cs typeface="UKIJ CJK"/>
              </a:rPr>
              <a:t>HA</a:t>
            </a:r>
            <a:r>
              <a:rPr sz="2000" spc="143" dirty="0">
                <a:latin typeface="UKIJ CJK"/>
                <a:cs typeface="UKIJ CJK"/>
              </a:rPr>
              <a:t> </a:t>
            </a:r>
            <a:r>
              <a:rPr sz="2000" spc="23" dirty="0">
                <a:latin typeface="UKIJ CJK"/>
                <a:cs typeface="UKIJ CJK"/>
              </a:rPr>
              <a:t>mode.</a:t>
            </a:r>
            <a:endParaRPr sz="2000" dirty="0">
              <a:latin typeface="UKIJ CJK"/>
              <a:cs typeface="UKIJ CJK"/>
            </a:endParaRPr>
          </a:p>
          <a:p>
            <a:pPr marL="495300" marR="156686" lvl="1" indent="-128588">
              <a:buSzPct val="59090"/>
              <a:buFont typeface="Wingdings"/>
              <a:buChar char=""/>
              <a:tabLst>
                <a:tab pos="495776" algn="l"/>
              </a:tabLst>
            </a:pPr>
            <a:r>
              <a:rPr sz="2000" spc="30" dirty="0">
                <a:latin typeface="UKIJ CJK"/>
                <a:cs typeface="UKIJ CJK"/>
              </a:rPr>
              <a:t>Active </a:t>
            </a:r>
            <a:r>
              <a:rPr sz="2000" spc="11" dirty="0">
                <a:latin typeface="UKIJ CJK"/>
                <a:cs typeface="UKIJ CJK"/>
              </a:rPr>
              <a:t>Master: </a:t>
            </a:r>
            <a:r>
              <a:rPr sz="2000" spc="26" dirty="0">
                <a:latin typeface="UKIJ CJK"/>
                <a:cs typeface="UKIJ CJK"/>
              </a:rPr>
              <a:t>manages RegionServers </a:t>
            </a:r>
            <a:r>
              <a:rPr sz="2000" spc="11" dirty="0">
                <a:latin typeface="UKIJ CJK"/>
                <a:cs typeface="UKIJ CJK"/>
              </a:rPr>
              <a:t>in </a:t>
            </a:r>
            <a:r>
              <a:rPr sz="2000" spc="15" dirty="0" err="1">
                <a:latin typeface="UKIJ CJK"/>
                <a:cs typeface="UKIJ CJK"/>
              </a:rPr>
              <a:t>HBase</a:t>
            </a:r>
            <a:r>
              <a:rPr sz="2000" spc="15" dirty="0">
                <a:latin typeface="UKIJ CJK"/>
                <a:cs typeface="UKIJ CJK"/>
              </a:rPr>
              <a:t>, </a:t>
            </a:r>
            <a:r>
              <a:rPr sz="2000" spc="23" dirty="0">
                <a:latin typeface="UKIJ CJK"/>
                <a:cs typeface="UKIJ CJK"/>
              </a:rPr>
              <a:t>including the  </a:t>
            </a:r>
            <a:r>
              <a:rPr sz="2000" spc="15" dirty="0">
                <a:latin typeface="UKIJ CJK"/>
                <a:cs typeface="UKIJ CJK"/>
              </a:rPr>
              <a:t>creation, </a:t>
            </a:r>
            <a:r>
              <a:rPr sz="2000" spc="19" dirty="0">
                <a:latin typeface="UKIJ CJK"/>
                <a:cs typeface="UKIJ CJK"/>
              </a:rPr>
              <a:t>deletion, modification, </a:t>
            </a:r>
            <a:r>
              <a:rPr sz="2000" spc="26" dirty="0">
                <a:latin typeface="UKIJ CJK"/>
                <a:cs typeface="UKIJ CJK"/>
              </a:rPr>
              <a:t>and </a:t>
            </a:r>
            <a:r>
              <a:rPr sz="2000" spc="19" dirty="0">
                <a:latin typeface="UKIJ CJK"/>
                <a:cs typeface="UKIJ CJK"/>
              </a:rPr>
              <a:t>query </a:t>
            </a:r>
            <a:r>
              <a:rPr sz="2000" spc="30" dirty="0">
                <a:latin typeface="UKIJ CJK"/>
                <a:cs typeface="UKIJ CJK"/>
              </a:rPr>
              <a:t>of </a:t>
            </a:r>
            <a:r>
              <a:rPr sz="2000" spc="15" dirty="0">
                <a:latin typeface="UKIJ CJK"/>
                <a:cs typeface="UKIJ CJK"/>
              </a:rPr>
              <a:t>a table, </a:t>
            </a:r>
            <a:r>
              <a:rPr sz="2000" spc="19" dirty="0">
                <a:latin typeface="UKIJ CJK"/>
                <a:cs typeface="UKIJ CJK"/>
              </a:rPr>
              <a:t>balances </a:t>
            </a:r>
            <a:r>
              <a:rPr sz="2000" spc="23" dirty="0">
                <a:latin typeface="UKIJ CJK"/>
                <a:cs typeface="UKIJ CJK"/>
              </a:rPr>
              <a:t>the  load </a:t>
            </a:r>
            <a:r>
              <a:rPr sz="2000" spc="30" dirty="0">
                <a:latin typeface="UKIJ CJK"/>
                <a:cs typeface="UKIJ CJK"/>
              </a:rPr>
              <a:t>of </a:t>
            </a:r>
            <a:r>
              <a:rPr sz="2000" spc="23" dirty="0">
                <a:latin typeface="UKIJ CJK"/>
                <a:cs typeface="UKIJ CJK"/>
              </a:rPr>
              <a:t>RegionServers, </a:t>
            </a:r>
            <a:r>
              <a:rPr sz="2000" spc="15" dirty="0">
                <a:latin typeface="UKIJ CJK"/>
                <a:cs typeface="UKIJ CJK"/>
              </a:rPr>
              <a:t>adjusts </a:t>
            </a:r>
            <a:r>
              <a:rPr sz="2000" spc="23" dirty="0">
                <a:latin typeface="UKIJ CJK"/>
                <a:cs typeface="UKIJ CJK"/>
              </a:rPr>
              <a:t>the </a:t>
            </a:r>
            <a:r>
              <a:rPr sz="2000" spc="19" dirty="0">
                <a:latin typeface="UKIJ CJK"/>
                <a:cs typeface="UKIJ CJK"/>
              </a:rPr>
              <a:t>distribution </a:t>
            </a:r>
            <a:r>
              <a:rPr sz="2000" spc="30" dirty="0">
                <a:latin typeface="UKIJ CJK"/>
                <a:cs typeface="UKIJ CJK"/>
              </a:rPr>
              <a:t>of Regions, </a:t>
            </a:r>
            <a:r>
              <a:rPr sz="2000" spc="11" dirty="0">
                <a:latin typeface="UKIJ CJK"/>
                <a:cs typeface="UKIJ CJK"/>
              </a:rPr>
              <a:t>splits  </a:t>
            </a:r>
            <a:r>
              <a:rPr sz="2000" spc="34" dirty="0">
                <a:latin typeface="UKIJ CJK"/>
                <a:cs typeface="UKIJ CJK"/>
              </a:rPr>
              <a:t>Regions </a:t>
            </a:r>
            <a:r>
              <a:rPr sz="2000" spc="26" dirty="0">
                <a:latin typeface="UKIJ CJK"/>
                <a:cs typeface="UKIJ CJK"/>
              </a:rPr>
              <a:t>and </a:t>
            </a:r>
            <a:r>
              <a:rPr sz="2000" spc="15" dirty="0">
                <a:latin typeface="UKIJ CJK"/>
                <a:cs typeface="UKIJ CJK"/>
              </a:rPr>
              <a:t>distributes </a:t>
            </a:r>
            <a:r>
              <a:rPr sz="2000" spc="30" dirty="0">
                <a:latin typeface="UKIJ CJK"/>
                <a:cs typeface="UKIJ CJK"/>
              </a:rPr>
              <a:t>Regions </a:t>
            </a:r>
            <a:r>
              <a:rPr sz="2000" spc="11" dirty="0">
                <a:latin typeface="UKIJ CJK"/>
                <a:cs typeface="UKIJ CJK"/>
              </a:rPr>
              <a:t>after </a:t>
            </a:r>
            <a:r>
              <a:rPr sz="2000" spc="26" dirty="0">
                <a:latin typeface="UKIJ CJK"/>
                <a:cs typeface="UKIJ CJK"/>
              </a:rPr>
              <a:t>they </a:t>
            </a:r>
            <a:r>
              <a:rPr sz="2000" spc="8" dirty="0">
                <a:latin typeface="UKIJ CJK"/>
                <a:cs typeface="UKIJ CJK"/>
              </a:rPr>
              <a:t>are </a:t>
            </a:r>
            <a:r>
              <a:rPr sz="2000" spc="11" dirty="0">
                <a:latin typeface="UKIJ CJK"/>
                <a:cs typeface="UKIJ CJK"/>
              </a:rPr>
              <a:t>split, </a:t>
            </a:r>
            <a:r>
              <a:rPr sz="2000" spc="26" dirty="0">
                <a:latin typeface="UKIJ CJK"/>
                <a:cs typeface="UKIJ CJK"/>
              </a:rPr>
              <a:t>and </a:t>
            </a:r>
            <a:r>
              <a:rPr sz="2000" spc="19" dirty="0">
                <a:latin typeface="UKIJ CJK"/>
                <a:cs typeface="UKIJ CJK"/>
              </a:rPr>
              <a:t>migrates  </a:t>
            </a:r>
            <a:r>
              <a:rPr sz="2000" spc="34" dirty="0">
                <a:latin typeface="UKIJ CJK"/>
                <a:cs typeface="UKIJ CJK"/>
              </a:rPr>
              <a:t>Regions </a:t>
            </a:r>
            <a:r>
              <a:rPr sz="2000" spc="11" dirty="0">
                <a:latin typeface="UKIJ CJK"/>
                <a:cs typeface="UKIJ CJK"/>
              </a:rPr>
              <a:t>after </a:t>
            </a:r>
            <a:r>
              <a:rPr sz="2000" spc="15" dirty="0">
                <a:latin typeface="UKIJ CJK"/>
                <a:cs typeface="UKIJ CJK"/>
              </a:rPr>
              <a:t>a </a:t>
            </a:r>
            <a:r>
              <a:rPr sz="2000" spc="26" dirty="0">
                <a:latin typeface="UKIJ CJK"/>
                <a:cs typeface="UKIJ CJK"/>
              </a:rPr>
              <a:t>RegionServer</a:t>
            </a:r>
            <a:r>
              <a:rPr sz="2000" spc="68" dirty="0">
                <a:latin typeface="UKIJ CJK"/>
                <a:cs typeface="UKIJ CJK"/>
              </a:rPr>
              <a:t> </a:t>
            </a:r>
            <a:r>
              <a:rPr sz="2000" spc="8" dirty="0">
                <a:latin typeface="UKIJ CJK"/>
                <a:cs typeface="UKIJ CJK"/>
              </a:rPr>
              <a:t>failed.</a:t>
            </a:r>
            <a:endParaRPr sz="2000" dirty="0">
              <a:latin typeface="UKIJ CJK"/>
              <a:cs typeface="UKIJ CJK"/>
            </a:endParaRPr>
          </a:p>
        </p:txBody>
      </p:sp>
      <p:grpSp>
        <p:nvGrpSpPr>
          <p:cNvPr id="3" name="object 3"/>
          <p:cNvGrpSpPr/>
          <p:nvPr/>
        </p:nvGrpSpPr>
        <p:grpSpPr>
          <a:xfrm>
            <a:off x="336362" y="201021"/>
            <a:ext cx="11301455" cy="4834117"/>
            <a:chOff x="376427" y="679704"/>
            <a:chExt cx="6106160" cy="3442335"/>
          </a:xfrm>
        </p:grpSpPr>
        <p:sp>
          <p:nvSpPr>
            <p:cNvPr id="4" name="object 4"/>
            <p:cNvSpPr/>
            <p:nvPr/>
          </p:nvSpPr>
          <p:spPr>
            <a:xfrm>
              <a:off x="611619" y="841836"/>
              <a:ext cx="5731583" cy="3209251"/>
            </a:xfrm>
            <a:prstGeom prst="rect">
              <a:avLst/>
            </a:prstGeom>
            <a:blipFill>
              <a:blip r:embed="rId2" cstate="print"/>
              <a:stretch>
                <a:fillRect/>
              </a:stretch>
            </a:blipFill>
          </p:spPr>
          <p:txBody>
            <a:bodyPr wrap="square" lIns="0" tIns="0" rIns="0" bIns="0" rtlCol="0"/>
            <a:lstStyle/>
            <a:p>
              <a:endParaRPr sz="1350"/>
            </a:p>
          </p:txBody>
        </p:sp>
        <p:sp>
          <p:nvSpPr>
            <p:cNvPr id="5" name="object 5"/>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Tree>
    <p:extLst>
      <p:ext uri="{BB962C8B-B14F-4D97-AF65-F5344CB8AC3E}">
        <p14:creationId xmlns:p14="http://schemas.microsoft.com/office/powerpoint/2010/main" val="10309172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6571" y="5410200"/>
            <a:ext cx="11582400" cy="1240244"/>
          </a:xfrm>
          <a:prstGeom prst="rect">
            <a:avLst/>
          </a:prstGeom>
        </p:spPr>
        <p:txBody>
          <a:bodyPr vert="horz" wrap="square" lIns="0" tIns="9049" rIns="0" bIns="0" rtlCol="0">
            <a:spAutoFit/>
          </a:bodyPr>
          <a:lstStyle/>
          <a:p>
            <a:pPr marL="495300" marR="3810" lvl="1" indent="-128588">
              <a:buSzPct val="59090"/>
              <a:buFont typeface="Wingdings"/>
              <a:buChar char=""/>
              <a:tabLst>
                <a:tab pos="495776" algn="l"/>
              </a:tabLst>
            </a:pPr>
            <a:r>
              <a:rPr sz="2000" spc="26" dirty="0">
                <a:latin typeface="UKIJ CJK"/>
                <a:cs typeface="UKIJ CJK"/>
              </a:rPr>
              <a:t>Standby </a:t>
            </a:r>
            <a:r>
              <a:rPr sz="2000" spc="11" dirty="0">
                <a:latin typeface="UKIJ CJK"/>
                <a:cs typeface="UKIJ CJK"/>
              </a:rPr>
              <a:t>Master: </a:t>
            </a:r>
            <a:r>
              <a:rPr sz="2000" spc="23" dirty="0">
                <a:latin typeface="UKIJ CJK"/>
                <a:cs typeface="UKIJ CJK"/>
              </a:rPr>
              <a:t>Takes over </a:t>
            </a:r>
            <a:r>
              <a:rPr sz="2000" spc="15" dirty="0">
                <a:latin typeface="UKIJ CJK"/>
                <a:cs typeface="UKIJ CJK"/>
              </a:rPr>
              <a:t>services </a:t>
            </a:r>
            <a:r>
              <a:rPr sz="2000" spc="23" dirty="0">
                <a:latin typeface="UKIJ CJK"/>
                <a:cs typeface="UKIJ CJK"/>
              </a:rPr>
              <a:t>when the active </a:t>
            </a:r>
            <a:r>
              <a:rPr sz="2000" spc="19" dirty="0">
                <a:latin typeface="UKIJ CJK"/>
                <a:cs typeface="UKIJ CJK"/>
              </a:rPr>
              <a:t>Master </a:t>
            </a:r>
            <a:r>
              <a:rPr sz="2000" dirty="0">
                <a:latin typeface="UKIJ CJK"/>
                <a:cs typeface="UKIJ CJK"/>
              </a:rPr>
              <a:t>fails. </a:t>
            </a:r>
            <a:r>
              <a:rPr sz="2000" spc="23" dirty="0">
                <a:latin typeface="UKIJ CJK"/>
                <a:cs typeface="UKIJ CJK"/>
              </a:rPr>
              <a:t>The  original active </a:t>
            </a:r>
            <a:r>
              <a:rPr sz="2000" spc="19" dirty="0">
                <a:latin typeface="UKIJ CJK"/>
                <a:cs typeface="UKIJ CJK"/>
              </a:rPr>
              <a:t>Master </a:t>
            </a:r>
            <a:r>
              <a:rPr sz="2000" spc="11" dirty="0">
                <a:latin typeface="UKIJ CJK"/>
                <a:cs typeface="UKIJ CJK"/>
              </a:rPr>
              <a:t>serves as </a:t>
            </a:r>
            <a:r>
              <a:rPr sz="2000" spc="23" dirty="0">
                <a:latin typeface="UKIJ CJK"/>
                <a:cs typeface="UKIJ CJK"/>
              </a:rPr>
              <a:t>the </a:t>
            </a:r>
            <a:r>
              <a:rPr sz="2000" spc="26" dirty="0">
                <a:latin typeface="UKIJ CJK"/>
                <a:cs typeface="UKIJ CJK"/>
              </a:rPr>
              <a:t>standby </a:t>
            </a:r>
            <a:r>
              <a:rPr sz="2000" spc="19" dirty="0">
                <a:latin typeface="UKIJ CJK"/>
                <a:cs typeface="UKIJ CJK"/>
              </a:rPr>
              <a:t>Master </a:t>
            </a:r>
            <a:r>
              <a:rPr sz="2000" spc="23" dirty="0">
                <a:latin typeface="UKIJ CJK"/>
                <a:cs typeface="UKIJ CJK"/>
              </a:rPr>
              <a:t>when the </a:t>
            </a:r>
            <a:r>
              <a:rPr sz="2000" spc="15" dirty="0">
                <a:latin typeface="UKIJ CJK"/>
                <a:cs typeface="UKIJ CJK"/>
              </a:rPr>
              <a:t>fault </a:t>
            </a:r>
            <a:r>
              <a:rPr sz="2000" dirty="0">
                <a:latin typeface="UKIJ CJK"/>
                <a:cs typeface="UKIJ CJK"/>
              </a:rPr>
              <a:t>is  </a:t>
            </a:r>
            <a:r>
              <a:rPr sz="2000" spc="11" dirty="0">
                <a:latin typeface="UKIJ CJK"/>
                <a:cs typeface="UKIJ CJK"/>
              </a:rPr>
              <a:t>rectified.</a:t>
            </a:r>
            <a:endParaRPr sz="2000" dirty="0">
              <a:latin typeface="UKIJ CJK"/>
              <a:cs typeface="UKIJ CJK"/>
            </a:endParaRPr>
          </a:p>
          <a:p>
            <a:pPr marL="138113" marR="42386" indent="-128588">
              <a:buFont typeface="Wingdings"/>
              <a:buChar char=""/>
              <a:tabLst>
                <a:tab pos="138113" algn="l"/>
              </a:tabLst>
            </a:pPr>
            <a:r>
              <a:rPr sz="2000" spc="49" dirty="0">
                <a:latin typeface="UKIJ CJK"/>
                <a:cs typeface="UKIJ CJK"/>
              </a:rPr>
              <a:t>HDFS </a:t>
            </a:r>
            <a:r>
              <a:rPr sz="2000" spc="23" dirty="0">
                <a:latin typeface="UKIJ CJK"/>
                <a:cs typeface="UKIJ CJK"/>
              </a:rPr>
              <a:t>provides </a:t>
            </a:r>
            <a:r>
              <a:rPr sz="2000" spc="26" dirty="0">
                <a:latin typeface="UKIJ CJK"/>
                <a:cs typeface="UKIJ CJK"/>
              </a:rPr>
              <a:t>highly </a:t>
            </a:r>
            <a:r>
              <a:rPr sz="2000" spc="11" dirty="0">
                <a:latin typeface="UKIJ CJK"/>
                <a:cs typeface="UKIJ CJK"/>
              </a:rPr>
              <a:t>reliable file </a:t>
            </a:r>
            <a:r>
              <a:rPr sz="2000" spc="26" dirty="0">
                <a:latin typeface="UKIJ CJK"/>
                <a:cs typeface="UKIJ CJK"/>
              </a:rPr>
              <a:t>storage </a:t>
            </a:r>
            <a:r>
              <a:rPr sz="2000" spc="15" dirty="0">
                <a:latin typeface="UKIJ CJK"/>
                <a:cs typeface="UKIJ CJK"/>
              </a:rPr>
              <a:t>services for </a:t>
            </a:r>
            <a:r>
              <a:rPr sz="2000" spc="11" dirty="0" err="1">
                <a:latin typeface="UKIJ CJK"/>
                <a:cs typeface="UKIJ CJK"/>
              </a:rPr>
              <a:t>HBase</a:t>
            </a:r>
            <a:r>
              <a:rPr sz="2000" spc="11" dirty="0">
                <a:latin typeface="UKIJ CJK"/>
                <a:cs typeface="UKIJ CJK"/>
              </a:rPr>
              <a:t>. </a:t>
            </a:r>
            <a:r>
              <a:rPr sz="2000" spc="26" dirty="0">
                <a:latin typeface="UKIJ CJK"/>
                <a:cs typeface="UKIJ CJK"/>
              </a:rPr>
              <a:t>All </a:t>
            </a:r>
            <a:r>
              <a:rPr sz="2000" spc="19" dirty="0" err="1">
                <a:latin typeface="UKIJ CJK"/>
                <a:cs typeface="UKIJ CJK"/>
              </a:rPr>
              <a:t>HBase</a:t>
            </a:r>
            <a:r>
              <a:rPr sz="2000" spc="19" dirty="0">
                <a:latin typeface="UKIJ CJK"/>
                <a:cs typeface="UKIJ CJK"/>
              </a:rPr>
              <a:t> </a:t>
            </a:r>
            <a:r>
              <a:rPr sz="2000" spc="23" dirty="0">
                <a:latin typeface="UKIJ CJK"/>
                <a:cs typeface="UKIJ CJK"/>
              </a:rPr>
              <a:t>data  </a:t>
            </a:r>
            <a:r>
              <a:rPr sz="2000" spc="4" dirty="0">
                <a:latin typeface="UKIJ CJK"/>
                <a:cs typeface="UKIJ CJK"/>
              </a:rPr>
              <a:t>is </a:t>
            </a:r>
            <a:r>
              <a:rPr sz="2000" spc="23" dirty="0">
                <a:latin typeface="UKIJ CJK"/>
                <a:cs typeface="UKIJ CJK"/>
              </a:rPr>
              <a:t>stored </a:t>
            </a:r>
            <a:r>
              <a:rPr sz="2000" spc="11" dirty="0">
                <a:latin typeface="UKIJ CJK"/>
                <a:cs typeface="UKIJ CJK"/>
              </a:rPr>
              <a:t>in </a:t>
            </a:r>
            <a:r>
              <a:rPr sz="2000" spc="23" dirty="0">
                <a:latin typeface="UKIJ CJK"/>
                <a:cs typeface="UKIJ CJK"/>
              </a:rPr>
              <a:t>the</a:t>
            </a:r>
            <a:r>
              <a:rPr sz="2000" spc="75" dirty="0">
                <a:latin typeface="UKIJ CJK"/>
                <a:cs typeface="UKIJ CJK"/>
              </a:rPr>
              <a:t> </a:t>
            </a:r>
            <a:r>
              <a:rPr sz="2000" spc="34" dirty="0">
                <a:latin typeface="UKIJ CJK"/>
                <a:cs typeface="UKIJ CJK"/>
              </a:rPr>
              <a:t>HDFS.</a:t>
            </a:r>
            <a:endParaRPr sz="2000" dirty="0">
              <a:latin typeface="UKIJ CJK"/>
              <a:cs typeface="UKIJ CJK"/>
            </a:endParaRPr>
          </a:p>
        </p:txBody>
      </p:sp>
      <p:grpSp>
        <p:nvGrpSpPr>
          <p:cNvPr id="3" name="object 3"/>
          <p:cNvGrpSpPr/>
          <p:nvPr/>
        </p:nvGrpSpPr>
        <p:grpSpPr>
          <a:xfrm>
            <a:off x="326570" y="189145"/>
            <a:ext cx="11216245" cy="5119125"/>
            <a:chOff x="376427" y="679704"/>
            <a:chExt cx="6106160" cy="3442335"/>
          </a:xfrm>
        </p:grpSpPr>
        <p:sp>
          <p:nvSpPr>
            <p:cNvPr id="4" name="object 4"/>
            <p:cNvSpPr/>
            <p:nvPr/>
          </p:nvSpPr>
          <p:spPr>
            <a:xfrm>
              <a:off x="611619" y="841836"/>
              <a:ext cx="5731583" cy="3209251"/>
            </a:xfrm>
            <a:prstGeom prst="rect">
              <a:avLst/>
            </a:prstGeom>
            <a:blipFill>
              <a:blip r:embed="rId2" cstate="print"/>
              <a:stretch>
                <a:fillRect/>
              </a:stretch>
            </a:blipFill>
          </p:spPr>
          <p:txBody>
            <a:bodyPr wrap="square" lIns="0" tIns="0" rIns="0" bIns="0" rtlCol="0"/>
            <a:lstStyle/>
            <a:p>
              <a:endParaRPr sz="1350"/>
            </a:p>
          </p:txBody>
        </p:sp>
        <p:sp>
          <p:nvSpPr>
            <p:cNvPr id="5" name="object 5"/>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Tree>
    <p:extLst>
      <p:ext uri="{BB962C8B-B14F-4D97-AF65-F5344CB8AC3E}">
        <p14:creationId xmlns:p14="http://schemas.microsoft.com/office/powerpoint/2010/main" val="113019878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4255135" cy="513715"/>
          </a:xfrm>
          <a:prstGeom prst="rect">
            <a:avLst/>
          </a:prstGeom>
        </p:spPr>
        <p:txBody>
          <a:bodyPr vert="horz" wrap="square" lIns="0" tIns="13335" rIns="0" bIns="0" rtlCol="0">
            <a:spAutoFit/>
          </a:bodyPr>
          <a:lstStyle/>
          <a:p>
            <a:pPr marL="12700">
              <a:lnSpc>
                <a:spcPct val="100000"/>
              </a:lnSpc>
              <a:spcBef>
                <a:spcPts val="105"/>
              </a:spcBef>
            </a:pPr>
            <a:r>
              <a:rPr sz="3200" spc="100" dirty="0">
                <a:solidFill>
                  <a:srgbClr val="000000"/>
                </a:solidFill>
              </a:rPr>
              <a:t>HBase </a:t>
            </a:r>
            <a:r>
              <a:rPr sz="3200" spc="-25" dirty="0">
                <a:solidFill>
                  <a:srgbClr val="000000"/>
                </a:solidFill>
              </a:rPr>
              <a:t>Architecture</a:t>
            </a:r>
            <a:r>
              <a:rPr sz="3200" spc="-100" dirty="0">
                <a:solidFill>
                  <a:srgbClr val="000000"/>
                </a:solidFill>
              </a:rPr>
              <a:t> </a:t>
            </a:r>
            <a:r>
              <a:rPr sz="3200" spc="130" dirty="0">
                <a:solidFill>
                  <a:srgbClr val="000000"/>
                </a:solidFill>
              </a:rPr>
              <a:t>(2)</a:t>
            </a:r>
            <a:endParaRPr sz="320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17	</a:t>
            </a:r>
            <a:r>
              <a:rPr spc="30" dirty="0"/>
              <a:t>Huawei</a:t>
            </a:r>
            <a:r>
              <a:rPr spc="-10" dirty="0"/>
              <a:t> </a:t>
            </a:r>
            <a:r>
              <a:rPr spc="5" dirty="0"/>
              <a:t>Confidential</a:t>
            </a:r>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101039" y="1211325"/>
            <a:ext cx="9235440" cy="360680"/>
          </a:xfrm>
          <a:prstGeom prst="rect">
            <a:avLst/>
          </a:prstGeom>
        </p:spPr>
        <p:txBody>
          <a:bodyPr vert="horz" wrap="square" lIns="0" tIns="12065" rIns="0" bIns="0" rtlCol="0">
            <a:spAutoFit/>
          </a:bodyPr>
          <a:lstStyle/>
          <a:p>
            <a:pPr marL="12700">
              <a:lnSpc>
                <a:spcPct val="100000"/>
              </a:lnSpc>
              <a:spcBef>
                <a:spcPts val="95"/>
              </a:spcBef>
            </a:pPr>
            <a:r>
              <a:rPr sz="2200" spc="-5" dirty="0">
                <a:latin typeface="Trebuchet MS"/>
                <a:cs typeface="Trebuchet MS"/>
              </a:rPr>
              <a:t>The </a:t>
            </a:r>
            <a:r>
              <a:rPr sz="2200" spc="60" dirty="0">
                <a:latin typeface="Trebuchet MS"/>
                <a:cs typeface="Trebuchet MS"/>
              </a:rPr>
              <a:t>HBase </a:t>
            </a:r>
            <a:r>
              <a:rPr sz="2200" spc="-30" dirty="0">
                <a:latin typeface="Trebuchet MS"/>
                <a:cs typeface="Trebuchet MS"/>
              </a:rPr>
              <a:t>architecture </a:t>
            </a:r>
            <a:r>
              <a:rPr sz="2200" dirty="0">
                <a:latin typeface="Trebuchet MS"/>
                <a:cs typeface="Trebuchet MS"/>
              </a:rPr>
              <a:t>consists </a:t>
            </a:r>
            <a:r>
              <a:rPr sz="2200" spc="15" dirty="0">
                <a:latin typeface="Trebuchet MS"/>
                <a:cs typeface="Trebuchet MS"/>
              </a:rPr>
              <a:t>of </a:t>
            </a:r>
            <a:r>
              <a:rPr sz="2200" spc="-15" dirty="0">
                <a:latin typeface="Trebuchet MS"/>
                <a:cs typeface="Trebuchet MS"/>
              </a:rPr>
              <a:t>the </a:t>
            </a:r>
            <a:r>
              <a:rPr sz="2200" spc="25" dirty="0">
                <a:latin typeface="Trebuchet MS"/>
                <a:cs typeface="Trebuchet MS"/>
              </a:rPr>
              <a:t>following </a:t>
            </a:r>
            <a:r>
              <a:rPr sz="2200" dirty="0">
                <a:latin typeface="Trebuchet MS"/>
                <a:cs typeface="Trebuchet MS"/>
              </a:rPr>
              <a:t>functional</a:t>
            </a:r>
            <a:r>
              <a:rPr sz="2200" spc="280" dirty="0">
                <a:latin typeface="Trebuchet MS"/>
                <a:cs typeface="Trebuchet MS"/>
              </a:rPr>
              <a:t> </a:t>
            </a:r>
            <a:r>
              <a:rPr sz="2200" dirty="0">
                <a:latin typeface="Trebuchet MS"/>
                <a:cs typeface="Trebuchet MS"/>
              </a:rPr>
              <a:t>components:</a:t>
            </a:r>
            <a:endParaRPr sz="2200">
              <a:latin typeface="Trebuchet MS"/>
              <a:cs typeface="Trebuchet MS"/>
            </a:endParaRPr>
          </a:p>
        </p:txBody>
      </p:sp>
      <p:sp>
        <p:nvSpPr>
          <p:cNvPr id="5" name="object 5"/>
          <p:cNvSpPr txBox="1"/>
          <p:nvPr/>
        </p:nvSpPr>
        <p:spPr>
          <a:xfrm>
            <a:off x="1203147" y="1828545"/>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6" name="object 6"/>
          <p:cNvSpPr txBox="1"/>
          <p:nvPr/>
        </p:nvSpPr>
        <p:spPr>
          <a:xfrm>
            <a:off x="1454911" y="1756918"/>
            <a:ext cx="4667250" cy="1363345"/>
          </a:xfrm>
          <a:prstGeom prst="rect">
            <a:avLst/>
          </a:prstGeom>
        </p:spPr>
        <p:txBody>
          <a:bodyPr vert="horz" wrap="square" lIns="0" tIns="13335" rIns="0" bIns="0" rtlCol="0">
            <a:spAutoFit/>
          </a:bodyPr>
          <a:lstStyle/>
          <a:p>
            <a:pPr marL="12700">
              <a:lnSpc>
                <a:spcPct val="100000"/>
              </a:lnSpc>
              <a:spcBef>
                <a:spcPts val="105"/>
              </a:spcBef>
            </a:pPr>
            <a:r>
              <a:rPr sz="2000" spc="-5" dirty="0">
                <a:latin typeface="Trebuchet MS"/>
                <a:cs typeface="Trebuchet MS"/>
              </a:rPr>
              <a:t>Library </a:t>
            </a:r>
            <a:r>
              <a:rPr sz="2000" spc="10" dirty="0">
                <a:latin typeface="Trebuchet MS"/>
                <a:cs typeface="Trebuchet MS"/>
              </a:rPr>
              <a:t>functions </a:t>
            </a:r>
            <a:r>
              <a:rPr sz="2000" spc="30" dirty="0">
                <a:latin typeface="Trebuchet MS"/>
                <a:cs typeface="Trebuchet MS"/>
              </a:rPr>
              <a:t>(linking </a:t>
            </a:r>
            <a:r>
              <a:rPr sz="2000" spc="5" dirty="0">
                <a:latin typeface="Trebuchet MS"/>
                <a:cs typeface="Trebuchet MS"/>
              </a:rPr>
              <a:t>to </a:t>
            </a:r>
            <a:r>
              <a:rPr sz="2000" dirty="0">
                <a:latin typeface="Trebuchet MS"/>
                <a:cs typeface="Trebuchet MS"/>
              </a:rPr>
              <a:t>each</a:t>
            </a:r>
            <a:r>
              <a:rPr sz="2000" spc="-50" dirty="0">
                <a:latin typeface="Trebuchet MS"/>
                <a:cs typeface="Trebuchet MS"/>
              </a:rPr>
              <a:t> </a:t>
            </a:r>
            <a:r>
              <a:rPr sz="2000" spc="-20" dirty="0">
                <a:latin typeface="Trebuchet MS"/>
                <a:cs typeface="Trebuchet MS"/>
              </a:rPr>
              <a:t>client)</a:t>
            </a:r>
            <a:endParaRPr sz="2000" dirty="0">
              <a:latin typeface="Trebuchet MS"/>
              <a:cs typeface="Trebuchet MS"/>
            </a:endParaRPr>
          </a:p>
          <a:p>
            <a:pPr marL="12700" marR="2939415">
              <a:lnSpc>
                <a:spcPts val="4070"/>
              </a:lnSpc>
              <a:spcBef>
                <a:spcPts val="400"/>
              </a:spcBef>
            </a:pPr>
            <a:r>
              <a:rPr sz="2000" spc="80" dirty="0">
                <a:latin typeface="Trebuchet MS"/>
                <a:cs typeface="Trebuchet MS"/>
              </a:rPr>
              <a:t>HMaster  </a:t>
            </a:r>
            <a:r>
              <a:rPr sz="2000" spc="60" dirty="0">
                <a:latin typeface="Trebuchet MS"/>
                <a:cs typeface="Trebuchet MS"/>
              </a:rPr>
              <a:t>HRegio</a:t>
            </a:r>
            <a:r>
              <a:rPr sz="2000" spc="70" dirty="0">
                <a:latin typeface="Trebuchet MS"/>
                <a:cs typeface="Trebuchet MS"/>
              </a:rPr>
              <a:t>n</a:t>
            </a:r>
            <a:r>
              <a:rPr sz="2000" spc="10" dirty="0">
                <a:latin typeface="Trebuchet MS"/>
                <a:cs typeface="Trebuchet MS"/>
              </a:rPr>
              <a:t>Se</a:t>
            </a:r>
            <a:r>
              <a:rPr sz="2000" spc="-5" dirty="0">
                <a:latin typeface="Trebuchet MS"/>
                <a:cs typeface="Trebuchet MS"/>
              </a:rPr>
              <a:t>r</a:t>
            </a:r>
            <a:r>
              <a:rPr sz="2000" spc="-25" dirty="0">
                <a:latin typeface="Trebuchet MS"/>
                <a:cs typeface="Trebuchet MS"/>
              </a:rPr>
              <a:t>ver</a:t>
            </a:r>
            <a:endParaRPr sz="2000" dirty="0">
              <a:latin typeface="Trebuchet MS"/>
              <a:cs typeface="Trebuchet MS"/>
            </a:endParaRPr>
          </a:p>
        </p:txBody>
      </p:sp>
      <p:sp>
        <p:nvSpPr>
          <p:cNvPr id="7" name="object 7"/>
          <p:cNvSpPr txBox="1"/>
          <p:nvPr/>
        </p:nvSpPr>
        <p:spPr>
          <a:xfrm>
            <a:off x="1203147" y="2344038"/>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8" name="object 8"/>
          <p:cNvSpPr txBox="1"/>
          <p:nvPr/>
        </p:nvSpPr>
        <p:spPr>
          <a:xfrm>
            <a:off x="1203147" y="2860674"/>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4255135" cy="513715"/>
          </a:xfrm>
          <a:prstGeom prst="rect">
            <a:avLst/>
          </a:prstGeom>
        </p:spPr>
        <p:txBody>
          <a:bodyPr vert="horz" wrap="square" lIns="0" tIns="13335" rIns="0" bIns="0" rtlCol="0">
            <a:spAutoFit/>
          </a:bodyPr>
          <a:lstStyle/>
          <a:p>
            <a:pPr marL="12700">
              <a:lnSpc>
                <a:spcPct val="100000"/>
              </a:lnSpc>
              <a:spcBef>
                <a:spcPts val="105"/>
              </a:spcBef>
            </a:pPr>
            <a:r>
              <a:rPr sz="3200" spc="100" dirty="0">
                <a:solidFill>
                  <a:srgbClr val="000000"/>
                </a:solidFill>
              </a:rPr>
              <a:t>HBase </a:t>
            </a:r>
            <a:r>
              <a:rPr sz="3200" spc="-25" dirty="0">
                <a:solidFill>
                  <a:srgbClr val="000000"/>
                </a:solidFill>
              </a:rPr>
              <a:t>Architecture</a:t>
            </a:r>
            <a:r>
              <a:rPr sz="3200" spc="-100" dirty="0">
                <a:solidFill>
                  <a:srgbClr val="000000"/>
                </a:solidFill>
              </a:rPr>
              <a:t> </a:t>
            </a:r>
            <a:r>
              <a:rPr sz="3200" spc="130" dirty="0">
                <a:solidFill>
                  <a:srgbClr val="000000"/>
                </a:solidFill>
              </a:rPr>
              <a:t>(3)</a:t>
            </a:r>
            <a:endParaRPr sz="3200"/>
          </a:p>
        </p:txBody>
      </p:sp>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18	</a:t>
            </a:r>
            <a:r>
              <a:rPr spc="30" dirty="0"/>
              <a:t>Huawei</a:t>
            </a:r>
            <a:r>
              <a:rPr spc="-10" dirty="0"/>
              <a:t> </a:t>
            </a:r>
            <a:r>
              <a:rPr spc="5" dirty="0"/>
              <a:t>Confidential</a:t>
            </a:r>
          </a:p>
        </p:txBody>
      </p:sp>
      <p:sp>
        <p:nvSpPr>
          <p:cNvPr id="3" name="object 3"/>
          <p:cNvSpPr txBox="1"/>
          <p:nvPr/>
        </p:nvSpPr>
        <p:spPr>
          <a:xfrm>
            <a:off x="799287" y="1270761"/>
            <a:ext cx="120014"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4" name="object 4"/>
          <p:cNvSpPr txBox="1"/>
          <p:nvPr/>
        </p:nvSpPr>
        <p:spPr>
          <a:xfrm>
            <a:off x="1101039" y="1077823"/>
            <a:ext cx="10293985" cy="878840"/>
          </a:xfrm>
          <a:prstGeom prst="rect">
            <a:avLst/>
          </a:prstGeom>
        </p:spPr>
        <p:txBody>
          <a:bodyPr vert="horz" wrap="square" lIns="0" tIns="12700" rIns="0" bIns="0" rtlCol="0">
            <a:spAutoFit/>
          </a:bodyPr>
          <a:lstStyle/>
          <a:p>
            <a:pPr marL="12700" marR="5080">
              <a:lnSpc>
                <a:spcPct val="140000"/>
              </a:lnSpc>
              <a:spcBef>
                <a:spcPts val="100"/>
              </a:spcBef>
              <a:tabLst>
                <a:tab pos="573405" algn="l"/>
                <a:tab pos="1702435" algn="l"/>
                <a:tab pos="2528570" algn="l"/>
                <a:tab pos="3711575" algn="l"/>
                <a:tab pos="4281805" algn="l"/>
                <a:tab pos="5557520" algn="l"/>
                <a:tab pos="6066790" algn="l"/>
                <a:tab pos="7194550" algn="l"/>
                <a:tab pos="8696960" algn="l"/>
                <a:tab pos="9043035" algn="l"/>
                <a:tab pos="9553575" algn="l"/>
              </a:tabLst>
            </a:pPr>
            <a:r>
              <a:rPr sz="2000" dirty="0">
                <a:latin typeface="Trebuchet MS"/>
                <a:cs typeface="Trebuchet MS"/>
              </a:rPr>
              <a:t>Th</a:t>
            </a:r>
            <a:r>
              <a:rPr sz="2000" spc="5" dirty="0">
                <a:latin typeface="Trebuchet MS"/>
                <a:cs typeface="Trebuchet MS"/>
              </a:rPr>
              <a:t>e</a:t>
            </a:r>
            <a:r>
              <a:rPr sz="2000" dirty="0">
                <a:latin typeface="Trebuchet MS"/>
                <a:cs typeface="Trebuchet MS"/>
              </a:rPr>
              <a:t>	</a:t>
            </a:r>
            <a:r>
              <a:rPr sz="2000" spc="190" dirty="0">
                <a:latin typeface="Trebuchet MS"/>
                <a:cs typeface="Trebuchet MS"/>
              </a:rPr>
              <a:t>H</a:t>
            </a:r>
            <a:r>
              <a:rPr sz="2000" spc="120" dirty="0">
                <a:latin typeface="Trebuchet MS"/>
                <a:cs typeface="Trebuchet MS"/>
              </a:rPr>
              <a:t>Mas</a:t>
            </a:r>
            <a:r>
              <a:rPr sz="2000" spc="90" dirty="0">
                <a:latin typeface="Trebuchet MS"/>
                <a:cs typeface="Trebuchet MS"/>
              </a:rPr>
              <a:t>t</a:t>
            </a:r>
            <a:r>
              <a:rPr sz="2000" spc="-50" dirty="0">
                <a:latin typeface="Trebuchet MS"/>
                <a:cs typeface="Trebuchet MS"/>
              </a:rPr>
              <a:t>e</a:t>
            </a:r>
            <a:r>
              <a:rPr sz="2000" spc="-30" dirty="0">
                <a:latin typeface="Trebuchet MS"/>
                <a:cs typeface="Trebuchet MS"/>
              </a:rPr>
              <a:t>r</a:t>
            </a:r>
            <a:r>
              <a:rPr sz="2000" dirty="0">
                <a:latin typeface="Trebuchet MS"/>
                <a:cs typeface="Trebuchet MS"/>
              </a:rPr>
              <a:t>	</a:t>
            </a:r>
            <a:r>
              <a:rPr sz="2000" spc="-10" dirty="0">
                <a:latin typeface="Trebuchet MS"/>
                <a:cs typeface="Trebuchet MS"/>
              </a:rPr>
              <a:t>se</a:t>
            </a:r>
            <a:r>
              <a:rPr sz="2000" spc="-5" dirty="0">
                <a:latin typeface="Trebuchet MS"/>
                <a:cs typeface="Trebuchet MS"/>
              </a:rPr>
              <a:t>r</a:t>
            </a:r>
            <a:r>
              <a:rPr sz="2000" spc="-20" dirty="0">
                <a:latin typeface="Trebuchet MS"/>
                <a:cs typeface="Trebuchet MS"/>
              </a:rPr>
              <a:t>v</a:t>
            </a:r>
            <a:r>
              <a:rPr sz="2000" spc="-35" dirty="0">
                <a:latin typeface="Trebuchet MS"/>
                <a:cs typeface="Trebuchet MS"/>
              </a:rPr>
              <a:t>e</a:t>
            </a:r>
            <a:r>
              <a:rPr sz="2000" spc="-30" dirty="0">
                <a:latin typeface="Trebuchet MS"/>
                <a:cs typeface="Trebuchet MS"/>
              </a:rPr>
              <a:t>r</a:t>
            </a:r>
            <a:r>
              <a:rPr sz="2000" dirty="0">
                <a:latin typeface="Trebuchet MS"/>
                <a:cs typeface="Trebuchet MS"/>
              </a:rPr>
              <a:t>	</a:t>
            </a:r>
            <a:r>
              <a:rPr sz="2000" spc="65" dirty="0">
                <a:latin typeface="Trebuchet MS"/>
                <a:cs typeface="Trebuchet MS"/>
              </a:rPr>
              <a:t>manage</a:t>
            </a:r>
            <a:r>
              <a:rPr sz="2000" spc="50" dirty="0">
                <a:latin typeface="Trebuchet MS"/>
                <a:cs typeface="Trebuchet MS"/>
              </a:rPr>
              <a:t>s</a:t>
            </a:r>
            <a:r>
              <a:rPr sz="2000" dirty="0">
                <a:latin typeface="Trebuchet MS"/>
                <a:cs typeface="Trebuchet MS"/>
              </a:rPr>
              <a:t>	</a:t>
            </a:r>
            <a:r>
              <a:rPr sz="2000" spc="50" dirty="0">
                <a:latin typeface="Trebuchet MS"/>
                <a:cs typeface="Trebuchet MS"/>
              </a:rPr>
              <a:t>an</a:t>
            </a:r>
            <a:r>
              <a:rPr sz="2000" spc="55" dirty="0">
                <a:latin typeface="Trebuchet MS"/>
                <a:cs typeface="Trebuchet MS"/>
              </a:rPr>
              <a:t>d</a:t>
            </a:r>
            <a:r>
              <a:rPr sz="2000" dirty="0">
                <a:latin typeface="Trebuchet MS"/>
                <a:cs typeface="Trebuchet MS"/>
              </a:rPr>
              <a:t>	</a:t>
            </a:r>
            <a:r>
              <a:rPr sz="2000" spc="50" dirty="0">
                <a:latin typeface="Trebuchet MS"/>
                <a:cs typeface="Trebuchet MS"/>
              </a:rPr>
              <a:t>mai</a:t>
            </a:r>
            <a:r>
              <a:rPr sz="2000" spc="55" dirty="0">
                <a:latin typeface="Trebuchet MS"/>
                <a:cs typeface="Trebuchet MS"/>
              </a:rPr>
              <a:t>n</a:t>
            </a:r>
            <a:r>
              <a:rPr sz="2000" spc="-5" dirty="0">
                <a:latin typeface="Trebuchet MS"/>
                <a:cs typeface="Trebuchet MS"/>
              </a:rPr>
              <a:t>tai</a:t>
            </a:r>
            <a:r>
              <a:rPr sz="2000" spc="5" dirty="0">
                <a:latin typeface="Trebuchet MS"/>
                <a:cs typeface="Trebuchet MS"/>
              </a:rPr>
              <a:t>n</a:t>
            </a:r>
            <a:r>
              <a:rPr sz="2000" spc="35" dirty="0">
                <a:latin typeface="Trebuchet MS"/>
                <a:cs typeface="Trebuchet MS"/>
              </a:rPr>
              <a:t>s</a:t>
            </a:r>
            <a:r>
              <a:rPr sz="2000" dirty="0">
                <a:latin typeface="Trebuchet MS"/>
                <a:cs typeface="Trebuchet MS"/>
              </a:rPr>
              <a:t>	</a:t>
            </a:r>
            <a:r>
              <a:rPr sz="2000" spc="-10" dirty="0">
                <a:latin typeface="Trebuchet MS"/>
                <a:cs typeface="Trebuchet MS"/>
              </a:rPr>
              <a:t>the</a:t>
            </a:r>
            <a:r>
              <a:rPr sz="2000" dirty="0">
                <a:latin typeface="Trebuchet MS"/>
                <a:cs typeface="Trebuchet MS"/>
              </a:rPr>
              <a:t>	part</a:t>
            </a:r>
            <a:r>
              <a:rPr sz="2000" spc="-5" dirty="0">
                <a:latin typeface="Trebuchet MS"/>
                <a:cs typeface="Trebuchet MS"/>
              </a:rPr>
              <a:t>ition</a:t>
            </a:r>
            <a:r>
              <a:rPr sz="2000" dirty="0">
                <a:latin typeface="Trebuchet MS"/>
                <a:cs typeface="Trebuchet MS"/>
              </a:rPr>
              <a:t>	</a:t>
            </a:r>
            <a:r>
              <a:rPr sz="2000" spc="5" dirty="0">
                <a:latin typeface="Trebuchet MS"/>
                <a:cs typeface="Trebuchet MS"/>
              </a:rPr>
              <a:t>i</a:t>
            </a:r>
            <a:r>
              <a:rPr sz="2000" spc="15" dirty="0">
                <a:latin typeface="Trebuchet MS"/>
                <a:cs typeface="Trebuchet MS"/>
              </a:rPr>
              <a:t>n</a:t>
            </a:r>
            <a:r>
              <a:rPr sz="2000" spc="-60" dirty="0">
                <a:latin typeface="Trebuchet MS"/>
                <a:cs typeface="Trebuchet MS"/>
              </a:rPr>
              <a:t>f</a:t>
            </a:r>
            <a:r>
              <a:rPr sz="2000" spc="20" dirty="0">
                <a:latin typeface="Trebuchet MS"/>
                <a:cs typeface="Trebuchet MS"/>
              </a:rPr>
              <a:t>ormat</a:t>
            </a:r>
            <a:r>
              <a:rPr sz="2000" spc="15" dirty="0">
                <a:latin typeface="Trebuchet MS"/>
                <a:cs typeface="Trebuchet MS"/>
              </a:rPr>
              <a:t>i</a:t>
            </a:r>
            <a:r>
              <a:rPr sz="2000" spc="70" dirty="0">
                <a:latin typeface="Trebuchet MS"/>
                <a:cs typeface="Trebuchet MS"/>
              </a:rPr>
              <a:t>o</a:t>
            </a:r>
            <a:r>
              <a:rPr sz="2000" spc="80" dirty="0">
                <a:latin typeface="Trebuchet MS"/>
                <a:cs typeface="Trebuchet MS"/>
              </a:rPr>
              <a:t>n</a:t>
            </a:r>
            <a:r>
              <a:rPr sz="2000" dirty="0">
                <a:latin typeface="Trebuchet MS"/>
                <a:cs typeface="Trebuchet MS"/>
              </a:rPr>
              <a:t>	</a:t>
            </a:r>
            <a:r>
              <a:rPr sz="2000" spc="-5" dirty="0">
                <a:latin typeface="Trebuchet MS"/>
                <a:cs typeface="Trebuchet MS"/>
              </a:rPr>
              <a:t>i</a:t>
            </a:r>
            <a:r>
              <a:rPr sz="2000" spc="10" dirty="0">
                <a:latin typeface="Trebuchet MS"/>
                <a:cs typeface="Trebuchet MS"/>
              </a:rPr>
              <a:t>n</a:t>
            </a:r>
            <a:r>
              <a:rPr sz="2000" dirty="0">
                <a:latin typeface="Trebuchet MS"/>
                <a:cs typeface="Trebuchet MS"/>
              </a:rPr>
              <a:t>	</a:t>
            </a:r>
            <a:r>
              <a:rPr sz="2000" spc="-10" dirty="0">
                <a:latin typeface="Trebuchet MS"/>
                <a:cs typeface="Trebuchet MS"/>
              </a:rPr>
              <a:t>the</a:t>
            </a:r>
            <a:r>
              <a:rPr sz="2000" dirty="0">
                <a:latin typeface="Trebuchet MS"/>
                <a:cs typeface="Trebuchet MS"/>
              </a:rPr>
              <a:t>	</a:t>
            </a:r>
            <a:r>
              <a:rPr sz="2000" spc="145" dirty="0">
                <a:latin typeface="Trebuchet MS"/>
                <a:cs typeface="Trebuchet MS"/>
              </a:rPr>
              <a:t>H</a:t>
            </a:r>
            <a:r>
              <a:rPr sz="2000" spc="114" dirty="0">
                <a:latin typeface="Trebuchet MS"/>
                <a:cs typeface="Trebuchet MS"/>
              </a:rPr>
              <a:t>B</a:t>
            </a:r>
            <a:r>
              <a:rPr sz="2000" spc="10" dirty="0">
                <a:latin typeface="Trebuchet MS"/>
                <a:cs typeface="Trebuchet MS"/>
              </a:rPr>
              <a:t>ase  </a:t>
            </a:r>
            <a:r>
              <a:rPr sz="2000" spc="-55" dirty="0">
                <a:latin typeface="Trebuchet MS"/>
                <a:cs typeface="Trebuchet MS"/>
              </a:rPr>
              <a:t>table, </a:t>
            </a:r>
            <a:r>
              <a:rPr sz="2000" spc="25" dirty="0">
                <a:latin typeface="Trebuchet MS"/>
                <a:cs typeface="Trebuchet MS"/>
              </a:rPr>
              <a:t>maintains </a:t>
            </a:r>
            <a:r>
              <a:rPr sz="2000" spc="-10" dirty="0">
                <a:latin typeface="Trebuchet MS"/>
                <a:cs typeface="Trebuchet MS"/>
              </a:rPr>
              <a:t>the </a:t>
            </a:r>
            <a:r>
              <a:rPr sz="2000" spc="30" dirty="0">
                <a:latin typeface="Trebuchet MS"/>
                <a:cs typeface="Trebuchet MS"/>
              </a:rPr>
              <a:t>HRegionServer </a:t>
            </a:r>
            <a:r>
              <a:rPr sz="2000" spc="-75" dirty="0">
                <a:latin typeface="Trebuchet MS"/>
                <a:cs typeface="Trebuchet MS"/>
              </a:rPr>
              <a:t>list, </a:t>
            </a:r>
            <a:r>
              <a:rPr sz="2000" spc="-10" dirty="0">
                <a:latin typeface="Trebuchet MS"/>
                <a:cs typeface="Trebuchet MS"/>
              </a:rPr>
              <a:t>allocates </a:t>
            </a:r>
            <a:r>
              <a:rPr sz="2000" spc="-5" dirty="0">
                <a:latin typeface="Trebuchet MS"/>
                <a:cs typeface="Trebuchet MS"/>
              </a:rPr>
              <a:t>regions, </a:t>
            </a:r>
            <a:r>
              <a:rPr sz="2000" spc="50" dirty="0">
                <a:latin typeface="Trebuchet MS"/>
                <a:cs typeface="Trebuchet MS"/>
              </a:rPr>
              <a:t>and </a:t>
            </a:r>
            <a:r>
              <a:rPr sz="2000" spc="10" dirty="0">
                <a:latin typeface="Trebuchet MS"/>
                <a:cs typeface="Trebuchet MS"/>
              </a:rPr>
              <a:t>balances</a:t>
            </a:r>
            <a:r>
              <a:rPr sz="2000" spc="200" dirty="0">
                <a:latin typeface="Trebuchet MS"/>
                <a:cs typeface="Trebuchet MS"/>
              </a:rPr>
              <a:t> </a:t>
            </a:r>
            <a:r>
              <a:rPr sz="2000" spc="-20" dirty="0">
                <a:latin typeface="Trebuchet MS"/>
                <a:cs typeface="Trebuchet MS"/>
              </a:rPr>
              <a:t>loads.</a:t>
            </a:r>
            <a:endParaRPr sz="2000" dirty="0">
              <a:latin typeface="Trebuchet MS"/>
              <a:cs typeface="Trebuchet MS"/>
            </a:endParaRPr>
          </a:p>
        </p:txBody>
      </p:sp>
      <p:sp>
        <p:nvSpPr>
          <p:cNvPr id="5" name="object 5"/>
          <p:cNvSpPr txBox="1"/>
          <p:nvPr/>
        </p:nvSpPr>
        <p:spPr>
          <a:xfrm>
            <a:off x="799287" y="2226691"/>
            <a:ext cx="120014"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6" name="object 6"/>
          <p:cNvSpPr txBox="1"/>
          <p:nvPr/>
        </p:nvSpPr>
        <p:spPr>
          <a:xfrm>
            <a:off x="1101039" y="2033752"/>
            <a:ext cx="10293985" cy="878840"/>
          </a:xfrm>
          <a:prstGeom prst="rect">
            <a:avLst/>
          </a:prstGeom>
        </p:spPr>
        <p:txBody>
          <a:bodyPr vert="horz" wrap="square" lIns="0" tIns="12700" rIns="0" bIns="0" rtlCol="0">
            <a:spAutoFit/>
          </a:bodyPr>
          <a:lstStyle/>
          <a:p>
            <a:pPr marL="12700" marR="5080">
              <a:lnSpc>
                <a:spcPct val="140000"/>
              </a:lnSpc>
              <a:spcBef>
                <a:spcPts val="100"/>
              </a:spcBef>
            </a:pPr>
            <a:r>
              <a:rPr sz="2000" spc="30" dirty="0">
                <a:latin typeface="Trebuchet MS"/>
                <a:cs typeface="Trebuchet MS"/>
              </a:rPr>
              <a:t>HRegionServer </a:t>
            </a:r>
            <a:r>
              <a:rPr sz="2000" dirty="0">
                <a:latin typeface="Trebuchet MS"/>
                <a:cs typeface="Trebuchet MS"/>
              </a:rPr>
              <a:t>stores </a:t>
            </a:r>
            <a:r>
              <a:rPr sz="2000" spc="55" dirty="0">
                <a:latin typeface="Trebuchet MS"/>
                <a:cs typeface="Trebuchet MS"/>
              </a:rPr>
              <a:t>and </a:t>
            </a:r>
            <a:r>
              <a:rPr sz="2000" spc="25" dirty="0">
                <a:latin typeface="Trebuchet MS"/>
                <a:cs typeface="Trebuchet MS"/>
              </a:rPr>
              <a:t>maintains </a:t>
            </a:r>
            <a:r>
              <a:rPr sz="2000" spc="-10" dirty="0">
                <a:latin typeface="Trebuchet MS"/>
                <a:cs typeface="Trebuchet MS"/>
              </a:rPr>
              <a:t>the allocated </a:t>
            </a:r>
            <a:r>
              <a:rPr sz="2000" spc="30" dirty="0">
                <a:latin typeface="Trebuchet MS"/>
                <a:cs typeface="Trebuchet MS"/>
              </a:rPr>
              <a:t>regions </a:t>
            </a:r>
            <a:r>
              <a:rPr sz="2000" spc="50" dirty="0">
                <a:latin typeface="Trebuchet MS"/>
                <a:cs typeface="Trebuchet MS"/>
              </a:rPr>
              <a:t>and </a:t>
            </a:r>
            <a:r>
              <a:rPr sz="2000" dirty="0">
                <a:latin typeface="Trebuchet MS"/>
                <a:cs typeface="Trebuchet MS"/>
              </a:rPr>
              <a:t>process read </a:t>
            </a:r>
            <a:r>
              <a:rPr sz="2000" spc="50" dirty="0">
                <a:latin typeface="Trebuchet MS"/>
                <a:cs typeface="Trebuchet MS"/>
              </a:rPr>
              <a:t>and </a:t>
            </a:r>
            <a:r>
              <a:rPr sz="2000" spc="-25" dirty="0">
                <a:latin typeface="Trebuchet MS"/>
                <a:cs typeface="Trebuchet MS"/>
              </a:rPr>
              <a:t>write  </a:t>
            </a:r>
            <a:r>
              <a:rPr sz="2000" dirty="0">
                <a:latin typeface="Trebuchet MS"/>
                <a:cs typeface="Trebuchet MS"/>
              </a:rPr>
              <a:t>requests </a:t>
            </a:r>
            <a:r>
              <a:rPr sz="2000" spc="35" dirty="0">
                <a:latin typeface="Trebuchet MS"/>
                <a:cs typeface="Trebuchet MS"/>
              </a:rPr>
              <a:t>from</a:t>
            </a:r>
            <a:r>
              <a:rPr sz="2000" dirty="0">
                <a:latin typeface="Trebuchet MS"/>
                <a:cs typeface="Trebuchet MS"/>
              </a:rPr>
              <a:t> </a:t>
            </a:r>
            <a:r>
              <a:rPr sz="2000" spc="-55" dirty="0">
                <a:latin typeface="Trebuchet MS"/>
                <a:cs typeface="Trebuchet MS"/>
              </a:rPr>
              <a:t>clients.</a:t>
            </a:r>
            <a:endParaRPr sz="2000" dirty="0">
              <a:latin typeface="Trebuchet MS"/>
              <a:cs typeface="Trebuchet MS"/>
            </a:endParaRPr>
          </a:p>
        </p:txBody>
      </p:sp>
      <p:sp>
        <p:nvSpPr>
          <p:cNvPr id="7" name="object 7"/>
          <p:cNvSpPr txBox="1"/>
          <p:nvPr/>
        </p:nvSpPr>
        <p:spPr>
          <a:xfrm>
            <a:off x="799287" y="3180714"/>
            <a:ext cx="120014"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8" name="object 8"/>
          <p:cNvSpPr txBox="1"/>
          <p:nvPr/>
        </p:nvSpPr>
        <p:spPr>
          <a:xfrm>
            <a:off x="1101039" y="2987133"/>
            <a:ext cx="10293985" cy="880110"/>
          </a:xfrm>
          <a:prstGeom prst="rect">
            <a:avLst/>
          </a:prstGeom>
        </p:spPr>
        <p:txBody>
          <a:bodyPr vert="horz" wrap="square" lIns="0" tIns="135255" rIns="0" bIns="0" rtlCol="0">
            <a:spAutoFit/>
          </a:bodyPr>
          <a:lstStyle/>
          <a:p>
            <a:pPr marL="12700">
              <a:lnSpc>
                <a:spcPct val="100000"/>
              </a:lnSpc>
              <a:spcBef>
                <a:spcPts val="1065"/>
              </a:spcBef>
            </a:pPr>
            <a:r>
              <a:rPr sz="2000" dirty="0">
                <a:latin typeface="Trebuchet MS"/>
                <a:cs typeface="Trebuchet MS"/>
              </a:rPr>
              <a:t>The </a:t>
            </a:r>
            <a:r>
              <a:rPr sz="2000" spc="-40" dirty="0">
                <a:latin typeface="Trebuchet MS"/>
                <a:cs typeface="Trebuchet MS"/>
              </a:rPr>
              <a:t>client </a:t>
            </a:r>
            <a:r>
              <a:rPr sz="2000" spc="25" dirty="0">
                <a:latin typeface="Trebuchet MS"/>
                <a:cs typeface="Trebuchet MS"/>
              </a:rPr>
              <a:t>does not </a:t>
            </a:r>
            <a:r>
              <a:rPr sz="2000" spc="-40" dirty="0">
                <a:latin typeface="Trebuchet MS"/>
                <a:cs typeface="Trebuchet MS"/>
              </a:rPr>
              <a:t>directly </a:t>
            </a:r>
            <a:r>
              <a:rPr sz="2000" spc="5" dirty="0">
                <a:latin typeface="Trebuchet MS"/>
                <a:cs typeface="Trebuchet MS"/>
              </a:rPr>
              <a:t>read </a:t>
            </a:r>
            <a:r>
              <a:rPr sz="2000" spc="15" dirty="0">
                <a:latin typeface="Trebuchet MS"/>
                <a:cs typeface="Trebuchet MS"/>
              </a:rPr>
              <a:t>data </a:t>
            </a:r>
            <a:r>
              <a:rPr sz="2000" spc="40" dirty="0">
                <a:latin typeface="Trebuchet MS"/>
                <a:cs typeface="Trebuchet MS"/>
              </a:rPr>
              <a:t>from </a:t>
            </a:r>
            <a:r>
              <a:rPr sz="2000" spc="35" dirty="0">
                <a:latin typeface="Trebuchet MS"/>
                <a:cs typeface="Trebuchet MS"/>
              </a:rPr>
              <a:t>HMaster. </a:t>
            </a:r>
            <a:r>
              <a:rPr sz="2000" spc="-20" dirty="0">
                <a:latin typeface="Trebuchet MS"/>
                <a:cs typeface="Trebuchet MS"/>
              </a:rPr>
              <a:t>Instead, </a:t>
            </a:r>
            <a:r>
              <a:rPr sz="2000" spc="-10" dirty="0">
                <a:latin typeface="Trebuchet MS"/>
                <a:cs typeface="Trebuchet MS"/>
              </a:rPr>
              <a:t>the</a:t>
            </a:r>
            <a:r>
              <a:rPr sz="2000" spc="60" dirty="0">
                <a:latin typeface="Trebuchet MS"/>
                <a:cs typeface="Trebuchet MS"/>
              </a:rPr>
              <a:t> </a:t>
            </a:r>
            <a:r>
              <a:rPr sz="2000" spc="-35" dirty="0">
                <a:latin typeface="Trebuchet MS"/>
                <a:cs typeface="Trebuchet MS"/>
              </a:rPr>
              <a:t>client </a:t>
            </a:r>
            <a:r>
              <a:rPr sz="2000" spc="-40" dirty="0">
                <a:latin typeface="Trebuchet MS"/>
                <a:cs typeface="Trebuchet MS"/>
              </a:rPr>
              <a:t>directly </a:t>
            </a:r>
            <a:r>
              <a:rPr sz="2000" spc="10" dirty="0">
                <a:latin typeface="Trebuchet MS"/>
                <a:cs typeface="Trebuchet MS"/>
              </a:rPr>
              <a:t>reads</a:t>
            </a:r>
            <a:endParaRPr sz="2000" dirty="0">
              <a:latin typeface="Trebuchet MS"/>
              <a:cs typeface="Trebuchet MS"/>
            </a:endParaRPr>
          </a:p>
          <a:p>
            <a:pPr marL="12700">
              <a:lnSpc>
                <a:spcPct val="100000"/>
              </a:lnSpc>
              <a:spcBef>
                <a:spcPts val="960"/>
              </a:spcBef>
            </a:pPr>
            <a:r>
              <a:rPr sz="2000" spc="20" dirty="0">
                <a:latin typeface="Trebuchet MS"/>
                <a:cs typeface="Trebuchet MS"/>
              </a:rPr>
              <a:t>data </a:t>
            </a:r>
            <a:r>
              <a:rPr sz="2000" spc="35" dirty="0">
                <a:latin typeface="Trebuchet MS"/>
                <a:cs typeface="Trebuchet MS"/>
              </a:rPr>
              <a:t>from </a:t>
            </a:r>
            <a:r>
              <a:rPr sz="2000" spc="30" dirty="0">
                <a:latin typeface="Trebuchet MS"/>
                <a:cs typeface="Trebuchet MS"/>
              </a:rPr>
              <a:t>HRegionServer </a:t>
            </a:r>
            <a:r>
              <a:rPr sz="2000" spc="-30" dirty="0">
                <a:latin typeface="Trebuchet MS"/>
                <a:cs typeface="Trebuchet MS"/>
              </a:rPr>
              <a:t>after </a:t>
            </a:r>
            <a:r>
              <a:rPr sz="2000" spc="30" dirty="0">
                <a:latin typeface="Trebuchet MS"/>
                <a:cs typeface="Trebuchet MS"/>
              </a:rPr>
              <a:t>obtaining </a:t>
            </a:r>
            <a:r>
              <a:rPr sz="2000" spc="-10" dirty="0">
                <a:latin typeface="Trebuchet MS"/>
                <a:cs typeface="Trebuchet MS"/>
              </a:rPr>
              <a:t>the </a:t>
            </a:r>
            <a:r>
              <a:rPr sz="2000" spc="25" dirty="0">
                <a:latin typeface="Trebuchet MS"/>
                <a:cs typeface="Trebuchet MS"/>
              </a:rPr>
              <a:t>storage </a:t>
            </a:r>
            <a:r>
              <a:rPr sz="2000" spc="5" dirty="0">
                <a:latin typeface="Trebuchet MS"/>
                <a:cs typeface="Trebuchet MS"/>
              </a:rPr>
              <a:t>location </a:t>
            </a:r>
            <a:r>
              <a:rPr sz="2000" spc="15" dirty="0">
                <a:latin typeface="Trebuchet MS"/>
                <a:cs typeface="Trebuchet MS"/>
              </a:rPr>
              <a:t>of </a:t>
            </a:r>
            <a:r>
              <a:rPr sz="2000" spc="-10" dirty="0">
                <a:latin typeface="Trebuchet MS"/>
                <a:cs typeface="Trebuchet MS"/>
              </a:rPr>
              <a:t>the</a:t>
            </a:r>
            <a:r>
              <a:rPr sz="2000" spc="-5" dirty="0">
                <a:latin typeface="Trebuchet MS"/>
                <a:cs typeface="Trebuchet MS"/>
              </a:rPr>
              <a:t> </a:t>
            </a:r>
            <a:r>
              <a:rPr sz="2000" spc="-15" dirty="0">
                <a:latin typeface="Trebuchet MS"/>
                <a:cs typeface="Trebuchet MS"/>
              </a:rPr>
              <a:t>region.</a:t>
            </a:r>
            <a:endParaRPr sz="2000" dirty="0">
              <a:latin typeface="Trebuchet MS"/>
              <a:cs typeface="Trebuchet MS"/>
            </a:endParaRPr>
          </a:p>
        </p:txBody>
      </p:sp>
      <p:sp>
        <p:nvSpPr>
          <p:cNvPr id="9" name="object 9"/>
          <p:cNvSpPr txBox="1"/>
          <p:nvPr/>
        </p:nvSpPr>
        <p:spPr>
          <a:xfrm>
            <a:off x="799287" y="4136516"/>
            <a:ext cx="120014"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10" name="object 10"/>
          <p:cNvSpPr txBox="1"/>
          <p:nvPr/>
        </p:nvSpPr>
        <p:spPr>
          <a:xfrm>
            <a:off x="1101039" y="3944028"/>
            <a:ext cx="10294620" cy="1305560"/>
          </a:xfrm>
          <a:prstGeom prst="rect">
            <a:avLst/>
          </a:prstGeom>
        </p:spPr>
        <p:txBody>
          <a:bodyPr vert="horz" wrap="square" lIns="0" tIns="11430" rIns="0" bIns="0" rtlCol="0">
            <a:spAutoFit/>
          </a:bodyPr>
          <a:lstStyle/>
          <a:p>
            <a:pPr marL="12700" marR="5080" algn="just">
              <a:lnSpc>
                <a:spcPct val="140100"/>
              </a:lnSpc>
              <a:spcBef>
                <a:spcPts val="90"/>
              </a:spcBef>
            </a:pPr>
            <a:r>
              <a:rPr sz="2000" dirty="0">
                <a:latin typeface="Trebuchet MS"/>
                <a:cs typeface="Trebuchet MS"/>
              </a:rPr>
              <a:t>The </a:t>
            </a:r>
            <a:r>
              <a:rPr sz="2000" spc="-35" dirty="0">
                <a:latin typeface="Trebuchet MS"/>
                <a:cs typeface="Trebuchet MS"/>
              </a:rPr>
              <a:t>client </a:t>
            </a:r>
            <a:r>
              <a:rPr sz="2000" spc="30" dirty="0">
                <a:latin typeface="Trebuchet MS"/>
                <a:cs typeface="Trebuchet MS"/>
              </a:rPr>
              <a:t>does </a:t>
            </a:r>
            <a:r>
              <a:rPr sz="2000" spc="25" dirty="0">
                <a:latin typeface="Trebuchet MS"/>
                <a:cs typeface="Trebuchet MS"/>
              </a:rPr>
              <a:t>not </a:t>
            </a:r>
            <a:r>
              <a:rPr sz="2000" spc="15" dirty="0">
                <a:latin typeface="Trebuchet MS"/>
                <a:cs typeface="Trebuchet MS"/>
              </a:rPr>
              <a:t>depend </a:t>
            </a:r>
            <a:r>
              <a:rPr sz="2000" spc="75" dirty="0">
                <a:latin typeface="Trebuchet MS"/>
                <a:cs typeface="Trebuchet MS"/>
              </a:rPr>
              <a:t>on </a:t>
            </a:r>
            <a:r>
              <a:rPr sz="2000" spc="-10" dirty="0">
                <a:latin typeface="Trebuchet MS"/>
                <a:cs typeface="Trebuchet MS"/>
              </a:rPr>
              <a:t>the </a:t>
            </a:r>
            <a:r>
              <a:rPr sz="2000" spc="35" dirty="0">
                <a:latin typeface="Trebuchet MS"/>
                <a:cs typeface="Trebuchet MS"/>
              </a:rPr>
              <a:t>HMaster. </a:t>
            </a:r>
            <a:r>
              <a:rPr sz="2000" spc="-20" dirty="0">
                <a:latin typeface="Trebuchet MS"/>
                <a:cs typeface="Trebuchet MS"/>
              </a:rPr>
              <a:t>Instead, </a:t>
            </a:r>
            <a:r>
              <a:rPr sz="2000" spc="-10" dirty="0">
                <a:latin typeface="Trebuchet MS"/>
                <a:cs typeface="Trebuchet MS"/>
              </a:rPr>
              <a:t>the </a:t>
            </a:r>
            <a:r>
              <a:rPr sz="2000" spc="-35" dirty="0">
                <a:latin typeface="Trebuchet MS"/>
                <a:cs typeface="Trebuchet MS"/>
              </a:rPr>
              <a:t>client </a:t>
            </a:r>
            <a:r>
              <a:rPr sz="2000" spc="20" dirty="0">
                <a:latin typeface="Trebuchet MS"/>
                <a:cs typeface="Trebuchet MS"/>
              </a:rPr>
              <a:t>obtains </a:t>
            </a:r>
            <a:r>
              <a:rPr sz="2000" spc="-10" dirty="0">
                <a:latin typeface="Trebuchet MS"/>
                <a:cs typeface="Trebuchet MS"/>
              </a:rPr>
              <a:t>the </a:t>
            </a:r>
            <a:r>
              <a:rPr sz="2000" spc="20" dirty="0">
                <a:latin typeface="Trebuchet MS"/>
                <a:cs typeface="Trebuchet MS"/>
              </a:rPr>
              <a:t>region  </a:t>
            </a:r>
            <a:r>
              <a:rPr sz="2000" dirty="0">
                <a:latin typeface="Trebuchet MS"/>
                <a:cs typeface="Trebuchet MS"/>
              </a:rPr>
              <a:t>location </a:t>
            </a:r>
            <a:r>
              <a:rPr sz="2000" spc="50" dirty="0">
                <a:latin typeface="Trebuchet MS"/>
                <a:cs typeface="Trebuchet MS"/>
              </a:rPr>
              <a:t>through </a:t>
            </a:r>
            <a:r>
              <a:rPr sz="2000" spc="-15" dirty="0">
                <a:latin typeface="Trebuchet MS"/>
                <a:cs typeface="Trebuchet MS"/>
              </a:rPr>
              <a:t>ZooKeeper. </a:t>
            </a:r>
            <a:r>
              <a:rPr sz="2000" spc="114" dirty="0">
                <a:latin typeface="Trebuchet MS"/>
                <a:cs typeface="Trebuchet MS"/>
              </a:rPr>
              <a:t>Most </a:t>
            </a:r>
            <a:r>
              <a:rPr sz="2000" spc="-25" dirty="0">
                <a:latin typeface="Trebuchet MS"/>
                <a:cs typeface="Trebuchet MS"/>
              </a:rPr>
              <a:t>clients </a:t>
            </a:r>
            <a:r>
              <a:rPr sz="2000" spc="55" dirty="0">
                <a:latin typeface="Trebuchet MS"/>
                <a:cs typeface="Trebuchet MS"/>
              </a:rPr>
              <a:t>do </a:t>
            </a:r>
            <a:r>
              <a:rPr sz="2000" spc="30" dirty="0">
                <a:latin typeface="Trebuchet MS"/>
                <a:cs typeface="Trebuchet MS"/>
              </a:rPr>
              <a:t>not </a:t>
            </a:r>
            <a:r>
              <a:rPr sz="2000" spc="-5" dirty="0">
                <a:latin typeface="Trebuchet MS"/>
                <a:cs typeface="Trebuchet MS"/>
              </a:rPr>
              <a:t>even </a:t>
            </a:r>
            <a:r>
              <a:rPr sz="2000" spc="20" dirty="0">
                <a:latin typeface="Trebuchet MS"/>
                <a:cs typeface="Trebuchet MS"/>
              </a:rPr>
              <a:t>communicate </a:t>
            </a:r>
            <a:r>
              <a:rPr sz="2000" spc="10" dirty="0">
                <a:latin typeface="Trebuchet MS"/>
                <a:cs typeface="Trebuchet MS"/>
              </a:rPr>
              <a:t>with </a:t>
            </a:r>
            <a:r>
              <a:rPr sz="2000" spc="-10" dirty="0">
                <a:latin typeface="Trebuchet MS"/>
                <a:cs typeface="Trebuchet MS"/>
              </a:rPr>
              <a:t>the </a:t>
            </a:r>
            <a:r>
              <a:rPr sz="2000" spc="35" dirty="0">
                <a:latin typeface="Trebuchet MS"/>
                <a:cs typeface="Trebuchet MS"/>
              </a:rPr>
              <a:t>HMaster.  </a:t>
            </a:r>
            <a:r>
              <a:rPr sz="2000" dirty="0">
                <a:latin typeface="Trebuchet MS"/>
                <a:cs typeface="Trebuchet MS"/>
              </a:rPr>
              <a:t>This </a:t>
            </a:r>
            <a:r>
              <a:rPr sz="2000" spc="30" dirty="0">
                <a:latin typeface="Trebuchet MS"/>
                <a:cs typeface="Trebuchet MS"/>
              </a:rPr>
              <a:t>design </a:t>
            </a:r>
            <a:r>
              <a:rPr sz="2000" spc="-5" dirty="0">
                <a:latin typeface="Trebuchet MS"/>
                <a:cs typeface="Trebuchet MS"/>
              </a:rPr>
              <a:t>reduces </a:t>
            </a:r>
            <a:r>
              <a:rPr sz="2000" spc="-10" dirty="0">
                <a:latin typeface="Trebuchet MS"/>
                <a:cs typeface="Trebuchet MS"/>
              </a:rPr>
              <a:t>the </a:t>
            </a:r>
            <a:r>
              <a:rPr sz="2000" spc="30" dirty="0">
                <a:latin typeface="Trebuchet MS"/>
                <a:cs typeface="Trebuchet MS"/>
              </a:rPr>
              <a:t>load </a:t>
            </a:r>
            <a:r>
              <a:rPr sz="2000" spc="15" dirty="0">
                <a:latin typeface="Trebuchet MS"/>
                <a:cs typeface="Trebuchet MS"/>
              </a:rPr>
              <a:t>of </a:t>
            </a:r>
            <a:r>
              <a:rPr sz="2000" spc="-10" dirty="0">
                <a:latin typeface="Trebuchet MS"/>
                <a:cs typeface="Trebuchet MS"/>
              </a:rPr>
              <a:t>the</a:t>
            </a:r>
            <a:r>
              <a:rPr sz="2000" spc="10" dirty="0">
                <a:latin typeface="Trebuchet MS"/>
                <a:cs typeface="Trebuchet MS"/>
              </a:rPr>
              <a:t> </a:t>
            </a:r>
            <a:r>
              <a:rPr sz="2000" spc="40" dirty="0">
                <a:latin typeface="Trebuchet MS"/>
                <a:cs typeface="Trebuchet MS"/>
              </a:rPr>
              <a:t>HMaster.</a:t>
            </a:r>
            <a:endParaRPr sz="2000" dirty="0">
              <a:latin typeface="Trebuchet MS"/>
              <a:cs typeface="Trebuchet MS"/>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7304" y="5150847"/>
            <a:ext cx="11778342" cy="1240244"/>
          </a:xfrm>
          <a:prstGeom prst="rect">
            <a:avLst/>
          </a:prstGeom>
        </p:spPr>
        <p:txBody>
          <a:bodyPr vert="horz" wrap="square" lIns="0" tIns="9049" rIns="0" bIns="0" rtlCol="0">
            <a:spAutoFit/>
          </a:bodyPr>
          <a:lstStyle/>
          <a:p>
            <a:pPr marL="138113" marR="515303" indent="-128588">
              <a:spcBef>
                <a:spcPts val="71"/>
              </a:spcBef>
              <a:buFont typeface="Wingdings"/>
              <a:buChar char=""/>
              <a:tabLst>
                <a:tab pos="138113" algn="l"/>
              </a:tabLst>
            </a:pPr>
            <a:r>
              <a:rPr sz="2000" spc="26" dirty="0">
                <a:latin typeface="UKIJ CJK"/>
                <a:cs typeface="UKIJ CJK"/>
              </a:rPr>
              <a:t>MemStore: </a:t>
            </a:r>
            <a:r>
              <a:rPr sz="2000" spc="41" dirty="0">
                <a:latin typeface="UKIJ CJK"/>
                <a:cs typeface="UKIJ CJK"/>
              </a:rPr>
              <a:t>When </a:t>
            </a:r>
            <a:r>
              <a:rPr sz="2000" spc="23" dirty="0">
                <a:latin typeface="UKIJ CJK"/>
                <a:cs typeface="UKIJ CJK"/>
              </a:rPr>
              <a:t>the </a:t>
            </a:r>
            <a:r>
              <a:rPr sz="2000" spc="30" dirty="0">
                <a:latin typeface="UKIJ CJK"/>
                <a:cs typeface="UKIJ CJK"/>
              </a:rPr>
              <a:t>MemStore </a:t>
            </a:r>
            <a:r>
              <a:rPr sz="2000" spc="23" dirty="0">
                <a:latin typeface="UKIJ CJK"/>
                <a:cs typeface="UKIJ CJK"/>
              </a:rPr>
              <a:t>capacity </a:t>
            </a:r>
            <a:r>
              <a:rPr sz="2000" spc="15" dirty="0">
                <a:latin typeface="UKIJ CJK"/>
                <a:cs typeface="UKIJ CJK"/>
              </a:rPr>
              <a:t>reaches </a:t>
            </a:r>
            <a:r>
              <a:rPr sz="2000" spc="23" dirty="0">
                <a:latin typeface="UKIJ CJK"/>
                <a:cs typeface="UKIJ CJK"/>
              </a:rPr>
              <a:t>the upper </a:t>
            </a:r>
            <a:r>
              <a:rPr sz="2000" spc="8" dirty="0">
                <a:latin typeface="UKIJ CJK"/>
                <a:cs typeface="UKIJ CJK"/>
              </a:rPr>
              <a:t>limit,  </a:t>
            </a:r>
            <a:r>
              <a:rPr sz="2000" spc="26" dirty="0">
                <a:latin typeface="UKIJ CJK"/>
                <a:cs typeface="UKIJ CJK"/>
              </a:rPr>
              <a:t>RegionServer </a:t>
            </a:r>
            <a:r>
              <a:rPr sz="2000" spc="11" dirty="0">
                <a:latin typeface="UKIJ CJK"/>
                <a:cs typeface="UKIJ CJK"/>
              </a:rPr>
              <a:t>flushes </a:t>
            </a:r>
            <a:r>
              <a:rPr sz="2000" spc="23" dirty="0">
                <a:latin typeface="UKIJ CJK"/>
                <a:cs typeface="UKIJ CJK"/>
              </a:rPr>
              <a:t>data </a:t>
            </a:r>
            <a:r>
              <a:rPr sz="2000" spc="11" dirty="0">
                <a:latin typeface="UKIJ CJK"/>
                <a:cs typeface="UKIJ CJK"/>
              </a:rPr>
              <a:t>in </a:t>
            </a:r>
            <a:r>
              <a:rPr sz="2000" spc="30" dirty="0">
                <a:latin typeface="UKIJ CJK"/>
                <a:cs typeface="UKIJ CJK"/>
              </a:rPr>
              <a:t>MemStore </a:t>
            </a:r>
            <a:r>
              <a:rPr sz="2000" spc="34" dirty="0">
                <a:latin typeface="UKIJ CJK"/>
                <a:cs typeface="UKIJ CJK"/>
              </a:rPr>
              <a:t>to</a:t>
            </a:r>
            <a:r>
              <a:rPr sz="2000" spc="83" dirty="0">
                <a:latin typeface="UKIJ CJK"/>
                <a:cs typeface="UKIJ CJK"/>
              </a:rPr>
              <a:t> </a:t>
            </a:r>
            <a:r>
              <a:rPr sz="2000" spc="30" dirty="0">
                <a:latin typeface="UKIJ CJK"/>
                <a:cs typeface="UKIJ CJK"/>
              </a:rPr>
              <a:t>HDFS.</a:t>
            </a:r>
            <a:endParaRPr sz="2000" dirty="0">
              <a:latin typeface="UKIJ CJK"/>
              <a:cs typeface="UKIJ CJK"/>
            </a:endParaRPr>
          </a:p>
          <a:p>
            <a:pPr marL="138113" marR="3810" indent="-128588">
              <a:buFont typeface="Wingdings"/>
              <a:buChar char=""/>
              <a:tabLst>
                <a:tab pos="138113" algn="l"/>
              </a:tabLst>
            </a:pPr>
            <a:r>
              <a:rPr sz="2000" spc="15" dirty="0">
                <a:latin typeface="UKIJ CJK"/>
                <a:cs typeface="UKIJ CJK"/>
              </a:rPr>
              <a:t>StoreFile: </a:t>
            </a:r>
            <a:r>
              <a:rPr sz="2000" spc="41" dirty="0">
                <a:latin typeface="UKIJ CJK"/>
                <a:cs typeface="UKIJ CJK"/>
              </a:rPr>
              <a:t>As </a:t>
            </a:r>
            <a:r>
              <a:rPr sz="2000" spc="19" dirty="0">
                <a:latin typeface="UKIJ CJK"/>
                <a:cs typeface="UKIJ CJK"/>
              </a:rPr>
              <a:t>more </a:t>
            </a:r>
            <a:r>
              <a:rPr sz="2000" spc="23" dirty="0">
                <a:latin typeface="UKIJ CJK"/>
                <a:cs typeface="UKIJ CJK"/>
              </a:rPr>
              <a:t>data </a:t>
            </a:r>
            <a:r>
              <a:rPr sz="2000" spc="4" dirty="0">
                <a:latin typeface="UKIJ CJK"/>
                <a:cs typeface="UKIJ CJK"/>
              </a:rPr>
              <a:t>is </a:t>
            </a:r>
            <a:r>
              <a:rPr sz="2000" spc="11" dirty="0">
                <a:latin typeface="UKIJ CJK"/>
                <a:cs typeface="UKIJ CJK"/>
              </a:rPr>
              <a:t>inserted, </a:t>
            </a:r>
            <a:r>
              <a:rPr sz="2000" spc="19" dirty="0">
                <a:latin typeface="UKIJ CJK"/>
                <a:cs typeface="UKIJ CJK"/>
              </a:rPr>
              <a:t>multiple StoreFiles </a:t>
            </a:r>
            <a:r>
              <a:rPr sz="2000" spc="8" dirty="0">
                <a:latin typeface="UKIJ CJK"/>
                <a:cs typeface="UKIJ CJK"/>
              </a:rPr>
              <a:t>are </a:t>
            </a:r>
            <a:r>
              <a:rPr sz="2000" spc="30" dirty="0">
                <a:latin typeface="UKIJ CJK"/>
                <a:cs typeface="UKIJ CJK"/>
              </a:rPr>
              <a:t>generated </a:t>
            </a:r>
            <a:r>
              <a:rPr sz="2000" spc="11" dirty="0">
                <a:latin typeface="UKIJ CJK"/>
                <a:cs typeface="UKIJ CJK"/>
              </a:rPr>
              <a:t>in </a:t>
            </a:r>
            <a:r>
              <a:rPr sz="2000" spc="15" dirty="0">
                <a:latin typeface="UKIJ CJK"/>
                <a:cs typeface="UKIJ CJK"/>
              </a:rPr>
              <a:t>a  Store. </a:t>
            </a:r>
            <a:r>
              <a:rPr sz="2000" spc="41" dirty="0">
                <a:latin typeface="UKIJ CJK"/>
                <a:cs typeface="UKIJ CJK"/>
              </a:rPr>
              <a:t>When </a:t>
            </a:r>
            <a:r>
              <a:rPr sz="2000" spc="23" dirty="0">
                <a:latin typeface="UKIJ CJK"/>
                <a:cs typeface="UKIJ CJK"/>
              </a:rPr>
              <a:t>the </a:t>
            </a:r>
            <a:r>
              <a:rPr sz="2000" spc="19" dirty="0">
                <a:latin typeface="UKIJ CJK"/>
                <a:cs typeface="UKIJ CJK"/>
              </a:rPr>
              <a:t>number </a:t>
            </a:r>
            <a:r>
              <a:rPr sz="2000" spc="30" dirty="0">
                <a:latin typeface="UKIJ CJK"/>
                <a:cs typeface="UKIJ CJK"/>
              </a:rPr>
              <a:t>of </a:t>
            </a:r>
            <a:r>
              <a:rPr sz="2000" spc="15" dirty="0">
                <a:latin typeface="UKIJ CJK"/>
                <a:cs typeface="UKIJ CJK"/>
              </a:rPr>
              <a:t>StoreFiles reaches </a:t>
            </a:r>
            <a:r>
              <a:rPr sz="2000" spc="23" dirty="0">
                <a:latin typeface="UKIJ CJK"/>
                <a:cs typeface="UKIJ CJK"/>
              </a:rPr>
              <a:t>the </a:t>
            </a:r>
            <a:r>
              <a:rPr sz="2000" spc="19" dirty="0">
                <a:latin typeface="UKIJ CJK"/>
                <a:cs typeface="UKIJ CJK"/>
              </a:rPr>
              <a:t>upper </a:t>
            </a:r>
            <a:r>
              <a:rPr sz="2000" spc="8" dirty="0">
                <a:latin typeface="UKIJ CJK"/>
                <a:cs typeface="UKIJ CJK"/>
              </a:rPr>
              <a:t>limit, </a:t>
            </a:r>
            <a:r>
              <a:rPr sz="2000" spc="26" dirty="0">
                <a:latin typeface="UKIJ CJK"/>
                <a:cs typeface="UKIJ CJK"/>
              </a:rPr>
              <a:t>RegionServer  merges </a:t>
            </a:r>
            <a:r>
              <a:rPr sz="2000" spc="19" dirty="0">
                <a:latin typeface="UKIJ CJK"/>
                <a:cs typeface="UKIJ CJK"/>
              </a:rPr>
              <a:t>multiple </a:t>
            </a:r>
            <a:r>
              <a:rPr sz="2000" spc="15" dirty="0">
                <a:latin typeface="UKIJ CJK"/>
                <a:cs typeface="UKIJ CJK"/>
              </a:rPr>
              <a:t>StoreFiles </a:t>
            </a:r>
            <a:r>
              <a:rPr sz="2000" spc="23" dirty="0">
                <a:latin typeface="UKIJ CJK"/>
                <a:cs typeface="UKIJ CJK"/>
              </a:rPr>
              <a:t>into </a:t>
            </a:r>
            <a:r>
              <a:rPr sz="2000" spc="15" dirty="0">
                <a:latin typeface="UKIJ CJK"/>
                <a:cs typeface="UKIJ CJK"/>
              </a:rPr>
              <a:t>a </a:t>
            </a:r>
            <a:r>
              <a:rPr sz="2000" spc="49" dirty="0">
                <a:latin typeface="UKIJ CJK"/>
                <a:cs typeface="UKIJ CJK"/>
              </a:rPr>
              <a:t>big</a:t>
            </a:r>
            <a:r>
              <a:rPr sz="2000" spc="53" dirty="0">
                <a:latin typeface="UKIJ CJK"/>
                <a:cs typeface="UKIJ CJK"/>
              </a:rPr>
              <a:t> </a:t>
            </a:r>
            <a:r>
              <a:rPr sz="2000" spc="15" dirty="0">
                <a:latin typeface="UKIJ CJK"/>
                <a:cs typeface="UKIJ CJK"/>
              </a:rPr>
              <a:t>StoreFile.</a:t>
            </a:r>
            <a:endParaRPr sz="2000" dirty="0">
              <a:latin typeface="UKIJ CJK"/>
              <a:cs typeface="UKIJ CJK"/>
            </a:endParaRPr>
          </a:p>
        </p:txBody>
      </p:sp>
      <p:grpSp>
        <p:nvGrpSpPr>
          <p:cNvPr id="3" name="object 3"/>
          <p:cNvGrpSpPr/>
          <p:nvPr/>
        </p:nvGrpSpPr>
        <p:grpSpPr>
          <a:xfrm>
            <a:off x="388455" y="183207"/>
            <a:ext cx="11389887" cy="4345250"/>
            <a:chOff x="376427" y="679704"/>
            <a:chExt cx="6106160" cy="3442335"/>
          </a:xfrm>
        </p:grpSpPr>
        <p:sp>
          <p:nvSpPr>
            <p:cNvPr id="4" name="object 4"/>
            <p:cNvSpPr/>
            <p:nvPr/>
          </p:nvSpPr>
          <p:spPr>
            <a:xfrm>
              <a:off x="611619" y="841836"/>
              <a:ext cx="5731583" cy="3209251"/>
            </a:xfrm>
            <a:prstGeom prst="rect">
              <a:avLst/>
            </a:prstGeom>
            <a:blipFill>
              <a:blip r:embed="rId2" cstate="print"/>
              <a:stretch>
                <a:fillRect/>
              </a:stretch>
            </a:blipFill>
          </p:spPr>
          <p:txBody>
            <a:bodyPr wrap="square" lIns="0" tIns="0" rIns="0" bIns="0" rtlCol="0"/>
            <a:lstStyle/>
            <a:p>
              <a:endParaRPr sz="1350"/>
            </a:p>
          </p:txBody>
        </p:sp>
        <p:sp>
          <p:nvSpPr>
            <p:cNvPr id="5" name="object 5"/>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Tree>
    <p:extLst>
      <p:ext uri="{BB962C8B-B14F-4D97-AF65-F5344CB8AC3E}">
        <p14:creationId xmlns:p14="http://schemas.microsoft.com/office/powerpoint/2010/main" val="5568692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4255135" cy="513715"/>
          </a:xfrm>
          <a:prstGeom prst="rect">
            <a:avLst/>
          </a:prstGeom>
        </p:spPr>
        <p:txBody>
          <a:bodyPr vert="horz" wrap="square" lIns="0" tIns="13335" rIns="0" bIns="0" rtlCol="0">
            <a:spAutoFit/>
          </a:bodyPr>
          <a:lstStyle/>
          <a:p>
            <a:pPr marL="12700">
              <a:lnSpc>
                <a:spcPct val="100000"/>
              </a:lnSpc>
              <a:spcBef>
                <a:spcPts val="105"/>
              </a:spcBef>
            </a:pPr>
            <a:r>
              <a:rPr sz="3200" spc="100" dirty="0">
                <a:solidFill>
                  <a:srgbClr val="000000"/>
                </a:solidFill>
              </a:rPr>
              <a:t>HBase </a:t>
            </a:r>
            <a:r>
              <a:rPr sz="3200" spc="-25" dirty="0">
                <a:solidFill>
                  <a:srgbClr val="000000"/>
                </a:solidFill>
              </a:rPr>
              <a:t>Architecture</a:t>
            </a:r>
            <a:r>
              <a:rPr sz="3200" spc="-100" dirty="0">
                <a:solidFill>
                  <a:srgbClr val="000000"/>
                </a:solidFill>
              </a:rPr>
              <a:t> </a:t>
            </a:r>
            <a:r>
              <a:rPr sz="3200" spc="130" dirty="0">
                <a:solidFill>
                  <a:srgbClr val="000000"/>
                </a:solidFill>
              </a:rPr>
              <a:t>(4)</a:t>
            </a:r>
            <a:endParaRPr sz="3200"/>
          </a:p>
        </p:txBody>
      </p:sp>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19	</a:t>
            </a:r>
            <a:r>
              <a:rPr spc="30" dirty="0"/>
              <a:t>Huawei</a:t>
            </a:r>
            <a:r>
              <a:rPr spc="-10" dirty="0"/>
              <a:t> </a:t>
            </a:r>
            <a:r>
              <a:rPr spc="5" dirty="0"/>
              <a:t>Confidential</a:t>
            </a:r>
          </a:p>
        </p:txBody>
      </p:sp>
      <p:sp>
        <p:nvSpPr>
          <p:cNvPr id="3" name="object 3"/>
          <p:cNvSpPr txBox="1"/>
          <p:nvPr/>
        </p:nvSpPr>
        <p:spPr>
          <a:xfrm>
            <a:off x="799287" y="1308861"/>
            <a:ext cx="1397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Wingdings"/>
                <a:cs typeface="Wingdings"/>
              </a:rPr>
              <a:t></a:t>
            </a:r>
            <a:endParaRPr sz="1200">
              <a:latin typeface="Wingdings"/>
              <a:cs typeface="Wingdings"/>
            </a:endParaRPr>
          </a:p>
        </p:txBody>
      </p:sp>
      <p:sp>
        <p:nvSpPr>
          <p:cNvPr id="4" name="object 4"/>
          <p:cNvSpPr txBox="1"/>
          <p:nvPr/>
        </p:nvSpPr>
        <p:spPr>
          <a:xfrm>
            <a:off x="1075639" y="1223517"/>
            <a:ext cx="1226820" cy="907415"/>
          </a:xfrm>
          <a:prstGeom prst="rect">
            <a:avLst/>
          </a:prstGeom>
        </p:spPr>
        <p:txBody>
          <a:bodyPr vert="horz" wrap="square" lIns="0" tIns="12700" rIns="0" bIns="0" rtlCol="0">
            <a:spAutoFit/>
          </a:bodyPr>
          <a:lstStyle/>
          <a:p>
            <a:pPr marL="38100">
              <a:lnSpc>
                <a:spcPct val="100000"/>
              </a:lnSpc>
              <a:spcBef>
                <a:spcPts val="100"/>
              </a:spcBef>
            </a:pPr>
            <a:r>
              <a:rPr sz="2400" spc="-10" dirty="0">
                <a:latin typeface="Trebuchet MS"/>
                <a:cs typeface="Trebuchet MS"/>
              </a:rPr>
              <a:t>Table</a:t>
            </a:r>
            <a:endParaRPr sz="2400">
              <a:latin typeface="Trebuchet MS"/>
              <a:cs typeface="Trebuchet MS"/>
            </a:endParaRPr>
          </a:p>
          <a:p>
            <a:pPr marL="391795" indent="-252729">
              <a:lnSpc>
                <a:spcPct val="100000"/>
              </a:lnSpc>
              <a:spcBef>
                <a:spcPts val="1660"/>
              </a:spcBef>
              <a:buSzPct val="50000"/>
              <a:buFont typeface="Wingdings"/>
              <a:buChar char=""/>
              <a:tabLst>
                <a:tab pos="391795" algn="l"/>
                <a:tab pos="392430" algn="l"/>
              </a:tabLst>
            </a:pPr>
            <a:r>
              <a:rPr sz="2000" spc="40" dirty="0">
                <a:latin typeface="Trebuchet MS"/>
                <a:cs typeface="Trebuchet MS"/>
              </a:rPr>
              <a:t>Region</a:t>
            </a:r>
            <a:endParaRPr sz="2000">
              <a:latin typeface="Trebuchet MS"/>
              <a:cs typeface="Trebuchet MS"/>
            </a:endParaRPr>
          </a:p>
        </p:txBody>
      </p:sp>
      <p:sp>
        <p:nvSpPr>
          <p:cNvPr id="5" name="object 5"/>
          <p:cNvSpPr txBox="1"/>
          <p:nvPr/>
        </p:nvSpPr>
        <p:spPr>
          <a:xfrm>
            <a:off x="2526132" y="1223517"/>
            <a:ext cx="2941320" cy="907415"/>
          </a:xfrm>
          <a:prstGeom prst="rect">
            <a:avLst/>
          </a:prstGeom>
        </p:spPr>
        <p:txBody>
          <a:bodyPr vert="horz" wrap="square" lIns="0" tIns="12700" rIns="0" bIns="0" rtlCol="0">
            <a:spAutoFit/>
          </a:bodyPr>
          <a:lstStyle/>
          <a:p>
            <a:pPr marL="12700">
              <a:lnSpc>
                <a:spcPct val="100000"/>
              </a:lnSpc>
              <a:spcBef>
                <a:spcPts val="100"/>
              </a:spcBef>
            </a:pPr>
            <a:r>
              <a:rPr sz="2400" spc="80" dirty="0">
                <a:latin typeface="Trebuchet MS"/>
                <a:cs typeface="Trebuchet MS"/>
              </a:rPr>
              <a:t>(HBase</a:t>
            </a:r>
            <a:r>
              <a:rPr sz="2400" dirty="0">
                <a:latin typeface="Trebuchet MS"/>
                <a:cs typeface="Trebuchet MS"/>
              </a:rPr>
              <a:t> </a:t>
            </a:r>
            <a:r>
              <a:rPr sz="2400" spc="5" dirty="0">
                <a:latin typeface="Trebuchet MS"/>
                <a:cs typeface="Trebuchet MS"/>
              </a:rPr>
              <a:t>table)</a:t>
            </a:r>
            <a:endParaRPr sz="2400">
              <a:latin typeface="Trebuchet MS"/>
              <a:cs typeface="Trebuchet MS"/>
            </a:endParaRPr>
          </a:p>
          <a:p>
            <a:pPr marL="289560">
              <a:lnSpc>
                <a:spcPct val="100000"/>
              </a:lnSpc>
              <a:spcBef>
                <a:spcPts val="1660"/>
              </a:spcBef>
            </a:pPr>
            <a:r>
              <a:rPr sz="2000" spc="45" dirty="0">
                <a:latin typeface="Trebuchet MS"/>
                <a:cs typeface="Trebuchet MS"/>
              </a:rPr>
              <a:t>(Regions </a:t>
            </a:r>
            <a:r>
              <a:rPr sz="2000" dirty="0">
                <a:latin typeface="Trebuchet MS"/>
                <a:cs typeface="Trebuchet MS"/>
              </a:rPr>
              <a:t>for </a:t>
            </a:r>
            <a:r>
              <a:rPr sz="2000" spc="-10" dirty="0">
                <a:latin typeface="Trebuchet MS"/>
                <a:cs typeface="Trebuchet MS"/>
              </a:rPr>
              <a:t>the</a:t>
            </a:r>
            <a:r>
              <a:rPr sz="2000" spc="-60" dirty="0">
                <a:latin typeface="Trebuchet MS"/>
                <a:cs typeface="Trebuchet MS"/>
              </a:rPr>
              <a:t> </a:t>
            </a:r>
            <a:r>
              <a:rPr sz="2000" dirty="0">
                <a:latin typeface="Trebuchet MS"/>
                <a:cs typeface="Trebuchet MS"/>
              </a:rPr>
              <a:t>table)</a:t>
            </a:r>
            <a:endParaRPr sz="2000">
              <a:latin typeface="Trebuchet MS"/>
              <a:cs typeface="Trebuchet MS"/>
            </a:endParaRPr>
          </a:p>
        </p:txBody>
      </p:sp>
      <p:sp>
        <p:nvSpPr>
          <p:cNvPr id="6" name="object 6"/>
          <p:cNvSpPr txBox="1"/>
          <p:nvPr/>
        </p:nvSpPr>
        <p:spPr>
          <a:xfrm>
            <a:off x="1602739" y="2374518"/>
            <a:ext cx="120014"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7" name="object 7"/>
          <p:cNvSpPr txBox="1"/>
          <p:nvPr/>
        </p:nvSpPr>
        <p:spPr>
          <a:xfrm>
            <a:off x="1962404" y="2302891"/>
            <a:ext cx="629920" cy="330835"/>
          </a:xfrm>
          <a:prstGeom prst="rect">
            <a:avLst/>
          </a:prstGeom>
        </p:spPr>
        <p:txBody>
          <a:bodyPr vert="horz" wrap="square" lIns="0" tIns="13335" rIns="0" bIns="0" rtlCol="0">
            <a:spAutoFit/>
          </a:bodyPr>
          <a:lstStyle/>
          <a:p>
            <a:pPr marL="12700">
              <a:lnSpc>
                <a:spcPct val="100000"/>
              </a:lnSpc>
              <a:spcBef>
                <a:spcPts val="105"/>
              </a:spcBef>
            </a:pPr>
            <a:r>
              <a:rPr sz="2000" spc="5" dirty="0">
                <a:latin typeface="Trebuchet MS"/>
                <a:cs typeface="Trebuchet MS"/>
              </a:rPr>
              <a:t>Store</a:t>
            </a:r>
            <a:endParaRPr sz="2000">
              <a:latin typeface="Trebuchet MS"/>
              <a:cs typeface="Trebuchet MS"/>
            </a:endParaRPr>
          </a:p>
        </p:txBody>
      </p:sp>
      <p:sp>
        <p:nvSpPr>
          <p:cNvPr id="8" name="object 8"/>
          <p:cNvSpPr txBox="1"/>
          <p:nvPr/>
        </p:nvSpPr>
        <p:spPr>
          <a:xfrm>
            <a:off x="3358301" y="2302891"/>
            <a:ext cx="6466205" cy="330835"/>
          </a:xfrm>
          <a:prstGeom prst="rect">
            <a:avLst/>
          </a:prstGeom>
        </p:spPr>
        <p:txBody>
          <a:bodyPr vert="horz" wrap="square" lIns="0" tIns="13335" rIns="0" bIns="0" rtlCol="0">
            <a:spAutoFit/>
          </a:bodyPr>
          <a:lstStyle/>
          <a:p>
            <a:pPr marL="12700">
              <a:lnSpc>
                <a:spcPct val="100000"/>
              </a:lnSpc>
              <a:spcBef>
                <a:spcPts val="105"/>
              </a:spcBef>
            </a:pPr>
            <a:r>
              <a:rPr sz="2000" spc="20" dirty="0">
                <a:latin typeface="Trebuchet MS"/>
                <a:cs typeface="Trebuchet MS"/>
              </a:rPr>
              <a:t>(Store </a:t>
            </a:r>
            <a:r>
              <a:rPr sz="2000" spc="-10" dirty="0">
                <a:latin typeface="Trebuchet MS"/>
                <a:cs typeface="Trebuchet MS"/>
              </a:rPr>
              <a:t>per </a:t>
            </a:r>
            <a:r>
              <a:rPr sz="2000" spc="35" dirty="0">
                <a:latin typeface="Trebuchet MS"/>
                <a:cs typeface="Trebuchet MS"/>
              </a:rPr>
              <a:t>ColumnFamily </a:t>
            </a:r>
            <a:r>
              <a:rPr sz="2000" dirty="0">
                <a:latin typeface="Trebuchet MS"/>
                <a:cs typeface="Trebuchet MS"/>
              </a:rPr>
              <a:t>for each </a:t>
            </a:r>
            <a:r>
              <a:rPr sz="2000" spc="40" dirty="0">
                <a:latin typeface="Trebuchet MS"/>
                <a:cs typeface="Trebuchet MS"/>
              </a:rPr>
              <a:t>Region </a:t>
            </a:r>
            <a:r>
              <a:rPr sz="2000" dirty="0">
                <a:latin typeface="Trebuchet MS"/>
                <a:cs typeface="Trebuchet MS"/>
              </a:rPr>
              <a:t>for </a:t>
            </a:r>
            <a:r>
              <a:rPr sz="2000" spc="-10" dirty="0">
                <a:latin typeface="Trebuchet MS"/>
                <a:cs typeface="Trebuchet MS"/>
              </a:rPr>
              <a:t>the</a:t>
            </a:r>
            <a:r>
              <a:rPr sz="2000" spc="50" dirty="0">
                <a:latin typeface="Trebuchet MS"/>
                <a:cs typeface="Trebuchet MS"/>
              </a:rPr>
              <a:t> </a:t>
            </a:r>
            <a:r>
              <a:rPr sz="2000" dirty="0">
                <a:latin typeface="Trebuchet MS"/>
                <a:cs typeface="Trebuchet MS"/>
              </a:rPr>
              <a:t>table)</a:t>
            </a:r>
            <a:endParaRPr sz="2000">
              <a:latin typeface="Trebuchet MS"/>
              <a:cs typeface="Trebuchet MS"/>
            </a:endParaRPr>
          </a:p>
        </p:txBody>
      </p:sp>
      <p:sp>
        <p:nvSpPr>
          <p:cNvPr id="9" name="object 9"/>
          <p:cNvSpPr txBox="1"/>
          <p:nvPr/>
        </p:nvSpPr>
        <p:spPr>
          <a:xfrm>
            <a:off x="2002027" y="2793619"/>
            <a:ext cx="1448435" cy="1136015"/>
          </a:xfrm>
          <a:prstGeom prst="rect">
            <a:avLst/>
          </a:prstGeom>
        </p:spPr>
        <p:txBody>
          <a:bodyPr vert="horz" wrap="square" lIns="0" tIns="12700" rIns="0" bIns="0" rtlCol="0">
            <a:spAutoFit/>
          </a:bodyPr>
          <a:lstStyle/>
          <a:p>
            <a:pPr marL="353695" indent="-341630">
              <a:lnSpc>
                <a:spcPct val="100000"/>
              </a:lnSpc>
              <a:spcBef>
                <a:spcPts val="100"/>
              </a:spcBef>
              <a:buChar char="−"/>
              <a:tabLst>
                <a:tab pos="353695" algn="l"/>
                <a:tab pos="354330" algn="l"/>
              </a:tabLst>
            </a:pPr>
            <a:r>
              <a:rPr sz="1800" spc="60" dirty="0">
                <a:latin typeface="Trebuchet MS"/>
                <a:cs typeface="Trebuchet MS"/>
              </a:rPr>
              <a:t>MemStore</a:t>
            </a:r>
            <a:endParaRPr sz="1800">
              <a:latin typeface="Trebuchet MS"/>
              <a:cs typeface="Trebuchet MS"/>
            </a:endParaRPr>
          </a:p>
          <a:p>
            <a:pPr marL="353695" indent="-341630">
              <a:lnSpc>
                <a:spcPct val="100000"/>
              </a:lnSpc>
              <a:spcBef>
                <a:spcPts val="1460"/>
              </a:spcBef>
              <a:buChar char="−"/>
              <a:tabLst>
                <a:tab pos="353695" algn="l"/>
                <a:tab pos="354330" algn="l"/>
              </a:tabLst>
            </a:pPr>
            <a:r>
              <a:rPr sz="1800" spc="-15" dirty="0">
                <a:latin typeface="Trebuchet MS"/>
                <a:cs typeface="Trebuchet MS"/>
              </a:rPr>
              <a:t>StoreFile</a:t>
            </a:r>
            <a:endParaRPr sz="1800">
              <a:latin typeface="Trebuchet MS"/>
              <a:cs typeface="Trebuchet MS"/>
            </a:endParaRPr>
          </a:p>
          <a:p>
            <a:pPr marL="411480">
              <a:lnSpc>
                <a:spcPct val="100000"/>
              </a:lnSpc>
              <a:spcBef>
                <a:spcPts val="1280"/>
              </a:spcBef>
              <a:tabLst>
                <a:tab pos="779145" algn="l"/>
              </a:tabLst>
            </a:pPr>
            <a:r>
              <a:rPr sz="1400" spc="105" dirty="0">
                <a:latin typeface="Trebuchet MS"/>
                <a:cs typeface="Trebuchet MS"/>
              </a:rPr>
              <a:t>~	</a:t>
            </a:r>
            <a:r>
              <a:rPr sz="1400" spc="10" dirty="0">
                <a:latin typeface="Trebuchet MS"/>
                <a:cs typeface="Trebuchet MS"/>
              </a:rPr>
              <a:t>Block</a:t>
            </a:r>
            <a:endParaRPr sz="1400">
              <a:latin typeface="Trebuchet MS"/>
              <a:cs typeface="Trebuchet MS"/>
            </a:endParaRPr>
          </a:p>
        </p:txBody>
      </p:sp>
      <p:sp>
        <p:nvSpPr>
          <p:cNvPr id="10" name="object 10"/>
          <p:cNvSpPr txBox="1"/>
          <p:nvPr/>
        </p:nvSpPr>
        <p:spPr>
          <a:xfrm>
            <a:off x="3922795" y="2793619"/>
            <a:ext cx="6205855" cy="1136015"/>
          </a:xfrm>
          <a:prstGeom prst="rect">
            <a:avLst/>
          </a:prstGeom>
        </p:spPr>
        <p:txBody>
          <a:bodyPr vert="horz" wrap="square" lIns="0" tIns="12700" rIns="0" bIns="0" rtlCol="0">
            <a:spAutoFit/>
          </a:bodyPr>
          <a:lstStyle/>
          <a:p>
            <a:pPr marL="301625">
              <a:lnSpc>
                <a:spcPct val="100000"/>
              </a:lnSpc>
              <a:spcBef>
                <a:spcPts val="100"/>
              </a:spcBef>
            </a:pPr>
            <a:r>
              <a:rPr sz="1800" spc="65" dirty="0">
                <a:latin typeface="Trebuchet MS"/>
                <a:cs typeface="Trebuchet MS"/>
              </a:rPr>
              <a:t>(MemStore </a:t>
            </a:r>
            <a:r>
              <a:rPr sz="1800" dirty="0">
                <a:latin typeface="Trebuchet MS"/>
                <a:cs typeface="Trebuchet MS"/>
              </a:rPr>
              <a:t>for each </a:t>
            </a:r>
            <a:r>
              <a:rPr sz="1800" spc="5" dirty="0">
                <a:latin typeface="Trebuchet MS"/>
                <a:cs typeface="Trebuchet MS"/>
              </a:rPr>
              <a:t>Store </a:t>
            </a:r>
            <a:r>
              <a:rPr sz="1800" dirty="0">
                <a:latin typeface="Trebuchet MS"/>
                <a:cs typeface="Trebuchet MS"/>
              </a:rPr>
              <a:t>for each </a:t>
            </a:r>
            <a:r>
              <a:rPr sz="1800" spc="35" dirty="0">
                <a:latin typeface="Trebuchet MS"/>
                <a:cs typeface="Trebuchet MS"/>
              </a:rPr>
              <a:t>Region </a:t>
            </a:r>
            <a:r>
              <a:rPr sz="1800" dirty="0">
                <a:latin typeface="Trebuchet MS"/>
                <a:cs typeface="Trebuchet MS"/>
              </a:rPr>
              <a:t>for </a:t>
            </a:r>
            <a:r>
              <a:rPr sz="1800" spc="-15" dirty="0">
                <a:latin typeface="Trebuchet MS"/>
                <a:cs typeface="Trebuchet MS"/>
              </a:rPr>
              <a:t>the</a:t>
            </a:r>
            <a:r>
              <a:rPr sz="1800" spc="5" dirty="0">
                <a:latin typeface="Trebuchet MS"/>
                <a:cs typeface="Trebuchet MS"/>
              </a:rPr>
              <a:t> </a:t>
            </a:r>
            <a:r>
              <a:rPr sz="1800" dirty="0">
                <a:latin typeface="Trebuchet MS"/>
                <a:cs typeface="Trebuchet MS"/>
              </a:rPr>
              <a:t>table)</a:t>
            </a:r>
            <a:endParaRPr sz="1800">
              <a:latin typeface="Trebuchet MS"/>
              <a:cs typeface="Trebuchet MS"/>
            </a:endParaRPr>
          </a:p>
          <a:p>
            <a:pPr marL="51435">
              <a:lnSpc>
                <a:spcPct val="100000"/>
              </a:lnSpc>
              <a:spcBef>
                <a:spcPts val="1460"/>
              </a:spcBef>
            </a:pPr>
            <a:r>
              <a:rPr sz="1800" dirty="0">
                <a:latin typeface="Trebuchet MS"/>
                <a:cs typeface="Trebuchet MS"/>
              </a:rPr>
              <a:t>(StoreFiles for each </a:t>
            </a:r>
            <a:r>
              <a:rPr sz="1800" spc="5" dirty="0">
                <a:latin typeface="Trebuchet MS"/>
                <a:cs typeface="Trebuchet MS"/>
              </a:rPr>
              <a:t>Store </a:t>
            </a:r>
            <a:r>
              <a:rPr sz="1800" dirty="0">
                <a:latin typeface="Trebuchet MS"/>
                <a:cs typeface="Trebuchet MS"/>
              </a:rPr>
              <a:t>for each </a:t>
            </a:r>
            <a:r>
              <a:rPr sz="1800" spc="30" dirty="0">
                <a:latin typeface="Trebuchet MS"/>
                <a:cs typeface="Trebuchet MS"/>
              </a:rPr>
              <a:t>Region </a:t>
            </a:r>
            <a:r>
              <a:rPr sz="1800" dirty="0">
                <a:latin typeface="Trebuchet MS"/>
                <a:cs typeface="Trebuchet MS"/>
              </a:rPr>
              <a:t>for </a:t>
            </a:r>
            <a:r>
              <a:rPr sz="1800" spc="-15" dirty="0">
                <a:latin typeface="Trebuchet MS"/>
                <a:cs typeface="Trebuchet MS"/>
              </a:rPr>
              <a:t>the</a:t>
            </a:r>
            <a:r>
              <a:rPr sz="1800" spc="135" dirty="0">
                <a:latin typeface="Trebuchet MS"/>
                <a:cs typeface="Trebuchet MS"/>
              </a:rPr>
              <a:t> </a:t>
            </a:r>
            <a:r>
              <a:rPr sz="1800" dirty="0">
                <a:latin typeface="Trebuchet MS"/>
                <a:cs typeface="Trebuchet MS"/>
              </a:rPr>
              <a:t>table)</a:t>
            </a:r>
            <a:endParaRPr sz="1800">
              <a:latin typeface="Trebuchet MS"/>
              <a:cs typeface="Trebuchet MS"/>
            </a:endParaRPr>
          </a:p>
          <a:p>
            <a:pPr marL="12700">
              <a:lnSpc>
                <a:spcPct val="100000"/>
              </a:lnSpc>
              <a:spcBef>
                <a:spcPts val="1280"/>
              </a:spcBef>
            </a:pPr>
            <a:r>
              <a:rPr sz="1400" spc="15" dirty="0">
                <a:latin typeface="Trebuchet MS"/>
                <a:cs typeface="Trebuchet MS"/>
              </a:rPr>
              <a:t>(Blocks </a:t>
            </a:r>
            <a:r>
              <a:rPr sz="1400" spc="5" dirty="0">
                <a:latin typeface="Trebuchet MS"/>
                <a:cs typeface="Trebuchet MS"/>
              </a:rPr>
              <a:t>within </a:t>
            </a:r>
            <a:r>
              <a:rPr sz="1400" spc="40" dirty="0">
                <a:latin typeface="Trebuchet MS"/>
                <a:cs typeface="Trebuchet MS"/>
              </a:rPr>
              <a:t>a </a:t>
            </a:r>
            <a:r>
              <a:rPr sz="1400" spc="-10" dirty="0">
                <a:latin typeface="Trebuchet MS"/>
                <a:cs typeface="Trebuchet MS"/>
              </a:rPr>
              <a:t>StoreFile </a:t>
            </a:r>
            <a:r>
              <a:rPr sz="1400" spc="5" dirty="0">
                <a:latin typeface="Trebuchet MS"/>
                <a:cs typeface="Trebuchet MS"/>
              </a:rPr>
              <a:t>within </a:t>
            </a:r>
            <a:r>
              <a:rPr sz="1400" spc="40" dirty="0">
                <a:latin typeface="Trebuchet MS"/>
                <a:cs typeface="Trebuchet MS"/>
              </a:rPr>
              <a:t>a </a:t>
            </a:r>
            <a:r>
              <a:rPr sz="1400" spc="5" dirty="0">
                <a:latin typeface="Trebuchet MS"/>
                <a:cs typeface="Trebuchet MS"/>
              </a:rPr>
              <a:t>Store </a:t>
            </a:r>
            <a:r>
              <a:rPr sz="1400" dirty="0">
                <a:latin typeface="Trebuchet MS"/>
                <a:cs typeface="Trebuchet MS"/>
              </a:rPr>
              <a:t>for </a:t>
            </a:r>
            <a:r>
              <a:rPr sz="1400" spc="5" dirty="0">
                <a:latin typeface="Trebuchet MS"/>
                <a:cs typeface="Trebuchet MS"/>
              </a:rPr>
              <a:t>each </a:t>
            </a:r>
            <a:r>
              <a:rPr sz="1400" spc="25" dirty="0">
                <a:latin typeface="Trebuchet MS"/>
                <a:cs typeface="Trebuchet MS"/>
              </a:rPr>
              <a:t>Region </a:t>
            </a:r>
            <a:r>
              <a:rPr sz="1400" dirty="0">
                <a:latin typeface="Trebuchet MS"/>
                <a:cs typeface="Trebuchet MS"/>
              </a:rPr>
              <a:t>for </a:t>
            </a:r>
            <a:r>
              <a:rPr sz="1400" spc="-10" dirty="0">
                <a:latin typeface="Trebuchet MS"/>
                <a:cs typeface="Trebuchet MS"/>
              </a:rPr>
              <a:t>the</a:t>
            </a:r>
            <a:r>
              <a:rPr sz="1400" spc="-40" dirty="0">
                <a:latin typeface="Trebuchet MS"/>
                <a:cs typeface="Trebuchet MS"/>
              </a:rPr>
              <a:t> </a:t>
            </a:r>
            <a:r>
              <a:rPr sz="1400" dirty="0">
                <a:latin typeface="Trebuchet MS"/>
                <a:cs typeface="Trebuchet MS"/>
              </a:rPr>
              <a:t>table)</a:t>
            </a:r>
            <a:endParaRPr sz="1400">
              <a:latin typeface="Trebuchet MS"/>
              <a:cs typeface="Trebuchet MS"/>
            </a:endParaRPr>
          </a:p>
        </p:txBody>
      </p:sp>
      <p:sp>
        <p:nvSpPr>
          <p:cNvPr id="13" name="object 4"/>
          <p:cNvSpPr/>
          <p:nvPr/>
        </p:nvSpPr>
        <p:spPr>
          <a:xfrm>
            <a:off x="2971800" y="4089527"/>
            <a:ext cx="5791200" cy="2757969"/>
          </a:xfrm>
          <a:prstGeom prst="rect">
            <a:avLst/>
          </a:prstGeom>
          <a:blipFill>
            <a:blip r:embed="rId2" cstate="print"/>
            <a:srcRect/>
            <a:stretch>
              <a:fillRect l="-231349" t="-48386" r="-26187" b="-49872"/>
            </a:stretch>
          </a:blipFill>
        </p:spPr>
        <p:txBody>
          <a:bodyPr wrap="square" lIns="0" tIns="0" rIns="0" bIns="0" rtlCol="0"/>
          <a:lstStyle/>
          <a:p>
            <a:endParaRPr sz="135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15667" y="3044951"/>
            <a:ext cx="3160776" cy="2955067"/>
          </a:xfrm>
          <a:prstGeom prst="rect">
            <a:avLst/>
          </a:prstGeom>
          <a:blipFill>
            <a:blip r:embed="rId2" cstate="print"/>
            <a:stretch>
              <a:fillRect/>
            </a:stretch>
          </a:blipFill>
        </p:spPr>
        <p:txBody>
          <a:bodyPr wrap="square" lIns="0" tIns="0" rIns="0" bIns="0" rtlCol="0"/>
          <a:lstStyle/>
          <a:p>
            <a:endParaRPr/>
          </a:p>
        </p:txBody>
      </p:sp>
      <p:sp>
        <p:nvSpPr>
          <p:cNvPr id="3" name="object 3"/>
          <p:cNvSpPr txBox="1">
            <a:spLocks noGrp="1"/>
          </p:cNvSpPr>
          <p:nvPr>
            <p:ph type="title"/>
          </p:nvPr>
        </p:nvSpPr>
        <p:spPr>
          <a:xfrm>
            <a:off x="719124" y="366521"/>
            <a:ext cx="3261995" cy="513715"/>
          </a:xfrm>
          <a:prstGeom prst="rect">
            <a:avLst/>
          </a:prstGeom>
        </p:spPr>
        <p:txBody>
          <a:bodyPr vert="horz" wrap="square" lIns="0" tIns="13335" rIns="0" bIns="0" rtlCol="0">
            <a:spAutoFit/>
          </a:bodyPr>
          <a:lstStyle/>
          <a:p>
            <a:pPr marL="12700">
              <a:lnSpc>
                <a:spcPct val="100000"/>
              </a:lnSpc>
              <a:spcBef>
                <a:spcPts val="105"/>
              </a:spcBef>
            </a:pPr>
            <a:r>
              <a:rPr sz="3200" spc="-10" dirty="0">
                <a:solidFill>
                  <a:srgbClr val="000000"/>
                </a:solidFill>
              </a:rPr>
              <a:t>Table </a:t>
            </a:r>
            <a:r>
              <a:rPr sz="3200" spc="85" dirty="0">
                <a:solidFill>
                  <a:srgbClr val="000000"/>
                </a:solidFill>
              </a:rPr>
              <a:t>and</a:t>
            </a:r>
            <a:r>
              <a:rPr sz="3200" spc="10" dirty="0">
                <a:solidFill>
                  <a:srgbClr val="000000"/>
                </a:solidFill>
              </a:rPr>
              <a:t> </a:t>
            </a:r>
            <a:r>
              <a:rPr sz="3200" spc="65" dirty="0">
                <a:solidFill>
                  <a:srgbClr val="000000"/>
                </a:solidFill>
              </a:rPr>
              <a:t>Region</a:t>
            </a:r>
            <a:endParaRPr sz="3200"/>
          </a:p>
        </p:txBody>
      </p:sp>
      <p:sp>
        <p:nvSpPr>
          <p:cNvPr id="4" name="object 4"/>
          <p:cNvSpPr txBox="1"/>
          <p:nvPr/>
        </p:nvSpPr>
        <p:spPr>
          <a:xfrm>
            <a:off x="799287" y="1232662"/>
            <a:ext cx="102235" cy="147955"/>
          </a:xfrm>
          <a:prstGeom prst="rect">
            <a:avLst/>
          </a:prstGeom>
        </p:spPr>
        <p:txBody>
          <a:bodyPr vert="horz" wrap="square" lIns="0" tIns="13335" rIns="0" bIns="0" rtlCol="0">
            <a:spAutoFit/>
          </a:bodyPr>
          <a:lstStyle/>
          <a:p>
            <a:pPr marL="12700">
              <a:lnSpc>
                <a:spcPct val="100000"/>
              </a:lnSpc>
              <a:spcBef>
                <a:spcPts val="105"/>
              </a:spcBef>
            </a:pPr>
            <a:r>
              <a:rPr sz="800" dirty="0">
                <a:latin typeface="Wingdings"/>
                <a:cs typeface="Wingdings"/>
              </a:rPr>
              <a:t></a:t>
            </a:r>
            <a:endParaRPr sz="800">
              <a:latin typeface="Wingdings"/>
              <a:cs typeface="Wingdings"/>
            </a:endParaRPr>
          </a:p>
        </p:txBody>
      </p:sp>
      <p:sp>
        <p:nvSpPr>
          <p:cNvPr id="5" name="object 5"/>
          <p:cNvSpPr txBox="1"/>
          <p:nvPr/>
        </p:nvSpPr>
        <p:spPr>
          <a:xfrm>
            <a:off x="1101039" y="1076604"/>
            <a:ext cx="9969500" cy="708660"/>
          </a:xfrm>
          <a:prstGeom prst="rect">
            <a:avLst/>
          </a:prstGeom>
        </p:spPr>
        <p:txBody>
          <a:bodyPr vert="horz" wrap="square" lIns="0" tIns="12700" rIns="0" bIns="0" rtlCol="0">
            <a:spAutoFit/>
          </a:bodyPr>
          <a:lstStyle/>
          <a:p>
            <a:pPr marL="12700" marR="5080">
              <a:lnSpc>
                <a:spcPct val="140000"/>
              </a:lnSpc>
              <a:spcBef>
                <a:spcPts val="100"/>
              </a:spcBef>
            </a:pPr>
            <a:r>
              <a:rPr sz="1600" spc="30" dirty="0">
                <a:latin typeface="Trebuchet MS"/>
                <a:cs typeface="Trebuchet MS"/>
              </a:rPr>
              <a:t>In </a:t>
            </a:r>
            <a:r>
              <a:rPr sz="1600" spc="35" dirty="0">
                <a:latin typeface="Trebuchet MS"/>
                <a:cs typeface="Trebuchet MS"/>
              </a:rPr>
              <a:t>normal </a:t>
            </a:r>
            <a:r>
              <a:rPr sz="1600" spc="-35" dirty="0">
                <a:latin typeface="Trebuchet MS"/>
                <a:cs typeface="Trebuchet MS"/>
              </a:rPr>
              <a:t>cases, </a:t>
            </a:r>
            <a:r>
              <a:rPr sz="1600" spc="50" dirty="0">
                <a:latin typeface="Trebuchet MS"/>
                <a:cs typeface="Trebuchet MS"/>
              </a:rPr>
              <a:t>an </a:t>
            </a:r>
            <a:r>
              <a:rPr sz="1600" spc="45" dirty="0">
                <a:latin typeface="Trebuchet MS"/>
                <a:cs typeface="Trebuchet MS"/>
              </a:rPr>
              <a:t>HBase </a:t>
            </a:r>
            <a:r>
              <a:rPr sz="1600" spc="-20" dirty="0">
                <a:latin typeface="Trebuchet MS"/>
                <a:cs typeface="Trebuchet MS"/>
              </a:rPr>
              <a:t>table </a:t>
            </a:r>
            <a:r>
              <a:rPr sz="1600" spc="40" dirty="0">
                <a:latin typeface="Trebuchet MS"/>
                <a:cs typeface="Trebuchet MS"/>
              </a:rPr>
              <a:t>has </a:t>
            </a:r>
            <a:r>
              <a:rPr sz="1600" spc="15" dirty="0">
                <a:latin typeface="Trebuchet MS"/>
                <a:cs typeface="Trebuchet MS"/>
              </a:rPr>
              <a:t>only </a:t>
            </a:r>
            <a:r>
              <a:rPr sz="1600" spc="25" dirty="0">
                <a:latin typeface="Trebuchet MS"/>
                <a:cs typeface="Trebuchet MS"/>
              </a:rPr>
              <a:t>one </a:t>
            </a:r>
            <a:r>
              <a:rPr sz="1600" spc="-15" dirty="0">
                <a:latin typeface="Trebuchet MS"/>
                <a:cs typeface="Trebuchet MS"/>
              </a:rPr>
              <a:t>region. </a:t>
            </a:r>
            <a:r>
              <a:rPr sz="1600" spc="60" dirty="0">
                <a:latin typeface="Trebuchet MS"/>
                <a:cs typeface="Trebuchet MS"/>
              </a:rPr>
              <a:t>As </a:t>
            </a:r>
            <a:r>
              <a:rPr sz="1600" spc="-15" dirty="0">
                <a:latin typeface="Trebuchet MS"/>
                <a:cs typeface="Trebuchet MS"/>
              </a:rPr>
              <a:t>the </a:t>
            </a:r>
            <a:r>
              <a:rPr sz="1600" spc="10" dirty="0">
                <a:latin typeface="Trebuchet MS"/>
                <a:cs typeface="Trebuchet MS"/>
              </a:rPr>
              <a:t>data </a:t>
            </a:r>
            <a:r>
              <a:rPr sz="1600" spc="20" dirty="0">
                <a:latin typeface="Trebuchet MS"/>
                <a:cs typeface="Trebuchet MS"/>
              </a:rPr>
              <a:t>volume </a:t>
            </a:r>
            <a:r>
              <a:rPr sz="1600" spc="-30" dirty="0">
                <a:latin typeface="Trebuchet MS"/>
                <a:cs typeface="Trebuchet MS"/>
              </a:rPr>
              <a:t>increases, </a:t>
            </a:r>
            <a:r>
              <a:rPr sz="1600" spc="-15" dirty="0">
                <a:latin typeface="Trebuchet MS"/>
                <a:cs typeface="Trebuchet MS"/>
              </a:rPr>
              <a:t>the </a:t>
            </a:r>
            <a:r>
              <a:rPr sz="1600" spc="45" dirty="0">
                <a:latin typeface="Trebuchet MS"/>
                <a:cs typeface="Trebuchet MS"/>
              </a:rPr>
              <a:t>HBase </a:t>
            </a:r>
            <a:r>
              <a:rPr sz="1600" spc="-20" dirty="0">
                <a:latin typeface="Trebuchet MS"/>
                <a:cs typeface="Trebuchet MS"/>
              </a:rPr>
              <a:t>table </a:t>
            </a:r>
            <a:r>
              <a:rPr sz="1600" spc="-15" dirty="0">
                <a:latin typeface="Trebuchet MS"/>
                <a:cs typeface="Trebuchet MS"/>
              </a:rPr>
              <a:t>is </a:t>
            </a:r>
            <a:r>
              <a:rPr sz="1600" spc="-20" dirty="0">
                <a:latin typeface="Trebuchet MS"/>
                <a:cs typeface="Trebuchet MS"/>
              </a:rPr>
              <a:t>split  </a:t>
            </a:r>
            <a:r>
              <a:rPr sz="1600" dirty="0">
                <a:latin typeface="Trebuchet MS"/>
                <a:cs typeface="Trebuchet MS"/>
              </a:rPr>
              <a:t>into </a:t>
            </a:r>
            <a:r>
              <a:rPr sz="1600" spc="-10" dirty="0">
                <a:latin typeface="Trebuchet MS"/>
                <a:cs typeface="Trebuchet MS"/>
              </a:rPr>
              <a:t>multiple</a:t>
            </a:r>
            <a:r>
              <a:rPr sz="1600" spc="90" dirty="0">
                <a:latin typeface="Trebuchet MS"/>
                <a:cs typeface="Trebuchet MS"/>
              </a:rPr>
              <a:t> </a:t>
            </a:r>
            <a:r>
              <a:rPr sz="1600" spc="-10" dirty="0">
                <a:latin typeface="Trebuchet MS"/>
                <a:cs typeface="Trebuchet MS"/>
              </a:rPr>
              <a:t>regions.</a:t>
            </a:r>
            <a:endParaRPr sz="1600">
              <a:latin typeface="Trebuchet MS"/>
              <a:cs typeface="Trebuchet MS"/>
            </a:endParaRPr>
          </a:p>
        </p:txBody>
      </p:sp>
      <p:sp>
        <p:nvSpPr>
          <p:cNvPr id="6" name="object 6"/>
          <p:cNvSpPr txBox="1"/>
          <p:nvPr/>
        </p:nvSpPr>
        <p:spPr>
          <a:xfrm>
            <a:off x="799287" y="2017522"/>
            <a:ext cx="102235" cy="147955"/>
          </a:xfrm>
          <a:prstGeom prst="rect">
            <a:avLst/>
          </a:prstGeom>
        </p:spPr>
        <p:txBody>
          <a:bodyPr vert="horz" wrap="square" lIns="0" tIns="13335" rIns="0" bIns="0" rtlCol="0">
            <a:spAutoFit/>
          </a:bodyPr>
          <a:lstStyle/>
          <a:p>
            <a:pPr marL="12700">
              <a:lnSpc>
                <a:spcPct val="100000"/>
              </a:lnSpc>
              <a:spcBef>
                <a:spcPts val="105"/>
              </a:spcBef>
            </a:pPr>
            <a:r>
              <a:rPr sz="800" dirty="0">
                <a:latin typeface="Wingdings"/>
                <a:cs typeface="Wingdings"/>
              </a:rPr>
              <a:t></a:t>
            </a:r>
            <a:endParaRPr sz="800">
              <a:latin typeface="Wingdings"/>
              <a:cs typeface="Wingdings"/>
            </a:endParaRPr>
          </a:p>
        </p:txBody>
      </p:sp>
      <p:sp>
        <p:nvSpPr>
          <p:cNvPr id="7" name="object 7"/>
          <p:cNvSpPr txBox="1"/>
          <p:nvPr/>
        </p:nvSpPr>
        <p:spPr>
          <a:xfrm>
            <a:off x="1101039" y="1860691"/>
            <a:ext cx="10133330" cy="358431"/>
          </a:xfrm>
          <a:prstGeom prst="rect">
            <a:avLst/>
          </a:prstGeom>
        </p:spPr>
        <p:txBody>
          <a:bodyPr vert="horz" wrap="square" lIns="0" tIns="111125" rIns="0" bIns="0" rtlCol="0">
            <a:spAutoFit/>
          </a:bodyPr>
          <a:lstStyle/>
          <a:p>
            <a:pPr marL="12700">
              <a:lnSpc>
                <a:spcPct val="100000"/>
              </a:lnSpc>
              <a:spcBef>
                <a:spcPts val="875"/>
              </a:spcBef>
            </a:pPr>
            <a:r>
              <a:rPr sz="1600" spc="-5" dirty="0">
                <a:latin typeface="Trebuchet MS"/>
                <a:cs typeface="Trebuchet MS"/>
              </a:rPr>
              <a:t>The</a:t>
            </a:r>
            <a:r>
              <a:rPr sz="1600" spc="30" dirty="0">
                <a:latin typeface="Trebuchet MS"/>
                <a:cs typeface="Trebuchet MS"/>
              </a:rPr>
              <a:t> </a:t>
            </a:r>
            <a:r>
              <a:rPr sz="1600" spc="20" dirty="0">
                <a:latin typeface="Trebuchet MS"/>
                <a:cs typeface="Trebuchet MS"/>
              </a:rPr>
              <a:t>region</a:t>
            </a:r>
            <a:r>
              <a:rPr sz="1600" spc="40" dirty="0">
                <a:latin typeface="Trebuchet MS"/>
                <a:cs typeface="Trebuchet MS"/>
              </a:rPr>
              <a:t> </a:t>
            </a:r>
            <a:r>
              <a:rPr sz="1600" spc="-5" dirty="0">
                <a:latin typeface="Trebuchet MS"/>
                <a:cs typeface="Trebuchet MS"/>
              </a:rPr>
              <a:t>splitting</a:t>
            </a:r>
            <a:r>
              <a:rPr sz="1600" spc="70" dirty="0">
                <a:latin typeface="Trebuchet MS"/>
                <a:cs typeface="Trebuchet MS"/>
              </a:rPr>
              <a:t> </a:t>
            </a:r>
            <a:r>
              <a:rPr sz="1600" spc="5" dirty="0">
                <a:latin typeface="Trebuchet MS"/>
                <a:cs typeface="Trebuchet MS"/>
              </a:rPr>
              <a:t>operation</a:t>
            </a:r>
            <a:r>
              <a:rPr sz="1600" spc="55" dirty="0">
                <a:latin typeface="Trebuchet MS"/>
                <a:cs typeface="Trebuchet MS"/>
              </a:rPr>
              <a:t> </a:t>
            </a:r>
            <a:r>
              <a:rPr sz="1600" spc="-15" dirty="0">
                <a:latin typeface="Trebuchet MS"/>
                <a:cs typeface="Trebuchet MS"/>
              </a:rPr>
              <a:t>is</a:t>
            </a:r>
            <a:r>
              <a:rPr sz="1600" spc="35" dirty="0">
                <a:latin typeface="Trebuchet MS"/>
                <a:cs typeface="Trebuchet MS"/>
              </a:rPr>
              <a:t> </a:t>
            </a:r>
            <a:r>
              <a:rPr sz="1600" spc="-5" dirty="0">
                <a:latin typeface="Trebuchet MS"/>
                <a:cs typeface="Trebuchet MS"/>
              </a:rPr>
              <a:t>fast</a:t>
            </a:r>
            <a:r>
              <a:rPr sz="1600" spc="15" dirty="0">
                <a:latin typeface="Trebuchet MS"/>
                <a:cs typeface="Trebuchet MS"/>
              </a:rPr>
              <a:t> </a:t>
            </a:r>
            <a:r>
              <a:rPr sz="1600" dirty="0">
                <a:latin typeface="Trebuchet MS"/>
                <a:cs typeface="Trebuchet MS"/>
              </a:rPr>
              <a:t>because</a:t>
            </a:r>
            <a:r>
              <a:rPr sz="1600" spc="60" dirty="0">
                <a:latin typeface="Trebuchet MS"/>
                <a:cs typeface="Trebuchet MS"/>
              </a:rPr>
              <a:t> </a:t>
            </a:r>
            <a:r>
              <a:rPr sz="1600" spc="-15" dirty="0">
                <a:latin typeface="Trebuchet MS"/>
                <a:cs typeface="Trebuchet MS"/>
              </a:rPr>
              <a:t>the</a:t>
            </a:r>
            <a:r>
              <a:rPr sz="1600" spc="45" dirty="0">
                <a:latin typeface="Trebuchet MS"/>
                <a:cs typeface="Trebuchet MS"/>
              </a:rPr>
              <a:t> </a:t>
            </a:r>
            <a:r>
              <a:rPr sz="1600" spc="20" dirty="0">
                <a:latin typeface="Trebuchet MS"/>
                <a:cs typeface="Trebuchet MS"/>
              </a:rPr>
              <a:t>region</a:t>
            </a:r>
            <a:r>
              <a:rPr sz="1600" spc="40" dirty="0">
                <a:latin typeface="Trebuchet MS"/>
                <a:cs typeface="Trebuchet MS"/>
              </a:rPr>
              <a:t> </a:t>
            </a:r>
            <a:r>
              <a:rPr sz="1600" spc="-35" dirty="0">
                <a:latin typeface="Trebuchet MS"/>
                <a:cs typeface="Trebuchet MS"/>
              </a:rPr>
              <a:t>still</a:t>
            </a:r>
            <a:r>
              <a:rPr sz="1600" spc="45" dirty="0">
                <a:latin typeface="Trebuchet MS"/>
                <a:cs typeface="Trebuchet MS"/>
              </a:rPr>
              <a:t> </a:t>
            </a:r>
            <a:r>
              <a:rPr sz="1600" spc="5" dirty="0">
                <a:latin typeface="Trebuchet MS"/>
                <a:cs typeface="Trebuchet MS"/>
              </a:rPr>
              <a:t>reads</a:t>
            </a:r>
            <a:r>
              <a:rPr sz="1600" spc="45" dirty="0">
                <a:latin typeface="Trebuchet MS"/>
                <a:cs typeface="Trebuchet MS"/>
              </a:rPr>
              <a:t> </a:t>
            </a:r>
            <a:r>
              <a:rPr sz="1600" spc="-15" dirty="0">
                <a:latin typeface="Trebuchet MS"/>
                <a:cs typeface="Trebuchet MS"/>
              </a:rPr>
              <a:t>the</a:t>
            </a:r>
            <a:r>
              <a:rPr sz="1600" spc="40" dirty="0">
                <a:latin typeface="Trebuchet MS"/>
                <a:cs typeface="Trebuchet MS"/>
              </a:rPr>
              <a:t> </a:t>
            </a:r>
            <a:r>
              <a:rPr sz="1600" spc="15" dirty="0">
                <a:latin typeface="Trebuchet MS"/>
                <a:cs typeface="Trebuchet MS"/>
              </a:rPr>
              <a:t>original</a:t>
            </a:r>
            <a:r>
              <a:rPr sz="1600" spc="35" dirty="0">
                <a:latin typeface="Trebuchet MS"/>
                <a:cs typeface="Trebuchet MS"/>
              </a:rPr>
              <a:t> </a:t>
            </a:r>
            <a:r>
              <a:rPr sz="1600" spc="15" dirty="0">
                <a:latin typeface="Trebuchet MS"/>
                <a:cs typeface="Trebuchet MS"/>
              </a:rPr>
              <a:t>storage</a:t>
            </a:r>
            <a:r>
              <a:rPr sz="1600" spc="50" dirty="0">
                <a:latin typeface="Trebuchet MS"/>
                <a:cs typeface="Trebuchet MS"/>
              </a:rPr>
              <a:t> </a:t>
            </a:r>
            <a:r>
              <a:rPr sz="1600" spc="-40" dirty="0">
                <a:latin typeface="Trebuchet MS"/>
                <a:cs typeface="Trebuchet MS"/>
              </a:rPr>
              <a:t>file</a:t>
            </a:r>
            <a:r>
              <a:rPr sz="1600" spc="35" dirty="0">
                <a:latin typeface="Trebuchet MS"/>
                <a:cs typeface="Trebuchet MS"/>
              </a:rPr>
              <a:t> </a:t>
            </a:r>
            <a:r>
              <a:rPr sz="1600" spc="-25" dirty="0">
                <a:latin typeface="Trebuchet MS"/>
                <a:cs typeface="Trebuchet MS"/>
              </a:rPr>
              <a:t>after</a:t>
            </a:r>
            <a:r>
              <a:rPr sz="1600" spc="40" dirty="0">
                <a:latin typeface="Trebuchet MS"/>
                <a:cs typeface="Trebuchet MS"/>
              </a:rPr>
              <a:t> </a:t>
            </a:r>
            <a:r>
              <a:rPr sz="1600" spc="-15" dirty="0">
                <a:latin typeface="Trebuchet MS"/>
                <a:cs typeface="Trebuchet MS"/>
              </a:rPr>
              <a:t>the</a:t>
            </a:r>
            <a:r>
              <a:rPr sz="1600" spc="40" dirty="0">
                <a:latin typeface="Trebuchet MS"/>
                <a:cs typeface="Trebuchet MS"/>
              </a:rPr>
              <a:t> </a:t>
            </a:r>
            <a:r>
              <a:rPr sz="1600" spc="-30" dirty="0">
                <a:latin typeface="Trebuchet MS"/>
                <a:cs typeface="Trebuchet MS"/>
              </a:rPr>
              <a:t>splitting</a:t>
            </a:r>
            <a:r>
              <a:rPr sz="1600" spc="-30" dirty="0" smtClean="0">
                <a:latin typeface="Trebuchet MS"/>
                <a:cs typeface="Trebuchet MS"/>
              </a:rPr>
              <a:t>.</a:t>
            </a:r>
            <a:endParaRPr sz="1600" dirty="0">
              <a:latin typeface="Trebuchet MS"/>
              <a:cs typeface="Trebuchet MS"/>
            </a:endParaRPr>
          </a:p>
        </p:txBody>
      </p:sp>
      <p:sp>
        <p:nvSpPr>
          <p:cNvPr id="8" name="object 8"/>
          <p:cNvSpPr txBox="1"/>
          <p:nvPr/>
        </p:nvSpPr>
        <p:spPr>
          <a:xfrm>
            <a:off x="3575684" y="4099305"/>
            <a:ext cx="739775" cy="299720"/>
          </a:xfrm>
          <a:prstGeom prst="rect">
            <a:avLst/>
          </a:prstGeom>
        </p:spPr>
        <p:txBody>
          <a:bodyPr vert="horz" wrap="square" lIns="0" tIns="12700" rIns="0" bIns="0" rtlCol="0">
            <a:spAutoFit/>
          </a:bodyPr>
          <a:lstStyle/>
          <a:p>
            <a:pPr marL="12700">
              <a:lnSpc>
                <a:spcPct val="100000"/>
              </a:lnSpc>
              <a:spcBef>
                <a:spcPts val="100"/>
              </a:spcBef>
            </a:pPr>
            <a:r>
              <a:rPr sz="1800" spc="30" dirty="0">
                <a:latin typeface="Trebuchet MS"/>
                <a:cs typeface="Trebuchet MS"/>
              </a:rPr>
              <a:t>Region</a:t>
            </a:r>
            <a:endParaRPr sz="1800">
              <a:latin typeface="Trebuchet MS"/>
              <a:cs typeface="Trebuchet MS"/>
            </a:endParaRPr>
          </a:p>
        </p:txBody>
      </p:sp>
      <p:sp>
        <p:nvSpPr>
          <p:cNvPr id="9" name="object 9"/>
          <p:cNvSpPr txBox="1"/>
          <p:nvPr/>
        </p:nvSpPr>
        <p:spPr>
          <a:xfrm>
            <a:off x="3544061" y="5419140"/>
            <a:ext cx="739775" cy="299720"/>
          </a:xfrm>
          <a:prstGeom prst="rect">
            <a:avLst/>
          </a:prstGeom>
        </p:spPr>
        <p:txBody>
          <a:bodyPr vert="horz" wrap="square" lIns="0" tIns="12700" rIns="0" bIns="0" rtlCol="0">
            <a:spAutoFit/>
          </a:bodyPr>
          <a:lstStyle/>
          <a:p>
            <a:pPr marL="12700">
              <a:lnSpc>
                <a:spcPct val="100000"/>
              </a:lnSpc>
              <a:spcBef>
                <a:spcPts val="100"/>
              </a:spcBef>
            </a:pPr>
            <a:r>
              <a:rPr sz="1800" spc="30" dirty="0">
                <a:latin typeface="Trebuchet MS"/>
                <a:cs typeface="Trebuchet MS"/>
              </a:rPr>
              <a:t>Region</a:t>
            </a:r>
            <a:endParaRPr sz="1800">
              <a:latin typeface="Trebuchet MS"/>
              <a:cs typeface="Trebuchet MS"/>
            </a:endParaRPr>
          </a:p>
        </p:txBody>
      </p:sp>
      <p:grpSp>
        <p:nvGrpSpPr>
          <p:cNvPr id="10" name="object 10"/>
          <p:cNvGrpSpPr/>
          <p:nvPr/>
        </p:nvGrpSpPr>
        <p:grpSpPr>
          <a:xfrm>
            <a:off x="1754123" y="3019044"/>
            <a:ext cx="1077595" cy="2967355"/>
            <a:chOff x="1754123" y="3019044"/>
            <a:chExt cx="1077595" cy="2967355"/>
          </a:xfrm>
        </p:grpSpPr>
        <p:sp>
          <p:nvSpPr>
            <p:cNvPr id="11" name="object 11"/>
            <p:cNvSpPr/>
            <p:nvPr/>
          </p:nvSpPr>
          <p:spPr>
            <a:xfrm>
              <a:off x="1760219" y="3025140"/>
              <a:ext cx="1065530" cy="2955290"/>
            </a:xfrm>
            <a:custGeom>
              <a:avLst/>
              <a:gdLst/>
              <a:ahLst/>
              <a:cxnLst/>
              <a:rect l="l" t="t" r="r" b="b"/>
              <a:pathLst>
                <a:path w="1065530" h="2955290">
                  <a:moveTo>
                    <a:pt x="798957" y="0"/>
                  </a:moveTo>
                  <a:lnTo>
                    <a:pt x="266319" y="0"/>
                  </a:lnTo>
                  <a:lnTo>
                    <a:pt x="266319" y="2422398"/>
                  </a:lnTo>
                  <a:lnTo>
                    <a:pt x="0" y="2422398"/>
                  </a:lnTo>
                  <a:lnTo>
                    <a:pt x="532638" y="2955036"/>
                  </a:lnTo>
                  <a:lnTo>
                    <a:pt x="1065276" y="2422398"/>
                  </a:lnTo>
                  <a:lnTo>
                    <a:pt x="798957" y="2422398"/>
                  </a:lnTo>
                  <a:lnTo>
                    <a:pt x="798957" y="0"/>
                  </a:lnTo>
                  <a:close/>
                </a:path>
              </a:pathLst>
            </a:custGeom>
            <a:solidFill>
              <a:srgbClr val="FFFFFF"/>
            </a:solidFill>
          </p:spPr>
          <p:txBody>
            <a:bodyPr wrap="square" lIns="0" tIns="0" rIns="0" bIns="0" rtlCol="0"/>
            <a:lstStyle/>
            <a:p>
              <a:endParaRPr/>
            </a:p>
          </p:txBody>
        </p:sp>
        <p:sp>
          <p:nvSpPr>
            <p:cNvPr id="12" name="object 12"/>
            <p:cNvSpPr/>
            <p:nvPr/>
          </p:nvSpPr>
          <p:spPr>
            <a:xfrm>
              <a:off x="1760219" y="3025140"/>
              <a:ext cx="1065530" cy="2955290"/>
            </a:xfrm>
            <a:custGeom>
              <a:avLst/>
              <a:gdLst/>
              <a:ahLst/>
              <a:cxnLst/>
              <a:rect l="l" t="t" r="r" b="b"/>
              <a:pathLst>
                <a:path w="1065530" h="2955290">
                  <a:moveTo>
                    <a:pt x="0" y="2422398"/>
                  </a:moveTo>
                  <a:lnTo>
                    <a:pt x="266319" y="2422398"/>
                  </a:lnTo>
                  <a:lnTo>
                    <a:pt x="266319" y="0"/>
                  </a:lnTo>
                  <a:lnTo>
                    <a:pt x="798957" y="0"/>
                  </a:lnTo>
                  <a:lnTo>
                    <a:pt x="798957" y="2422398"/>
                  </a:lnTo>
                  <a:lnTo>
                    <a:pt x="1065276" y="2422398"/>
                  </a:lnTo>
                  <a:lnTo>
                    <a:pt x="532638" y="2955036"/>
                  </a:lnTo>
                  <a:lnTo>
                    <a:pt x="0" y="2422398"/>
                  </a:lnTo>
                  <a:close/>
                </a:path>
              </a:pathLst>
            </a:custGeom>
            <a:ln w="12192">
              <a:solidFill>
                <a:srgbClr val="000000"/>
              </a:solidFill>
            </a:ln>
          </p:spPr>
          <p:txBody>
            <a:bodyPr wrap="square" lIns="0" tIns="0" rIns="0" bIns="0" rtlCol="0"/>
            <a:lstStyle/>
            <a:p>
              <a:endParaRPr/>
            </a:p>
          </p:txBody>
        </p:sp>
      </p:grpSp>
      <p:sp>
        <p:nvSpPr>
          <p:cNvPr id="13" name="object 13"/>
          <p:cNvSpPr txBox="1"/>
          <p:nvPr/>
        </p:nvSpPr>
        <p:spPr>
          <a:xfrm>
            <a:off x="2034709" y="3246384"/>
            <a:ext cx="507365" cy="1961514"/>
          </a:xfrm>
          <a:prstGeom prst="rect">
            <a:avLst/>
          </a:prstGeom>
        </p:spPr>
        <p:txBody>
          <a:bodyPr vert="vert270" wrap="square" lIns="0" tIns="5715" rIns="0" bIns="0" rtlCol="0">
            <a:spAutoFit/>
          </a:bodyPr>
          <a:lstStyle/>
          <a:p>
            <a:pPr marL="12700" marR="5080" indent="459740">
              <a:lnSpc>
                <a:spcPts val="1920"/>
              </a:lnSpc>
              <a:spcBef>
                <a:spcPts val="45"/>
              </a:spcBef>
            </a:pPr>
            <a:r>
              <a:rPr sz="1600" spc="20" dirty="0">
                <a:latin typeface="Trebuchet MS"/>
                <a:cs typeface="Trebuchet MS"/>
              </a:rPr>
              <a:t>By </a:t>
            </a:r>
            <a:r>
              <a:rPr sz="1600" spc="35" dirty="0">
                <a:latin typeface="Trebuchet MS"/>
                <a:cs typeface="Trebuchet MS"/>
              </a:rPr>
              <a:t>row </a:t>
            </a:r>
            <a:r>
              <a:rPr sz="1600" spc="-5" dirty="0">
                <a:latin typeface="Trebuchet MS"/>
                <a:cs typeface="Trebuchet MS"/>
              </a:rPr>
              <a:t>key  lexicographical</a:t>
            </a:r>
            <a:r>
              <a:rPr sz="1600" spc="10" dirty="0">
                <a:latin typeface="Trebuchet MS"/>
                <a:cs typeface="Trebuchet MS"/>
              </a:rPr>
              <a:t> </a:t>
            </a:r>
            <a:r>
              <a:rPr sz="1600" spc="-5" dirty="0">
                <a:latin typeface="Trebuchet MS"/>
                <a:cs typeface="Trebuchet MS"/>
              </a:rPr>
              <a:t>order</a:t>
            </a:r>
            <a:endParaRPr sz="1600">
              <a:latin typeface="Trebuchet MS"/>
              <a:cs typeface="Trebuchet MS"/>
            </a:endParaRPr>
          </a:p>
        </p:txBody>
      </p:sp>
      <p:sp>
        <p:nvSpPr>
          <p:cNvPr id="14" name="object 14"/>
          <p:cNvSpPr txBox="1"/>
          <p:nvPr/>
        </p:nvSpPr>
        <p:spPr>
          <a:xfrm>
            <a:off x="3555619" y="2977995"/>
            <a:ext cx="760095" cy="822325"/>
          </a:xfrm>
          <a:prstGeom prst="rect">
            <a:avLst/>
          </a:prstGeom>
        </p:spPr>
        <p:txBody>
          <a:bodyPr vert="horz" wrap="square" lIns="0" tIns="136525" rIns="0" bIns="0" rtlCol="0">
            <a:spAutoFit/>
          </a:bodyPr>
          <a:lstStyle/>
          <a:p>
            <a:pPr marL="12700">
              <a:lnSpc>
                <a:spcPct val="100000"/>
              </a:lnSpc>
              <a:spcBef>
                <a:spcPts val="1075"/>
              </a:spcBef>
            </a:pPr>
            <a:r>
              <a:rPr sz="1800" spc="-10" dirty="0">
                <a:latin typeface="Trebuchet MS"/>
                <a:cs typeface="Trebuchet MS"/>
              </a:rPr>
              <a:t>Table</a:t>
            </a:r>
            <a:endParaRPr sz="1800">
              <a:latin typeface="Trebuchet MS"/>
              <a:cs typeface="Trebuchet MS"/>
            </a:endParaRPr>
          </a:p>
          <a:p>
            <a:pPr marL="32384">
              <a:lnSpc>
                <a:spcPct val="100000"/>
              </a:lnSpc>
              <a:spcBef>
                <a:spcPts val="975"/>
              </a:spcBef>
            </a:pPr>
            <a:r>
              <a:rPr sz="1800" spc="30" dirty="0">
                <a:latin typeface="Trebuchet MS"/>
                <a:cs typeface="Trebuchet MS"/>
              </a:rPr>
              <a:t>Region</a:t>
            </a:r>
            <a:endParaRPr sz="1800">
              <a:latin typeface="Trebuchet MS"/>
              <a:cs typeface="Trebuchet MS"/>
            </a:endParaRPr>
          </a:p>
        </p:txBody>
      </p:sp>
      <p:sp>
        <p:nvSpPr>
          <p:cNvPr id="15" name="object 15"/>
          <p:cNvSpPr/>
          <p:nvPr/>
        </p:nvSpPr>
        <p:spPr>
          <a:xfrm>
            <a:off x="5556503" y="2811779"/>
            <a:ext cx="4629911" cy="3181350"/>
          </a:xfrm>
          <a:prstGeom prst="rect">
            <a:avLst/>
          </a:prstGeom>
          <a:blipFill>
            <a:blip r:embed="rId3" cstate="print"/>
            <a:stretch>
              <a:fillRect/>
            </a:stretch>
          </a:blipFill>
        </p:spPr>
        <p:txBody>
          <a:bodyPr wrap="square" lIns="0" tIns="0" rIns="0" bIns="0" rtlCol="0"/>
          <a:lstStyle/>
          <a:p>
            <a:endParaRPr/>
          </a:p>
        </p:txBody>
      </p:sp>
      <p:sp>
        <p:nvSpPr>
          <p:cNvPr id="16" name="object 16"/>
          <p:cNvSpPr txBox="1"/>
          <p:nvPr/>
        </p:nvSpPr>
        <p:spPr>
          <a:xfrm>
            <a:off x="6150102" y="4146930"/>
            <a:ext cx="739775" cy="299720"/>
          </a:xfrm>
          <a:prstGeom prst="rect">
            <a:avLst/>
          </a:prstGeom>
        </p:spPr>
        <p:txBody>
          <a:bodyPr vert="horz" wrap="square" lIns="0" tIns="12700" rIns="0" bIns="0" rtlCol="0">
            <a:spAutoFit/>
          </a:bodyPr>
          <a:lstStyle/>
          <a:p>
            <a:pPr marL="12700">
              <a:lnSpc>
                <a:spcPct val="100000"/>
              </a:lnSpc>
              <a:spcBef>
                <a:spcPts val="100"/>
              </a:spcBef>
            </a:pPr>
            <a:r>
              <a:rPr sz="1800" spc="30" dirty="0">
                <a:latin typeface="Trebuchet MS"/>
                <a:cs typeface="Trebuchet MS"/>
              </a:rPr>
              <a:t>Region</a:t>
            </a:r>
            <a:endParaRPr sz="1800">
              <a:latin typeface="Trebuchet MS"/>
              <a:cs typeface="Trebuchet MS"/>
            </a:endParaRPr>
          </a:p>
        </p:txBody>
      </p:sp>
      <p:sp>
        <p:nvSpPr>
          <p:cNvPr id="24" name="object 2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20	</a:t>
            </a:r>
            <a:r>
              <a:rPr spc="30" dirty="0"/>
              <a:t>Huawei</a:t>
            </a:r>
            <a:r>
              <a:rPr spc="-10" dirty="0"/>
              <a:t> </a:t>
            </a:r>
            <a:r>
              <a:rPr spc="5" dirty="0"/>
              <a:t>Confidential</a:t>
            </a:r>
          </a:p>
        </p:txBody>
      </p:sp>
      <p:sp>
        <p:nvSpPr>
          <p:cNvPr id="17" name="object 17"/>
          <p:cNvSpPr txBox="1"/>
          <p:nvPr/>
        </p:nvSpPr>
        <p:spPr>
          <a:xfrm>
            <a:off x="6107048" y="5480710"/>
            <a:ext cx="739775" cy="300355"/>
          </a:xfrm>
          <a:prstGeom prst="rect">
            <a:avLst/>
          </a:prstGeom>
        </p:spPr>
        <p:txBody>
          <a:bodyPr vert="horz" wrap="square" lIns="0" tIns="12700" rIns="0" bIns="0" rtlCol="0">
            <a:spAutoFit/>
          </a:bodyPr>
          <a:lstStyle/>
          <a:p>
            <a:pPr marL="12700">
              <a:lnSpc>
                <a:spcPct val="100000"/>
              </a:lnSpc>
              <a:spcBef>
                <a:spcPts val="100"/>
              </a:spcBef>
            </a:pPr>
            <a:r>
              <a:rPr sz="1800" spc="30" dirty="0">
                <a:latin typeface="Trebuchet MS"/>
                <a:cs typeface="Trebuchet MS"/>
              </a:rPr>
              <a:t>Region</a:t>
            </a:r>
            <a:endParaRPr sz="1800">
              <a:latin typeface="Trebuchet MS"/>
              <a:cs typeface="Trebuchet MS"/>
            </a:endParaRPr>
          </a:p>
        </p:txBody>
      </p:sp>
      <p:sp>
        <p:nvSpPr>
          <p:cNvPr id="18" name="object 18"/>
          <p:cNvSpPr txBox="1"/>
          <p:nvPr/>
        </p:nvSpPr>
        <p:spPr>
          <a:xfrm>
            <a:off x="8880729" y="3727450"/>
            <a:ext cx="739775" cy="299720"/>
          </a:xfrm>
          <a:prstGeom prst="rect">
            <a:avLst/>
          </a:prstGeom>
        </p:spPr>
        <p:txBody>
          <a:bodyPr vert="horz" wrap="square" lIns="0" tIns="12700" rIns="0" bIns="0" rtlCol="0">
            <a:spAutoFit/>
          </a:bodyPr>
          <a:lstStyle/>
          <a:p>
            <a:pPr marL="12700">
              <a:lnSpc>
                <a:spcPct val="100000"/>
              </a:lnSpc>
              <a:spcBef>
                <a:spcPts val="100"/>
              </a:spcBef>
            </a:pPr>
            <a:r>
              <a:rPr sz="1800" spc="30" dirty="0">
                <a:latin typeface="Trebuchet MS"/>
                <a:cs typeface="Trebuchet MS"/>
              </a:rPr>
              <a:t>Region</a:t>
            </a:r>
            <a:endParaRPr sz="1800">
              <a:latin typeface="Trebuchet MS"/>
              <a:cs typeface="Trebuchet MS"/>
            </a:endParaRPr>
          </a:p>
        </p:txBody>
      </p:sp>
      <p:sp>
        <p:nvSpPr>
          <p:cNvPr id="19" name="object 19"/>
          <p:cNvSpPr txBox="1"/>
          <p:nvPr/>
        </p:nvSpPr>
        <p:spPr>
          <a:xfrm>
            <a:off x="8903589" y="4559554"/>
            <a:ext cx="739775" cy="299720"/>
          </a:xfrm>
          <a:prstGeom prst="rect">
            <a:avLst/>
          </a:prstGeom>
        </p:spPr>
        <p:txBody>
          <a:bodyPr vert="horz" wrap="square" lIns="0" tIns="12700" rIns="0" bIns="0" rtlCol="0">
            <a:spAutoFit/>
          </a:bodyPr>
          <a:lstStyle/>
          <a:p>
            <a:pPr marL="12700">
              <a:lnSpc>
                <a:spcPct val="100000"/>
              </a:lnSpc>
              <a:spcBef>
                <a:spcPts val="100"/>
              </a:spcBef>
            </a:pPr>
            <a:r>
              <a:rPr sz="1800" spc="30" dirty="0">
                <a:latin typeface="Trebuchet MS"/>
                <a:cs typeface="Trebuchet MS"/>
              </a:rPr>
              <a:t>Region</a:t>
            </a:r>
            <a:endParaRPr sz="1800">
              <a:latin typeface="Trebuchet MS"/>
              <a:cs typeface="Trebuchet MS"/>
            </a:endParaRPr>
          </a:p>
        </p:txBody>
      </p:sp>
      <p:sp>
        <p:nvSpPr>
          <p:cNvPr id="20" name="object 20"/>
          <p:cNvSpPr txBox="1"/>
          <p:nvPr/>
        </p:nvSpPr>
        <p:spPr>
          <a:xfrm>
            <a:off x="8894191" y="5470042"/>
            <a:ext cx="739775" cy="299720"/>
          </a:xfrm>
          <a:prstGeom prst="rect">
            <a:avLst/>
          </a:prstGeom>
        </p:spPr>
        <p:txBody>
          <a:bodyPr vert="horz" wrap="square" lIns="0" tIns="12700" rIns="0" bIns="0" rtlCol="0">
            <a:spAutoFit/>
          </a:bodyPr>
          <a:lstStyle/>
          <a:p>
            <a:pPr marL="12700">
              <a:lnSpc>
                <a:spcPct val="100000"/>
              </a:lnSpc>
              <a:spcBef>
                <a:spcPts val="100"/>
              </a:spcBef>
            </a:pPr>
            <a:r>
              <a:rPr sz="1800" spc="30" dirty="0">
                <a:latin typeface="Trebuchet MS"/>
                <a:cs typeface="Trebuchet MS"/>
              </a:rPr>
              <a:t>Region</a:t>
            </a:r>
            <a:endParaRPr sz="1800">
              <a:latin typeface="Trebuchet MS"/>
              <a:cs typeface="Trebuchet MS"/>
            </a:endParaRPr>
          </a:p>
        </p:txBody>
      </p:sp>
      <p:sp>
        <p:nvSpPr>
          <p:cNvPr id="21" name="object 21"/>
          <p:cNvSpPr txBox="1"/>
          <p:nvPr/>
        </p:nvSpPr>
        <p:spPr>
          <a:xfrm>
            <a:off x="6158229" y="2768345"/>
            <a:ext cx="739775" cy="720725"/>
          </a:xfrm>
          <a:prstGeom prst="rect">
            <a:avLst/>
          </a:prstGeom>
        </p:spPr>
        <p:txBody>
          <a:bodyPr vert="horz" wrap="square" lIns="0" tIns="12700" rIns="0" bIns="0" rtlCol="0">
            <a:spAutoFit/>
          </a:bodyPr>
          <a:lstStyle/>
          <a:p>
            <a:pPr marL="12700" marR="5080" indent="65405">
              <a:lnSpc>
                <a:spcPct val="126699"/>
              </a:lnSpc>
              <a:spcBef>
                <a:spcPts val="100"/>
              </a:spcBef>
            </a:pPr>
            <a:r>
              <a:rPr sz="1800" spc="-5" dirty="0">
                <a:latin typeface="Trebuchet MS"/>
                <a:cs typeface="Trebuchet MS"/>
              </a:rPr>
              <a:t>Table  </a:t>
            </a:r>
            <a:r>
              <a:rPr sz="1800" spc="50" dirty="0">
                <a:latin typeface="Trebuchet MS"/>
                <a:cs typeface="Trebuchet MS"/>
              </a:rPr>
              <a:t>R</a:t>
            </a:r>
            <a:r>
              <a:rPr sz="1800" spc="10" dirty="0">
                <a:latin typeface="Trebuchet MS"/>
                <a:cs typeface="Trebuchet MS"/>
              </a:rPr>
              <a:t>eg</a:t>
            </a:r>
            <a:r>
              <a:rPr sz="1800" spc="-5" dirty="0">
                <a:latin typeface="Trebuchet MS"/>
                <a:cs typeface="Trebuchet MS"/>
              </a:rPr>
              <a:t>i</a:t>
            </a:r>
            <a:r>
              <a:rPr sz="1800" spc="60" dirty="0">
                <a:latin typeface="Trebuchet MS"/>
                <a:cs typeface="Trebuchet MS"/>
              </a:rPr>
              <a:t>on</a:t>
            </a:r>
            <a:endParaRPr sz="1800">
              <a:latin typeface="Trebuchet MS"/>
              <a:cs typeface="Trebuchet MS"/>
            </a:endParaRPr>
          </a:p>
        </p:txBody>
      </p:sp>
      <p:sp>
        <p:nvSpPr>
          <p:cNvPr id="22" name="object 22"/>
          <p:cNvSpPr txBox="1"/>
          <p:nvPr/>
        </p:nvSpPr>
        <p:spPr>
          <a:xfrm>
            <a:off x="8880729" y="2772410"/>
            <a:ext cx="739775" cy="697230"/>
          </a:xfrm>
          <a:prstGeom prst="rect">
            <a:avLst/>
          </a:prstGeom>
        </p:spPr>
        <p:txBody>
          <a:bodyPr vert="horz" wrap="square" lIns="0" tIns="12700" rIns="0" bIns="0" rtlCol="0">
            <a:spAutoFit/>
          </a:bodyPr>
          <a:lstStyle/>
          <a:p>
            <a:pPr marL="12700" marR="5080" indent="24765">
              <a:lnSpc>
                <a:spcPct val="122400"/>
              </a:lnSpc>
              <a:spcBef>
                <a:spcPts val="100"/>
              </a:spcBef>
            </a:pPr>
            <a:r>
              <a:rPr sz="1800" spc="-5" dirty="0">
                <a:latin typeface="Trebuchet MS"/>
                <a:cs typeface="Trebuchet MS"/>
              </a:rPr>
              <a:t>Table  </a:t>
            </a:r>
            <a:r>
              <a:rPr sz="1800" spc="50" dirty="0">
                <a:latin typeface="Trebuchet MS"/>
                <a:cs typeface="Trebuchet MS"/>
              </a:rPr>
              <a:t>R</a:t>
            </a:r>
            <a:r>
              <a:rPr sz="1800" spc="10" dirty="0">
                <a:latin typeface="Trebuchet MS"/>
                <a:cs typeface="Trebuchet MS"/>
              </a:rPr>
              <a:t>eg</a:t>
            </a:r>
            <a:r>
              <a:rPr sz="1800" spc="-5" dirty="0">
                <a:latin typeface="Trebuchet MS"/>
                <a:cs typeface="Trebuchet MS"/>
              </a:rPr>
              <a:t>i</a:t>
            </a:r>
            <a:r>
              <a:rPr sz="1800" spc="60" dirty="0">
                <a:latin typeface="Trebuchet MS"/>
                <a:cs typeface="Trebuchet MS"/>
              </a:rPr>
              <a:t>on</a:t>
            </a:r>
            <a:endParaRPr sz="1800">
              <a:latin typeface="Trebuchet MS"/>
              <a:cs typeface="Trebuchet MS"/>
            </a:endParaRPr>
          </a:p>
        </p:txBody>
      </p:sp>
      <p:sp>
        <p:nvSpPr>
          <p:cNvPr id="23" name="object 23"/>
          <p:cNvSpPr txBox="1"/>
          <p:nvPr/>
        </p:nvSpPr>
        <p:spPr>
          <a:xfrm>
            <a:off x="7591170" y="3602228"/>
            <a:ext cx="481965"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Trebuchet MS"/>
                <a:cs typeface="Trebuchet MS"/>
              </a:rPr>
              <a:t>Split</a:t>
            </a:r>
            <a:endParaRPr sz="1800">
              <a:latin typeface="Trebuchet MS"/>
              <a:cs typeface="Trebuchet MS"/>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4154170" cy="513715"/>
          </a:xfrm>
          <a:prstGeom prst="rect">
            <a:avLst/>
          </a:prstGeom>
        </p:spPr>
        <p:txBody>
          <a:bodyPr vert="horz" wrap="square" lIns="0" tIns="13335" rIns="0" bIns="0" rtlCol="0">
            <a:spAutoFit/>
          </a:bodyPr>
          <a:lstStyle/>
          <a:p>
            <a:pPr marL="12700">
              <a:lnSpc>
                <a:spcPct val="100000"/>
              </a:lnSpc>
              <a:spcBef>
                <a:spcPts val="105"/>
              </a:spcBef>
            </a:pPr>
            <a:r>
              <a:rPr sz="3200" spc="70" dirty="0">
                <a:solidFill>
                  <a:srgbClr val="000000"/>
                </a:solidFill>
              </a:rPr>
              <a:t>Region </a:t>
            </a:r>
            <a:r>
              <a:rPr sz="3200" spc="35" dirty="0">
                <a:solidFill>
                  <a:srgbClr val="000000"/>
                </a:solidFill>
              </a:rPr>
              <a:t>Positioning</a:t>
            </a:r>
            <a:r>
              <a:rPr sz="3200" spc="-95" dirty="0">
                <a:solidFill>
                  <a:srgbClr val="000000"/>
                </a:solidFill>
              </a:rPr>
              <a:t> </a:t>
            </a:r>
            <a:r>
              <a:rPr sz="3200" spc="130" dirty="0">
                <a:solidFill>
                  <a:srgbClr val="000000"/>
                </a:solidFill>
              </a:rPr>
              <a:t>(1)</a:t>
            </a:r>
            <a:endParaRPr sz="3200"/>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101038" y="1211325"/>
            <a:ext cx="7868972" cy="360680"/>
          </a:xfrm>
          <a:prstGeom prst="rect">
            <a:avLst/>
          </a:prstGeom>
        </p:spPr>
        <p:txBody>
          <a:bodyPr vert="horz" wrap="square" lIns="0" tIns="12065" rIns="0" bIns="0" rtlCol="0">
            <a:spAutoFit/>
          </a:bodyPr>
          <a:lstStyle/>
          <a:p>
            <a:pPr marL="12700">
              <a:lnSpc>
                <a:spcPct val="100000"/>
              </a:lnSpc>
              <a:spcBef>
                <a:spcPts val="95"/>
              </a:spcBef>
            </a:pPr>
            <a:r>
              <a:rPr sz="2200" spc="40" dirty="0">
                <a:latin typeface="Trebuchet MS"/>
                <a:cs typeface="Trebuchet MS"/>
              </a:rPr>
              <a:t>Region </a:t>
            </a:r>
            <a:r>
              <a:rPr sz="2200" spc="-15" dirty="0">
                <a:latin typeface="Trebuchet MS"/>
                <a:cs typeface="Trebuchet MS"/>
              </a:rPr>
              <a:t>is </a:t>
            </a:r>
            <a:r>
              <a:rPr sz="2200" spc="-20" dirty="0">
                <a:latin typeface="Trebuchet MS"/>
                <a:cs typeface="Trebuchet MS"/>
              </a:rPr>
              <a:t>classified </a:t>
            </a:r>
            <a:r>
              <a:rPr sz="2200" spc="5" dirty="0">
                <a:latin typeface="Trebuchet MS"/>
                <a:cs typeface="Trebuchet MS"/>
              </a:rPr>
              <a:t>into </a:t>
            </a:r>
            <a:r>
              <a:rPr sz="2200" u="sng" spc="100" dirty="0">
                <a:latin typeface="Trebuchet MS"/>
                <a:cs typeface="Trebuchet MS"/>
              </a:rPr>
              <a:t>Meta </a:t>
            </a:r>
            <a:r>
              <a:rPr sz="2200" u="sng" spc="40" dirty="0">
                <a:latin typeface="Trebuchet MS"/>
                <a:cs typeface="Trebuchet MS"/>
              </a:rPr>
              <a:t>Region</a:t>
            </a:r>
            <a:r>
              <a:rPr sz="2200" u="sng" spc="10" dirty="0">
                <a:latin typeface="Trebuchet MS"/>
                <a:cs typeface="Trebuchet MS"/>
              </a:rPr>
              <a:t> </a:t>
            </a:r>
            <a:r>
              <a:rPr sz="2200" u="sng" spc="50" dirty="0" smtClean="0">
                <a:latin typeface="Trebuchet MS"/>
                <a:cs typeface="Trebuchet MS"/>
              </a:rPr>
              <a:t>and</a:t>
            </a:r>
            <a:r>
              <a:rPr lang="en-US" sz="2200" u="sng" spc="50" dirty="0">
                <a:latin typeface="Trebuchet MS"/>
                <a:cs typeface="Trebuchet MS"/>
              </a:rPr>
              <a:t> </a:t>
            </a:r>
            <a:r>
              <a:rPr lang="en-US" sz="2200" u="sng" spc="30" dirty="0">
                <a:latin typeface="Trebuchet MS"/>
                <a:cs typeface="Trebuchet MS"/>
              </a:rPr>
              <a:t>User</a:t>
            </a:r>
            <a:r>
              <a:rPr lang="en-US" sz="2200" u="sng" spc="-35" dirty="0">
                <a:latin typeface="Trebuchet MS"/>
                <a:cs typeface="Trebuchet MS"/>
              </a:rPr>
              <a:t> </a:t>
            </a:r>
            <a:r>
              <a:rPr lang="en-US" sz="2200" u="sng" spc="-10" dirty="0" smtClean="0">
                <a:latin typeface="Trebuchet MS"/>
                <a:cs typeface="Trebuchet MS"/>
              </a:rPr>
              <a:t>Region</a:t>
            </a:r>
            <a:r>
              <a:rPr lang="en-US" sz="2200" spc="-10" dirty="0" smtClean="0">
                <a:latin typeface="Trebuchet MS"/>
                <a:cs typeface="Trebuchet MS"/>
              </a:rPr>
              <a:t>.</a:t>
            </a:r>
            <a:endParaRPr sz="2200" dirty="0">
              <a:latin typeface="Trebuchet MS"/>
              <a:cs typeface="Trebuchet MS"/>
            </a:endParaRPr>
          </a:p>
        </p:txBody>
      </p:sp>
      <p:sp>
        <p:nvSpPr>
          <p:cNvPr id="6" name="object 6"/>
          <p:cNvSpPr txBox="1"/>
          <p:nvPr/>
        </p:nvSpPr>
        <p:spPr>
          <a:xfrm>
            <a:off x="799287" y="1890371"/>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7" name="object 7"/>
          <p:cNvSpPr txBox="1"/>
          <p:nvPr/>
        </p:nvSpPr>
        <p:spPr>
          <a:xfrm>
            <a:off x="1101038" y="1676400"/>
            <a:ext cx="5147361" cy="964565"/>
          </a:xfrm>
          <a:prstGeom prst="rect">
            <a:avLst/>
          </a:prstGeom>
        </p:spPr>
        <p:txBody>
          <a:bodyPr vert="horz" wrap="square" lIns="0" tIns="12700" rIns="0" bIns="0" rtlCol="0">
            <a:spAutoFit/>
          </a:bodyPr>
          <a:lstStyle/>
          <a:p>
            <a:pPr marL="12700" marR="5080">
              <a:lnSpc>
                <a:spcPct val="140000"/>
              </a:lnSpc>
              <a:spcBef>
                <a:spcPts val="100"/>
              </a:spcBef>
            </a:pPr>
            <a:r>
              <a:rPr sz="2200" spc="100" dirty="0">
                <a:latin typeface="Trebuchet MS"/>
                <a:cs typeface="Trebuchet MS"/>
              </a:rPr>
              <a:t>Meta </a:t>
            </a:r>
            <a:r>
              <a:rPr sz="2200" spc="40" dirty="0">
                <a:latin typeface="Trebuchet MS"/>
                <a:cs typeface="Trebuchet MS"/>
              </a:rPr>
              <a:t>Region </a:t>
            </a:r>
            <a:r>
              <a:rPr sz="2200" spc="-5" dirty="0">
                <a:latin typeface="Trebuchet MS"/>
                <a:cs typeface="Trebuchet MS"/>
              </a:rPr>
              <a:t>records </a:t>
            </a:r>
            <a:r>
              <a:rPr sz="2200" spc="-15" dirty="0">
                <a:latin typeface="Trebuchet MS"/>
                <a:cs typeface="Trebuchet MS"/>
              </a:rPr>
              <a:t>the </a:t>
            </a:r>
            <a:r>
              <a:rPr sz="2200" spc="30" dirty="0">
                <a:latin typeface="Trebuchet MS"/>
                <a:cs typeface="Trebuchet MS"/>
              </a:rPr>
              <a:t>routing  </a:t>
            </a:r>
            <a:r>
              <a:rPr sz="2200" spc="20" dirty="0">
                <a:latin typeface="Trebuchet MS"/>
                <a:cs typeface="Trebuchet MS"/>
              </a:rPr>
              <a:t>information </a:t>
            </a:r>
            <a:r>
              <a:rPr sz="2200" spc="15" dirty="0">
                <a:latin typeface="Trebuchet MS"/>
                <a:cs typeface="Trebuchet MS"/>
              </a:rPr>
              <a:t>of </a:t>
            </a:r>
            <a:r>
              <a:rPr sz="2200" dirty="0">
                <a:latin typeface="Trebuchet MS"/>
                <a:cs typeface="Trebuchet MS"/>
              </a:rPr>
              <a:t>each </a:t>
            </a:r>
            <a:r>
              <a:rPr sz="2200" spc="30" dirty="0">
                <a:latin typeface="Trebuchet MS"/>
                <a:cs typeface="Trebuchet MS"/>
              </a:rPr>
              <a:t>User</a:t>
            </a:r>
            <a:r>
              <a:rPr sz="2200" spc="75" dirty="0">
                <a:latin typeface="Trebuchet MS"/>
                <a:cs typeface="Trebuchet MS"/>
              </a:rPr>
              <a:t> </a:t>
            </a:r>
            <a:r>
              <a:rPr sz="2200" spc="-10" dirty="0">
                <a:latin typeface="Trebuchet MS"/>
                <a:cs typeface="Trebuchet MS"/>
              </a:rPr>
              <a:t>Region.</a:t>
            </a:r>
            <a:endParaRPr sz="2200" dirty="0">
              <a:latin typeface="Trebuchet MS"/>
              <a:cs typeface="Trebuchet MS"/>
            </a:endParaRPr>
          </a:p>
        </p:txBody>
      </p:sp>
      <p:sp>
        <p:nvSpPr>
          <p:cNvPr id="8" name="object 8"/>
          <p:cNvSpPr txBox="1"/>
          <p:nvPr/>
        </p:nvSpPr>
        <p:spPr>
          <a:xfrm>
            <a:off x="799287" y="2929434"/>
            <a:ext cx="130810" cy="194310"/>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9" name="object 9"/>
          <p:cNvSpPr txBox="1"/>
          <p:nvPr/>
        </p:nvSpPr>
        <p:spPr>
          <a:xfrm>
            <a:off x="1101039" y="2716023"/>
            <a:ext cx="5277485" cy="964565"/>
          </a:xfrm>
          <a:prstGeom prst="rect">
            <a:avLst/>
          </a:prstGeom>
        </p:spPr>
        <p:txBody>
          <a:bodyPr vert="horz" wrap="square" lIns="0" tIns="12700" rIns="0" bIns="0" rtlCol="0">
            <a:spAutoFit/>
          </a:bodyPr>
          <a:lstStyle/>
          <a:p>
            <a:pPr marL="12700" marR="5080">
              <a:lnSpc>
                <a:spcPct val="140000"/>
              </a:lnSpc>
              <a:spcBef>
                <a:spcPts val="100"/>
              </a:spcBef>
            </a:pPr>
            <a:r>
              <a:rPr sz="2200" spc="20" dirty="0">
                <a:latin typeface="Trebuchet MS"/>
                <a:cs typeface="Trebuchet MS"/>
              </a:rPr>
              <a:t>To </a:t>
            </a:r>
            <a:r>
              <a:rPr sz="2200" spc="5" dirty="0">
                <a:latin typeface="Trebuchet MS"/>
                <a:cs typeface="Trebuchet MS"/>
              </a:rPr>
              <a:t>read </a:t>
            </a:r>
            <a:r>
              <a:rPr sz="2200" spc="50" dirty="0">
                <a:latin typeface="Trebuchet MS"/>
                <a:cs typeface="Trebuchet MS"/>
              </a:rPr>
              <a:t>and </a:t>
            </a:r>
            <a:r>
              <a:rPr sz="2200" spc="-30" dirty="0">
                <a:latin typeface="Trebuchet MS"/>
                <a:cs typeface="Trebuchet MS"/>
              </a:rPr>
              <a:t>write </a:t>
            </a:r>
            <a:r>
              <a:rPr sz="2200" spc="25" dirty="0">
                <a:latin typeface="Trebuchet MS"/>
                <a:cs typeface="Trebuchet MS"/>
              </a:rPr>
              <a:t>region </a:t>
            </a:r>
            <a:r>
              <a:rPr sz="2200" spc="15" dirty="0">
                <a:latin typeface="Trebuchet MS"/>
                <a:cs typeface="Trebuchet MS"/>
              </a:rPr>
              <a:t>data </a:t>
            </a:r>
            <a:r>
              <a:rPr sz="2200" spc="30" dirty="0">
                <a:latin typeface="Trebuchet MS"/>
                <a:cs typeface="Trebuchet MS"/>
              </a:rPr>
              <a:t>routing  </a:t>
            </a:r>
            <a:r>
              <a:rPr sz="2200" spc="-5" dirty="0">
                <a:latin typeface="Trebuchet MS"/>
                <a:cs typeface="Trebuchet MS"/>
              </a:rPr>
              <a:t>information, </a:t>
            </a:r>
            <a:r>
              <a:rPr sz="2200" spc="15" dirty="0">
                <a:latin typeface="Trebuchet MS"/>
                <a:cs typeface="Trebuchet MS"/>
              </a:rPr>
              <a:t>perform </a:t>
            </a:r>
            <a:r>
              <a:rPr sz="2200" spc="-15" dirty="0">
                <a:latin typeface="Trebuchet MS"/>
                <a:cs typeface="Trebuchet MS"/>
              </a:rPr>
              <a:t>the </a:t>
            </a:r>
            <a:r>
              <a:rPr sz="2200" spc="25" dirty="0">
                <a:latin typeface="Trebuchet MS"/>
                <a:cs typeface="Trebuchet MS"/>
              </a:rPr>
              <a:t>following</a:t>
            </a:r>
            <a:r>
              <a:rPr sz="2200" spc="120" dirty="0">
                <a:latin typeface="Trebuchet MS"/>
                <a:cs typeface="Trebuchet MS"/>
              </a:rPr>
              <a:t> </a:t>
            </a:r>
            <a:r>
              <a:rPr sz="2200" spc="-55" dirty="0">
                <a:latin typeface="Trebuchet MS"/>
                <a:cs typeface="Trebuchet MS"/>
              </a:rPr>
              <a:t>steps:</a:t>
            </a:r>
            <a:endParaRPr sz="2200" dirty="0">
              <a:latin typeface="Trebuchet MS"/>
              <a:cs typeface="Trebuchet MS"/>
            </a:endParaRPr>
          </a:p>
        </p:txBody>
      </p:sp>
      <p:sp>
        <p:nvSpPr>
          <p:cNvPr id="10" name="object 10"/>
          <p:cNvSpPr txBox="1"/>
          <p:nvPr/>
        </p:nvSpPr>
        <p:spPr>
          <a:xfrm>
            <a:off x="1203147" y="3958693"/>
            <a:ext cx="150495"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Wingdings"/>
                <a:cs typeface="Wingdings"/>
              </a:rPr>
              <a:t></a:t>
            </a:r>
            <a:endParaRPr sz="1100">
              <a:latin typeface="Wingdings"/>
              <a:cs typeface="Wingdings"/>
            </a:endParaRPr>
          </a:p>
        </p:txBody>
      </p:sp>
      <p:sp>
        <p:nvSpPr>
          <p:cNvPr id="11" name="object 11"/>
          <p:cNvSpPr txBox="1"/>
          <p:nvPr/>
        </p:nvSpPr>
        <p:spPr>
          <a:xfrm>
            <a:off x="1454911" y="3879140"/>
            <a:ext cx="4975225" cy="1388110"/>
          </a:xfrm>
          <a:prstGeom prst="rect">
            <a:avLst/>
          </a:prstGeom>
        </p:spPr>
        <p:txBody>
          <a:bodyPr vert="horz" wrap="square" lIns="0" tIns="12065" rIns="0" bIns="0" rtlCol="0">
            <a:spAutoFit/>
          </a:bodyPr>
          <a:lstStyle/>
          <a:p>
            <a:pPr marL="12700">
              <a:lnSpc>
                <a:spcPct val="100000"/>
              </a:lnSpc>
              <a:spcBef>
                <a:spcPts val="95"/>
              </a:spcBef>
            </a:pPr>
            <a:r>
              <a:rPr sz="2200" spc="10" dirty="0">
                <a:latin typeface="Trebuchet MS"/>
                <a:cs typeface="Trebuchet MS"/>
              </a:rPr>
              <a:t>Find </a:t>
            </a:r>
            <a:r>
              <a:rPr sz="2200" spc="-15" dirty="0">
                <a:latin typeface="Trebuchet MS"/>
                <a:cs typeface="Trebuchet MS"/>
              </a:rPr>
              <a:t>the </a:t>
            </a:r>
            <a:r>
              <a:rPr sz="2200" spc="100" dirty="0">
                <a:latin typeface="Trebuchet MS"/>
                <a:cs typeface="Trebuchet MS"/>
              </a:rPr>
              <a:t>Meta </a:t>
            </a:r>
            <a:r>
              <a:rPr sz="2200" spc="40" dirty="0">
                <a:latin typeface="Trebuchet MS"/>
                <a:cs typeface="Trebuchet MS"/>
              </a:rPr>
              <a:t>Region</a:t>
            </a:r>
            <a:r>
              <a:rPr sz="2200" spc="-20" dirty="0">
                <a:latin typeface="Trebuchet MS"/>
                <a:cs typeface="Trebuchet MS"/>
              </a:rPr>
              <a:t> </a:t>
            </a:r>
            <a:r>
              <a:rPr sz="2200" spc="-25" dirty="0">
                <a:latin typeface="Trebuchet MS"/>
                <a:cs typeface="Trebuchet MS"/>
              </a:rPr>
              <a:t>address.</a:t>
            </a:r>
            <a:endParaRPr sz="2200" dirty="0">
              <a:latin typeface="Trebuchet MS"/>
              <a:cs typeface="Trebuchet MS"/>
            </a:endParaRPr>
          </a:p>
          <a:p>
            <a:pPr marL="12700" marR="5080">
              <a:lnSpc>
                <a:spcPct val="140000"/>
              </a:lnSpc>
              <a:spcBef>
                <a:spcPts val="700"/>
              </a:spcBef>
            </a:pPr>
            <a:r>
              <a:rPr sz="2200" spc="10" dirty="0">
                <a:latin typeface="Trebuchet MS"/>
                <a:cs typeface="Trebuchet MS"/>
              </a:rPr>
              <a:t>Find </a:t>
            </a:r>
            <a:r>
              <a:rPr sz="2200" spc="-15" dirty="0">
                <a:latin typeface="Trebuchet MS"/>
                <a:cs typeface="Trebuchet MS"/>
              </a:rPr>
              <a:t>the </a:t>
            </a:r>
            <a:r>
              <a:rPr sz="2200" spc="30" dirty="0">
                <a:latin typeface="Trebuchet MS"/>
                <a:cs typeface="Trebuchet MS"/>
              </a:rPr>
              <a:t>User </a:t>
            </a:r>
            <a:r>
              <a:rPr sz="2200" spc="40" dirty="0">
                <a:latin typeface="Trebuchet MS"/>
                <a:cs typeface="Trebuchet MS"/>
              </a:rPr>
              <a:t>Region </a:t>
            </a:r>
            <a:r>
              <a:rPr sz="2200" spc="15" dirty="0">
                <a:latin typeface="Trebuchet MS"/>
                <a:cs typeface="Trebuchet MS"/>
              </a:rPr>
              <a:t>address </a:t>
            </a:r>
            <a:r>
              <a:rPr sz="2200" spc="20" dirty="0">
                <a:latin typeface="Trebuchet MS"/>
                <a:cs typeface="Trebuchet MS"/>
              </a:rPr>
              <a:t>based </a:t>
            </a:r>
            <a:r>
              <a:rPr sz="2200" spc="75" dirty="0">
                <a:latin typeface="Trebuchet MS"/>
                <a:cs typeface="Trebuchet MS"/>
              </a:rPr>
              <a:t>on  </a:t>
            </a:r>
            <a:r>
              <a:rPr sz="2200" spc="100" dirty="0">
                <a:latin typeface="Trebuchet MS"/>
                <a:cs typeface="Trebuchet MS"/>
              </a:rPr>
              <a:t>Meta</a:t>
            </a:r>
            <a:r>
              <a:rPr sz="2200" spc="15" dirty="0">
                <a:latin typeface="Trebuchet MS"/>
                <a:cs typeface="Trebuchet MS"/>
              </a:rPr>
              <a:t> </a:t>
            </a:r>
            <a:r>
              <a:rPr sz="2200" spc="-10" dirty="0">
                <a:latin typeface="Trebuchet MS"/>
                <a:cs typeface="Trebuchet MS"/>
              </a:rPr>
              <a:t>Region.</a:t>
            </a:r>
            <a:endParaRPr sz="2200" dirty="0">
              <a:latin typeface="Trebuchet MS"/>
              <a:cs typeface="Trebuchet MS"/>
            </a:endParaRPr>
          </a:p>
        </p:txBody>
      </p:sp>
      <p:sp>
        <p:nvSpPr>
          <p:cNvPr id="12" name="object 12"/>
          <p:cNvSpPr txBox="1"/>
          <p:nvPr/>
        </p:nvSpPr>
        <p:spPr>
          <a:xfrm>
            <a:off x="1203147" y="4516858"/>
            <a:ext cx="150495"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Wingdings"/>
                <a:cs typeface="Wingdings"/>
              </a:rPr>
              <a:t></a:t>
            </a:r>
            <a:endParaRPr sz="1100">
              <a:latin typeface="Wingdings"/>
              <a:cs typeface="Wingdings"/>
            </a:endParaRPr>
          </a:p>
        </p:txBody>
      </p:sp>
      <p:grpSp>
        <p:nvGrpSpPr>
          <p:cNvPr id="13" name="object 13"/>
          <p:cNvGrpSpPr/>
          <p:nvPr/>
        </p:nvGrpSpPr>
        <p:grpSpPr>
          <a:xfrm>
            <a:off x="7552552" y="1511808"/>
            <a:ext cx="3474085" cy="3990975"/>
            <a:chOff x="7552552" y="1511808"/>
            <a:chExt cx="3474085" cy="3990975"/>
          </a:xfrm>
        </p:grpSpPr>
        <p:sp>
          <p:nvSpPr>
            <p:cNvPr id="14" name="object 14"/>
            <p:cNvSpPr/>
            <p:nvPr/>
          </p:nvSpPr>
          <p:spPr>
            <a:xfrm>
              <a:off x="7552552" y="1702308"/>
              <a:ext cx="3170702" cy="3800475"/>
            </a:xfrm>
            <a:prstGeom prst="rect">
              <a:avLst/>
            </a:prstGeom>
            <a:blipFill>
              <a:blip r:embed="rId2" cstate="print"/>
              <a:stretch>
                <a:fillRect/>
              </a:stretch>
            </a:blipFill>
          </p:spPr>
          <p:txBody>
            <a:bodyPr wrap="square" lIns="0" tIns="0" rIns="0" bIns="0" rtlCol="0"/>
            <a:lstStyle/>
            <a:p>
              <a:endParaRPr/>
            </a:p>
          </p:txBody>
        </p:sp>
        <p:sp>
          <p:nvSpPr>
            <p:cNvPr id="15" name="object 15"/>
            <p:cNvSpPr/>
            <p:nvPr/>
          </p:nvSpPr>
          <p:spPr>
            <a:xfrm>
              <a:off x="9441180" y="1511808"/>
              <a:ext cx="1584960" cy="307975"/>
            </a:xfrm>
            <a:custGeom>
              <a:avLst/>
              <a:gdLst/>
              <a:ahLst/>
              <a:cxnLst/>
              <a:rect l="l" t="t" r="r" b="b"/>
              <a:pathLst>
                <a:path w="1584959" h="307975">
                  <a:moveTo>
                    <a:pt x="1584959" y="0"/>
                  </a:moveTo>
                  <a:lnTo>
                    <a:pt x="0" y="0"/>
                  </a:lnTo>
                  <a:lnTo>
                    <a:pt x="0" y="307848"/>
                  </a:lnTo>
                  <a:lnTo>
                    <a:pt x="1584959" y="307848"/>
                  </a:lnTo>
                  <a:lnTo>
                    <a:pt x="1584959" y="0"/>
                  </a:lnTo>
                  <a:close/>
                </a:path>
              </a:pathLst>
            </a:custGeom>
            <a:solidFill>
              <a:srgbClr val="FFFFFF"/>
            </a:solidFill>
          </p:spPr>
          <p:txBody>
            <a:bodyPr wrap="square" lIns="0" tIns="0" rIns="0" bIns="0" rtlCol="0"/>
            <a:lstStyle/>
            <a:p>
              <a:endParaRPr/>
            </a:p>
          </p:txBody>
        </p:sp>
      </p:grpSp>
      <p:sp>
        <p:nvSpPr>
          <p:cNvPr id="16" name="object 16"/>
          <p:cNvSpPr txBox="1"/>
          <p:nvPr/>
        </p:nvSpPr>
        <p:spPr>
          <a:xfrm>
            <a:off x="9520555" y="1541780"/>
            <a:ext cx="955040" cy="239395"/>
          </a:xfrm>
          <a:prstGeom prst="rect">
            <a:avLst/>
          </a:prstGeom>
        </p:spPr>
        <p:txBody>
          <a:bodyPr vert="horz" wrap="square" lIns="0" tIns="13335" rIns="0" bIns="0" rtlCol="0">
            <a:spAutoFit/>
          </a:bodyPr>
          <a:lstStyle/>
          <a:p>
            <a:pPr marL="12700">
              <a:lnSpc>
                <a:spcPct val="100000"/>
              </a:lnSpc>
              <a:spcBef>
                <a:spcPts val="105"/>
              </a:spcBef>
            </a:pPr>
            <a:r>
              <a:rPr sz="1400" spc="15" dirty="0">
                <a:latin typeface="Trebuchet MS"/>
                <a:cs typeface="Trebuchet MS"/>
              </a:rPr>
              <a:t>User</a:t>
            </a:r>
            <a:r>
              <a:rPr sz="1400" spc="-50" dirty="0">
                <a:latin typeface="Trebuchet MS"/>
                <a:cs typeface="Trebuchet MS"/>
              </a:rPr>
              <a:t> </a:t>
            </a:r>
            <a:r>
              <a:rPr sz="1400" dirty="0">
                <a:latin typeface="Trebuchet MS"/>
                <a:cs typeface="Trebuchet MS"/>
              </a:rPr>
              <a:t>table1</a:t>
            </a:r>
            <a:endParaRPr sz="1400">
              <a:latin typeface="Trebuchet MS"/>
              <a:cs typeface="Trebuchet MS"/>
            </a:endParaRPr>
          </a:p>
        </p:txBody>
      </p:sp>
      <p:sp>
        <p:nvSpPr>
          <p:cNvPr id="17" name="object 17"/>
          <p:cNvSpPr/>
          <p:nvPr/>
        </p:nvSpPr>
        <p:spPr>
          <a:xfrm>
            <a:off x="7306056" y="1808988"/>
            <a:ext cx="1586865" cy="523240"/>
          </a:xfrm>
          <a:custGeom>
            <a:avLst/>
            <a:gdLst/>
            <a:ahLst/>
            <a:cxnLst/>
            <a:rect l="l" t="t" r="r" b="b"/>
            <a:pathLst>
              <a:path w="1586865" h="523239">
                <a:moveTo>
                  <a:pt x="1586483" y="0"/>
                </a:moveTo>
                <a:lnTo>
                  <a:pt x="0" y="0"/>
                </a:lnTo>
                <a:lnTo>
                  <a:pt x="0" y="522731"/>
                </a:lnTo>
                <a:lnTo>
                  <a:pt x="1586483" y="522731"/>
                </a:lnTo>
                <a:lnTo>
                  <a:pt x="1586483" y="0"/>
                </a:lnTo>
                <a:close/>
              </a:path>
            </a:pathLst>
          </a:custGeom>
          <a:solidFill>
            <a:srgbClr val="FFFFFF"/>
          </a:solidFill>
        </p:spPr>
        <p:txBody>
          <a:bodyPr wrap="square" lIns="0" tIns="0" rIns="0" bIns="0" rtlCol="0"/>
          <a:lstStyle/>
          <a:p>
            <a:endParaRPr/>
          </a:p>
        </p:txBody>
      </p:sp>
      <p:sp>
        <p:nvSpPr>
          <p:cNvPr id="18" name="object 18"/>
          <p:cNvSpPr txBox="1"/>
          <p:nvPr/>
        </p:nvSpPr>
        <p:spPr>
          <a:xfrm>
            <a:off x="7604886" y="1839595"/>
            <a:ext cx="991235" cy="452755"/>
          </a:xfrm>
          <a:prstGeom prst="rect">
            <a:avLst/>
          </a:prstGeom>
        </p:spPr>
        <p:txBody>
          <a:bodyPr vert="horz" wrap="square" lIns="0" tIns="13335" rIns="0" bIns="0" rtlCol="0">
            <a:spAutoFit/>
          </a:bodyPr>
          <a:lstStyle/>
          <a:p>
            <a:pPr marL="289560" marR="5080" indent="-277495">
              <a:lnSpc>
                <a:spcPct val="100000"/>
              </a:lnSpc>
              <a:spcBef>
                <a:spcPts val="105"/>
              </a:spcBef>
            </a:pPr>
            <a:r>
              <a:rPr sz="1400" spc="135" dirty="0">
                <a:latin typeface="Trebuchet MS"/>
                <a:cs typeface="Trebuchet MS"/>
              </a:rPr>
              <a:t>H</a:t>
            </a:r>
            <a:r>
              <a:rPr sz="1400" spc="30" dirty="0">
                <a:latin typeface="Trebuchet MS"/>
                <a:cs typeface="Trebuchet MS"/>
              </a:rPr>
              <a:t>ba</a:t>
            </a:r>
            <a:r>
              <a:rPr sz="1400" spc="15" dirty="0">
                <a:latin typeface="Trebuchet MS"/>
                <a:cs typeface="Trebuchet MS"/>
              </a:rPr>
              <a:t>s</a:t>
            </a:r>
            <a:r>
              <a:rPr sz="1400" spc="-135" dirty="0">
                <a:latin typeface="Trebuchet MS"/>
                <a:cs typeface="Trebuchet MS"/>
              </a:rPr>
              <a:t>e</a:t>
            </a:r>
            <a:r>
              <a:rPr sz="1400" spc="-90" dirty="0">
                <a:latin typeface="Trebuchet MS"/>
                <a:cs typeface="Trebuchet MS"/>
              </a:rPr>
              <a:t>:</a:t>
            </a:r>
            <a:r>
              <a:rPr sz="1400" spc="45" dirty="0">
                <a:latin typeface="Trebuchet MS"/>
                <a:cs typeface="Trebuchet MS"/>
              </a:rPr>
              <a:t>m</a:t>
            </a:r>
            <a:r>
              <a:rPr sz="1400" spc="35" dirty="0">
                <a:latin typeface="Trebuchet MS"/>
                <a:cs typeface="Trebuchet MS"/>
              </a:rPr>
              <a:t>e</a:t>
            </a:r>
            <a:r>
              <a:rPr sz="1400" spc="-40" dirty="0">
                <a:latin typeface="Trebuchet MS"/>
                <a:cs typeface="Trebuchet MS"/>
              </a:rPr>
              <a:t>t</a:t>
            </a:r>
            <a:r>
              <a:rPr sz="1400" spc="25" dirty="0">
                <a:latin typeface="Trebuchet MS"/>
                <a:cs typeface="Trebuchet MS"/>
              </a:rPr>
              <a:t>a  </a:t>
            </a:r>
            <a:r>
              <a:rPr sz="1400" spc="-10" dirty="0">
                <a:latin typeface="Trebuchet MS"/>
                <a:cs typeface="Trebuchet MS"/>
              </a:rPr>
              <a:t>table</a:t>
            </a:r>
            <a:endParaRPr sz="1400">
              <a:latin typeface="Trebuchet MS"/>
              <a:cs typeface="Trebuchet MS"/>
            </a:endParaRPr>
          </a:p>
        </p:txBody>
      </p:sp>
      <p:sp>
        <p:nvSpPr>
          <p:cNvPr id="19" name="object 19"/>
          <p:cNvSpPr/>
          <p:nvPr/>
        </p:nvSpPr>
        <p:spPr>
          <a:xfrm>
            <a:off x="9393935" y="3616452"/>
            <a:ext cx="1358265" cy="307975"/>
          </a:xfrm>
          <a:custGeom>
            <a:avLst/>
            <a:gdLst/>
            <a:ahLst/>
            <a:cxnLst/>
            <a:rect l="l" t="t" r="r" b="b"/>
            <a:pathLst>
              <a:path w="1358265" h="307975">
                <a:moveTo>
                  <a:pt x="1357883" y="0"/>
                </a:moveTo>
                <a:lnTo>
                  <a:pt x="0" y="0"/>
                </a:lnTo>
                <a:lnTo>
                  <a:pt x="0" y="307848"/>
                </a:lnTo>
                <a:lnTo>
                  <a:pt x="1357883" y="307848"/>
                </a:lnTo>
                <a:lnTo>
                  <a:pt x="1357883" y="0"/>
                </a:lnTo>
                <a:close/>
              </a:path>
            </a:pathLst>
          </a:custGeom>
          <a:solidFill>
            <a:srgbClr val="FFFFFF"/>
          </a:solidFill>
        </p:spPr>
        <p:txBody>
          <a:bodyPr wrap="square" lIns="0" tIns="0" rIns="0" bIns="0" rtlCol="0"/>
          <a:lstStyle/>
          <a:p>
            <a:endParaRPr/>
          </a:p>
        </p:txBody>
      </p:sp>
      <p:sp>
        <p:nvSpPr>
          <p:cNvPr id="20" name="object 20"/>
          <p:cNvSpPr txBox="1"/>
          <p:nvPr/>
        </p:nvSpPr>
        <p:spPr>
          <a:xfrm>
            <a:off x="9474200" y="3637669"/>
            <a:ext cx="1045844" cy="251460"/>
          </a:xfrm>
          <a:prstGeom prst="rect">
            <a:avLst/>
          </a:prstGeom>
        </p:spPr>
        <p:txBody>
          <a:bodyPr vert="horz" wrap="square" lIns="0" tIns="16510" rIns="0" bIns="0" rtlCol="0">
            <a:spAutoFit/>
          </a:bodyPr>
          <a:lstStyle/>
          <a:p>
            <a:pPr marL="12700">
              <a:lnSpc>
                <a:spcPct val="100000"/>
              </a:lnSpc>
              <a:spcBef>
                <a:spcPts val="130"/>
              </a:spcBef>
            </a:pPr>
            <a:r>
              <a:rPr sz="1400" spc="15" dirty="0">
                <a:latin typeface="Trebuchet MS"/>
                <a:cs typeface="Trebuchet MS"/>
              </a:rPr>
              <a:t>User </a:t>
            </a:r>
            <a:r>
              <a:rPr sz="1400" spc="-10" dirty="0">
                <a:latin typeface="Trebuchet MS"/>
                <a:cs typeface="Trebuchet MS"/>
              </a:rPr>
              <a:t>table</a:t>
            </a:r>
            <a:r>
              <a:rPr sz="1400" spc="-60" dirty="0">
                <a:latin typeface="Trebuchet MS"/>
                <a:cs typeface="Trebuchet MS"/>
              </a:rPr>
              <a:t> </a:t>
            </a:r>
            <a:r>
              <a:rPr sz="1450" i="1" spc="145" dirty="0">
                <a:latin typeface="Trebuchet MS"/>
                <a:cs typeface="Trebuchet MS"/>
              </a:rPr>
              <a:t>N</a:t>
            </a:r>
            <a:endParaRPr sz="1450">
              <a:latin typeface="Trebuchet MS"/>
              <a:cs typeface="Trebuchet MS"/>
            </a:endParaRPr>
          </a:p>
        </p:txBody>
      </p:sp>
      <p:sp>
        <p:nvSpPr>
          <p:cNvPr id="21" name="object 21"/>
          <p:cNvSpPr txBox="1">
            <a:spLocks noGrp="1"/>
          </p:cNvSpPr>
          <p:nvPr>
            <p:ph type="sldNum" sz="quarter" idx="7"/>
          </p:nvPr>
        </p:nvSpPr>
        <p:spPr>
          <a:xfrm>
            <a:off x="719124" y="6248400"/>
            <a:ext cx="1649730" cy="170815"/>
          </a:xfrm>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21	</a:t>
            </a:r>
            <a:r>
              <a:rPr spc="30" dirty="0"/>
              <a:t>Huawei</a:t>
            </a:r>
            <a:r>
              <a:rPr spc="-10" dirty="0"/>
              <a:t> </a:t>
            </a:r>
            <a:r>
              <a:rPr spc="5" dirty="0"/>
              <a:t>Confidential</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4154170" cy="513715"/>
          </a:xfrm>
          <a:prstGeom prst="rect">
            <a:avLst/>
          </a:prstGeom>
        </p:spPr>
        <p:txBody>
          <a:bodyPr vert="horz" wrap="square" lIns="0" tIns="13335" rIns="0" bIns="0" rtlCol="0">
            <a:spAutoFit/>
          </a:bodyPr>
          <a:lstStyle/>
          <a:p>
            <a:pPr marL="12700">
              <a:lnSpc>
                <a:spcPct val="100000"/>
              </a:lnSpc>
              <a:spcBef>
                <a:spcPts val="105"/>
              </a:spcBef>
            </a:pPr>
            <a:r>
              <a:rPr sz="3200" spc="70" dirty="0">
                <a:solidFill>
                  <a:srgbClr val="000000"/>
                </a:solidFill>
              </a:rPr>
              <a:t>Region </a:t>
            </a:r>
            <a:r>
              <a:rPr sz="3200" spc="35" dirty="0">
                <a:solidFill>
                  <a:srgbClr val="000000"/>
                </a:solidFill>
              </a:rPr>
              <a:t>Positioning</a:t>
            </a:r>
            <a:r>
              <a:rPr sz="3200" spc="-95" dirty="0">
                <a:solidFill>
                  <a:srgbClr val="000000"/>
                </a:solidFill>
              </a:rPr>
              <a:t> </a:t>
            </a:r>
            <a:r>
              <a:rPr sz="3200" spc="130" dirty="0">
                <a:solidFill>
                  <a:srgbClr val="000000"/>
                </a:solidFill>
              </a:rPr>
              <a:t>(2)</a:t>
            </a:r>
            <a:endParaRPr sz="3200" dirty="0"/>
          </a:p>
        </p:txBody>
      </p:sp>
      <p:sp>
        <p:nvSpPr>
          <p:cNvPr id="7" name="object 7"/>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22	</a:t>
            </a:r>
            <a:r>
              <a:rPr spc="30" dirty="0"/>
              <a:t>Huawei</a:t>
            </a:r>
            <a:r>
              <a:rPr spc="-10" dirty="0"/>
              <a:t> </a:t>
            </a:r>
            <a:r>
              <a:rPr spc="5" dirty="0"/>
              <a:t>Confidential</a:t>
            </a:r>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075639" y="1211325"/>
            <a:ext cx="10344785" cy="1971675"/>
          </a:xfrm>
          <a:prstGeom prst="rect">
            <a:avLst/>
          </a:prstGeom>
        </p:spPr>
        <p:txBody>
          <a:bodyPr vert="horz" wrap="square" lIns="0" tIns="12065" rIns="0" bIns="0" rtlCol="0">
            <a:spAutoFit/>
          </a:bodyPr>
          <a:lstStyle/>
          <a:p>
            <a:pPr marL="38100">
              <a:lnSpc>
                <a:spcPct val="100000"/>
              </a:lnSpc>
              <a:spcBef>
                <a:spcPts val="95"/>
              </a:spcBef>
            </a:pPr>
            <a:r>
              <a:rPr sz="2200" spc="20" dirty="0">
                <a:latin typeface="Trebuchet MS"/>
                <a:cs typeface="Trebuchet MS"/>
              </a:rPr>
              <a:t>To </a:t>
            </a:r>
            <a:r>
              <a:rPr sz="2200" spc="5" dirty="0">
                <a:latin typeface="Trebuchet MS"/>
                <a:cs typeface="Trebuchet MS"/>
              </a:rPr>
              <a:t>speed </a:t>
            </a:r>
            <a:r>
              <a:rPr sz="2200" spc="55" dirty="0">
                <a:latin typeface="Trebuchet MS"/>
                <a:cs typeface="Trebuchet MS"/>
              </a:rPr>
              <a:t>up </a:t>
            </a:r>
            <a:r>
              <a:rPr sz="2200" spc="-55" dirty="0">
                <a:latin typeface="Trebuchet MS"/>
                <a:cs typeface="Trebuchet MS"/>
              </a:rPr>
              <a:t>access, </a:t>
            </a:r>
            <a:r>
              <a:rPr sz="2200" spc="-15" dirty="0">
                <a:latin typeface="Trebuchet MS"/>
                <a:cs typeface="Trebuchet MS"/>
              </a:rPr>
              <a:t>the </a:t>
            </a:r>
            <a:r>
              <a:rPr sz="2200" b="1" spc="-5" dirty="0">
                <a:latin typeface="Arial"/>
                <a:cs typeface="Arial"/>
              </a:rPr>
              <a:t>hbase:meta </a:t>
            </a:r>
            <a:r>
              <a:rPr sz="2200" spc="-20" dirty="0">
                <a:latin typeface="Trebuchet MS"/>
                <a:cs typeface="Trebuchet MS"/>
              </a:rPr>
              <a:t>table </a:t>
            </a:r>
            <a:r>
              <a:rPr sz="2200" spc="-15" dirty="0">
                <a:latin typeface="Trebuchet MS"/>
                <a:cs typeface="Trebuchet MS"/>
              </a:rPr>
              <a:t>is </a:t>
            </a:r>
            <a:r>
              <a:rPr sz="2200" spc="15" dirty="0">
                <a:latin typeface="Trebuchet MS"/>
                <a:cs typeface="Trebuchet MS"/>
              </a:rPr>
              <a:t>saved </a:t>
            </a:r>
            <a:r>
              <a:rPr sz="2200" spc="5" dirty="0">
                <a:latin typeface="Trebuchet MS"/>
                <a:cs typeface="Trebuchet MS"/>
              </a:rPr>
              <a:t>in</a:t>
            </a:r>
            <a:r>
              <a:rPr sz="2200" spc="325" dirty="0">
                <a:latin typeface="Trebuchet MS"/>
                <a:cs typeface="Trebuchet MS"/>
              </a:rPr>
              <a:t> </a:t>
            </a:r>
            <a:r>
              <a:rPr sz="2200" dirty="0">
                <a:latin typeface="Trebuchet MS"/>
                <a:cs typeface="Trebuchet MS"/>
              </a:rPr>
              <a:t>memory.</a:t>
            </a:r>
          </a:p>
          <a:p>
            <a:pPr marL="38100">
              <a:lnSpc>
                <a:spcPct val="100000"/>
              </a:lnSpc>
              <a:spcBef>
                <a:spcPts val="1850"/>
              </a:spcBef>
              <a:tabLst>
                <a:tab pos="1163955" algn="l"/>
                <a:tab pos="1831975" algn="l"/>
                <a:tab pos="2571115" algn="l"/>
                <a:tab pos="3202305" algn="l"/>
                <a:tab pos="3618229" algn="l"/>
                <a:tab pos="4886325" algn="l"/>
                <a:tab pos="5802630" algn="l"/>
                <a:tab pos="6184900" algn="l"/>
                <a:tab pos="6742430" algn="l"/>
                <a:tab pos="8443595" algn="l"/>
                <a:tab pos="9230360" algn="l"/>
              </a:tabLst>
            </a:pPr>
            <a:r>
              <a:rPr sz="2200" spc="65" dirty="0">
                <a:latin typeface="Trebuchet MS"/>
                <a:cs typeface="Trebuchet MS"/>
              </a:rPr>
              <a:t>Assume	</a:t>
            </a:r>
            <a:r>
              <a:rPr sz="2200" spc="-5" dirty="0">
                <a:latin typeface="Trebuchet MS"/>
                <a:cs typeface="Trebuchet MS"/>
              </a:rPr>
              <a:t>that	</a:t>
            </a:r>
            <a:r>
              <a:rPr sz="2200" dirty="0">
                <a:latin typeface="Trebuchet MS"/>
                <a:cs typeface="Trebuchet MS"/>
              </a:rPr>
              <a:t>each	</a:t>
            </a:r>
            <a:r>
              <a:rPr sz="2200" spc="45" dirty="0">
                <a:latin typeface="Trebuchet MS"/>
                <a:cs typeface="Trebuchet MS"/>
              </a:rPr>
              <a:t>row	</a:t>
            </a:r>
            <a:r>
              <a:rPr sz="2200" spc="80" dirty="0">
                <a:latin typeface="Trebuchet MS"/>
                <a:cs typeface="Trebuchet MS"/>
              </a:rPr>
              <a:t>(a	</a:t>
            </a:r>
            <a:r>
              <a:rPr sz="2200" spc="60" dirty="0">
                <a:latin typeface="Trebuchet MS"/>
                <a:cs typeface="Trebuchet MS"/>
              </a:rPr>
              <a:t>mapping	</a:t>
            </a:r>
            <a:r>
              <a:rPr sz="2200" dirty="0">
                <a:latin typeface="Trebuchet MS"/>
                <a:cs typeface="Trebuchet MS"/>
              </a:rPr>
              <a:t>entry)	</a:t>
            </a:r>
            <a:r>
              <a:rPr sz="2200" spc="5" dirty="0">
                <a:latin typeface="Trebuchet MS"/>
                <a:cs typeface="Trebuchet MS"/>
              </a:rPr>
              <a:t>in	</a:t>
            </a:r>
            <a:r>
              <a:rPr sz="2200" spc="-15" dirty="0">
                <a:latin typeface="Trebuchet MS"/>
                <a:cs typeface="Trebuchet MS"/>
              </a:rPr>
              <a:t>the	</a:t>
            </a:r>
            <a:r>
              <a:rPr sz="2200" b="1" spc="-5" dirty="0">
                <a:latin typeface="Arial"/>
                <a:cs typeface="Arial"/>
              </a:rPr>
              <a:t>hbase:meta	</a:t>
            </a:r>
            <a:r>
              <a:rPr sz="2200" spc="-20" dirty="0">
                <a:latin typeface="Trebuchet MS"/>
                <a:cs typeface="Trebuchet MS"/>
              </a:rPr>
              <a:t>table	</a:t>
            </a:r>
            <a:r>
              <a:rPr sz="2200" spc="-10" dirty="0">
                <a:latin typeface="Trebuchet MS"/>
                <a:cs typeface="Trebuchet MS"/>
              </a:rPr>
              <a:t>occupies</a:t>
            </a:r>
            <a:endParaRPr sz="2200" dirty="0">
              <a:latin typeface="Trebuchet MS"/>
              <a:cs typeface="Trebuchet MS"/>
            </a:endParaRPr>
          </a:p>
          <a:p>
            <a:pPr marL="38100">
              <a:lnSpc>
                <a:spcPct val="100000"/>
              </a:lnSpc>
              <a:spcBef>
                <a:spcPts val="1055"/>
              </a:spcBef>
            </a:pPr>
            <a:r>
              <a:rPr sz="2200" spc="30" dirty="0">
                <a:latin typeface="Trebuchet MS"/>
                <a:cs typeface="Trebuchet MS"/>
              </a:rPr>
              <a:t>about </a:t>
            </a:r>
            <a:r>
              <a:rPr sz="2200" spc="70" dirty="0">
                <a:latin typeface="Trebuchet MS"/>
                <a:cs typeface="Trebuchet MS"/>
              </a:rPr>
              <a:t>1 KB </a:t>
            </a:r>
            <a:r>
              <a:rPr sz="2200" spc="5" dirty="0">
                <a:latin typeface="Trebuchet MS"/>
                <a:cs typeface="Trebuchet MS"/>
              </a:rPr>
              <a:t>in </a:t>
            </a:r>
            <a:r>
              <a:rPr sz="2200" spc="-15" dirty="0">
                <a:latin typeface="Trebuchet MS"/>
                <a:cs typeface="Trebuchet MS"/>
              </a:rPr>
              <a:t>the </a:t>
            </a:r>
            <a:r>
              <a:rPr sz="2200" dirty="0">
                <a:latin typeface="Trebuchet MS"/>
                <a:cs typeface="Trebuchet MS"/>
              </a:rPr>
              <a:t>memory, </a:t>
            </a:r>
            <a:r>
              <a:rPr sz="2200" spc="55" dirty="0">
                <a:latin typeface="Trebuchet MS"/>
                <a:cs typeface="Trebuchet MS"/>
              </a:rPr>
              <a:t>and </a:t>
            </a:r>
            <a:r>
              <a:rPr sz="2200" spc="-15" dirty="0">
                <a:latin typeface="Trebuchet MS"/>
                <a:cs typeface="Trebuchet MS"/>
              </a:rPr>
              <a:t>the </a:t>
            </a:r>
            <a:r>
              <a:rPr sz="2200" spc="65" dirty="0">
                <a:latin typeface="Trebuchet MS"/>
                <a:cs typeface="Trebuchet MS"/>
              </a:rPr>
              <a:t>maximum </a:t>
            </a:r>
            <a:r>
              <a:rPr sz="2200" spc="-25" dirty="0">
                <a:latin typeface="Trebuchet MS"/>
                <a:cs typeface="Trebuchet MS"/>
              </a:rPr>
              <a:t>size </a:t>
            </a:r>
            <a:r>
              <a:rPr sz="2200" spc="15" dirty="0">
                <a:latin typeface="Trebuchet MS"/>
                <a:cs typeface="Trebuchet MS"/>
              </a:rPr>
              <a:t>of </a:t>
            </a:r>
            <a:r>
              <a:rPr sz="2200" dirty="0">
                <a:latin typeface="Trebuchet MS"/>
                <a:cs typeface="Trebuchet MS"/>
              </a:rPr>
              <a:t>each </a:t>
            </a:r>
            <a:r>
              <a:rPr sz="2200" spc="25" dirty="0">
                <a:latin typeface="Trebuchet MS"/>
                <a:cs typeface="Trebuchet MS"/>
              </a:rPr>
              <a:t>region </a:t>
            </a:r>
            <a:r>
              <a:rPr sz="2200" spc="-15" dirty="0">
                <a:latin typeface="Trebuchet MS"/>
                <a:cs typeface="Trebuchet MS"/>
              </a:rPr>
              <a:t>is </a:t>
            </a:r>
            <a:r>
              <a:rPr sz="2200" spc="70" dirty="0">
                <a:latin typeface="Trebuchet MS"/>
                <a:cs typeface="Trebuchet MS"/>
              </a:rPr>
              <a:t>128</a:t>
            </a:r>
            <a:r>
              <a:rPr sz="2200" spc="185" dirty="0">
                <a:latin typeface="Trebuchet MS"/>
                <a:cs typeface="Trebuchet MS"/>
              </a:rPr>
              <a:t> </a:t>
            </a:r>
            <a:r>
              <a:rPr sz="2200" spc="80" dirty="0">
                <a:latin typeface="Trebuchet MS"/>
                <a:cs typeface="Trebuchet MS"/>
              </a:rPr>
              <a:t>MB.</a:t>
            </a:r>
            <a:endParaRPr sz="2200" dirty="0">
              <a:latin typeface="Trebuchet MS"/>
              <a:cs typeface="Trebuchet MS"/>
            </a:endParaRPr>
          </a:p>
          <a:p>
            <a:pPr marL="38100">
              <a:lnSpc>
                <a:spcPct val="100000"/>
              </a:lnSpc>
              <a:spcBef>
                <a:spcPts val="1860"/>
              </a:spcBef>
            </a:pPr>
            <a:r>
              <a:rPr sz="2200" spc="40" dirty="0">
                <a:latin typeface="Trebuchet MS"/>
                <a:cs typeface="Trebuchet MS"/>
              </a:rPr>
              <a:t>In </a:t>
            </a:r>
            <a:r>
              <a:rPr sz="2200" spc="-15" dirty="0">
                <a:latin typeface="Trebuchet MS"/>
                <a:cs typeface="Trebuchet MS"/>
              </a:rPr>
              <a:t>the </a:t>
            </a:r>
            <a:r>
              <a:rPr sz="2200" spc="5" dirty="0">
                <a:latin typeface="Trebuchet MS"/>
                <a:cs typeface="Trebuchet MS"/>
              </a:rPr>
              <a:t>two-layer </a:t>
            </a:r>
            <a:r>
              <a:rPr sz="2200" spc="-45" dirty="0">
                <a:latin typeface="Trebuchet MS"/>
                <a:cs typeface="Trebuchet MS"/>
              </a:rPr>
              <a:t>structure, </a:t>
            </a:r>
            <a:r>
              <a:rPr sz="2200" spc="60" dirty="0">
                <a:latin typeface="Trebuchet MS"/>
                <a:cs typeface="Trebuchet MS"/>
              </a:rPr>
              <a:t>2</a:t>
            </a:r>
            <a:r>
              <a:rPr sz="2175" spc="89" baseline="36398" dirty="0">
                <a:latin typeface="Trebuchet MS"/>
                <a:cs typeface="Trebuchet MS"/>
              </a:rPr>
              <a:t>17 </a:t>
            </a:r>
            <a:r>
              <a:rPr sz="2200" spc="75" dirty="0">
                <a:latin typeface="Trebuchet MS"/>
                <a:cs typeface="Trebuchet MS"/>
              </a:rPr>
              <a:t>(128 MB/1 </a:t>
            </a:r>
            <a:r>
              <a:rPr sz="2200" spc="80" dirty="0">
                <a:latin typeface="Trebuchet MS"/>
                <a:cs typeface="Trebuchet MS"/>
              </a:rPr>
              <a:t>KB) </a:t>
            </a:r>
            <a:r>
              <a:rPr sz="2200" spc="25" dirty="0">
                <a:latin typeface="Trebuchet MS"/>
                <a:cs typeface="Trebuchet MS"/>
              </a:rPr>
              <a:t>regions </a:t>
            </a:r>
            <a:r>
              <a:rPr sz="2200" spc="15" dirty="0">
                <a:latin typeface="Trebuchet MS"/>
                <a:cs typeface="Trebuchet MS"/>
              </a:rPr>
              <a:t>can </a:t>
            </a:r>
            <a:r>
              <a:rPr sz="2200" spc="-10" dirty="0">
                <a:latin typeface="Trebuchet MS"/>
                <a:cs typeface="Trebuchet MS"/>
              </a:rPr>
              <a:t>be</a:t>
            </a:r>
            <a:r>
              <a:rPr sz="2200" spc="-229" dirty="0">
                <a:latin typeface="Trebuchet MS"/>
                <a:cs typeface="Trebuchet MS"/>
              </a:rPr>
              <a:t> </a:t>
            </a:r>
            <a:r>
              <a:rPr sz="2200" spc="-40" dirty="0">
                <a:latin typeface="Trebuchet MS"/>
                <a:cs typeface="Trebuchet MS"/>
              </a:rPr>
              <a:t>saved.</a:t>
            </a:r>
            <a:endParaRPr sz="2200" dirty="0">
              <a:latin typeface="Trebuchet MS"/>
              <a:cs typeface="Trebuchet MS"/>
            </a:endParaRPr>
          </a:p>
        </p:txBody>
      </p:sp>
      <p:sp>
        <p:nvSpPr>
          <p:cNvPr id="5" name="object 5"/>
          <p:cNvSpPr txBox="1"/>
          <p:nvPr/>
        </p:nvSpPr>
        <p:spPr>
          <a:xfrm>
            <a:off x="799287" y="1860550"/>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6" name="object 6"/>
          <p:cNvSpPr txBox="1"/>
          <p:nvPr/>
        </p:nvSpPr>
        <p:spPr>
          <a:xfrm>
            <a:off x="799287" y="2901823"/>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1088390" cy="513715"/>
          </a:xfrm>
          <a:prstGeom prst="rect">
            <a:avLst/>
          </a:prstGeom>
        </p:spPr>
        <p:txBody>
          <a:bodyPr vert="horz" wrap="square" lIns="0" tIns="13335" rIns="0" bIns="0" rtlCol="0">
            <a:spAutoFit/>
          </a:bodyPr>
          <a:lstStyle/>
          <a:p>
            <a:pPr marL="12700">
              <a:lnSpc>
                <a:spcPct val="100000"/>
              </a:lnSpc>
              <a:spcBef>
                <a:spcPts val="105"/>
              </a:spcBef>
            </a:pPr>
            <a:r>
              <a:rPr sz="3200" spc="-35" dirty="0">
                <a:solidFill>
                  <a:srgbClr val="000000"/>
                </a:solidFill>
              </a:rPr>
              <a:t>Client</a:t>
            </a:r>
            <a:endParaRPr sz="3200"/>
          </a:p>
        </p:txBody>
      </p:sp>
      <p:sp>
        <p:nvSpPr>
          <p:cNvPr id="3" name="object 3"/>
          <p:cNvSpPr txBox="1"/>
          <p:nvPr/>
        </p:nvSpPr>
        <p:spPr>
          <a:xfrm>
            <a:off x="799287" y="1270761"/>
            <a:ext cx="120014"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4" name="object 4"/>
          <p:cNvSpPr txBox="1"/>
          <p:nvPr/>
        </p:nvSpPr>
        <p:spPr>
          <a:xfrm>
            <a:off x="1101039" y="1077823"/>
            <a:ext cx="10293350" cy="878840"/>
          </a:xfrm>
          <a:prstGeom prst="rect">
            <a:avLst/>
          </a:prstGeom>
        </p:spPr>
        <p:txBody>
          <a:bodyPr vert="horz" wrap="square" lIns="0" tIns="12700" rIns="0" bIns="0" rtlCol="0">
            <a:spAutoFit/>
          </a:bodyPr>
          <a:lstStyle/>
          <a:p>
            <a:pPr marL="12700" marR="5080">
              <a:lnSpc>
                <a:spcPct val="140000"/>
              </a:lnSpc>
              <a:spcBef>
                <a:spcPts val="100"/>
              </a:spcBef>
              <a:tabLst>
                <a:tab pos="607060" algn="l"/>
                <a:tab pos="1399540" algn="l"/>
                <a:tab pos="2533015" algn="l"/>
                <a:tab pos="3074670" algn="l"/>
                <a:tab pos="4257040" algn="l"/>
                <a:tab pos="4755515" algn="l"/>
                <a:tab pos="6005830" algn="l"/>
                <a:tab pos="6899909" algn="l"/>
                <a:tab pos="7503795" algn="l"/>
                <a:tab pos="8813165" algn="l"/>
                <a:tab pos="9355455" algn="l"/>
              </a:tabLst>
            </a:pPr>
            <a:r>
              <a:rPr sz="2000" dirty="0">
                <a:latin typeface="Trebuchet MS"/>
                <a:cs typeface="Trebuchet MS"/>
              </a:rPr>
              <a:t>Th</a:t>
            </a:r>
            <a:r>
              <a:rPr sz="2000" spc="5" dirty="0">
                <a:latin typeface="Trebuchet MS"/>
                <a:cs typeface="Trebuchet MS"/>
              </a:rPr>
              <a:t>e</a:t>
            </a:r>
            <a:r>
              <a:rPr sz="2000" dirty="0">
                <a:latin typeface="Trebuchet MS"/>
                <a:cs typeface="Trebuchet MS"/>
              </a:rPr>
              <a:t>	</a:t>
            </a:r>
            <a:r>
              <a:rPr sz="2000" spc="-65" dirty="0">
                <a:latin typeface="Trebuchet MS"/>
                <a:cs typeface="Trebuchet MS"/>
              </a:rPr>
              <a:t>cl</a:t>
            </a:r>
            <a:r>
              <a:rPr sz="2000" spc="-60" dirty="0">
                <a:latin typeface="Trebuchet MS"/>
                <a:cs typeface="Trebuchet MS"/>
              </a:rPr>
              <a:t>i</a:t>
            </a:r>
            <a:r>
              <a:rPr sz="2000" spc="15" dirty="0">
                <a:latin typeface="Trebuchet MS"/>
                <a:cs typeface="Trebuchet MS"/>
              </a:rPr>
              <a:t>e</a:t>
            </a:r>
            <a:r>
              <a:rPr sz="2000" spc="10" dirty="0">
                <a:latin typeface="Trebuchet MS"/>
                <a:cs typeface="Trebuchet MS"/>
              </a:rPr>
              <a:t>n</a:t>
            </a:r>
            <a:r>
              <a:rPr sz="2000" spc="-65" dirty="0">
                <a:latin typeface="Trebuchet MS"/>
                <a:cs typeface="Trebuchet MS"/>
              </a:rPr>
              <a:t>t</a:t>
            </a:r>
            <a:r>
              <a:rPr sz="2000" dirty="0">
                <a:latin typeface="Trebuchet MS"/>
                <a:cs typeface="Trebuchet MS"/>
              </a:rPr>
              <a:t>	</a:t>
            </a:r>
            <a:r>
              <a:rPr sz="2000" spc="-95" dirty="0">
                <a:latin typeface="Trebuchet MS"/>
                <a:cs typeface="Trebuchet MS"/>
              </a:rPr>
              <a:t>c</a:t>
            </a:r>
            <a:r>
              <a:rPr sz="2000" spc="25" dirty="0">
                <a:latin typeface="Trebuchet MS"/>
                <a:cs typeface="Trebuchet MS"/>
              </a:rPr>
              <a:t>on</a:t>
            </a:r>
            <a:r>
              <a:rPr sz="2000" spc="30" dirty="0">
                <a:latin typeface="Trebuchet MS"/>
                <a:cs typeface="Trebuchet MS"/>
              </a:rPr>
              <a:t>t</a:t>
            </a:r>
            <a:r>
              <a:rPr sz="2000" spc="15" dirty="0">
                <a:latin typeface="Trebuchet MS"/>
                <a:cs typeface="Trebuchet MS"/>
              </a:rPr>
              <a:t>ai</a:t>
            </a:r>
            <a:r>
              <a:rPr sz="2000" spc="30" dirty="0">
                <a:latin typeface="Trebuchet MS"/>
                <a:cs typeface="Trebuchet MS"/>
              </a:rPr>
              <a:t>n</a:t>
            </a:r>
            <a:r>
              <a:rPr sz="2000" spc="35" dirty="0">
                <a:latin typeface="Trebuchet MS"/>
                <a:cs typeface="Trebuchet MS"/>
              </a:rPr>
              <a:t>s</a:t>
            </a:r>
            <a:r>
              <a:rPr sz="2000" dirty="0">
                <a:latin typeface="Trebuchet MS"/>
                <a:cs typeface="Trebuchet MS"/>
              </a:rPr>
              <a:t>	</a:t>
            </a:r>
            <a:r>
              <a:rPr sz="2000" spc="-75" dirty="0">
                <a:latin typeface="Trebuchet MS"/>
                <a:cs typeface="Trebuchet MS"/>
              </a:rPr>
              <a:t>t</a:t>
            </a:r>
            <a:r>
              <a:rPr sz="2000" spc="15" dirty="0">
                <a:latin typeface="Trebuchet MS"/>
                <a:cs typeface="Trebuchet MS"/>
              </a:rPr>
              <a:t>h</a:t>
            </a:r>
            <a:r>
              <a:rPr sz="2000" spc="20" dirty="0">
                <a:latin typeface="Trebuchet MS"/>
                <a:cs typeface="Trebuchet MS"/>
              </a:rPr>
              <a:t>e</a:t>
            </a:r>
            <a:r>
              <a:rPr sz="2000" dirty="0">
                <a:latin typeface="Trebuchet MS"/>
                <a:cs typeface="Trebuchet MS"/>
              </a:rPr>
              <a:t>	</a:t>
            </a:r>
            <a:r>
              <a:rPr sz="2000" spc="5" dirty="0">
                <a:latin typeface="Trebuchet MS"/>
                <a:cs typeface="Trebuchet MS"/>
              </a:rPr>
              <a:t>i</a:t>
            </a:r>
            <a:r>
              <a:rPr sz="2000" spc="15" dirty="0">
                <a:latin typeface="Trebuchet MS"/>
                <a:cs typeface="Trebuchet MS"/>
              </a:rPr>
              <a:t>n</a:t>
            </a:r>
            <a:r>
              <a:rPr sz="2000" spc="-75" dirty="0">
                <a:latin typeface="Trebuchet MS"/>
                <a:cs typeface="Trebuchet MS"/>
              </a:rPr>
              <a:t>t</a:t>
            </a:r>
            <a:r>
              <a:rPr sz="2000" spc="-30" dirty="0">
                <a:latin typeface="Trebuchet MS"/>
                <a:cs typeface="Trebuchet MS"/>
              </a:rPr>
              <a:t>erfa</a:t>
            </a:r>
            <a:r>
              <a:rPr sz="2000" spc="-40" dirty="0">
                <a:latin typeface="Trebuchet MS"/>
                <a:cs typeface="Trebuchet MS"/>
              </a:rPr>
              <a:t>c</a:t>
            </a:r>
            <a:r>
              <a:rPr sz="2000" spc="-35" dirty="0">
                <a:latin typeface="Trebuchet MS"/>
                <a:cs typeface="Trebuchet MS"/>
              </a:rPr>
              <a:t>e</a:t>
            </a:r>
            <a:r>
              <a:rPr sz="2000" dirty="0">
                <a:latin typeface="Trebuchet MS"/>
                <a:cs typeface="Trebuchet MS"/>
              </a:rPr>
              <a:t>	</a:t>
            </a:r>
            <a:r>
              <a:rPr sz="2000" spc="10" dirty="0">
                <a:latin typeface="Trebuchet MS"/>
                <a:cs typeface="Trebuchet MS"/>
              </a:rPr>
              <a:t>f</a:t>
            </a:r>
            <a:r>
              <a:rPr sz="2000" spc="15" dirty="0">
                <a:latin typeface="Trebuchet MS"/>
                <a:cs typeface="Trebuchet MS"/>
              </a:rPr>
              <a:t>o</a:t>
            </a:r>
            <a:r>
              <a:rPr sz="2000" spc="-30" dirty="0">
                <a:latin typeface="Trebuchet MS"/>
                <a:cs typeface="Trebuchet MS"/>
              </a:rPr>
              <a:t>r</a:t>
            </a:r>
            <a:r>
              <a:rPr sz="2000" dirty="0">
                <a:latin typeface="Trebuchet MS"/>
                <a:cs typeface="Trebuchet MS"/>
              </a:rPr>
              <a:t>	</a:t>
            </a:r>
            <a:r>
              <a:rPr sz="2000" spc="-15" dirty="0">
                <a:latin typeface="Trebuchet MS"/>
                <a:cs typeface="Trebuchet MS"/>
              </a:rPr>
              <a:t>a</a:t>
            </a:r>
            <a:r>
              <a:rPr sz="2000" spc="-25" dirty="0">
                <a:latin typeface="Trebuchet MS"/>
                <a:cs typeface="Trebuchet MS"/>
              </a:rPr>
              <a:t>c</a:t>
            </a:r>
            <a:r>
              <a:rPr sz="2000" spc="-20" dirty="0">
                <a:latin typeface="Trebuchet MS"/>
                <a:cs typeface="Trebuchet MS"/>
              </a:rPr>
              <a:t>cess</a:t>
            </a:r>
            <a:r>
              <a:rPr sz="2000" spc="-10" dirty="0">
                <a:latin typeface="Trebuchet MS"/>
                <a:cs typeface="Trebuchet MS"/>
              </a:rPr>
              <a:t>i</a:t>
            </a:r>
            <a:r>
              <a:rPr sz="2000" spc="110" dirty="0">
                <a:latin typeface="Trebuchet MS"/>
                <a:cs typeface="Trebuchet MS"/>
              </a:rPr>
              <a:t>n</a:t>
            </a:r>
            <a:r>
              <a:rPr sz="2000" spc="105" dirty="0">
                <a:latin typeface="Trebuchet MS"/>
                <a:cs typeface="Trebuchet MS"/>
              </a:rPr>
              <a:t>g</a:t>
            </a:r>
            <a:r>
              <a:rPr sz="2000" dirty="0">
                <a:latin typeface="Trebuchet MS"/>
                <a:cs typeface="Trebuchet MS"/>
              </a:rPr>
              <a:t>	</a:t>
            </a:r>
            <a:r>
              <a:rPr sz="2000" spc="145" dirty="0">
                <a:latin typeface="Trebuchet MS"/>
                <a:cs typeface="Trebuchet MS"/>
              </a:rPr>
              <a:t>H</a:t>
            </a:r>
            <a:r>
              <a:rPr sz="2000" spc="114" dirty="0">
                <a:latin typeface="Trebuchet MS"/>
                <a:cs typeface="Trebuchet MS"/>
              </a:rPr>
              <a:t>B</a:t>
            </a:r>
            <a:r>
              <a:rPr sz="2000" spc="10" dirty="0">
                <a:latin typeface="Trebuchet MS"/>
                <a:cs typeface="Trebuchet MS"/>
              </a:rPr>
              <a:t>as</a:t>
            </a:r>
            <a:r>
              <a:rPr sz="2000" spc="20" dirty="0">
                <a:latin typeface="Trebuchet MS"/>
                <a:cs typeface="Trebuchet MS"/>
              </a:rPr>
              <a:t>e</a:t>
            </a:r>
            <a:r>
              <a:rPr sz="2000" dirty="0">
                <a:latin typeface="Trebuchet MS"/>
                <a:cs typeface="Trebuchet MS"/>
              </a:rPr>
              <a:t>	</a:t>
            </a:r>
            <a:r>
              <a:rPr sz="2000" spc="50" dirty="0">
                <a:latin typeface="Trebuchet MS"/>
                <a:cs typeface="Trebuchet MS"/>
              </a:rPr>
              <a:t>an</a:t>
            </a:r>
            <a:r>
              <a:rPr sz="2000" spc="55" dirty="0">
                <a:latin typeface="Trebuchet MS"/>
                <a:cs typeface="Trebuchet MS"/>
              </a:rPr>
              <a:t>d</a:t>
            </a:r>
            <a:r>
              <a:rPr sz="2000" dirty="0">
                <a:latin typeface="Trebuchet MS"/>
                <a:cs typeface="Trebuchet MS"/>
              </a:rPr>
              <a:t>	</a:t>
            </a:r>
            <a:r>
              <a:rPr sz="2000" spc="50" dirty="0">
                <a:latin typeface="Trebuchet MS"/>
                <a:cs typeface="Trebuchet MS"/>
              </a:rPr>
              <a:t>mai</a:t>
            </a:r>
            <a:r>
              <a:rPr sz="2000" spc="55" dirty="0">
                <a:latin typeface="Trebuchet MS"/>
                <a:cs typeface="Trebuchet MS"/>
              </a:rPr>
              <a:t>n</a:t>
            </a:r>
            <a:r>
              <a:rPr sz="2000" spc="-5" dirty="0">
                <a:latin typeface="Trebuchet MS"/>
                <a:cs typeface="Trebuchet MS"/>
              </a:rPr>
              <a:t>tai</a:t>
            </a:r>
            <a:r>
              <a:rPr sz="2000" spc="5" dirty="0">
                <a:latin typeface="Trebuchet MS"/>
                <a:cs typeface="Trebuchet MS"/>
              </a:rPr>
              <a:t>n</a:t>
            </a:r>
            <a:r>
              <a:rPr sz="2000" spc="35" dirty="0">
                <a:latin typeface="Trebuchet MS"/>
                <a:cs typeface="Trebuchet MS"/>
              </a:rPr>
              <a:t>s</a:t>
            </a:r>
            <a:r>
              <a:rPr sz="2000" dirty="0">
                <a:latin typeface="Trebuchet MS"/>
                <a:cs typeface="Trebuchet MS"/>
              </a:rPr>
              <a:t>	</a:t>
            </a:r>
            <a:r>
              <a:rPr sz="2000" spc="-10" dirty="0">
                <a:latin typeface="Trebuchet MS"/>
                <a:cs typeface="Trebuchet MS"/>
              </a:rPr>
              <a:t>the</a:t>
            </a:r>
            <a:r>
              <a:rPr sz="2000" dirty="0">
                <a:latin typeface="Trebuchet MS"/>
                <a:cs typeface="Trebuchet MS"/>
              </a:rPr>
              <a:t>	</a:t>
            </a:r>
            <a:r>
              <a:rPr sz="2000" spc="5" dirty="0">
                <a:latin typeface="Trebuchet MS"/>
                <a:cs typeface="Trebuchet MS"/>
              </a:rPr>
              <a:t>loc</a:t>
            </a:r>
            <a:r>
              <a:rPr sz="2000" spc="-5" dirty="0">
                <a:latin typeface="Trebuchet MS"/>
                <a:cs typeface="Trebuchet MS"/>
              </a:rPr>
              <a:t>a</a:t>
            </a:r>
            <a:r>
              <a:rPr sz="2000" spc="-80" dirty="0">
                <a:latin typeface="Trebuchet MS"/>
                <a:cs typeface="Trebuchet MS"/>
              </a:rPr>
              <a:t>t</a:t>
            </a:r>
            <a:r>
              <a:rPr sz="2000" spc="-50" dirty="0">
                <a:latin typeface="Trebuchet MS"/>
                <a:cs typeface="Trebuchet MS"/>
              </a:rPr>
              <a:t>i</a:t>
            </a:r>
            <a:r>
              <a:rPr sz="2000" spc="65" dirty="0">
                <a:latin typeface="Trebuchet MS"/>
                <a:cs typeface="Trebuchet MS"/>
              </a:rPr>
              <a:t>o</a:t>
            </a:r>
            <a:r>
              <a:rPr sz="2000" spc="55" dirty="0">
                <a:latin typeface="Trebuchet MS"/>
                <a:cs typeface="Trebuchet MS"/>
              </a:rPr>
              <a:t>n  </a:t>
            </a:r>
            <a:r>
              <a:rPr sz="2000" spc="20" dirty="0">
                <a:latin typeface="Trebuchet MS"/>
                <a:cs typeface="Trebuchet MS"/>
              </a:rPr>
              <a:t>information </a:t>
            </a:r>
            <a:r>
              <a:rPr sz="2000" spc="15" dirty="0">
                <a:latin typeface="Trebuchet MS"/>
                <a:cs typeface="Trebuchet MS"/>
              </a:rPr>
              <a:t>of </a:t>
            </a:r>
            <a:r>
              <a:rPr sz="2000" spc="-10" dirty="0">
                <a:latin typeface="Trebuchet MS"/>
                <a:cs typeface="Trebuchet MS"/>
              </a:rPr>
              <a:t>the accessed </a:t>
            </a:r>
            <a:r>
              <a:rPr sz="2000" spc="30" dirty="0">
                <a:latin typeface="Trebuchet MS"/>
                <a:cs typeface="Trebuchet MS"/>
              </a:rPr>
              <a:t>regions </a:t>
            </a:r>
            <a:r>
              <a:rPr sz="2000" spc="10" dirty="0">
                <a:latin typeface="Trebuchet MS"/>
                <a:cs typeface="Trebuchet MS"/>
              </a:rPr>
              <a:t>in </a:t>
            </a:r>
            <a:r>
              <a:rPr sz="2000" spc="-10" dirty="0">
                <a:latin typeface="Trebuchet MS"/>
                <a:cs typeface="Trebuchet MS"/>
              </a:rPr>
              <a:t>the </a:t>
            </a:r>
            <a:r>
              <a:rPr sz="2000" spc="-15" dirty="0">
                <a:latin typeface="Trebuchet MS"/>
                <a:cs typeface="Trebuchet MS"/>
              </a:rPr>
              <a:t>cache </a:t>
            </a:r>
            <a:r>
              <a:rPr sz="2000" spc="5" dirty="0">
                <a:latin typeface="Trebuchet MS"/>
                <a:cs typeface="Trebuchet MS"/>
              </a:rPr>
              <a:t>to </a:t>
            </a:r>
            <a:r>
              <a:rPr sz="2000" spc="-30" dirty="0">
                <a:latin typeface="Trebuchet MS"/>
                <a:cs typeface="Trebuchet MS"/>
              </a:rPr>
              <a:t>accelerate </a:t>
            </a:r>
            <a:r>
              <a:rPr sz="2000" spc="25" dirty="0">
                <a:latin typeface="Trebuchet MS"/>
                <a:cs typeface="Trebuchet MS"/>
              </a:rPr>
              <a:t>subsequent </a:t>
            </a:r>
            <a:r>
              <a:rPr sz="2000" spc="20" dirty="0">
                <a:latin typeface="Trebuchet MS"/>
                <a:cs typeface="Trebuchet MS"/>
              </a:rPr>
              <a:t>data</a:t>
            </a:r>
            <a:r>
              <a:rPr sz="2000" spc="155" dirty="0">
                <a:latin typeface="Trebuchet MS"/>
                <a:cs typeface="Trebuchet MS"/>
              </a:rPr>
              <a:t> </a:t>
            </a:r>
            <a:r>
              <a:rPr sz="2000" spc="-50" dirty="0">
                <a:latin typeface="Trebuchet MS"/>
                <a:cs typeface="Trebuchet MS"/>
              </a:rPr>
              <a:t>access.</a:t>
            </a:r>
            <a:endParaRPr sz="2000" dirty="0">
              <a:latin typeface="Trebuchet MS"/>
              <a:cs typeface="Trebuchet MS"/>
            </a:endParaRPr>
          </a:p>
        </p:txBody>
      </p:sp>
      <p:sp>
        <p:nvSpPr>
          <p:cNvPr id="5" name="object 5"/>
          <p:cNvSpPr txBox="1"/>
          <p:nvPr/>
        </p:nvSpPr>
        <p:spPr>
          <a:xfrm>
            <a:off x="799287" y="2226691"/>
            <a:ext cx="120014"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6" name="object 6"/>
          <p:cNvSpPr txBox="1"/>
          <p:nvPr/>
        </p:nvSpPr>
        <p:spPr>
          <a:xfrm>
            <a:off x="1101039" y="2033752"/>
            <a:ext cx="10294620" cy="1305560"/>
          </a:xfrm>
          <a:prstGeom prst="rect">
            <a:avLst/>
          </a:prstGeom>
        </p:spPr>
        <p:txBody>
          <a:bodyPr vert="horz" wrap="square" lIns="0" tIns="12700" rIns="0" bIns="0" rtlCol="0">
            <a:spAutoFit/>
          </a:bodyPr>
          <a:lstStyle/>
          <a:p>
            <a:pPr marL="12700" marR="5080" algn="just">
              <a:lnSpc>
                <a:spcPct val="140000"/>
              </a:lnSpc>
              <a:spcBef>
                <a:spcPts val="100"/>
              </a:spcBef>
            </a:pPr>
            <a:r>
              <a:rPr sz="2000" dirty="0">
                <a:latin typeface="Trebuchet MS"/>
                <a:cs typeface="Trebuchet MS"/>
              </a:rPr>
              <a:t>The </a:t>
            </a:r>
            <a:r>
              <a:rPr sz="2000" spc="-35" dirty="0">
                <a:latin typeface="Trebuchet MS"/>
                <a:cs typeface="Trebuchet MS"/>
              </a:rPr>
              <a:t>client </a:t>
            </a:r>
            <a:r>
              <a:rPr sz="2000" spc="-5" dirty="0">
                <a:latin typeface="Trebuchet MS"/>
                <a:cs typeface="Trebuchet MS"/>
              </a:rPr>
              <a:t>queries </a:t>
            </a:r>
            <a:r>
              <a:rPr sz="2000" spc="-10" dirty="0">
                <a:latin typeface="Trebuchet MS"/>
                <a:cs typeface="Trebuchet MS"/>
              </a:rPr>
              <a:t>the </a:t>
            </a:r>
            <a:r>
              <a:rPr sz="2000" b="1" dirty="0">
                <a:latin typeface="Arial"/>
                <a:cs typeface="Arial"/>
              </a:rPr>
              <a:t>hbase:meta </a:t>
            </a:r>
            <a:r>
              <a:rPr sz="2000" spc="-15" dirty="0">
                <a:latin typeface="Trebuchet MS"/>
                <a:cs typeface="Trebuchet MS"/>
              </a:rPr>
              <a:t>table </a:t>
            </a:r>
            <a:r>
              <a:rPr sz="2000" spc="-75" dirty="0">
                <a:latin typeface="Trebuchet MS"/>
                <a:cs typeface="Trebuchet MS"/>
              </a:rPr>
              <a:t>first, </a:t>
            </a:r>
            <a:r>
              <a:rPr sz="2000" spc="55" dirty="0">
                <a:latin typeface="Trebuchet MS"/>
                <a:cs typeface="Trebuchet MS"/>
              </a:rPr>
              <a:t>and </a:t>
            </a:r>
            <a:r>
              <a:rPr sz="2000" dirty="0">
                <a:latin typeface="Trebuchet MS"/>
                <a:cs typeface="Trebuchet MS"/>
              </a:rPr>
              <a:t>determines </a:t>
            </a:r>
            <a:r>
              <a:rPr sz="2000" spc="-10" dirty="0">
                <a:latin typeface="Trebuchet MS"/>
                <a:cs typeface="Trebuchet MS"/>
              </a:rPr>
              <a:t>the </a:t>
            </a:r>
            <a:r>
              <a:rPr sz="2000" spc="5" dirty="0">
                <a:latin typeface="Trebuchet MS"/>
                <a:cs typeface="Trebuchet MS"/>
              </a:rPr>
              <a:t>location </a:t>
            </a:r>
            <a:r>
              <a:rPr sz="2000" spc="15" dirty="0">
                <a:latin typeface="Trebuchet MS"/>
                <a:cs typeface="Trebuchet MS"/>
              </a:rPr>
              <a:t>of </a:t>
            </a:r>
            <a:r>
              <a:rPr sz="2000" spc="-10" dirty="0">
                <a:latin typeface="Trebuchet MS"/>
                <a:cs typeface="Trebuchet MS"/>
              </a:rPr>
              <a:t>the </a:t>
            </a:r>
            <a:r>
              <a:rPr sz="2000" spc="-20" dirty="0">
                <a:latin typeface="Trebuchet MS"/>
                <a:cs typeface="Trebuchet MS"/>
              </a:rPr>
              <a:t>region.  </a:t>
            </a:r>
            <a:r>
              <a:rPr sz="2000" spc="-15" dirty="0">
                <a:latin typeface="Trebuchet MS"/>
                <a:cs typeface="Trebuchet MS"/>
              </a:rPr>
              <a:t>After </a:t>
            </a:r>
            <a:r>
              <a:rPr sz="2000" spc="-10" dirty="0">
                <a:latin typeface="Trebuchet MS"/>
                <a:cs typeface="Trebuchet MS"/>
              </a:rPr>
              <a:t>the required </a:t>
            </a:r>
            <a:r>
              <a:rPr sz="2000" spc="30" dirty="0">
                <a:latin typeface="Trebuchet MS"/>
                <a:cs typeface="Trebuchet MS"/>
              </a:rPr>
              <a:t>region </a:t>
            </a:r>
            <a:r>
              <a:rPr sz="2000" spc="-10" dirty="0">
                <a:latin typeface="Trebuchet MS"/>
                <a:cs typeface="Trebuchet MS"/>
              </a:rPr>
              <a:t>is </a:t>
            </a:r>
            <a:r>
              <a:rPr sz="2000" spc="-45" dirty="0">
                <a:latin typeface="Trebuchet MS"/>
                <a:cs typeface="Trebuchet MS"/>
              </a:rPr>
              <a:t>located, </a:t>
            </a:r>
            <a:r>
              <a:rPr sz="2000" spc="-10" dirty="0">
                <a:latin typeface="Trebuchet MS"/>
                <a:cs typeface="Trebuchet MS"/>
              </a:rPr>
              <a:t>the </a:t>
            </a:r>
            <a:r>
              <a:rPr sz="2000" spc="-35" dirty="0">
                <a:latin typeface="Trebuchet MS"/>
                <a:cs typeface="Trebuchet MS"/>
              </a:rPr>
              <a:t>client </a:t>
            </a:r>
            <a:r>
              <a:rPr sz="2000" spc="-40" dirty="0">
                <a:latin typeface="Trebuchet MS"/>
                <a:cs typeface="Trebuchet MS"/>
              </a:rPr>
              <a:t>directly </a:t>
            </a:r>
            <a:r>
              <a:rPr sz="2000" spc="-10" dirty="0">
                <a:latin typeface="Trebuchet MS"/>
                <a:cs typeface="Trebuchet MS"/>
              </a:rPr>
              <a:t>accesses the </a:t>
            </a:r>
            <a:r>
              <a:rPr sz="2000" spc="25" dirty="0">
                <a:latin typeface="Trebuchet MS"/>
                <a:cs typeface="Trebuchet MS"/>
              </a:rPr>
              <a:t>corresponding </a:t>
            </a:r>
            <a:r>
              <a:rPr sz="2000" spc="20" dirty="0">
                <a:latin typeface="Trebuchet MS"/>
                <a:cs typeface="Trebuchet MS"/>
              </a:rPr>
              <a:t>region  </a:t>
            </a:r>
            <a:r>
              <a:rPr sz="2000" spc="25" dirty="0">
                <a:latin typeface="Trebuchet MS"/>
                <a:cs typeface="Trebuchet MS"/>
              </a:rPr>
              <a:t>(without </a:t>
            </a:r>
            <a:r>
              <a:rPr sz="2000" spc="45" dirty="0">
                <a:latin typeface="Trebuchet MS"/>
                <a:cs typeface="Trebuchet MS"/>
              </a:rPr>
              <a:t>passing </a:t>
            </a:r>
            <a:r>
              <a:rPr sz="2000" spc="50" dirty="0">
                <a:latin typeface="Trebuchet MS"/>
                <a:cs typeface="Trebuchet MS"/>
              </a:rPr>
              <a:t>through </a:t>
            </a:r>
            <a:r>
              <a:rPr sz="2000" spc="-10" dirty="0">
                <a:latin typeface="Trebuchet MS"/>
                <a:cs typeface="Trebuchet MS"/>
              </a:rPr>
              <a:t>the </a:t>
            </a:r>
            <a:r>
              <a:rPr sz="2000" spc="85" dirty="0">
                <a:latin typeface="Trebuchet MS"/>
                <a:cs typeface="Trebuchet MS"/>
              </a:rPr>
              <a:t>HMaster) </a:t>
            </a:r>
            <a:r>
              <a:rPr sz="2000" spc="50" dirty="0">
                <a:latin typeface="Trebuchet MS"/>
                <a:cs typeface="Trebuchet MS"/>
              </a:rPr>
              <a:t>and </a:t>
            </a:r>
            <a:r>
              <a:rPr sz="2000" spc="-20" dirty="0">
                <a:latin typeface="Trebuchet MS"/>
                <a:cs typeface="Trebuchet MS"/>
              </a:rPr>
              <a:t>initiates </a:t>
            </a:r>
            <a:r>
              <a:rPr sz="2000" spc="55" dirty="0">
                <a:latin typeface="Trebuchet MS"/>
                <a:cs typeface="Trebuchet MS"/>
              </a:rPr>
              <a:t>a </a:t>
            </a:r>
            <a:r>
              <a:rPr sz="2000" spc="-35" dirty="0">
                <a:latin typeface="Trebuchet MS"/>
                <a:cs typeface="Trebuchet MS"/>
              </a:rPr>
              <a:t>read/write</a:t>
            </a:r>
            <a:r>
              <a:rPr sz="2000" spc="-200" dirty="0">
                <a:latin typeface="Trebuchet MS"/>
                <a:cs typeface="Trebuchet MS"/>
              </a:rPr>
              <a:t> </a:t>
            </a:r>
            <a:r>
              <a:rPr sz="2000" spc="-35" dirty="0">
                <a:latin typeface="Trebuchet MS"/>
                <a:cs typeface="Trebuchet MS"/>
              </a:rPr>
              <a:t>request.</a:t>
            </a:r>
            <a:endParaRPr sz="2000" dirty="0">
              <a:latin typeface="Trebuchet MS"/>
              <a:cs typeface="Trebuchet MS"/>
            </a:endParaRPr>
          </a:p>
        </p:txBody>
      </p:sp>
      <p:sp>
        <p:nvSpPr>
          <p:cNvPr id="7" name="object 7"/>
          <p:cNvSpPr/>
          <p:nvPr/>
        </p:nvSpPr>
        <p:spPr>
          <a:xfrm>
            <a:off x="9119616" y="3348228"/>
            <a:ext cx="1883664" cy="2852928"/>
          </a:xfrm>
          <a:prstGeom prst="rect">
            <a:avLst/>
          </a:prstGeom>
          <a:blipFill>
            <a:blip r:embed="rId2" cstate="print"/>
            <a:stretch>
              <a:fillRect/>
            </a:stretch>
          </a:blipFill>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23	</a:t>
            </a:r>
            <a:r>
              <a:rPr spc="30" dirty="0"/>
              <a:t>Huawei</a:t>
            </a:r>
            <a:r>
              <a:rPr spc="-10" dirty="0"/>
              <a:t> </a:t>
            </a:r>
            <a:r>
              <a:rPr spc="5" dirty="0"/>
              <a:t>Confidential</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72208" y="4323533"/>
            <a:ext cx="11691257" cy="2195890"/>
          </a:xfrm>
          <a:prstGeom prst="rect">
            <a:avLst/>
          </a:prstGeom>
        </p:spPr>
        <p:txBody>
          <a:bodyPr vert="horz" wrap="square" lIns="0" tIns="9049" rIns="0" bIns="0" rtlCol="0">
            <a:spAutoFit/>
          </a:bodyPr>
          <a:lstStyle/>
          <a:p>
            <a:pPr marL="138113" indent="-128588">
              <a:spcBef>
                <a:spcPts val="71"/>
              </a:spcBef>
              <a:buFont typeface="Wingdings"/>
              <a:buChar char=""/>
              <a:tabLst>
                <a:tab pos="138113" algn="l"/>
              </a:tabLst>
            </a:pPr>
            <a:r>
              <a:rPr sz="2030" spc="26" dirty="0" err="1">
                <a:latin typeface="UKIJ CJK"/>
                <a:cs typeface="UKIJ CJK"/>
              </a:rPr>
              <a:t>HMaster</a:t>
            </a:r>
            <a:r>
              <a:rPr sz="2030" spc="26" dirty="0">
                <a:latin typeface="UKIJ CJK"/>
                <a:cs typeface="UKIJ CJK"/>
              </a:rPr>
              <a:t> </a:t>
            </a:r>
            <a:r>
              <a:rPr sz="2030" spc="23" dirty="0">
                <a:latin typeface="UKIJ CJK"/>
                <a:cs typeface="UKIJ CJK"/>
              </a:rPr>
              <a:t>involves the active </a:t>
            </a:r>
            <a:r>
              <a:rPr sz="2030" spc="19" dirty="0">
                <a:latin typeface="UKIJ CJK"/>
                <a:cs typeface="UKIJ CJK"/>
              </a:rPr>
              <a:t>Master </a:t>
            </a:r>
            <a:r>
              <a:rPr sz="2030" spc="26" dirty="0">
                <a:latin typeface="UKIJ CJK"/>
                <a:cs typeface="UKIJ CJK"/>
              </a:rPr>
              <a:t>and standby </a:t>
            </a:r>
            <a:r>
              <a:rPr sz="2030" spc="19" dirty="0">
                <a:latin typeface="UKIJ CJK"/>
                <a:cs typeface="UKIJ CJK"/>
              </a:rPr>
              <a:t>Master </a:t>
            </a:r>
            <a:r>
              <a:rPr sz="2030" spc="-11" dirty="0">
                <a:latin typeface="UKIJ CJK"/>
                <a:cs typeface="UKIJ CJK"/>
              </a:rPr>
              <a:t>In </a:t>
            </a:r>
            <a:r>
              <a:rPr sz="2030" spc="64" dirty="0">
                <a:latin typeface="UKIJ CJK"/>
                <a:cs typeface="UKIJ CJK"/>
              </a:rPr>
              <a:t>HA</a:t>
            </a:r>
            <a:r>
              <a:rPr sz="2030" spc="143" dirty="0">
                <a:latin typeface="UKIJ CJK"/>
                <a:cs typeface="UKIJ CJK"/>
              </a:rPr>
              <a:t> </a:t>
            </a:r>
            <a:r>
              <a:rPr sz="2030" spc="23" dirty="0">
                <a:latin typeface="UKIJ CJK"/>
                <a:cs typeface="UKIJ CJK"/>
              </a:rPr>
              <a:t>mode.</a:t>
            </a:r>
            <a:endParaRPr sz="2030" dirty="0">
              <a:latin typeface="UKIJ CJK"/>
              <a:cs typeface="UKIJ CJK"/>
            </a:endParaRPr>
          </a:p>
          <a:p>
            <a:pPr marL="495300" marR="158591" lvl="1" indent="-128588">
              <a:buSzPct val="59090"/>
              <a:buFont typeface="Wingdings"/>
              <a:buChar char=""/>
              <a:tabLst>
                <a:tab pos="495776" algn="l"/>
              </a:tabLst>
            </a:pPr>
            <a:r>
              <a:rPr sz="2030" spc="30" dirty="0">
                <a:latin typeface="UKIJ CJK"/>
                <a:cs typeface="UKIJ CJK"/>
              </a:rPr>
              <a:t>Active </a:t>
            </a:r>
            <a:r>
              <a:rPr sz="2030" spc="11" dirty="0">
                <a:latin typeface="UKIJ CJK"/>
                <a:cs typeface="UKIJ CJK"/>
              </a:rPr>
              <a:t>Master: </a:t>
            </a:r>
            <a:r>
              <a:rPr sz="2030" spc="26" dirty="0">
                <a:latin typeface="UKIJ CJK"/>
                <a:cs typeface="UKIJ CJK"/>
              </a:rPr>
              <a:t>manages RegionServers </a:t>
            </a:r>
            <a:r>
              <a:rPr sz="2030" spc="11" dirty="0">
                <a:latin typeface="UKIJ CJK"/>
                <a:cs typeface="UKIJ CJK"/>
              </a:rPr>
              <a:t>in </a:t>
            </a:r>
            <a:r>
              <a:rPr sz="2030" spc="15" dirty="0" err="1">
                <a:latin typeface="UKIJ CJK"/>
                <a:cs typeface="UKIJ CJK"/>
              </a:rPr>
              <a:t>HBase</a:t>
            </a:r>
            <a:r>
              <a:rPr sz="2030" spc="15" dirty="0">
                <a:latin typeface="UKIJ CJK"/>
                <a:cs typeface="UKIJ CJK"/>
              </a:rPr>
              <a:t>, </a:t>
            </a:r>
            <a:r>
              <a:rPr sz="2030" spc="23" dirty="0">
                <a:latin typeface="UKIJ CJK"/>
                <a:cs typeface="UKIJ CJK"/>
              </a:rPr>
              <a:t>including the  </a:t>
            </a:r>
            <a:r>
              <a:rPr sz="2030" spc="11" dirty="0">
                <a:latin typeface="UKIJ CJK"/>
                <a:cs typeface="UKIJ CJK"/>
              </a:rPr>
              <a:t>creation, </a:t>
            </a:r>
            <a:r>
              <a:rPr sz="2030" spc="19" dirty="0">
                <a:latin typeface="UKIJ CJK"/>
                <a:cs typeface="UKIJ CJK"/>
              </a:rPr>
              <a:t>deletion, modification, </a:t>
            </a:r>
            <a:r>
              <a:rPr sz="2030" spc="23" dirty="0">
                <a:latin typeface="UKIJ CJK"/>
                <a:cs typeface="UKIJ CJK"/>
              </a:rPr>
              <a:t>and query </a:t>
            </a:r>
            <a:r>
              <a:rPr sz="2030" spc="26" dirty="0">
                <a:latin typeface="UKIJ CJK"/>
                <a:cs typeface="UKIJ CJK"/>
              </a:rPr>
              <a:t>of </a:t>
            </a:r>
            <a:r>
              <a:rPr sz="2030" spc="15" dirty="0">
                <a:latin typeface="UKIJ CJK"/>
                <a:cs typeface="UKIJ CJK"/>
              </a:rPr>
              <a:t>a table, balances </a:t>
            </a:r>
            <a:r>
              <a:rPr sz="2030" spc="23" dirty="0">
                <a:latin typeface="UKIJ CJK"/>
                <a:cs typeface="UKIJ CJK"/>
              </a:rPr>
              <a:t>the  load </a:t>
            </a:r>
            <a:r>
              <a:rPr sz="2030" spc="30" dirty="0">
                <a:latin typeface="UKIJ CJK"/>
                <a:cs typeface="UKIJ CJK"/>
              </a:rPr>
              <a:t>of </a:t>
            </a:r>
            <a:r>
              <a:rPr sz="2030" spc="23" dirty="0">
                <a:latin typeface="UKIJ CJK"/>
                <a:cs typeface="UKIJ CJK"/>
              </a:rPr>
              <a:t>RegionServers, </a:t>
            </a:r>
            <a:r>
              <a:rPr sz="2030" spc="15" dirty="0">
                <a:latin typeface="UKIJ CJK"/>
                <a:cs typeface="UKIJ CJK"/>
              </a:rPr>
              <a:t>adjusts </a:t>
            </a:r>
            <a:r>
              <a:rPr sz="2030" spc="23" dirty="0">
                <a:latin typeface="UKIJ CJK"/>
                <a:cs typeface="UKIJ CJK"/>
              </a:rPr>
              <a:t>the </a:t>
            </a:r>
            <a:r>
              <a:rPr sz="2030" spc="19" dirty="0">
                <a:latin typeface="UKIJ CJK"/>
                <a:cs typeface="UKIJ CJK"/>
              </a:rPr>
              <a:t>distribution </a:t>
            </a:r>
            <a:r>
              <a:rPr sz="2030" spc="30" dirty="0">
                <a:latin typeface="UKIJ CJK"/>
                <a:cs typeface="UKIJ CJK"/>
              </a:rPr>
              <a:t>of Regions, </a:t>
            </a:r>
            <a:r>
              <a:rPr sz="2030" spc="11" dirty="0">
                <a:latin typeface="UKIJ CJK"/>
                <a:cs typeface="UKIJ CJK"/>
              </a:rPr>
              <a:t>splits  </a:t>
            </a:r>
            <a:r>
              <a:rPr sz="2030" spc="34" dirty="0">
                <a:latin typeface="UKIJ CJK"/>
                <a:cs typeface="UKIJ CJK"/>
              </a:rPr>
              <a:t>Regions </a:t>
            </a:r>
            <a:r>
              <a:rPr sz="2030" spc="26" dirty="0">
                <a:latin typeface="UKIJ CJK"/>
                <a:cs typeface="UKIJ CJK"/>
              </a:rPr>
              <a:t>and </a:t>
            </a:r>
            <a:r>
              <a:rPr sz="2030" spc="15" dirty="0">
                <a:latin typeface="UKIJ CJK"/>
                <a:cs typeface="UKIJ CJK"/>
              </a:rPr>
              <a:t>distributes </a:t>
            </a:r>
            <a:r>
              <a:rPr sz="2030" spc="30" dirty="0">
                <a:latin typeface="UKIJ CJK"/>
                <a:cs typeface="UKIJ CJK"/>
              </a:rPr>
              <a:t>Regions </a:t>
            </a:r>
            <a:r>
              <a:rPr sz="2030" spc="11" dirty="0">
                <a:latin typeface="UKIJ CJK"/>
                <a:cs typeface="UKIJ CJK"/>
              </a:rPr>
              <a:t>after </a:t>
            </a:r>
            <a:r>
              <a:rPr sz="2030" spc="26" dirty="0">
                <a:latin typeface="UKIJ CJK"/>
                <a:cs typeface="UKIJ CJK"/>
              </a:rPr>
              <a:t>they </a:t>
            </a:r>
            <a:r>
              <a:rPr sz="2030" spc="8" dirty="0">
                <a:latin typeface="UKIJ CJK"/>
                <a:cs typeface="UKIJ CJK"/>
              </a:rPr>
              <a:t>are </a:t>
            </a:r>
            <a:r>
              <a:rPr sz="2030" spc="11" dirty="0">
                <a:latin typeface="UKIJ CJK"/>
                <a:cs typeface="UKIJ CJK"/>
              </a:rPr>
              <a:t>split, </a:t>
            </a:r>
            <a:r>
              <a:rPr sz="2030" spc="26" dirty="0">
                <a:latin typeface="UKIJ CJK"/>
                <a:cs typeface="UKIJ CJK"/>
              </a:rPr>
              <a:t>and </a:t>
            </a:r>
            <a:r>
              <a:rPr sz="2030" spc="19" dirty="0">
                <a:latin typeface="UKIJ CJK"/>
                <a:cs typeface="UKIJ CJK"/>
              </a:rPr>
              <a:t>migrates  </a:t>
            </a:r>
            <a:r>
              <a:rPr sz="2030" spc="34" dirty="0">
                <a:latin typeface="UKIJ CJK"/>
                <a:cs typeface="UKIJ CJK"/>
              </a:rPr>
              <a:t>Regions </a:t>
            </a:r>
            <a:r>
              <a:rPr sz="2030" spc="11" dirty="0">
                <a:latin typeface="UKIJ CJK"/>
                <a:cs typeface="UKIJ CJK"/>
              </a:rPr>
              <a:t>after </a:t>
            </a:r>
            <a:r>
              <a:rPr sz="2030" spc="15" dirty="0">
                <a:latin typeface="UKIJ CJK"/>
                <a:cs typeface="UKIJ CJK"/>
              </a:rPr>
              <a:t>a </a:t>
            </a:r>
            <a:r>
              <a:rPr sz="2030" spc="26" dirty="0">
                <a:latin typeface="UKIJ CJK"/>
                <a:cs typeface="UKIJ CJK"/>
              </a:rPr>
              <a:t>RegionServer</a:t>
            </a:r>
            <a:r>
              <a:rPr sz="2030" spc="68" dirty="0">
                <a:latin typeface="UKIJ CJK"/>
                <a:cs typeface="UKIJ CJK"/>
              </a:rPr>
              <a:t> </a:t>
            </a:r>
            <a:r>
              <a:rPr sz="2030" spc="8" dirty="0">
                <a:latin typeface="UKIJ CJK"/>
                <a:cs typeface="UKIJ CJK"/>
              </a:rPr>
              <a:t>failed.</a:t>
            </a:r>
            <a:endParaRPr sz="2030" dirty="0">
              <a:latin typeface="UKIJ CJK"/>
              <a:cs typeface="UKIJ CJK"/>
            </a:endParaRPr>
          </a:p>
          <a:p>
            <a:pPr marL="495300" marR="3810" lvl="1" indent="-128588">
              <a:spcBef>
                <a:spcPts val="4"/>
              </a:spcBef>
              <a:buSzPct val="59090"/>
              <a:buFont typeface="Wingdings"/>
              <a:buChar char=""/>
              <a:tabLst>
                <a:tab pos="495776" algn="l"/>
              </a:tabLst>
            </a:pPr>
            <a:r>
              <a:rPr sz="2030" spc="26" dirty="0">
                <a:latin typeface="UKIJ CJK"/>
                <a:cs typeface="UKIJ CJK"/>
              </a:rPr>
              <a:t>Standby </a:t>
            </a:r>
            <a:r>
              <a:rPr sz="2030" spc="11" dirty="0">
                <a:latin typeface="UKIJ CJK"/>
                <a:cs typeface="UKIJ CJK"/>
              </a:rPr>
              <a:t>Master: </a:t>
            </a:r>
            <a:r>
              <a:rPr sz="2030" spc="23" dirty="0">
                <a:latin typeface="UKIJ CJK"/>
                <a:cs typeface="UKIJ CJK"/>
              </a:rPr>
              <a:t>Takes over </a:t>
            </a:r>
            <a:r>
              <a:rPr sz="2030" spc="15" dirty="0">
                <a:latin typeface="UKIJ CJK"/>
                <a:cs typeface="UKIJ CJK"/>
              </a:rPr>
              <a:t>services </a:t>
            </a:r>
            <a:r>
              <a:rPr sz="2030" spc="23" dirty="0">
                <a:latin typeface="UKIJ CJK"/>
                <a:cs typeface="UKIJ CJK"/>
              </a:rPr>
              <a:t>when the active </a:t>
            </a:r>
            <a:r>
              <a:rPr sz="2030" spc="19" dirty="0">
                <a:latin typeface="UKIJ CJK"/>
                <a:cs typeface="UKIJ CJK"/>
              </a:rPr>
              <a:t>Master </a:t>
            </a:r>
            <a:r>
              <a:rPr sz="2030" dirty="0">
                <a:latin typeface="UKIJ CJK"/>
                <a:cs typeface="UKIJ CJK"/>
              </a:rPr>
              <a:t>fails. </a:t>
            </a:r>
            <a:r>
              <a:rPr sz="2030" spc="23" dirty="0">
                <a:latin typeface="UKIJ CJK"/>
                <a:cs typeface="UKIJ CJK"/>
              </a:rPr>
              <a:t>The  original active </a:t>
            </a:r>
            <a:r>
              <a:rPr sz="2030" spc="19" dirty="0">
                <a:latin typeface="UKIJ CJK"/>
                <a:cs typeface="UKIJ CJK"/>
              </a:rPr>
              <a:t>Master </a:t>
            </a:r>
            <a:r>
              <a:rPr sz="2030" spc="11" dirty="0">
                <a:latin typeface="UKIJ CJK"/>
                <a:cs typeface="UKIJ CJK"/>
              </a:rPr>
              <a:t>serves as </a:t>
            </a:r>
            <a:r>
              <a:rPr sz="2030" spc="23" dirty="0">
                <a:latin typeface="UKIJ CJK"/>
                <a:cs typeface="UKIJ CJK"/>
              </a:rPr>
              <a:t>the </a:t>
            </a:r>
            <a:r>
              <a:rPr sz="2030" spc="26" dirty="0">
                <a:latin typeface="UKIJ CJK"/>
                <a:cs typeface="UKIJ CJK"/>
              </a:rPr>
              <a:t>standby </a:t>
            </a:r>
            <a:r>
              <a:rPr sz="2030" spc="19" dirty="0">
                <a:latin typeface="UKIJ CJK"/>
                <a:cs typeface="UKIJ CJK"/>
              </a:rPr>
              <a:t>Master </a:t>
            </a:r>
            <a:r>
              <a:rPr sz="2030" spc="23" dirty="0">
                <a:latin typeface="UKIJ CJK"/>
                <a:cs typeface="UKIJ CJK"/>
              </a:rPr>
              <a:t>when the </a:t>
            </a:r>
            <a:r>
              <a:rPr sz="2030" spc="15" dirty="0">
                <a:latin typeface="UKIJ CJK"/>
                <a:cs typeface="UKIJ CJK"/>
              </a:rPr>
              <a:t>fault </a:t>
            </a:r>
            <a:r>
              <a:rPr sz="2030" dirty="0">
                <a:latin typeface="UKIJ CJK"/>
                <a:cs typeface="UKIJ CJK"/>
              </a:rPr>
              <a:t>is  </a:t>
            </a:r>
            <a:r>
              <a:rPr sz="2030" spc="11" dirty="0">
                <a:latin typeface="UKIJ CJK"/>
                <a:cs typeface="UKIJ CJK"/>
              </a:rPr>
              <a:t>rectified.</a:t>
            </a:r>
            <a:endParaRPr sz="2030" dirty="0">
              <a:latin typeface="UKIJ CJK"/>
              <a:cs typeface="UKIJ CJK"/>
            </a:endParaRPr>
          </a:p>
        </p:txBody>
      </p:sp>
      <p:grpSp>
        <p:nvGrpSpPr>
          <p:cNvPr id="3" name="object 3"/>
          <p:cNvGrpSpPr/>
          <p:nvPr/>
        </p:nvGrpSpPr>
        <p:grpSpPr>
          <a:xfrm>
            <a:off x="360281" y="335607"/>
            <a:ext cx="11243889" cy="3517936"/>
            <a:chOff x="376427" y="679704"/>
            <a:chExt cx="6106160" cy="3442335"/>
          </a:xfrm>
        </p:grpSpPr>
        <p:sp>
          <p:nvSpPr>
            <p:cNvPr id="4" name="object 4"/>
            <p:cNvSpPr/>
            <p:nvPr/>
          </p:nvSpPr>
          <p:spPr>
            <a:xfrm>
              <a:off x="602470" y="832680"/>
              <a:ext cx="5745306" cy="3227563"/>
            </a:xfrm>
            <a:prstGeom prst="rect">
              <a:avLst/>
            </a:prstGeom>
            <a:blipFill>
              <a:blip r:embed="rId2" cstate="print"/>
              <a:stretch>
                <a:fillRect/>
              </a:stretch>
            </a:blipFill>
          </p:spPr>
          <p:txBody>
            <a:bodyPr wrap="square" lIns="0" tIns="0" rIns="0" bIns="0" rtlCol="0"/>
            <a:lstStyle/>
            <a:p>
              <a:endParaRPr sz="1350"/>
            </a:p>
          </p:txBody>
        </p:sp>
        <p:sp>
          <p:nvSpPr>
            <p:cNvPr id="5" name="object 5"/>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Tree>
    <p:extLst>
      <p:ext uri="{BB962C8B-B14F-4D97-AF65-F5344CB8AC3E}">
        <p14:creationId xmlns:p14="http://schemas.microsoft.com/office/powerpoint/2010/main" val="230071443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6991" y="5068604"/>
            <a:ext cx="11451772" cy="1240244"/>
          </a:xfrm>
          <a:prstGeom prst="rect">
            <a:avLst/>
          </a:prstGeom>
        </p:spPr>
        <p:txBody>
          <a:bodyPr vert="horz" wrap="square" lIns="0" tIns="9049" rIns="0" bIns="0" rtlCol="0">
            <a:spAutoFit/>
          </a:bodyPr>
          <a:lstStyle/>
          <a:p>
            <a:pPr marL="138113" marR="3810" indent="-128588">
              <a:spcBef>
                <a:spcPts val="71"/>
              </a:spcBef>
              <a:buFont typeface="Wingdings"/>
              <a:buChar char=""/>
              <a:tabLst>
                <a:tab pos="138113" algn="l"/>
              </a:tabLst>
            </a:pPr>
            <a:r>
              <a:rPr sz="2000" spc="26" dirty="0" err="1">
                <a:latin typeface="UKIJ CJK"/>
                <a:cs typeface="UKIJ CJK"/>
              </a:rPr>
              <a:t>HMaster</a:t>
            </a:r>
            <a:r>
              <a:rPr sz="2000" spc="26" dirty="0">
                <a:latin typeface="UKIJ CJK"/>
                <a:cs typeface="UKIJ CJK"/>
              </a:rPr>
              <a:t> </a:t>
            </a:r>
            <a:r>
              <a:rPr sz="2000" spc="4" dirty="0">
                <a:latin typeface="UKIJ CJK"/>
                <a:cs typeface="UKIJ CJK"/>
              </a:rPr>
              <a:t>is </a:t>
            </a:r>
            <a:r>
              <a:rPr sz="2000" spc="11" dirty="0">
                <a:latin typeface="UKIJ CJK"/>
                <a:cs typeface="UKIJ CJK"/>
              </a:rPr>
              <a:t>in </a:t>
            </a:r>
            <a:r>
              <a:rPr sz="2000" spc="26" dirty="0">
                <a:latin typeface="UKIJ CJK"/>
                <a:cs typeface="UKIJ CJK"/>
              </a:rPr>
              <a:t>active/standby </a:t>
            </a:r>
            <a:r>
              <a:rPr sz="2000" spc="23" dirty="0">
                <a:latin typeface="UKIJ CJK"/>
                <a:cs typeface="UKIJ CJK"/>
              </a:rPr>
              <a:t>mode. </a:t>
            </a:r>
            <a:r>
              <a:rPr sz="2000" spc="75" dirty="0">
                <a:latin typeface="UKIJ CJK"/>
                <a:cs typeface="UKIJ CJK"/>
              </a:rPr>
              <a:t>A </a:t>
            </a:r>
            <a:r>
              <a:rPr sz="2000" spc="11" dirty="0">
                <a:latin typeface="UKIJ CJK"/>
                <a:cs typeface="UKIJ CJK"/>
              </a:rPr>
              <a:t>cluster </a:t>
            </a:r>
            <a:r>
              <a:rPr sz="2000" spc="19" dirty="0">
                <a:latin typeface="UKIJ CJK"/>
                <a:cs typeface="UKIJ CJK"/>
              </a:rPr>
              <a:t>can </a:t>
            </a:r>
            <a:r>
              <a:rPr sz="2000" spc="23" dirty="0">
                <a:latin typeface="UKIJ CJK"/>
                <a:cs typeface="UKIJ CJK"/>
              </a:rPr>
              <a:t>have </a:t>
            </a:r>
            <a:r>
              <a:rPr sz="2000" spc="34" dirty="0">
                <a:latin typeface="UKIJ CJK"/>
                <a:cs typeface="UKIJ CJK"/>
              </a:rPr>
              <a:t>two </a:t>
            </a:r>
            <a:r>
              <a:rPr sz="2000" spc="26" dirty="0" err="1">
                <a:latin typeface="UKIJ CJK"/>
                <a:cs typeface="UKIJ CJK"/>
              </a:rPr>
              <a:t>HMaster</a:t>
            </a:r>
            <a:r>
              <a:rPr sz="2000" spc="26" dirty="0">
                <a:latin typeface="UKIJ CJK"/>
                <a:cs typeface="UKIJ CJK"/>
              </a:rPr>
              <a:t>  </a:t>
            </a:r>
            <a:r>
              <a:rPr sz="2000" spc="15" dirty="0">
                <a:latin typeface="UKIJ CJK"/>
                <a:cs typeface="UKIJ CJK"/>
              </a:rPr>
              <a:t>processes. </a:t>
            </a:r>
            <a:r>
              <a:rPr sz="2000" spc="41" dirty="0">
                <a:latin typeface="UKIJ CJK"/>
                <a:cs typeface="UKIJ CJK"/>
              </a:rPr>
              <a:t>When </a:t>
            </a:r>
            <a:r>
              <a:rPr sz="2000" spc="23" dirty="0">
                <a:latin typeface="UKIJ CJK"/>
                <a:cs typeface="UKIJ CJK"/>
              </a:rPr>
              <a:t>the </a:t>
            </a:r>
            <a:r>
              <a:rPr sz="2000" spc="11" dirty="0">
                <a:latin typeface="UKIJ CJK"/>
                <a:cs typeface="UKIJ CJK"/>
              </a:rPr>
              <a:t>cluster </a:t>
            </a:r>
            <a:r>
              <a:rPr sz="2000" spc="8" dirty="0">
                <a:latin typeface="UKIJ CJK"/>
                <a:cs typeface="UKIJ CJK"/>
              </a:rPr>
              <a:t>starts, </a:t>
            </a:r>
            <a:r>
              <a:rPr sz="2000" spc="23" dirty="0">
                <a:latin typeface="UKIJ CJK"/>
                <a:cs typeface="UKIJ CJK"/>
              </a:rPr>
              <a:t>the </a:t>
            </a:r>
            <a:r>
              <a:rPr sz="2000" spc="19" dirty="0">
                <a:latin typeface="UKIJ CJK"/>
                <a:cs typeface="UKIJ CJK"/>
              </a:rPr>
              <a:t>processes </a:t>
            </a:r>
            <a:r>
              <a:rPr sz="2000" spc="30" dirty="0">
                <a:latin typeface="UKIJ CJK"/>
                <a:cs typeface="UKIJ CJK"/>
              </a:rPr>
              <a:t>compete </a:t>
            </a:r>
            <a:r>
              <a:rPr sz="2000" spc="11" dirty="0">
                <a:latin typeface="UKIJ CJK"/>
                <a:cs typeface="UKIJ CJK"/>
              </a:rPr>
              <a:t>for </a:t>
            </a:r>
            <a:r>
              <a:rPr sz="2000" spc="38" dirty="0">
                <a:latin typeface="UKIJ CJK"/>
                <a:cs typeface="UKIJ CJK"/>
              </a:rPr>
              <a:t>being </a:t>
            </a:r>
            <a:r>
              <a:rPr sz="2000" spc="23" dirty="0">
                <a:latin typeface="UKIJ CJK"/>
                <a:cs typeface="UKIJ CJK"/>
              </a:rPr>
              <a:t>the  active </a:t>
            </a:r>
            <a:r>
              <a:rPr sz="2000" spc="26" dirty="0" err="1">
                <a:latin typeface="UKIJ CJK"/>
                <a:cs typeface="UKIJ CJK"/>
              </a:rPr>
              <a:t>HMaster</a:t>
            </a:r>
            <a:r>
              <a:rPr sz="2000" spc="26" dirty="0">
                <a:latin typeface="UKIJ CJK"/>
                <a:cs typeface="UKIJ CJK"/>
              </a:rPr>
              <a:t> </a:t>
            </a:r>
            <a:r>
              <a:rPr sz="2000" spc="11" dirty="0">
                <a:latin typeface="UKIJ CJK"/>
                <a:cs typeface="UKIJ CJK"/>
              </a:rPr>
              <a:t>process. </a:t>
            </a:r>
            <a:r>
              <a:rPr sz="2000" spc="15" dirty="0">
                <a:latin typeface="UKIJ CJK"/>
                <a:cs typeface="UKIJ CJK"/>
              </a:rPr>
              <a:t>There </a:t>
            </a:r>
            <a:r>
              <a:rPr sz="2000" spc="4" dirty="0">
                <a:latin typeface="UKIJ CJK"/>
                <a:cs typeface="UKIJ CJK"/>
              </a:rPr>
              <a:t>is </a:t>
            </a:r>
            <a:r>
              <a:rPr sz="2000" spc="23" dirty="0">
                <a:latin typeface="UKIJ CJK"/>
                <a:cs typeface="UKIJ CJK"/>
              </a:rPr>
              <a:t>only </a:t>
            </a:r>
            <a:r>
              <a:rPr sz="2000" spc="26" dirty="0">
                <a:latin typeface="UKIJ CJK"/>
                <a:cs typeface="UKIJ CJK"/>
              </a:rPr>
              <a:t>one </a:t>
            </a:r>
            <a:r>
              <a:rPr sz="2000" spc="19" dirty="0">
                <a:latin typeface="UKIJ CJK"/>
                <a:cs typeface="UKIJ CJK"/>
              </a:rPr>
              <a:t>active </a:t>
            </a:r>
            <a:r>
              <a:rPr sz="2000" spc="26" dirty="0" err="1">
                <a:latin typeface="UKIJ CJK"/>
                <a:cs typeface="UKIJ CJK"/>
              </a:rPr>
              <a:t>HMaster</a:t>
            </a:r>
            <a:r>
              <a:rPr sz="2000" spc="26" dirty="0">
                <a:latin typeface="UKIJ CJK"/>
                <a:cs typeface="UKIJ CJK"/>
              </a:rPr>
              <a:t> </a:t>
            </a:r>
            <a:r>
              <a:rPr sz="2000" spc="11" dirty="0">
                <a:latin typeface="UKIJ CJK"/>
                <a:cs typeface="UKIJ CJK"/>
              </a:rPr>
              <a:t>process. </a:t>
            </a:r>
            <a:r>
              <a:rPr sz="2000" spc="26" dirty="0">
                <a:latin typeface="UKIJ CJK"/>
                <a:cs typeface="UKIJ CJK"/>
              </a:rPr>
              <a:t>and </a:t>
            </a:r>
            <a:r>
              <a:rPr sz="2000" spc="23" dirty="0">
                <a:latin typeface="UKIJ CJK"/>
                <a:cs typeface="UKIJ CJK"/>
              </a:rPr>
              <a:t>the  </a:t>
            </a:r>
            <a:r>
              <a:rPr sz="2000" spc="26" dirty="0">
                <a:latin typeface="UKIJ CJK"/>
                <a:cs typeface="UKIJ CJK"/>
              </a:rPr>
              <a:t>standby </a:t>
            </a:r>
            <a:r>
              <a:rPr sz="2000" spc="26" dirty="0" err="1">
                <a:latin typeface="UKIJ CJK"/>
                <a:cs typeface="UKIJ CJK"/>
              </a:rPr>
              <a:t>HMaster</a:t>
            </a:r>
            <a:r>
              <a:rPr sz="2000" spc="26" dirty="0">
                <a:latin typeface="UKIJ CJK"/>
                <a:cs typeface="UKIJ CJK"/>
              </a:rPr>
              <a:t> </a:t>
            </a:r>
            <a:r>
              <a:rPr sz="2000" spc="19" dirty="0">
                <a:latin typeface="UKIJ CJK"/>
                <a:cs typeface="UKIJ CJK"/>
              </a:rPr>
              <a:t>process </a:t>
            </a:r>
            <a:r>
              <a:rPr sz="2000" spc="4" dirty="0">
                <a:latin typeface="UKIJ CJK"/>
                <a:cs typeface="UKIJ CJK"/>
              </a:rPr>
              <a:t>is </a:t>
            </a:r>
            <a:r>
              <a:rPr sz="2000" spc="11" dirty="0">
                <a:latin typeface="UKIJ CJK"/>
                <a:cs typeface="UKIJ CJK"/>
              </a:rPr>
              <a:t>in </a:t>
            </a:r>
            <a:r>
              <a:rPr sz="2000" spc="23" dirty="0">
                <a:latin typeface="UKIJ CJK"/>
                <a:cs typeface="UKIJ CJK"/>
              </a:rPr>
              <a:t>the </a:t>
            </a:r>
            <a:r>
              <a:rPr sz="2000" spc="26" dirty="0">
                <a:latin typeface="UKIJ CJK"/>
                <a:cs typeface="UKIJ CJK"/>
              </a:rPr>
              <a:t>standby </a:t>
            </a:r>
            <a:r>
              <a:rPr sz="2000" spc="15" dirty="0">
                <a:latin typeface="UKIJ CJK"/>
                <a:cs typeface="UKIJ CJK"/>
              </a:rPr>
              <a:t>status </a:t>
            </a:r>
            <a:r>
              <a:rPr sz="2000" spc="26" dirty="0">
                <a:latin typeface="UKIJ CJK"/>
                <a:cs typeface="UKIJ CJK"/>
              </a:rPr>
              <a:t>and </a:t>
            </a:r>
            <a:r>
              <a:rPr sz="2000" spc="30" dirty="0">
                <a:latin typeface="UKIJ CJK"/>
                <a:cs typeface="UKIJ CJK"/>
              </a:rPr>
              <a:t>does </a:t>
            </a:r>
            <a:r>
              <a:rPr sz="2000" spc="26" dirty="0">
                <a:latin typeface="UKIJ CJK"/>
                <a:cs typeface="UKIJ CJK"/>
              </a:rPr>
              <a:t>not </a:t>
            </a:r>
            <a:r>
              <a:rPr sz="2000" spc="23" dirty="0">
                <a:latin typeface="UKIJ CJK"/>
                <a:cs typeface="UKIJ CJK"/>
              </a:rPr>
              <a:t>involve </a:t>
            </a:r>
            <a:r>
              <a:rPr sz="2000" spc="8" dirty="0">
                <a:latin typeface="UKIJ CJK"/>
                <a:cs typeface="UKIJ CJK"/>
              </a:rPr>
              <a:t>in  </a:t>
            </a:r>
            <a:r>
              <a:rPr sz="2000" spc="11" dirty="0">
                <a:latin typeface="UKIJ CJK"/>
                <a:cs typeface="UKIJ CJK"/>
              </a:rPr>
              <a:t>cluster </a:t>
            </a:r>
            <a:r>
              <a:rPr sz="2000" spc="15" dirty="0">
                <a:latin typeface="UKIJ CJK"/>
                <a:cs typeface="UKIJ CJK"/>
              </a:rPr>
              <a:t>transactions </a:t>
            </a:r>
            <a:r>
              <a:rPr sz="2000" spc="23" dirty="0">
                <a:latin typeface="UKIJ CJK"/>
                <a:cs typeface="UKIJ CJK"/>
              </a:rPr>
              <a:t>when the </a:t>
            </a:r>
            <a:r>
              <a:rPr sz="2000" spc="11" dirty="0">
                <a:latin typeface="UKIJ CJK"/>
                <a:cs typeface="UKIJ CJK"/>
              </a:rPr>
              <a:t>cluster </a:t>
            </a:r>
            <a:r>
              <a:rPr sz="2000" spc="4" dirty="0">
                <a:latin typeface="UKIJ CJK"/>
                <a:cs typeface="UKIJ CJK"/>
              </a:rPr>
              <a:t>is</a:t>
            </a:r>
            <a:r>
              <a:rPr sz="2000" spc="101" dirty="0">
                <a:latin typeface="UKIJ CJK"/>
                <a:cs typeface="UKIJ CJK"/>
              </a:rPr>
              <a:t> </a:t>
            </a:r>
            <a:r>
              <a:rPr sz="2000" spc="15" dirty="0">
                <a:latin typeface="UKIJ CJK"/>
                <a:cs typeface="UKIJ CJK"/>
              </a:rPr>
              <a:t>running.</a:t>
            </a:r>
            <a:endParaRPr sz="2000" dirty="0">
              <a:latin typeface="UKIJ CJK"/>
              <a:cs typeface="UKIJ CJK"/>
            </a:endParaRPr>
          </a:p>
        </p:txBody>
      </p:sp>
      <p:grpSp>
        <p:nvGrpSpPr>
          <p:cNvPr id="3" name="object 3"/>
          <p:cNvGrpSpPr/>
          <p:nvPr/>
        </p:nvGrpSpPr>
        <p:grpSpPr>
          <a:xfrm>
            <a:off x="186990" y="204979"/>
            <a:ext cx="11613123" cy="4497650"/>
            <a:chOff x="376427" y="679704"/>
            <a:chExt cx="6106160" cy="3442335"/>
          </a:xfrm>
        </p:grpSpPr>
        <p:sp>
          <p:nvSpPr>
            <p:cNvPr id="4" name="object 4"/>
            <p:cNvSpPr/>
            <p:nvPr/>
          </p:nvSpPr>
          <p:spPr>
            <a:xfrm>
              <a:off x="602470" y="832680"/>
              <a:ext cx="5745306" cy="3227563"/>
            </a:xfrm>
            <a:prstGeom prst="rect">
              <a:avLst/>
            </a:prstGeom>
            <a:blipFill>
              <a:blip r:embed="rId2" cstate="print"/>
              <a:stretch>
                <a:fillRect/>
              </a:stretch>
            </a:blipFill>
          </p:spPr>
          <p:txBody>
            <a:bodyPr wrap="square" lIns="0" tIns="0" rIns="0" bIns="0" rtlCol="0"/>
            <a:lstStyle/>
            <a:p>
              <a:endParaRPr sz="1350"/>
            </a:p>
          </p:txBody>
        </p:sp>
        <p:sp>
          <p:nvSpPr>
            <p:cNvPr id="5" name="object 5"/>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Tree>
    <p:extLst>
      <p:ext uri="{BB962C8B-B14F-4D97-AF65-F5344CB8AC3E}">
        <p14:creationId xmlns:p14="http://schemas.microsoft.com/office/powerpoint/2010/main" val="390751648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2322830" cy="513715"/>
          </a:xfrm>
          <a:prstGeom prst="rect">
            <a:avLst/>
          </a:prstGeom>
        </p:spPr>
        <p:txBody>
          <a:bodyPr vert="horz" wrap="square" lIns="0" tIns="13335" rIns="0" bIns="0" rtlCol="0">
            <a:spAutoFit/>
          </a:bodyPr>
          <a:lstStyle/>
          <a:p>
            <a:pPr marL="12700">
              <a:lnSpc>
                <a:spcPct val="100000"/>
              </a:lnSpc>
              <a:spcBef>
                <a:spcPts val="105"/>
              </a:spcBef>
            </a:pPr>
            <a:r>
              <a:rPr sz="3200" spc="135" dirty="0">
                <a:solidFill>
                  <a:srgbClr val="000000"/>
                </a:solidFill>
              </a:rPr>
              <a:t>HMaster</a:t>
            </a:r>
            <a:r>
              <a:rPr sz="3200" spc="-55" dirty="0">
                <a:solidFill>
                  <a:srgbClr val="000000"/>
                </a:solidFill>
              </a:rPr>
              <a:t> </a:t>
            </a:r>
            <a:r>
              <a:rPr sz="3200" spc="270" dirty="0">
                <a:solidFill>
                  <a:srgbClr val="000000"/>
                </a:solidFill>
              </a:rPr>
              <a:t>HA</a:t>
            </a:r>
            <a:endParaRPr sz="3200"/>
          </a:p>
        </p:txBody>
      </p:sp>
      <p:sp>
        <p:nvSpPr>
          <p:cNvPr id="5" name="object 5"/>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24	</a:t>
            </a:r>
            <a:r>
              <a:rPr spc="30" dirty="0"/>
              <a:t>Huawei</a:t>
            </a:r>
            <a:r>
              <a:rPr spc="-10" dirty="0"/>
              <a:t> </a:t>
            </a:r>
            <a:r>
              <a:rPr spc="5" dirty="0"/>
              <a:t>Confidential</a:t>
            </a:r>
          </a:p>
        </p:txBody>
      </p:sp>
      <p:sp>
        <p:nvSpPr>
          <p:cNvPr id="3" name="object 3"/>
          <p:cNvSpPr txBox="1"/>
          <p:nvPr/>
        </p:nvSpPr>
        <p:spPr>
          <a:xfrm>
            <a:off x="799287" y="1308861"/>
            <a:ext cx="1397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Wingdings"/>
                <a:cs typeface="Wingdings"/>
              </a:rPr>
              <a:t></a:t>
            </a:r>
            <a:endParaRPr sz="1200">
              <a:latin typeface="Wingdings"/>
              <a:cs typeface="Wingdings"/>
            </a:endParaRPr>
          </a:p>
        </p:txBody>
      </p:sp>
      <p:sp>
        <p:nvSpPr>
          <p:cNvPr id="4" name="object 4"/>
          <p:cNvSpPr txBox="1"/>
          <p:nvPr/>
        </p:nvSpPr>
        <p:spPr>
          <a:xfrm>
            <a:off x="1101039" y="1077664"/>
            <a:ext cx="10293350" cy="2073910"/>
          </a:xfrm>
          <a:prstGeom prst="rect">
            <a:avLst/>
          </a:prstGeom>
        </p:spPr>
        <p:txBody>
          <a:bodyPr vert="horz" wrap="square" lIns="0" tIns="12065" rIns="0" bIns="0" rtlCol="0">
            <a:spAutoFit/>
          </a:bodyPr>
          <a:lstStyle/>
          <a:p>
            <a:pPr marL="12700" marR="5080" algn="just">
              <a:lnSpc>
                <a:spcPct val="140000"/>
              </a:lnSpc>
              <a:spcBef>
                <a:spcPts val="95"/>
              </a:spcBef>
            </a:pPr>
            <a:r>
              <a:rPr sz="2400" spc="15" dirty="0">
                <a:latin typeface="Trebuchet MS"/>
                <a:cs typeface="Trebuchet MS"/>
              </a:rPr>
              <a:t>ZooKeeper </a:t>
            </a:r>
            <a:r>
              <a:rPr sz="2400" spc="25" dirty="0">
                <a:latin typeface="Trebuchet MS"/>
                <a:cs typeface="Trebuchet MS"/>
              </a:rPr>
              <a:t>can </a:t>
            </a:r>
            <a:r>
              <a:rPr sz="2400" spc="5" dirty="0">
                <a:latin typeface="Trebuchet MS"/>
                <a:cs typeface="Trebuchet MS"/>
              </a:rPr>
              <a:t>help </a:t>
            </a:r>
            <a:r>
              <a:rPr sz="2400" spc="-70" dirty="0">
                <a:latin typeface="Trebuchet MS"/>
                <a:cs typeface="Trebuchet MS"/>
              </a:rPr>
              <a:t>elect </a:t>
            </a:r>
            <a:r>
              <a:rPr sz="2400" spc="75" dirty="0">
                <a:latin typeface="Trebuchet MS"/>
                <a:cs typeface="Trebuchet MS"/>
              </a:rPr>
              <a:t>an </a:t>
            </a:r>
            <a:r>
              <a:rPr sz="2400" spc="100" dirty="0">
                <a:latin typeface="Trebuchet MS"/>
                <a:cs typeface="Trebuchet MS"/>
              </a:rPr>
              <a:t>HMaster </a:t>
            </a:r>
            <a:r>
              <a:rPr sz="2400" spc="40" dirty="0">
                <a:latin typeface="Trebuchet MS"/>
                <a:cs typeface="Trebuchet MS"/>
              </a:rPr>
              <a:t>node </a:t>
            </a:r>
            <a:r>
              <a:rPr sz="2400" spc="55" dirty="0">
                <a:latin typeface="Trebuchet MS"/>
                <a:cs typeface="Trebuchet MS"/>
              </a:rPr>
              <a:t>as </a:t>
            </a:r>
            <a:r>
              <a:rPr sz="2400" spc="-15" dirty="0">
                <a:latin typeface="Trebuchet MS"/>
                <a:cs typeface="Trebuchet MS"/>
              </a:rPr>
              <a:t>the </a:t>
            </a:r>
            <a:r>
              <a:rPr sz="2400" spc="20" dirty="0">
                <a:latin typeface="Trebuchet MS"/>
                <a:cs typeface="Trebuchet MS"/>
              </a:rPr>
              <a:t>primary </a:t>
            </a:r>
            <a:r>
              <a:rPr sz="2400" spc="60" dirty="0">
                <a:latin typeface="Trebuchet MS"/>
                <a:cs typeface="Trebuchet MS"/>
              </a:rPr>
              <a:t>management  </a:t>
            </a:r>
            <a:r>
              <a:rPr sz="2400" spc="40" dirty="0">
                <a:latin typeface="Trebuchet MS"/>
                <a:cs typeface="Trebuchet MS"/>
              </a:rPr>
              <a:t>node </a:t>
            </a:r>
            <a:r>
              <a:rPr sz="2400" spc="20" dirty="0">
                <a:latin typeface="Trebuchet MS"/>
                <a:cs typeface="Trebuchet MS"/>
              </a:rPr>
              <a:t>of </a:t>
            </a:r>
            <a:r>
              <a:rPr sz="2400" spc="-15" dirty="0">
                <a:latin typeface="Trebuchet MS"/>
                <a:cs typeface="Trebuchet MS"/>
              </a:rPr>
              <a:t>the </a:t>
            </a:r>
            <a:r>
              <a:rPr sz="2400" spc="-25" dirty="0">
                <a:latin typeface="Trebuchet MS"/>
                <a:cs typeface="Trebuchet MS"/>
              </a:rPr>
              <a:t>cluster </a:t>
            </a:r>
            <a:r>
              <a:rPr sz="2400" spc="60" dirty="0">
                <a:latin typeface="Trebuchet MS"/>
                <a:cs typeface="Trebuchet MS"/>
              </a:rPr>
              <a:t>and </a:t>
            </a:r>
            <a:r>
              <a:rPr sz="2400" spc="10" dirty="0">
                <a:latin typeface="Trebuchet MS"/>
                <a:cs typeface="Trebuchet MS"/>
              </a:rPr>
              <a:t>ensure </a:t>
            </a:r>
            <a:r>
              <a:rPr sz="2400" spc="-5" dirty="0">
                <a:latin typeface="Trebuchet MS"/>
                <a:cs typeface="Trebuchet MS"/>
              </a:rPr>
              <a:t>that </a:t>
            </a:r>
            <a:r>
              <a:rPr sz="2400" spc="-25" dirty="0">
                <a:latin typeface="Trebuchet MS"/>
                <a:cs typeface="Trebuchet MS"/>
              </a:rPr>
              <a:t>there </a:t>
            </a:r>
            <a:r>
              <a:rPr sz="2400" spc="-20" dirty="0">
                <a:latin typeface="Trebuchet MS"/>
                <a:cs typeface="Trebuchet MS"/>
              </a:rPr>
              <a:t>is </a:t>
            </a:r>
            <a:r>
              <a:rPr sz="2400" spc="30" dirty="0">
                <a:latin typeface="Trebuchet MS"/>
                <a:cs typeface="Trebuchet MS"/>
              </a:rPr>
              <a:t>only </a:t>
            </a:r>
            <a:r>
              <a:rPr sz="2400" spc="45" dirty="0">
                <a:latin typeface="Trebuchet MS"/>
                <a:cs typeface="Trebuchet MS"/>
              </a:rPr>
              <a:t>one </a:t>
            </a:r>
            <a:r>
              <a:rPr sz="2400" spc="105" dirty="0">
                <a:latin typeface="Trebuchet MS"/>
                <a:cs typeface="Trebuchet MS"/>
              </a:rPr>
              <a:t>HMaster </a:t>
            </a:r>
            <a:r>
              <a:rPr sz="2400" spc="40" dirty="0">
                <a:latin typeface="Trebuchet MS"/>
                <a:cs typeface="Trebuchet MS"/>
              </a:rPr>
              <a:t>node  </a:t>
            </a:r>
            <a:r>
              <a:rPr sz="2400" spc="60" dirty="0">
                <a:latin typeface="Trebuchet MS"/>
                <a:cs typeface="Trebuchet MS"/>
              </a:rPr>
              <a:t>running </a:t>
            </a:r>
            <a:r>
              <a:rPr sz="2400" spc="-10" dirty="0">
                <a:latin typeface="Trebuchet MS"/>
                <a:cs typeface="Trebuchet MS"/>
              </a:rPr>
              <a:t>at </a:t>
            </a:r>
            <a:r>
              <a:rPr sz="2400" spc="50" dirty="0">
                <a:latin typeface="Trebuchet MS"/>
                <a:cs typeface="Trebuchet MS"/>
              </a:rPr>
              <a:t>any </a:t>
            </a:r>
            <a:r>
              <a:rPr sz="2400" spc="-70" dirty="0">
                <a:latin typeface="Trebuchet MS"/>
                <a:cs typeface="Trebuchet MS"/>
              </a:rPr>
              <a:t>time, </a:t>
            </a:r>
            <a:r>
              <a:rPr sz="2400" spc="10" dirty="0">
                <a:latin typeface="Trebuchet MS"/>
                <a:cs typeface="Trebuchet MS"/>
              </a:rPr>
              <a:t>preventing </a:t>
            </a:r>
            <a:r>
              <a:rPr sz="2400" spc="20" dirty="0">
                <a:latin typeface="Trebuchet MS"/>
                <a:cs typeface="Trebuchet MS"/>
              </a:rPr>
              <a:t>single </a:t>
            </a:r>
            <a:r>
              <a:rPr sz="2400" spc="5" dirty="0">
                <a:latin typeface="Trebuchet MS"/>
                <a:cs typeface="Trebuchet MS"/>
              </a:rPr>
              <a:t>point </a:t>
            </a:r>
            <a:r>
              <a:rPr sz="2400" spc="20" dirty="0">
                <a:latin typeface="Trebuchet MS"/>
                <a:cs typeface="Trebuchet MS"/>
              </a:rPr>
              <a:t>of </a:t>
            </a:r>
            <a:r>
              <a:rPr sz="2400" spc="-10" dirty="0">
                <a:latin typeface="Trebuchet MS"/>
                <a:cs typeface="Trebuchet MS"/>
              </a:rPr>
              <a:t>failures </a:t>
            </a:r>
            <a:r>
              <a:rPr sz="2400" spc="95" dirty="0">
                <a:latin typeface="Trebuchet MS"/>
                <a:cs typeface="Trebuchet MS"/>
              </a:rPr>
              <a:t>(SPOFs) </a:t>
            </a:r>
            <a:r>
              <a:rPr sz="2400" spc="20" dirty="0">
                <a:latin typeface="Trebuchet MS"/>
                <a:cs typeface="Trebuchet MS"/>
              </a:rPr>
              <a:t>of </a:t>
            </a:r>
            <a:r>
              <a:rPr sz="2400" spc="-15" dirty="0">
                <a:latin typeface="Trebuchet MS"/>
                <a:cs typeface="Trebuchet MS"/>
              </a:rPr>
              <a:t>the </a:t>
            </a:r>
            <a:r>
              <a:rPr sz="2400" spc="690" dirty="0">
                <a:latin typeface="Trebuchet MS"/>
                <a:cs typeface="Trebuchet MS"/>
              </a:rPr>
              <a:t> </a:t>
            </a:r>
            <a:r>
              <a:rPr sz="2400" spc="100" dirty="0">
                <a:latin typeface="Trebuchet MS"/>
                <a:cs typeface="Trebuchet MS"/>
              </a:rPr>
              <a:t>HMaster</a:t>
            </a:r>
            <a:r>
              <a:rPr sz="2400" spc="15" dirty="0">
                <a:latin typeface="Trebuchet MS"/>
                <a:cs typeface="Trebuchet MS"/>
              </a:rPr>
              <a:t> </a:t>
            </a:r>
            <a:r>
              <a:rPr sz="2400" spc="-35" dirty="0">
                <a:latin typeface="Trebuchet MS"/>
                <a:cs typeface="Trebuchet MS"/>
              </a:rPr>
              <a:t>node.</a:t>
            </a:r>
            <a:endParaRPr sz="2400" dirty="0">
              <a:latin typeface="Trebuchet MS"/>
              <a:cs typeface="Trebuchet MS"/>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58902"/>
            <a:ext cx="1819275" cy="574040"/>
          </a:xfrm>
          <a:prstGeom prst="rect">
            <a:avLst/>
          </a:prstGeom>
        </p:spPr>
        <p:txBody>
          <a:bodyPr vert="horz" wrap="square" lIns="0" tIns="12700" rIns="0" bIns="0" rtlCol="0">
            <a:spAutoFit/>
          </a:bodyPr>
          <a:lstStyle/>
          <a:p>
            <a:pPr marL="12700">
              <a:lnSpc>
                <a:spcPct val="100000"/>
              </a:lnSpc>
              <a:spcBef>
                <a:spcPts val="100"/>
              </a:spcBef>
            </a:pPr>
            <a:r>
              <a:rPr sz="3600" spc="145" dirty="0">
                <a:solidFill>
                  <a:srgbClr val="000000"/>
                </a:solidFill>
              </a:rPr>
              <a:t>HMaster</a:t>
            </a:r>
            <a:endParaRPr sz="3600"/>
          </a:p>
        </p:txBody>
      </p:sp>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25	</a:t>
            </a:r>
            <a:r>
              <a:rPr spc="30" dirty="0"/>
              <a:t>Huawei</a:t>
            </a:r>
            <a:r>
              <a:rPr spc="-10" dirty="0"/>
              <a:t> </a:t>
            </a:r>
            <a:r>
              <a:rPr spc="5" dirty="0"/>
              <a:t>Confidential</a:t>
            </a:r>
          </a:p>
        </p:txBody>
      </p:sp>
      <p:sp>
        <p:nvSpPr>
          <p:cNvPr id="3" name="object 3"/>
          <p:cNvSpPr txBox="1"/>
          <p:nvPr/>
        </p:nvSpPr>
        <p:spPr>
          <a:xfrm>
            <a:off x="799287" y="1308861"/>
            <a:ext cx="1397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Wingdings"/>
                <a:cs typeface="Wingdings"/>
              </a:rPr>
              <a:t></a:t>
            </a:r>
            <a:endParaRPr sz="1200">
              <a:latin typeface="Wingdings"/>
              <a:cs typeface="Wingdings"/>
            </a:endParaRPr>
          </a:p>
        </p:txBody>
      </p:sp>
      <p:sp>
        <p:nvSpPr>
          <p:cNvPr id="4" name="object 4"/>
          <p:cNvSpPr txBox="1"/>
          <p:nvPr/>
        </p:nvSpPr>
        <p:spPr>
          <a:xfrm>
            <a:off x="1101039" y="1077664"/>
            <a:ext cx="10292715" cy="1049655"/>
          </a:xfrm>
          <a:prstGeom prst="rect">
            <a:avLst/>
          </a:prstGeom>
        </p:spPr>
        <p:txBody>
          <a:bodyPr vert="horz" wrap="square" lIns="0" tIns="12065" rIns="0" bIns="0" rtlCol="0">
            <a:spAutoFit/>
          </a:bodyPr>
          <a:lstStyle/>
          <a:p>
            <a:pPr marL="12700" marR="5080">
              <a:lnSpc>
                <a:spcPct val="140000"/>
              </a:lnSpc>
              <a:spcBef>
                <a:spcPts val="95"/>
              </a:spcBef>
              <a:tabLst>
                <a:tab pos="721360" algn="l"/>
                <a:tab pos="2113915" algn="l"/>
                <a:tab pos="3141345" algn="l"/>
                <a:tab pos="4595495" algn="l"/>
                <a:tab pos="5622925" algn="l"/>
                <a:tab pos="6343650" algn="l"/>
                <a:tab pos="7552690" algn="l"/>
                <a:tab pos="8076565" algn="l"/>
                <a:tab pos="9827895" algn="l"/>
              </a:tabLst>
            </a:pPr>
            <a:r>
              <a:rPr sz="2400" spc="-5" dirty="0">
                <a:latin typeface="Trebuchet MS"/>
                <a:cs typeface="Trebuchet MS"/>
              </a:rPr>
              <a:t>Th</a:t>
            </a:r>
            <a:r>
              <a:rPr sz="2400" dirty="0">
                <a:latin typeface="Trebuchet MS"/>
                <a:cs typeface="Trebuchet MS"/>
              </a:rPr>
              <a:t>e	</a:t>
            </a:r>
            <a:r>
              <a:rPr sz="2400" spc="360" dirty="0">
                <a:latin typeface="Trebuchet MS"/>
                <a:cs typeface="Trebuchet MS"/>
              </a:rPr>
              <a:t>H</a:t>
            </a:r>
            <a:r>
              <a:rPr sz="2400" spc="385" dirty="0">
                <a:latin typeface="Trebuchet MS"/>
                <a:cs typeface="Trebuchet MS"/>
              </a:rPr>
              <a:t>M</a:t>
            </a:r>
            <a:r>
              <a:rPr sz="2400" spc="-15" dirty="0">
                <a:latin typeface="Trebuchet MS"/>
                <a:cs typeface="Trebuchet MS"/>
              </a:rPr>
              <a:t>aste</a:t>
            </a:r>
            <a:r>
              <a:rPr sz="2400" spc="-10" dirty="0">
                <a:latin typeface="Trebuchet MS"/>
                <a:cs typeface="Trebuchet MS"/>
              </a:rPr>
              <a:t>r</a:t>
            </a:r>
            <a:r>
              <a:rPr sz="2400" dirty="0">
                <a:latin typeface="Trebuchet MS"/>
                <a:cs typeface="Trebuchet MS"/>
              </a:rPr>
              <a:t>	</a:t>
            </a:r>
            <a:r>
              <a:rPr sz="2400" spc="-15" dirty="0">
                <a:latin typeface="Trebuchet MS"/>
                <a:cs typeface="Trebuchet MS"/>
              </a:rPr>
              <a:t>serv</a:t>
            </a:r>
            <a:r>
              <a:rPr sz="2400" spc="-30" dirty="0">
                <a:latin typeface="Trebuchet MS"/>
                <a:cs typeface="Trebuchet MS"/>
              </a:rPr>
              <a:t>e</a:t>
            </a:r>
            <a:r>
              <a:rPr sz="2400" spc="-35" dirty="0">
                <a:latin typeface="Trebuchet MS"/>
                <a:cs typeface="Trebuchet MS"/>
              </a:rPr>
              <a:t>r</a:t>
            </a:r>
            <a:r>
              <a:rPr sz="2400" dirty="0">
                <a:latin typeface="Trebuchet MS"/>
                <a:cs typeface="Trebuchet MS"/>
              </a:rPr>
              <a:t>	</a:t>
            </a:r>
            <a:r>
              <a:rPr sz="2400" spc="145" dirty="0">
                <a:latin typeface="Trebuchet MS"/>
                <a:cs typeface="Trebuchet MS"/>
              </a:rPr>
              <a:t>m</a:t>
            </a:r>
            <a:r>
              <a:rPr sz="2400" spc="90" dirty="0">
                <a:latin typeface="Trebuchet MS"/>
                <a:cs typeface="Trebuchet MS"/>
              </a:rPr>
              <a:t>a</a:t>
            </a:r>
            <a:r>
              <a:rPr sz="2400" spc="75" dirty="0">
                <a:latin typeface="Trebuchet MS"/>
                <a:cs typeface="Trebuchet MS"/>
              </a:rPr>
              <a:t>na</a:t>
            </a:r>
            <a:r>
              <a:rPr sz="2400" spc="55" dirty="0">
                <a:latin typeface="Trebuchet MS"/>
                <a:cs typeface="Trebuchet MS"/>
              </a:rPr>
              <a:t>ge</a:t>
            </a:r>
            <a:r>
              <a:rPr sz="2400" spc="45" dirty="0">
                <a:latin typeface="Trebuchet MS"/>
                <a:cs typeface="Trebuchet MS"/>
              </a:rPr>
              <a:t>s</a:t>
            </a:r>
            <a:r>
              <a:rPr sz="2400" dirty="0">
                <a:latin typeface="Trebuchet MS"/>
                <a:cs typeface="Trebuchet MS"/>
              </a:rPr>
              <a:t>	</a:t>
            </a:r>
            <a:r>
              <a:rPr sz="2400" spc="-15" dirty="0">
                <a:latin typeface="Trebuchet MS"/>
                <a:cs typeface="Trebuchet MS"/>
              </a:rPr>
              <a:t>t</a:t>
            </a:r>
            <a:r>
              <a:rPr sz="2400" spc="-5" dirty="0">
                <a:latin typeface="Trebuchet MS"/>
                <a:cs typeface="Trebuchet MS"/>
              </a:rPr>
              <a:t>ables</a:t>
            </a:r>
            <a:r>
              <a:rPr sz="2400" dirty="0">
                <a:latin typeface="Trebuchet MS"/>
                <a:cs typeface="Trebuchet MS"/>
              </a:rPr>
              <a:t>	</a:t>
            </a:r>
            <a:r>
              <a:rPr sz="2400" spc="70" dirty="0">
                <a:latin typeface="Trebuchet MS"/>
                <a:cs typeface="Trebuchet MS"/>
              </a:rPr>
              <a:t>a</a:t>
            </a:r>
            <a:r>
              <a:rPr sz="2400" spc="80" dirty="0">
                <a:latin typeface="Trebuchet MS"/>
                <a:cs typeface="Trebuchet MS"/>
              </a:rPr>
              <a:t>n</a:t>
            </a:r>
            <a:r>
              <a:rPr sz="2400" spc="40" dirty="0">
                <a:latin typeface="Trebuchet MS"/>
                <a:cs typeface="Trebuchet MS"/>
              </a:rPr>
              <a:t>d</a:t>
            </a:r>
            <a:r>
              <a:rPr sz="2400" dirty="0">
                <a:latin typeface="Trebuchet MS"/>
                <a:cs typeface="Trebuchet MS"/>
              </a:rPr>
              <a:t>	</a:t>
            </a:r>
            <a:r>
              <a:rPr sz="2400" spc="20" dirty="0">
                <a:latin typeface="Trebuchet MS"/>
                <a:cs typeface="Trebuchet MS"/>
              </a:rPr>
              <a:t>regi</a:t>
            </a:r>
            <a:r>
              <a:rPr sz="2400" spc="15" dirty="0">
                <a:latin typeface="Trebuchet MS"/>
                <a:cs typeface="Trebuchet MS"/>
              </a:rPr>
              <a:t>o</a:t>
            </a:r>
            <a:r>
              <a:rPr sz="2400" spc="70" dirty="0">
                <a:latin typeface="Trebuchet MS"/>
                <a:cs typeface="Trebuchet MS"/>
              </a:rPr>
              <a:t>n</a:t>
            </a:r>
            <a:r>
              <a:rPr sz="2400" spc="55" dirty="0">
                <a:latin typeface="Trebuchet MS"/>
                <a:cs typeface="Trebuchet MS"/>
              </a:rPr>
              <a:t>s</a:t>
            </a:r>
            <a:r>
              <a:rPr sz="2400" dirty="0">
                <a:latin typeface="Trebuchet MS"/>
                <a:cs typeface="Trebuchet MS"/>
              </a:rPr>
              <a:t>	</a:t>
            </a:r>
            <a:r>
              <a:rPr sz="2400" spc="20" dirty="0">
                <a:latin typeface="Trebuchet MS"/>
                <a:cs typeface="Trebuchet MS"/>
              </a:rPr>
              <a:t>by</a:t>
            </a:r>
            <a:r>
              <a:rPr sz="2400" dirty="0">
                <a:latin typeface="Trebuchet MS"/>
                <a:cs typeface="Trebuchet MS"/>
              </a:rPr>
              <a:t>	perf</a:t>
            </a:r>
            <a:r>
              <a:rPr sz="2400" spc="5" dirty="0">
                <a:latin typeface="Trebuchet MS"/>
                <a:cs typeface="Trebuchet MS"/>
              </a:rPr>
              <a:t>o</a:t>
            </a:r>
            <a:r>
              <a:rPr sz="2400" spc="35" dirty="0">
                <a:latin typeface="Trebuchet MS"/>
                <a:cs typeface="Trebuchet MS"/>
              </a:rPr>
              <a:t>rmi</a:t>
            </a:r>
            <a:r>
              <a:rPr sz="2400" spc="50" dirty="0">
                <a:latin typeface="Trebuchet MS"/>
                <a:cs typeface="Trebuchet MS"/>
              </a:rPr>
              <a:t>n</a:t>
            </a:r>
            <a:r>
              <a:rPr sz="2400" spc="175" dirty="0">
                <a:latin typeface="Trebuchet MS"/>
                <a:cs typeface="Trebuchet MS"/>
              </a:rPr>
              <a:t>g</a:t>
            </a:r>
            <a:r>
              <a:rPr sz="2400" dirty="0">
                <a:latin typeface="Trebuchet MS"/>
                <a:cs typeface="Trebuchet MS"/>
              </a:rPr>
              <a:t>	t</a:t>
            </a:r>
            <a:r>
              <a:rPr sz="2400" spc="15" dirty="0">
                <a:latin typeface="Trebuchet MS"/>
                <a:cs typeface="Trebuchet MS"/>
              </a:rPr>
              <a:t>h</a:t>
            </a:r>
            <a:r>
              <a:rPr sz="2400" spc="-35" dirty="0">
                <a:latin typeface="Trebuchet MS"/>
                <a:cs typeface="Trebuchet MS"/>
              </a:rPr>
              <a:t>e  </a:t>
            </a:r>
            <a:r>
              <a:rPr sz="2400" spc="30" dirty="0">
                <a:latin typeface="Trebuchet MS"/>
                <a:cs typeface="Trebuchet MS"/>
              </a:rPr>
              <a:t>following</a:t>
            </a:r>
            <a:r>
              <a:rPr sz="2400" spc="40" dirty="0">
                <a:latin typeface="Trebuchet MS"/>
                <a:cs typeface="Trebuchet MS"/>
              </a:rPr>
              <a:t> </a:t>
            </a:r>
            <a:r>
              <a:rPr sz="2400" spc="-15" dirty="0">
                <a:latin typeface="Trebuchet MS"/>
                <a:cs typeface="Trebuchet MS"/>
              </a:rPr>
              <a:t>operations:</a:t>
            </a:r>
            <a:endParaRPr sz="2400">
              <a:latin typeface="Trebuchet MS"/>
              <a:cs typeface="Trebuchet MS"/>
            </a:endParaRPr>
          </a:p>
        </p:txBody>
      </p:sp>
      <p:sp>
        <p:nvSpPr>
          <p:cNvPr id="5" name="object 5"/>
          <p:cNvSpPr txBox="1"/>
          <p:nvPr/>
        </p:nvSpPr>
        <p:spPr>
          <a:xfrm>
            <a:off x="1203147" y="2383662"/>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6" name="object 6"/>
          <p:cNvSpPr txBox="1"/>
          <p:nvPr/>
        </p:nvSpPr>
        <p:spPr>
          <a:xfrm>
            <a:off x="1454910" y="2190724"/>
            <a:ext cx="10356090" cy="443711"/>
          </a:xfrm>
          <a:prstGeom prst="rect">
            <a:avLst/>
          </a:prstGeom>
        </p:spPr>
        <p:txBody>
          <a:bodyPr vert="horz" wrap="square" lIns="0" tIns="12700" rIns="0" bIns="0" rtlCol="0">
            <a:spAutoFit/>
          </a:bodyPr>
          <a:lstStyle/>
          <a:p>
            <a:pPr marL="12700" marR="5080">
              <a:lnSpc>
                <a:spcPct val="140000"/>
              </a:lnSpc>
              <a:spcBef>
                <a:spcPts val="100"/>
              </a:spcBef>
            </a:pPr>
            <a:r>
              <a:rPr sz="2000" spc="105" dirty="0">
                <a:latin typeface="Trebuchet MS"/>
                <a:cs typeface="Trebuchet MS"/>
              </a:rPr>
              <a:t>Manages </a:t>
            </a:r>
            <a:r>
              <a:rPr sz="2000" spc="35" dirty="0">
                <a:latin typeface="Trebuchet MS"/>
                <a:cs typeface="Trebuchet MS"/>
              </a:rPr>
              <a:t>users' </a:t>
            </a:r>
            <a:r>
              <a:rPr sz="2000" spc="10" dirty="0">
                <a:latin typeface="Trebuchet MS"/>
                <a:cs typeface="Trebuchet MS"/>
              </a:rPr>
              <a:t>operations </a:t>
            </a:r>
            <a:r>
              <a:rPr sz="2000" spc="75" dirty="0">
                <a:latin typeface="Trebuchet MS"/>
                <a:cs typeface="Trebuchet MS"/>
              </a:rPr>
              <a:t>on </a:t>
            </a:r>
            <a:r>
              <a:rPr sz="2000" spc="-45" dirty="0">
                <a:latin typeface="Trebuchet MS"/>
                <a:cs typeface="Trebuchet MS"/>
              </a:rPr>
              <a:t>tables, </a:t>
            </a:r>
            <a:r>
              <a:rPr sz="2000" spc="30" dirty="0">
                <a:latin typeface="Trebuchet MS"/>
                <a:cs typeface="Trebuchet MS"/>
              </a:rPr>
              <a:t>such </a:t>
            </a:r>
            <a:r>
              <a:rPr sz="2000" spc="40" dirty="0">
                <a:latin typeface="Trebuchet MS"/>
                <a:cs typeface="Trebuchet MS"/>
              </a:rPr>
              <a:t>as </a:t>
            </a:r>
            <a:r>
              <a:rPr sz="2000" dirty="0">
                <a:latin typeface="Trebuchet MS"/>
                <a:cs typeface="Trebuchet MS"/>
              </a:rPr>
              <a:t>adding, </a:t>
            </a:r>
            <a:r>
              <a:rPr sz="2000" spc="-30" dirty="0">
                <a:latin typeface="Trebuchet MS"/>
                <a:cs typeface="Trebuchet MS"/>
              </a:rPr>
              <a:t>deleting, </a:t>
            </a:r>
            <a:r>
              <a:rPr sz="2000" spc="5" dirty="0">
                <a:latin typeface="Trebuchet MS"/>
                <a:cs typeface="Trebuchet MS"/>
              </a:rPr>
              <a:t>modifying, </a:t>
            </a:r>
            <a:r>
              <a:rPr sz="2000" spc="50" dirty="0">
                <a:latin typeface="Trebuchet MS"/>
                <a:cs typeface="Trebuchet MS"/>
              </a:rPr>
              <a:t>and  </a:t>
            </a:r>
            <a:r>
              <a:rPr sz="2000" spc="-10" dirty="0">
                <a:latin typeface="Trebuchet MS"/>
                <a:cs typeface="Trebuchet MS"/>
              </a:rPr>
              <a:t>querying.</a:t>
            </a:r>
            <a:endParaRPr sz="2000" dirty="0">
              <a:latin typeface="Trebuchet MS"/>
              <a:cs typeface="Trebuchet MS"/>
            </a:endParaRPr>
          </a:p>
        </p:txBody>
      </p:sp>
      <p:sp>
        <p:nvSpPr>
          <p:cNvPr id="7" name="object 7"/>
          <p:cNvSpPr txBox="1"/>
          <p:nvPr/>
        </p:nvSpPr>
        <p:spPr>
          <a:xfrm>
            <a:off x="1157495" y="2944506"/>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8" name="object 8"/>
          <p:cNvSpPr txBox="1"/>
          <p:nvPr/>
        </p:nvSpPr>
        <p:spPr>
          <a:xfrm>
            <a:off x="1475376" y="2890778"/>
            <a:ext cx="9989060" cy="1290418"/>
          </a:xfrm>
          <a:prstGeom prst="rect">
            <a:avLst/>
          </a:prstGeom>
        </p:spPr>
        <p:txBody>
          <a:bodyPr vert="horz" wrap="square" lIns="0" tIns="13335" rIns="0" bIns="0" rtlCol="0">
            <a:spAutoFit/>
          </a:bodyPr>
          <a:lstStyle/>
          <a:p>
            <a:pPr marL="12700" algn="just">
              <a:lnSpc>
                <a:spcPct val="100000"/>
              </a:lnSpc>
              <a:spcBef>
                <a:spcPts val="105"/>
              </a:spcBef>
            </a:pPr>
            <a:r>
              <a:rPr sz="2000" spc="30" dirty="0">
                <a:latin typeface="Trebuchet MS"/>
                <a:cs typeface="Trebuchet MS"/>
              </a:rPr>
              <a:t>Implements load balancing </a:t>
            </a:r>
            <a:r>
              <a:rPr sz="2000" dirty="0">
                <a:latin typeface="Trebuchet MS"/>
                <a:cs typeface="Trebuchet MS"/>
              </a:rPr>
              <a:t>between </a:t>
            </a:r>
            <a:r>
              <a:rPr sz="2000" spc="-25" dirty="0">
                <a:latin typeface="Trebuchet MS"/>
                <a:cs typeface="Trebuchet MS"/>
              </a:rPr>
              <a:t>different</a:t>
            </a:r>
            <a:r>
              <a:rPr sz="2000" spc="-125" dirty="0">
                <a:latin typeface="Trebuchet MS"/>
                <a:cs typeface="Trebuchet MS"/>
              </a:rPr>
              <a:t> </a:t>
            </a:r>
            <a:r>
              <a:rPr sz="2000" spc="10" dirty="0">
                <a:latin typeface="Trebuchet MS"/>
                <a:cs typeface="Trebuchet MS"/>
              </a:rPr>
              <a:t>HRegionServers.</a:t>
            </a:r>
            <a:endParaRPr sz="2000" dirty="0">
              <a:latin typeface="Trebuchet MS"/>
              <a:cs typeface="Trebuchet MS"/>
            </a:endParaRPr>
          </a:p>
          <a:p>
            <a:pPr marL="12700" marR="5080" algn="just">
              <a:lnSpc>
                <a:spcPct val="169000"/>
              </a:lnSpc>
              <a:spcBef>
                <a:spcPts val="15"/>
              </a:spcBef>
            </a:pPr>
            <a:r>
              <a:rPr sz="2000" spc="5" dirty="0">
                <a:latin typeface="Trebuchet MS"/>
                <a:cs typeface="Trebuchet MS"/>
              </a:rPr>
              <a:t>Adjusts </a:t>
            </a:r>
            <a:r>
              <a:rPr sz="2000" spc="-10" dirty="0">
                <a:latin typeface="Trebuchet MS"/>
                <a:cs typeface="Trebuchet MS"/>
              </a:rPr>
              <a:t>the </a:t>
            </a:r>
            <a:r>
              <a:rPr sz="2000" dirty="0">
                <a:latin typeface="Trebuchet MS"/>
                <a:cs typeface="Trebuchet MS"/>
              </a:rPr>
              <a:t>distribution </a:t>
            </a:r>
            <a:r>
              <a:rPr sz="2000" spc="15" dirty="0">
                <a:latin typeface="Trebuchet MS"/>
                <a:cs typeface="Trebuchet MS"/>
              </a:rPr>
              <a:t>of </a:t>
            </a:r>
            <a:r>
              <a:rPr sz="2000" spc="30" dirty="0">
                <a:latin typeface="Trebuchet MS"/>
                <a:cs typeface="Trebuchet MS"/>
              </a:rPr>
              <a:t>regions </a:t>
            </a:r>
            <a:r>
              <a:rPr sz="2000" spc="-30" dirty="0">
                <a:latin typeface="Trebuchet MS"/>
                <a:cs typeface="Trebuchet MS"/>
              </a:rPr>
              <a:t>after </a:t>
            </a:r>
            <a:r>
              <a:rPr sz="2000" spc="-10" dirty="0">
                <a:latin typeface="Trebuchet MS"/>
                <a:cs typeface="Trebuchet MS"/>
              </a:rPr>
              <a:t>they </a:t>
            </a:r>
            <a:r>
              <a:rPr sz="2000" spc="-5" dirty="0">
                <a:latin typeface="Trebuchet MS"/>
                <a:cs typeface="Trebuchet MS"/>
              </a:rPr>
              <a:t>are </a:t>
            </a:r>
            <a:r>
              <a:rPr sz="2000" spc="-20" dirty="0">
                <a:latin typeface="Trebuchet MS"/>
                <a:cs typeface="Trebuchet MS"/>
              </a:rPr>
              <a:t>split </a:t>
            </a:r>
            <a:r>
              <a:rPr sz="2000" spc="20" dirty="0">
                <a:latin typeface="Trebuchet MS"/>
                <a:cs typeface="Trebuchet MS"/>
              </a:rPr>
              <a:t>or </a:t>
            </a:r>
            <a:r>
              <a:rPr sz="2000" spc="-10" dirty="0">
                <a:latin typeface="Trebuchet MS"/>
                <a:cs typeface="Trebuchet MS"/>
              </a:rPr>
              <a:t>merged.  </a:t>
            </a:r>
            <a:r>
              <a:rPr sz="2000" spc="55" dirty="0">
                <a:latin typeface="Trebuchet MS"/>
                <a:cs typeface="Trebuchet MS"/>
              </a:rPr>
              <a:t>Migrates </a:t>
            </a:r>
            <a:r>
              <a:rPr sz="2000" spc="-10" dirty="0">
                <a:latin typeface="Trebuchet MS"/>
                <a:cs typeface="Trebuchet MS"/>
              </a:rPr>
              <a:t>the </a:t>
            </a:r>
            <a:r>
              <a:rPr sz="2000" spc="30" dirty="0">
                <a:latin typeface="Trebuchet MS"/>
                <a:cs typeface="Trebuchet MS"/>
              </a:rPr>
              <a:t>regions </a:t>
            </a:r>
            <a:r>
              <a:rPr sz="2000" spc="75" dirty="0">
                <a:latin typeface="Trebuchet MS"/>
                <a:cs typeface="Trebuchet MS"/>
              </a:rPr>
              <a:t>on </a:t>
            </a:r>
            <a:r>
              <a:rPr sz="2000" spc="-10" dirty="0">
                <a:latin typeface="Trebuchet MS"/>
                <a:cs typeface="Trebuchet MS"/>
              </a:rPr>
              <a:t>the </a:t>
            </a:r>
            <a:r>
              <a:rPr sz="2000" spc="-5" dirty="0">
                <a:latin typeface="Trebuchet MS"/>
                <a:cs typeface="Trebuchet MS"/>
              </a:rPr>
              <a:t>faulty</a:t>
            </a:r>
            <a:r>
              <a:rPr sz="2000" spc="-114" dirty="0">
                <a:latin typeface="Trebuchet MS"/>
                <a:cs typeface="Trebuchet MS"/>
              </a:rPr>
              <a:t> </a:t>
            </a:r>
            <a:r>
              <a:rPr sz="2000" spc="10" dirty="0">
                <a:latin typeface="Trebuchet MS"/>
                <a:cs typeface="Trebuchet MS"/>
              </a:rPr>
              <a:t>HRegionServers.</a:t>
            </a:r>
            <a:endParaRPr sz="2000" dirty="0">
              <a:latin typeface="Trebuchet MS"/>
              <a:cs typeface="Trebuchet MS"/>
            </a:endParaRPr>
          </a:p>
        </p:txBody>
      </p:sp>
      <p:sp>
        <p:nvSpPr>
          <p:cNvPr id="9" name="object 9"/>
          <p:cNvSpPr txBox="1"/>
          <p:nvPr/>
        </p:nvSpPr>
        <p:spPr>
          <a:xfrm>
            <a:off x="1157495" y="3461700"/>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10" name="object 10"/>
          <p:cNvSpPr txBox="1"/>
          <p:nvPr/>
        </p:nvSpPr>
        <p:spPr>
          <a:xfrm>
            <a:off x="1157495" y="3976813"/>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58902"/>
            <a:ext cx="3091815" cy="574040"/>
          </a:xfrm>
          <a:prstGeom prst="rect">
            <a:avLst/>
          </a:prstGeom>
        </p:spPr>
        <p:txBody>
          <a:bodyPr vert="horz" wrap="square" lIns="0" tIns="12700" rIns="0" bIns="0" rtlCol="0">
            <a:spAutoFit/>
          </a:bodyPr>
          <a:lstStyle/>
          <a:p>
            <a:pPr marL="12700">
              <a:lnSpc>
                <a:spcPct val="100000"/>
              </a:lnSpc>
              <a:spcBef>
                <a:spcPts val="100"/>
              </a:spcBef>
            </a:pPr>
            <a:r>
              <a:rPr sz="3600" spc="55" dirty="0">
                <a:solidFill>
                  <a:srgbClr val="000000"/>
                </a:solidFill>
              </a:rPr>
              <a:t>HRegionServer</a:t>
            </a:r>
            <a:endParaRPr sz="3600"/>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26	</a:t>
            </a:r>
            <a:r>
              <a:rPr spc="30" dirty="0"/>
              <a:t>Huawei</a:t>
            </a:r>
            <a:r>
              <a:rPr spc="-10" dirty="0"/>
              <a:t> </a:t>
            </a:r>
            <a:r>
              <a:rPr spc="5" dirty="0"/>
              <a:t>Confidential</a:t>
            </a:r>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101039" y="1076604"/>
            <a:ext cx="10290810" cy="964565"/>
          </a:xfrm>
          <a:prstGeom prst="rect">
            <a:avLst/>
          </a:prstGeom>
        </p:spPr>
        <p:txBody>
          <a:bodyPr vert="horz" wrap="square" lIns="0" tIns="12700" rIns="0" bIns="0" rtlCol="0">
            <a:spAutoFit/>
          </a:bodyPr>
          <a:lstStyle/>
          <a:p>
            <a:pPr marL="12700" marR="5080">
              <a:lnSpc>
                <a:spcPct val="140000"/>
              </a:lnSpc>
              <a:spcBef>
                <a:spcPts val="100"/>
              </a:spcBef>
              <a:tabLst>
                <a:tab pos="2051685" algn="l"/>
                <a:tab pos="2403475" algn="l"/>
                <a:tab pos="2981325" algn="l"/>
                <a:tab pos="3685540" algn="l"/>
                <a:tab pos="4808855" algn="l"/>
                <a:tab pos="5231130" algn="l"/>
                <a:tab pos="6258560" algn="l"/>
                <a:tab pos="6604634" algn="l"/>
                <a:tab pos="7709534" algn="l"/>
                <a:tab pos="8287384" algn="l"/>
                <a:tab pos="9637395" algn="l"/>
              </a:tabLst>
            </a:pPr>
            <a:r>
              <a:rPr sz="2200" spc="75" dirty="0">
                <a:latin typeface="Trebuchet MS"/>
                <a:cs typeface="Trebuchet MS"/>
              </a:rPr>
              <a:t>HR</a:t>
            </a:r>
            <a:r>
              <a:rPr sz="2200" spc="70" dirty="0">
                <a:latin typeface="Trebuchet MS"/>
                <a:cs typeface="Trebuchet MS"/>
              </a:rPr>
              <a:t>e</a:t>
            </a:r>
            <a:r>
              <a:rPr sz="2200" spc="45" dirty="0">
                <a:latin typeface="Trebuchet MS"/>
                <a:cs typeface="Trebuchet MS"/>
              </a:rPr>
              <a:t>gionS</a:t>
            </a:r>
            <a:r>
              <a:rPr sz="2200" spc="65" dirty="0">
                <a:latin typeface="Trebuchet MS"/>
                <a:cs typeface="Trebuchet MS"/>
              </a:rPr>
              <a:t>e</a:t>
            </a:r>
            <a:r>
              <a:rPr sz="2200" spc="-25" dirty="0">
                <a:latin typeface="Trebuchet MS"/>
                <a:cs typeface="Trebuchet MS"/>
              </a:rPr>
              <a:t>rv</a:t>
            </a:r>
            <a:r>
              <a:rPr sz="2200" spc="-20" dirty="0">
                <a:latin typeface="Trebuchet MS"/>
                <a:cs typeface="Trebuchet MS"/>
              </a:rPr>
              <a:t>e</a:t>
            </a:r>
            <a:r>
              <a:rPr sz="2200" spc="-35" dirty="0">
                <a:latin typeface="Trebuchet MS"/>
                <a:cs typeface="Trebuchet MS"/>
              </a:rPr>
              <a:t>r</a:t>
            </a:r>
            <a:r>
              <a:rPr sz="2200" dirty="0">
                <a:latin typeface="Trebuchet MS"/>
                <a:cs typeface="Trebuchet MS"/>
              </a:rPr>
              <a:t>	</a:t>
            </a:r>
            <a:r>
              <a:rPr sz="2200" spc="-15" dirty="0">
                <a:latin typeface="Trebuchet MS"/>
                <a:cs typeface="Trebuchet MS"/>
              </a:rPr>
              <a:t>is</a:t>
            </a:r>
            <a:r>
              <a:rPr sz="2200" dirty="0">
                <a:latin typeface="Trebuchet MS"/>
                <a:cs typeface="Trebuchet MS"/>
              </a:rPr>
              <a:t>	</a:t>
            </a:r>
            <a:r>
              <a:rPr sz="2200" spc="-20" dirty="0">
                <a:latin typeface="Trebuchet MS"/>
                <a:cs typeface="Trebuchet MS"/>
              </a:rPr>
              <a:t>th</a:t>
            </a:r>
            <a:r>
              <a:rPr sz="2200" spc="-15" dirty="0">
                <a:latin typeface="Trebuchet MS"/>
                <a:cs typeface="Trebuchet MS"/>
              </a:rPr>
              <a:t>e</a:t>
            </a:r>
            <a:r>
              <a:rPr sz="2200" dirty="0">
                <a:latin typeface="Trebuchet MS"/>
                <a:cs typeface="Trebuchet MS"/>
              </a:rPr>
              <a:t>	</a:t>
            </a:r>
            <a:r>
              <a:rPr sz="2200" spc="-20" dirty="0">
                <a:latin typeface="Trebuchet MS"/>
                <a:cs typeface="Trebuchet MS"/>
              </a:rPr>
              <a:t>core</a:t>
            </a:r>
            <a:r>
              <a:rPr sz="2200" dirty="0">
                <a:latin typeface="Trebuchet MS"/>
                <a:cs typeface="Trebuchet MS"/>
              </a:rPr>
              <a:t>	</a:t>
            </a:r>
            <a:r>
              <a:rPr sz="2200" spc="140" dirty="0">
                <a:latin typeface="Trebuchet MS"/>
                <a:cs typeface="Trebuchet MS"/>
              </a:rPr>
              <a:t>m</a:t>
            </a:r>
            <a:r>
              <a:rPr sz="2200" spc="80" dirty="0">
                <a:latin typeface="Trebuchet MS"/>
                <a:cs typeface="Trebuchet MS"/>
              </a:rPr>
              <a:t>o</a:t>
            </a:r>
            <a:r>
              <a:rPr sz="2200" spc="25" dirty="0">
                <a:latin typeface="Trebuchet MS"/>
                <a:cs typeface="Trebuchet MS"/>
              </a:rPr>
              <a:t>du</a:t>
            </a:r>
            <a:r>
              <a:rPr sz="2200" spc="20" dirty="0">
                <a:latin typeface="Trebuchet MS"/>
                <a:cs typeface="Trebuchet MS"/>
              </a:rPr>
              <a:t>l</a:t>
            </a:r>
            <a:r>
              <a:rPr sz="2200" spc="-45" dirty="0">
                <a:latin typeface="Trebuchet MS"/>
                <a:cs typeface="Trebuchet MS"/>
              </a:rPr>
              <a:t>e</a:t>
            </a:r>
            <a:r>
              <a:rPr sz="2200" dirty="0">
                <a:latin typeface="Trebuchet MS"/>
                <a:cs typeface="Trebuchet MS"/>
              </a:rPr>
              <a:t>	</a:t>
            </a:r>
            <a:r>
              <a:rPr sz="2200" spc="10" dirty="0">
                <a:latin typeface="Trebuchet MS"/>
                <a:cs typeface="Trebuchet MS"/>
              </a:rPr>
              <a:t>o</a:t>
            </a:r>
            <a:r>
              <a:rPr sz="2200" spc="15" dirty="0">
                <a:latin typeface="Trebuchet MS"/>
                <a:cs typeface="Trebuchet MS"/>
              </a:rPr>
              <a:t>f</a:t>
            </a:r>
            <a:r>
              <a:rPr sz="2200" dirty="0">
                <a:latin typeface="Trebuchet MS"/>
                <a:cs typeface="Trebuchet MS"/>
              </a:rPr>
              <a:t>	</a:t>
            </a:r>
            <a:r>
              <a:rPr sz="2200" spc="225" dirty="0">
                <a:latin typeface="Trebuchet MS"/>
                <a:cs typeface="Trebuchet MS"/>
              </a:rPr>
              <a:t>H</a:t>
            </a:r>
            <a:r>
              <a:rPr sz="2200" spc="55" dirty="0">
                <a:latin typeface="Trebuchet MS"/>
                <a:cs typeface="Trebuchet MS"/>
              </a:rPr>
              <a:t>Ba</a:t>
            </a:r>
            <a:r>
              <a:rPr sz="2200" spc="35" dirty="0">
                <a:latin typeface="Trebuchet MS"/>
                <a:cs typeface="Trebuchet MS"/>
              </a:rPr>
              <a:t>s</a:t>
            </a:r>
            <a:r>
              <a:rPr sz="2200" spc="-25" dirty="0">
                <a:latin typeface="Trebuchet MS"/>
                <a:cs typeface="Trebuchet MS"/>
              </a:rPr>
              <a:t>e</a:t>
            </a:r>
            <a:r>
              <a:rPr sz="2200" spc="-305" dirty="0">
                <a:latin typeface="Trebuchet MS"/>
                <a:cs typeface="Trebuchet MS"/>
              </a:rPr>
              <a:t>.</a:t>
            </a:r>
            <a:r>
              <a:rPr sz="2200" dirty="0">
                <a:latin typeface="Trebuchet MS"/>
                <a:cs typeface="Trebuchet MS"/>
              </a:rPr>
              <a:t>	</a:t>
            </a:r>
            <a:r>
              <a:rPr sz="2200" spc="-20" dirty="0">
                <a:latin typeface="Trebuchet MS"/>
                <a:cs typeface="Trebuchet MS"/>
              </a:rPr>
              <a:t>I</a:t>
            </a:r>
            <a:r>
              <a:rPr sz="2200" spc="-40" dirty="0">
                <a:latin typeface="Trebuchet MS"/>
                <a:cs typeface="Trebuchet MS"/>
              </a:rPr>
              <a:t>t</a:t>
            </a:r>
            <a:r>
              <a:rPr sz="2200" dirty="0">
                <a:latin typeface="Trebuchet MS"/>
                <a:cs typeface="Trebuchet MS"/>
              </a:rPr>
              <a:t>	provide	</a:t>
            </a:r>
            <a:r>
              <a:rPr sz="2200" spc="-75" dirty="0">
                <a:latin typeface="Trebuchet MS"/>
                <a:cs typeface="Trebuchet MS"/>
              </a:rPr>
              <a:t>t</a:t>
            </a:r>
            <a:r>
              <a:rPr sz="2200" spc="15" dirty="0">
                <a:latin typeface="Trebuchet MS"/>
                <a:cs typeface="Trebuchet MS"/>
              </a:rPr>
              <a:t>h</a:t>
            </a:r>
            <a:r>
              <a:rPr sz="2200" spc="20" dirty="0">
                <a:latin typeface="Trebuchet MS"/>
                <a:cs typeface="Trebuchet MS"/>
              </a:rPr>
              <a:t>e</a:t>
            </a:r>
            <a:r>
              <a:rPr sz="2200" dirty="0">
                <a:latin typeface="Trebuchet MS"/>
                <a:cs typeface="Trebuchet MS"/>
              </a:rPr>
              <a:t>	</a:t>
            </a:r>
            <a:r>
              <a:rPr sz="2200" spc="-10" dirty="0">
                <a:latin typeface="Trebuchet MS"/>
                <a:cs typeface="Trebuchet MS"/>
              </a:rPr>
              <a:t>fo</a:t>
            </a:r>
            <a:r>
              <a:rPr sz="2200" spc="-15" dirty="0">
                <a:latin typeface="Trebuchet MS"/>
                <a:cs typeface="Trebuchet MS"/>
              </a:rPr>
              <a:t>l</a:t>
            </a:r>
            <a:r>
              <a:rPr sz="2200" spc="10" dirty="0">
                <a:latin typeface="Trebuchet MS"/>
                <a:cs typeface="Trebuchet MS"/>
              </a:rPr>
              <a:t>lo</a:t>
            </a:r>
            <a:r>
              <a:rPr sz="2200" spc="95" dirty="0">
                <a:latin typeface="Trebuchet MS"/>
                <a:cs typeface="Trebuchet MS"/>
              </a:rPr>
              <a:t>w</a:t>
            </a:r>
            <a:r>
              <a:rPr sz="2200" spc="55" dirty="0">
                <a:latin typeface="Trebuchet MS"/>
                <a:cs typeface="Trebuchet MS"/>
              </a:rPr>
              <a:t>ing</a:t>
            </a:r>
            <a:r>
              <a:rPr sz="2200" dirty="0">
                <a:latin typeface="Trebuchet MS"/>
                <a:cs typeface="Trebuchet MS"/>
              </a:rPr>
              <a:t>	</a:t>
            </a:r>
            <a:r>
              <a:rPr sz="2200" spc="125" dirty="0">
                <a:latin typeface="Trebuchet MS"/>
                <a:cs typeface="Trebuchet MS"/>
              </a:rPr>
              <a:t>m</a:t>
            </a:r>
            <a:r>
              <a:rPr sz="2200" spc="70" dirty="0">
                <a:latin typeface="Trebuchet MS"/>
                <a:cs typeface="Trebuchet MS"/>
              </a:rPr>
              <a:t>a</a:t>
            </a:r>
            <a:r>
              <a:rPr sz="2200" spc="5" dirty="0">
                <a:latin typeface="Trebuchet MS"/>
                <a:cs typeface="Trebuchet MS"/>
              </a:rPr>
              <a:t>in  </a:t>
            </a:r>
            <a:r>
              <a:rPr sz="2200" spc="-25" dirty="0">
                <a:latin typeface="Trebuchet MS"/>
                <a:cs typeface="Trebuchet MS"/>
              </a:rPr>
              <a:t>functions:</a:t>
            </a:r>
            <a:endParaRPr sz="2200">
              <a:latin typeface="Trebuchet MS"/>
              <a:cs typeface="Trebuchet MS"/>
            </a:endParaRPr>
          </a:p>
        </p:txBody>
      </p:sp>
      <p:sp>
        <p:nvSpPr>
          <p:cNvPr id="5" name="object 5"/>
          <p:cNvSpPr txBox="1"/>
          <p:nvPr/>
        </p:nvSpPr>
        <p:spPr>
          <a:xfrm>
            <a:off x="1203147" y="2298318"/>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6" name="object 6"/>
          <p:cNvSpPr txBox="1"/>
          <p:nvPr/>
        </p:nvSpPr>
        <p:spPr>
          <a:xfrm>
            <a:off x="1454911" y="2226691"/>
            <a:ext cx="9936938" cy="847027"/>
          </a:xfrm>
          <a:prstGeom prst="rect">
            <a:avLst/>
          </a:prstGeom>
        </p:spPr>
        <p:txBody>
          <a:bodyPr vert="horz" wrap="square" lIns="0" tIns="13335" rIns="0" bIns="0" rtlCol="0">
            <a:spAutoFit/>
          </a:bodyPr>
          <a:lstStyle/>
          <a:p>
            <a:pPr marL="12700">
              <a:lnSpc>
                <a:spcPct val="100000"/>
              </a:lnSpc>
              <a:spcBef>
                <a:spcPts val="105"/>
              </a:spcBef>
            </a:pPr>
            <a:r>
              <a:rPr sz="2000" spc="55" dirty="0">
                <a:latin typeface="Trebuchet MS"/>
                <a:cs typeface="Trebuchet MS"/>
              </a:rPr>
              <a:t>Maintains </a:t>
            </a:r>
            <a:r>
              <a:rPr sz="2000" spc="-10" dirty="0">
                <a:latin typeface="Trebuchet MS"/>
                <a:cs typeface="Trebuchet MS"/>
              </a:rPr>
              <a:t>the </a:t>
            </a:r>
            <a:r>
              <a:rPr sz="2000" spc="30" dirty="0">
                <a:latin typeface="Trebuchet MS"/>
                <a:cs typeface="Trebuchet MS"/>
              </a:rPr>
              <a:t>regions</a:t>
            </a:r>
            <a:r>
              <a:rPr sz="2000" spc="-70" dirty="0">
                <a:latin typeface="Trebuchet MS"/>
                <a:cs typeface="Trebuchet MS"/>
              </a:rPr>
              <a:t> </a:t>
            </a:r>
            <a:r>
              <a:rPr sz="2000" spc="-35" dirty="0">
                <a:latin typeface="Trebuchet MS"/>
                <a:cs typeface="Trebuchet MS"/>
              </a:rPr>
              <a:t>allocated.</a:t>
            </a:r>
            <a:endParaRPr sz="2000" dirty="0">
              <a:latin typeface="Trebuchet MS"/>
              <a:cs typeface="Trebuchet MS"/>
            </a:endParaRPr>
          </a:p>
          <a:p>
            <a:pPr marL="12700">
              <a:lnSpc>
                <a:spcPct val="100000"/>
              </a:lnSpc>
              <a:spcBef>
                <a:spcPts val="1655"/>
              </a:spcBef>
            </a:pPr>
            <a:r>
              <a:rPr sz="2000" spc="35" dirty="0">
                <a:latin typeface="Trebuchet MS"/>
                <a:cs typeface="Trebuchet MS"/>
              </a:rPr>
              <a:t>Responds </a:t>
            </a:r>
            <a:r>
              <a:rPr sz="2000" spc="5" dirty="0">
                <a:latin typeface="Trebuchet MS"/>
                <a:cs typeface="Trebuchet MS"/>
              </a:rPr>
              <a:t>to </a:t>
            </a:r>
            <a:r>
              <a:rPr sz="2000" spc="35" dirty="0">
                <a:latin typeface="Trebuchet MS"/>
                <a:cs typeface="Trebuchet MS"/>
              </a:rPr>
              <a:t>users' </a:t>
            </a:r>
            <a:r>
              <a:rPr sz="2000" spc="5" dirty="0">
                <a:latin typeface="Trebuchet MS"/>
                <a:cs typeface="Trebuchet MS"/>
              </a:rPr>
              <a:t>read </a:t>
            </a:r>
            <a:r>
              <a:rPr sz="2000" spc="50" dirty="0">
                <a:latin typeface="Trebuchet MS"/>
                <a:cs typeface="Trebuchet MS"/>
              </a:rPr>
              <a:t>and </a:t>
            </a:r>
            <a:r>
              <a:rPr sz="2000" spc="-25" dirty="0">
                <a:latin typeface="Trebuchet MS"/>
                <a:cs typeface="Trebuchet MS"/>
              </a:rPr>
              <a:t>write</a:t>
            </a:r>
            <a:r>
              <a:rPr sz="2000" spc="-80" dirty="0">
                <a:latin typeface="Trebuchet MS"/>
                <a:cs typeface="Trebuchet MS"/>
              </a:rPr>
              <a:t> </a:t>
            </a:r>
            <a:r>
              <a:rPr sz="2000" spc="-30" dirty="0">
                <a:latin typeface="Trebuchet MS"/>
                <a:cs typeface="Trebuchet MS"/>
              </a:rPr>
              <a:t>requests</a:t>
            </a:r>
            <a:r>
              <a:rPr sz="2000" spc="-30" dirty="0" smtClean="0">
                <a:latin typeface="Trebuchet MS"/>
                <a:cs typeface="Trebuchet MS"/>
              </a:rPr>
              <a:t>.</a:t>
            </a:r>
            <a:endParaRPr lang="en-US" sz="2000" spc="-30" dirty="0" smtClean="0">
              <a:latin typeface="Trebuchet MS"/>
              <a:cs typeface="Trebuchet MS"/>
            </a:endParaRPr>
          </a:p>
        </p:txBody>
      </p:sp>
      <p:sp>
        <p:nvSpPr>
          <p:cNvPr id="7" name="object 7"/>
          <p:cNvSpPr txBox="1"/>
          <p:nvPr/>
        </p:nvSpPr>
        <p:spPr>
          <a:xfrm>
            <a:off x="1203147" y="2813430"/>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57828" y="226750"/>
            <a:ext cx="11716458" cy="6631249"/>
            <a:chOff x="376427" y="679704"/>
            <a:chExt cx="6106160" cy="3442335"/>
          </a:xfrm>
        </p:grpSpPr>
        <p:sp>
          <p:nvSpPr>
            <p:cNvPr id="3" name="object 3"/>
            <p:cNvSpPr/>
            <p:nvPr/>
          </p:nvSpPr>
          <p:spPr>
            <a:xfrm>
              <a:off x="602470" y="832680"/>
              <a:ext cx="5745306" cy="3227563"/>
            </a:xfrm>
            <a:prstGeom prst="rect">
              <a:avLst/>
            </a:prstGeom>
            <a:blipFill>
              <a:blip r:embed="rId2" cstate="print"/>
              <a:stretch>
                <a:fillRect/>
              </a:stretch>
            </a:blipFill>
          </p:spPr>
          <p:txBody>
            <a:bodyPr wrap="square" lIns="0" tIns="0" rIns="0" bIns="0" rtlCol="0"/>
            <a:lstStyle/>
            <a:p>
              <a:endParaRPr sz="1350"/>
            </a:p>
          </p:txBody>
        </p:sp>
        <p:sp>
          <p:nvSpPr>
            <p:cNvPr id="4" name="object 4"/>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Tree>
    <p:extLst>
      <p:ext uri="{BB962C8B-B14F-4D97-AF65-F5344CB8AC3E}">
        <p14:creationId xmlns:p14="http://schemas.microsoft.com/office/powerpoint/2010/main" val="130606181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235453" y="270292"/>
            <a:ext cx="11695289" cy="6435308"/>
            <a:chOff x="376427" y="679704"/>
            <a:chExt cx="6106160" cy="3442335"/>
          </a:xfrm>
        </p:grpSpPr>
        <p:sp>
          <p:nvSpPr>
            <p:cNvPr id="4" name="object 4"/>
            <p:cNvSpPr/>
            <p:nvPr/>
          </p:nvSpPr>
          <p:spPr>
            <a:xfrm>
              <a:off x="611619" y="841836"/>
              <a:ext cx="5731583" cy="3209251"/>
            </a:xfrm>
            <a:prstGeom prst="rect">
              <a:avLst/>
            </a:prstGeom>
            <a:blipFill>
              <a:blip r:embed="rId2" cstate="print"/>
              <a:stretch>
                <a:fillRect/>
              </a:stretch>
            </a:blipFill>
          </p:spPr>
          <p:txBody>
            <a:bodyPr wrap="square" lIns="0" tIns="0" rIns="0" bIns="0" rtlCol="0"/>
            <a:lstStyle/>
            <a:p>
              <a:endParaRPr sz="1350"/>
            </a:p>
          </p:txBody>
        </p:sp>
        <p:sp>
          <p:nvSpPr>
            <p:cNvPr id="5" name="object 5"/>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Tree>
    <p:extLst>
      <p:ext uri="{BB962C8B-B14F-4D97-AF65-F5344CB8AC3E}">
        <p14:creationId xmlns:p14="http://schemas.microsoft.com/office/powerpoint/2010/main" val="138281921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70741" y="204979"/>
            <a:ext cx="11694688" cy="6500621"/>
            <a:chOff x="376427" y="679704"/>
            <a:chExt cx="6106160" cy="3442335"/>
          </a:xfrm>
        </p:grpSpPr>
        <p:sp>
          <p:nvSpPr>
            <p:cNvPr id="3" name="object 3"/>
            <p:cNvSpPr/>
            <p:nvPr/>
          </p:nvSpPr>
          <p:spPr>
            <a:xfrm>
              <a:off x="602470" y="832680"/>
              <a:ext cx="5745306" cy="3227563"/>
            </a:xfrm>
            <a:prstGeom prst="rect">
              <a:avLst/>
            </a:prstGeom>
            <a:blipFill>
              <a:blip r:embed="rId2" cstate="print"/>
              <a:stretch>
                <a:fillRect/>
              </a:stretch>
            </a:blipFill>
          </p:spPr>
          <p:txBody>
            <a:bodyPr wrap="square" lIns="0" tIns="0" rIns="0" bIns="0" rtlCol="0"/>
            <a:lstStyle/>
            <a:p>
              <a:endParaRPr sz="1350"/>
            </a:p>
          </p:txBody>
        </p:sp>
        <p:sp>
          <p:nvSpPr>
            <p:cNvPr id="4" name="object 4"/>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
        <p:nvSpPr>
          <p:cNvPr id="5" name="object 2"/>
          <p:cNvSpPr txBox="1"/>
          <p:nvPr/>
        </p:nvSpPr>
        <p:spPr>
          <a:xfrm>
            <a:off x="914400" y="5562600"/>
            <a:ext cx="11521117" cy="316914"/>
          </a:xfrm>
          <a:prstGeom prst="rect">
            <a:avLst/>
          </a:prstGeom>
        </p:spPr>
        <p:txBody>
          <a:bodyPr vert="horz" wrap="square" lIns="0" tIns="9049" rIns="0" bIns="0" rtlCol="0">
            <a:spAutoFit/>
          </a:bodyPr>
          <a:lstStyle/>
          <a:p>
            <a:pPr marL="138113" marR="3810" indent="-128588">
              <a:spcBef>
                <a:spcPts val="71"/>
              </a:spcBef>
              <a:buFont typeface="Wingdings"/>
              <a:buChar char=""/>
              <a:tabLst>
                <a:tab pos="138113" algn="l"/>
              </a:tabLst>
            </a:pPr>
            <a:r>
              <a:rPr lang="en-US" sz="2000" spc="-11" dirty="0">
                <a:latin typeface="UKIJ CJK"/>
                <a:cs typeface="UKIJ CJK"/>
              </a:rPr>
              <a:t>First region (region-1) has the start key row001, while (region-2) has the start key row011</a:t>
            </a:r>
            <a:endParaRPr sz="2000" dirty="0">
              <a:latin typeface="UKIJ CJK"/>
              <a:cs typeface="UKIJ CJK"/>
            </a:endParaRPr>
          </a:p>
        </p:txBody>
      </p:sp>
    </p:spTree>
    <p:extLst>
      <p:ext uri="{BB962C8B-B14F-4D97-AF65-F5344CB8AC3E}">
        <p14:creationId xmlns:p14="http://schemas.microsoft.com/office/powerpoint/2010/main" val="62462617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7110" y="5912709"/>
            <a:ext cx="11387664" cy="945291"/>
          </a:xfrm>
          <a:prstGeom prst="rect">
            <a:avLst/>
          </a:prstGeom>
        </p:spPr>
        <p:txBody>
          <a:bodyPr vert="horz" wrap="square" lIns="0" tIns="9049" rIns="0" bIns="0" rtlCol="0">
            <a:spAutoFit/>
          </a:bodyPr>
          <a:lstStyle/>
          <a:p>
            <a:pPr marL="138113" indent="-128588">
              <a:spcBef>
                <a:spcPts val="71"/>
              </a:spcBef>
              <a:buFont typeface="Wingdings"/>
              <a:buChar char=""/>
              <a:tabLst>
                <a:tab pos="138113" algn="l"/>
              </a:tabLst>
            </a:pPr>
            <a:r>
              <a:rPr lang="en-US" sz="2000" spc="26" dirty="0">
                <a:latin typeface="UKIJ CJK"/>
                <a:cs typeface="UKIJ CJK"/>
              </a:rPr>
              <a:t>2 types of regions(Mata regions, </a:t>
            </a:r>
            <a:r>
              <a:rPr lang="en-US" sz="2000" spc="26" dirty="0" smtClean="0">
                <a:latin typeface="UKIJ CJK"/>
                <a:cs typeface="UKIJ CJK"/>
              </a:rPr>
              <a:t>User</a:t>
            </a:r>
            <a:r>
              <a:rPr lang="ar-EG" sz="2000" spc="26" dirty="0" smtClean="0">
                <a:latin typeface="UKIJ CJK"/>
                <a:cs typeface="UKIJ CJK"/>
              </a:rPr>
              <a:t> </a:t>
            </a:r>
            <a:r>
              <a:rPr lang="en-US" sz="2000" spc="26" dirty="0" smtClean="0">
                <a:latin typeface="UKIJ CJK"/>
                <a:cs typeface="UKIJ CJK"/>
              </a:rPr>
              <a:t>regions</a:t>
            </a:r>
            <a:r>
              <a:rPr lang="en-US" sz="2000" spc="26" dirty="0">
                <a:latin typeface="UKIJ CJK"/>
                <a:cs typeface="UKIJ CJK"/>
              </a:rPr>
              <a:t>)</a:t>
            </a:r>
          </a:p>
          <a:p>
            <a:pPr marL="138113" indent="-128588">
              <a:spcBef>
                <a:spcPts val="71"/>
              </a:spcBef>
              <a:buFont typeface="Wingdings"/>
              <a:buChar char=""/>
              <a:tabLst>
                <a:tab pos="138113" algn="l"/>
              </a:tabLst>
            </a:pPr>
            <a:r>
              <a:rPr sz="2000" spc="26" dirty="0">
                <a:latin typeface="UKIJ CJK"/>
                <a:cs typeface="UKIJ CJK"/>
              </a:rPr>
              <a:t>The </a:t>
            </a:r>
            <a:r>
              <a:rPr sz="2000" spc="15" dirty="0">
                <a:latin typeface="UKIJ CJK"/>
                <a:cs typeface="UKIJ CJK"/>
              </a:rPr>
              <a:t>address </a:t>
            </a:r>
            <a:r>
              <a:rPr sz="2000" spc="30" dirty="0">
                <a:latin typeface="UKIJ CJK"/>
                <a:cs typeface="UKIJ CJK"/>
              </a:rPr>
              <a:t>of </a:t>
            </a:r>
            <a:r>
              <a:rPr sz="2000" spc="38" dirty="0">
                <a:latin typeface="UKIJ CJK"/>
                <a:cs typeface="UKIJ CJK"/>
              </a:rPr>
              <a:t>Meta Region </a:t>
            </a:r>
            <a:r>
              <a:rPr sz="2000" spc="4" dirty="0">
                <a:latin typeface="UKIJ CJK"/>
                <a:cs typeface="UKIJ CJK"/>
              </a:rPr>
              <a:t>is </a:t>
            </a:r>
            <a:r>
              <a:rPr sz="2000" spc="23" dirty="0" smtClean="0">
                <a:latin typeface="UKIJ CJK"/>
                <a:cs typeface="UKIJ CJK"/>
              </a:rPr>
              <a:t>stored </a:t>
            </a:r>
            <a:r>
              <a:rPr sz="2000" spc="11" dirty="0">
                <a:latin typeface="UKIJ CJK"/>
                <a:cs typeface="UKIJ CJK"/>
              </a:rPr>
              <a:t>in </a:t>
            </a:r>
            <a:r>
              <a:rPr sz="2000" spc="23" dirty="0">
                <a:latin typeface="UKIJ CJK"/>
                <a:cs typeface="UKIJ CJK"/>
              </a:rPr>
              <a:t>the </a:t>
            </a:r>
            <a:r>
              <a:rPr sz="2000" spc="64" dirty="0">
                <a:latin typeface="UKIJ CJK"/>
                <a:cs typeface="UKIJ CJK"/>
              </a:rPr>
              <a:t>-ROOT- </a:t>
            </a:r>
            <a:r>
              <a:rPr sz="2000" spc="23" dirty="0">
                <a:latin typeface="UKIJ CJK"/>
                <a:cs typeface="UKIJ CJK"/>
              </a:rPr>
              <a:t>Table </a:t>
            </a:r>
            <a:r>
              <a:rPr sz="2000" spc="11" dirty="0">
                <a:latin typeface="UKIJ CJK"/>
                <a:cs typeface="UKIJ CJK"/>
              </a:rPr>
              <a:t>in</a:t>
            </a:r>
            <a:r>
              <a:rPr sz="2000" spc="41" dirty="0">
                <a:latin typeface="UKIJ CJK"/>
                <a:cs typeface="UKIJ CJK"/>
              </a:rPr>
              <a:t> </a:t>
            </a:r>
            <a:r>
              <a:rPr sz="2000" spc="26" dirty="0">
                <a:latin typeface="UKIJ CJK"/>
                <a:cs typeface="UKIJ CJK"/>
              </a:rPr>
              <a:t>ZooKeeper.</a:t>
            </a:r>
            <a:endParaRPr sz="2000" dirty="0">
              <a:latin typeface="UKIJ CJK"/>
              <a:cs typeface="UKIJ CJK"/>
            </a:endParaRPr>
          </a:p>
          <a:p>
            <a:pPr marL="138113" indent="-128588">
              <a:buFont typeface="Wingdings"/>
              <a:buChar char=""/>
              <a:tabLst>
                <a:tab pos="138113" algn="l"/>
              </a:tabLst>
            </a:pPr>
            <a:r>
              <a:rPr sz="2000" spc="26" dirty="0">
                <a:latin typeface="UKIJ CJK"/>
                <a:cs typeface="UKIJ CJK"/>
              </a:rPr>
              <a:t>The </a:t>
            </a:r>
            <a:r>
              <a:rPr sz="2000" spc="15" dirty="0">
                <a:latin typeface="UKIJ CJK"/>
                <a:cs typeface="UKIJ CJK"/>
              </a:rPr>
              <a:t>address </a:t>
            </a:r>
            <a:r>
              <a:rPr sz="2000" spc="30" dirty="0">
                <a:latin typeface="UKIJ CJK"/>
                <a:cs typeface="UKIJ CJK"/>
              </a:rPr>
              <a:t>of </a:t>
            </a:r>
            <a:r>
              <a:rPr sz="2000" spc="11" dirty="0">
                <a:latin typeface="UKIJ CJK"/>
                <a:cs typeface="UKIJ CJK"/>
              </a:rPr>
              <a:t>User </a:t>
            </a:r>
            <a:r>
              <a:rPr sz="2000" spc="38" dirty="0">
                <a:latin typeface="UKIJ CJK"/>
                <a:cs typeface="UKIJ CJK"/>
              </a:rPr>
              <a:t>Region </a:t>
            </a:r>
            <a:r>
              <a:rPr sz="2000" spc="4" dirty="0">
                <a:latin typeface="UKIJ CJK"/>
                <a:cs typeface="UKIJ CJK"/>
              </a:rPr>
              <a:t>is </a:t>
            </a:r>
            <a:r>
              <a:rPr sz="2000" spc="23" dirty="0">
                <a:latin typeface="UKIJ CJK"/>
                <a:cs typeface="UKIJ CJK"/>
              </a:rPr>
              <a:t>stored </a:t>
            </a:r>
            <a:r>
              <a:rPr sz="2000" spc="11" dirty="0">
                <a:latin typeface="UKIJ CJK"/>
                <a:cs typeface="UKIJ CJK"/>
              </a:rPr>
              <a:t>in </a:t>
            </a:r>
            <a:r>
              <a:rPr sz="2000" spc="23" dirty="0">
                <a:latin typeface="UKIJ CJK"/>
                <a:cs typeface="UKIJ CJK"/>
              </a:rPr>
              <a:t>the </a:t>
            </a:r>
            <a:r>
              <a:rPr sz="2000" spc="26" dirty="0">
                <a:latin typeface="UKIJ CJK"/>
                <a:cs typeface="UKIJ CJK"/>
              </a:rPr>
              <a:t>.META.</a:t>
            </a:r>
            <a:r>
              <a:rPr sz="2000" spc="109" dirty="0">
                <a:latin typeface="UKIJ CJK"/>
                <a:cs typeface="UKIJ CJK"/>
              </a:rPr>
              <a:t> </a:t>
            </a:r>
            <a:r>
              <a:rPr sz="2000" spc="15" dirty="0">
                <a:latin typeface="UKIJ CJK"/>
                <a:cs typeface="UKIJ CJK"/>
              </a:rPr>
              <a:t>Table.</a:t>
            </a:r>
            <a:endParaRPr sz="2000" dirty="0">
              <a:latin typeface="UKIJ CJK"/>
              <a:cs typeface="UKIJ CJK"/>
            </a:endParaRPr>
          </a:p>
        </p:txBody>
      </p:sp>
      <p:grpSp>
        <p:nvGrpSpPr>
          <p:cNvPr id="3" name="object 3"/>
          <p:cNvGrpSpPr/>
          <p:nvPr/>
        </p:nvGrpSpPr>
        <p:grpSpPr>
          <a:xfrm>
            <a:off x="344913" y="248521"/>
            <a:ext cx="11498744" cy="5564449"/>
            <a:chOff x="376427" y="679704"/>
            <a:chExt cx="6106160" cy="3442335"/>
          </a:xfrm>
        </p:grpSpPr>
        <p:sp>
          <p:nvSpPr>
            <p:cNvPr id="4" name="object 4"/>
            <p:cNvSpPr/>
            <p:nvPr/>
          </p:nvSpPr>
          <p:spPr>
            <a:xfrm>
              <a:off x="611619" y="841836"/>
              <a:ext cx="5731583" cy="3209251"/>
            </a:xfrm>
            <a:prstGeom prst="rect">
              <a:avLst/>
            </a:prstGeom>
            <a:blipFill>
              <a:blip r:embed="rId2" cstate="print"/>
              <a:stretch>
                <a:fillRect/>
              </a:stretch>
            </a:blipFill>
          </p:spPr>
          <p:txBody>
            <a:bodyPr wrap="square" lIns="0" tIns="0" rIns="0" bIns="0" rtlCol="0"/>
            <a:lstStyle/>
            <a:p>
              <a:endParaRPr sz="1350"/>
            </a:p>
          </p:txBody>
        </p:sp>
        <p:sp>
          <p:nvSpPr>
            <p:cNvPr id="5" name="object 5"/>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
        <p:nvSpPr>
          <p:cNvPr id="6" name="Rectangle 5"/>
          <p:cNvSpPr/>
          <p:nvPr/>
        </p:nvSpPr>
        <p:spPr>
          <a:xfrm>
            <a:off x="843667" y="5462250"/>
            <a:ext cx="10737509" cy="2609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67539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6571" y="4976676"/>
            <a:ext cx="11430000" cy="1548020"/>
          </a:xfrm>
          <a:prstGeom prst="rect">
            <a:avLst/>
          </a:prstGeom>
        </p:spPr>
        <p:txBody>
          <a:bodyPr vert="horz" wrap="square" lIns="0" tIns="9049" rIns="0" bIns="0" rtlCol="0">
            <a:spAutoFit/>
          </a:bodyPr>
          <a:lstStyle/>
          <a:p>
            <a:pPr marL="138113" marR="3810" indent="-128588">
              <a:spcBef>
                <a:spcPts val="71"/>
              </a:spcBef>
              <a:buFont typeface="Wingdings"/>
              <a:buChar char=""/>
              <a:tabLst>
                <a:tab pos="138113" algn="l"/>
              </a:tabLst>
            </a:pPr>
            <a:r>
              <a:rPr sz="2000" spc="30" dirty="0">
                <a:latin typeface="UKIJ CJK"/>
                <a:cs typeface="UKIJ CJK"/>
              </a:rPr>
              <a:t>Column </a:t>
            </a:r>
            <a:r>
              <a:rPr sz="2000" spc="11" dirty="0">
                <a:latin typeface="UKIJ CJK"/>
                <a:cs typeface="UKIJ CJK"/>
              </a:rPr>
              <a:t>Family: </a:t>
            </a:r>
            <a:r>
              <a:rPr sz="2000" spc="75" dirty="0">
                <a:latin typeface="UKIJ CJK"/>
                <a:cs typeface="UKIJ CJK"/>
              </a:rPr>
              <a:t>A </a:t>
            </a:r>
            <a:r>
              <a:rPr sz="2000" spc="23" dirty="0">
                <a:latin typeface="UKIJ CJK"/>
                <a:cs typeface="UKIJ CJK"/>
              </a:rPr>
              <a:t>table </a:t>
            </a:r>
            <a:r>
              <a:rPr sz="2000" spc="19" dirty="0">
                <a:latin typeface="UKIJ CJK"/>
                <a:cs typeface="UKIJ CJK"/>
              </a:rPr>
              <a:t>consists </a:t>
            </a:r>
            <a:r>
              <a:rPr sz="2000" spc="30" dirty="0">
                <a:latin typeface="UKIJ CJK"/>
                <a:cs typeface="UKIJ CJK"/>
              </a:rPr>
              <a:t>of one </a:t>
            </a:r>
            <a:r>
              <a:rPr sz="2000" spc="15" dirty="0">
                <a:latin typeface="UKIJ CJK"/>
                <a:cs typeface="UKIJ CJK"/>
              </a:rPr>
              <a:t>or </a:t>
            </a:r>
            <a:r>
              <a:rPr sz="2000" spc="19" dirty="0">
                <a:latin typeface="UKIJ CJK"/>
                <a:cs typeface="UKIJ CJK"/>
              </a:rPr>
              <a:t>multiple </a:t>
            </a:r>
            <a:r>
              <a:rPr sz="2000" spc="30" dirty="0">
                <a:latin typeface="UKIJ CJK"/>
                <a:cs typeface="UKIJ CJK"/>
              </a:rPr>
              <a:t>Column </a:t>
            </a:r>
            <a:r>
              <a:rPr sz="2000" spc="15" dirty="0">
                <a:latin typeface="UKIJ CJK"/>
                <a:cs typeface="UKIJ CJK"/>
              </a:rPr>
              <a:t>Families  horizontally. </a:t>
            </a:r>
            <a:r>
              <a:rPr sz="2000" spc="75" dirty="0">
                <a:latin typeface="UKIJ CJK"/>
                <a:cs typeface="UKIJ CJK"/>
              </a:rPr>
              <a:t>A </a:t>
            </a:r>
            <a:r>
              <a:rPr sz="2000" spc="30" dirty="0">
                <a:latin typeface="UKIJ CJK"/>
                <a:cs typeface="UKIJ CJK"/>
              </a:rPr>
              <a:t>Column </a:t>
            </a:r>
            <a:r>
              <a:rPr sz="2000" spc="19" dirty="0">
                <a:latin typeface="UKIJ CJK"/>
                <a:cs typeface="UKIJ CJK"/>
              </a:rPr>
              <a:t>Family can consist </a:t>
            </a:r>
            <a:r>
              <a:rPr sz="2000" spc="30" dirty="0">
                <a:latin typeface="UKIJ CJK"/>
                <a:cs typeface="UKIJ CJK"/>
              </a:rPr>
              <a:t>of </a:t>
            </a:r>
            <a:r>
              <a:rPr sz="2000" spc="15" dirty="0">
                <a:latin typeface="UKIJ CJK"/>
                <a:cs typeface="UKIJ CJK"/>
              </a:rPr>
              <a:t>columns. </a:t>
            </a:r>
            <a:r>
              <a:rPr sz="2000" spc="75" dirty="0">
                <a:latin typeface="UKIJ CJK"/>
                <a:cs typeface="UKIJ CJK"/>
              </a:rPr>
              <a:t>A </a:t>
            </a:r>
            <a:r>
              <a:rPr sz="2000" spc="26" dirty="0">
                <a:latin typeface="UKIJ CJK"/>
                <a:cs typeface="UKIJ CJK"/>
              </a:rPr>
              <a:t>column </a:t>
            </a:r>
            <a:r>
              <a:rPr sz="2000" spc="4" dirty="0">
                <a:latin typeface="UKIJ CJK"/>
                <a:cs typeface="UKIJ CJK"/>
              </a:rPr>
              <a:t>is </a:t>
            </a:r>
            <a:r>
              <a:rPr sz="2000" spc="15" dirty="0">
                <a:latin typeface="UKIJ CJK"/>
                <a:cs typeface="UKIJ CJK"/>
              </a:rPr>
              <a:t>a label  </a:t>
            </a:r>
            <a:r>
              <a:rPr sz="2000" spc="19" dirty="0">
                <a:latin typeface="UKIJ CJK"/>
                <a:cs typeface="UKIJ CJK"/>
              </a:rPr>
              <a:t>under </a:t>
            </a:r>
            <a:r>
              <a:rPr sz="2000" spc="23" dirty="0">
                <a:latin typeface="UKIJ CJK"/>
                <a:cs typeface="UKIJ CJK"/>
              </a:rPr>
              <a:t>the </a:t>
            </a:r>
            <a:r>
              <a:rPr sz="2000" spc="26" dirty="0">
                <a:latin typeface="UKIJ CJK"/>
                <a:cs typeface="UKIJ CJK"/>
              </a:rPr>
              <a:t>column </a:t>
            </a:r>
            <a:r>
              <a:rPr sz="2000" spc="11" dirty="0">
                <a:latin typeface="UKIJ CJK"/>
                <a:cs typeface="UKIJ CJK"/>
              </a:rPr>
              <a:t>family, </a:t>
            </a:r>
            <a:r>
              <a:rPr sz="2000" spc="23" dirty="0">
                <a:latin typeface="UKIJ CJK"/>
                <a:cs typeface="UKIJ CJK"/>
              </a:rPr>
              <a:t>which </a:t>
            </a:r>
            <a:r>
              <a:rPr sz="2000" spc="19" dirty="0">
                <a:latin typeface="UKIJ CJK"/>
                <a:cs typeface="UKIJ CJK"/>
              </a:rPr>
              <a:t>can </a:t>
            </a:r>
            <a:r>
              <a:rPr sz="2000" spc="34" dirty="0">
                <a:latin typeface="UKIJ CJK"/>
                <a:cs typeface="UKIJ CJK"/>
              </a:rPr>
              <a:t>be added </a:t>
            </a:r>
            <a:r>
              <a:rPr sz="2000" spc="11" dirty="0">
                <a:latin typeface="UKIJ CJK"/>
                <a:cs typeface="UKIJ CJK"/>
              </a:rPr>
              <a:t>as </a:t>
            </a:r>
            <a:r>
              <a:rPr sz="2000" spc="15" dirty="0">
                <a:latin typeface="UKIJ CJK"/>
                <a:cs typeface="UKIJ CJK"/>
              </a:rPr>
              <a:t>required </a:t>
            </a:r>
            <a:r>
              <a:rPr sz="2000" spc="23" dirty="0">
                <a:latin typeface="UKIJ CJK"/>
                <a:cs typeface="UKIJ CJK"/>
              </a:rPr>
              <a:t>when </a:t>
            </a:r>
            <a:r>
              <a:rPr sz="2000" spc="26" dirty="0">
                <a:latin typeface="UKIJ CJK"/>
                <a:cs typeface="UKIJ CJK"/>
              </a:rPr>
              <a:t>data </a:t>
            </a:r>
            <a:r>
              <a:rPr sz="2000" dirty="0">
                <a:latin typeface="UKIJ CJK"/>
                <a:cs typeface="UKIJ CJK"/>
              </a:rPr>
              <a:t>is  </a:t>
            </a:r>
            <a:r>
              <a:rPr sz="2000" spc="11" dirty="0">
                <a:latin typeface="UKIJ CJK"/>
                <a:cs typeface="UKIJ CJK"/>
              </a:rPr>
              <a:t>written. </a:t>
            </a:r>
            <a:r>
              <a:rPr sz="2000" spc="26" dirty="0">
                <a:latin typeface="UKIJ CJK"/>
                <a:cs typeface="UKIJ CJK"/>
              </a:rPr>
              <a:t>The column </a:t>
            </a:r>
            <a:r>
              <a:rPr sz="2000" spc="15" dirty="0">
                <a:latin typeface="UKIJ CJK"/>
                <a:cs typeface="UKIJ CJK"/>
              </a:rPr>
              <a:t>family </a:t>
            </a:r>
            <a:r>
              <a:rPr sz="2000" spc="19" dirty="0">
                <a:latin typeface="UKIJ CJK"/>
                <a:cs typeface="UKIJ CJK"/>
              </a:rPr>
              <a:t>supports </a:t>
            </a:r>
            <a:r>
              <a:rPr sz="2000" spc="26" dirty="0">
                <a:latin typeface="UKIJ CJK"/>
                <a:cs typeface="UKIJ CJK"/>
              </a:rPr>
              <a:t>dynamic </a:t>
            </a:r>
            <a:r>
              <a:rPr sz="2000" spc="19" dirty="0">
                <a:latin typeface="UKIJ CJK"/>
                <a:cs typeface="UKIJ CJK"/>
              </a:rPr>
              <a:t>expansion </a:t>
            </a:r>
            <a:r>
              <a:rPr sz="2000" spc="26" dirty="0">
                <a:latin typeface="UKIJ CJK"/>
                <a:cs typeface="UKIJ CJK"/>
              </a:rPr>
              <a:t>so </a:t>
            </a:r>
            <a:r>
              <a:rPr sz="2000" spc="23" dirty="0">
                <a:latin typeface="UKIJ CJK"/>
                <a:cs typeface="UKIJ CJK"/>
              </a:rPr>
              <a:t>the </a:t>
            </a:r>
            <a:r>
              <a:rPr sz="2000" spc="19" dirty="0">
                <a:latin typeface="UKIJ CJK"/>
                <a:cs typeface="UKIJ CJK"/>
              </a:rPr>
              <a:t>number </a:t>
            </a:r>
            <a:r>
              <a:rPr sz="2000" spc="26" dirty="0">
                <a:latin typeface="UKIJ CJK"/>
                <a:cs typeface="UKIJ CJK"/>
              </a:rPr>
              <a:t>and  </a:t>
            </a:r>
            <a:r>
              <a:rPr sz="2000" spc="30" dirty="0">
                <a:latin typeface="UKIJ CJK"/>
                <a:cs typeface="UKIJ CJK"/>
              </a:rPr>
              <a:t>type of </a:t>
            </a:r>
            <a:r>
              <a:rPr sz="2000" spc="23" dirty="0">
                <a:latin typeface="UKIJ CJK"/>
                <a:cs typeface="UKIJ CJK"/>
              </a:rPr>
              <a:t>columns </a:t>
            </a:r>
            <a:r>
              <a:rPr sz="2000" spc="45" dirty="0">
                <a:latin typeface="UKIJ CJK"/>
                <a:cs typeface="UKIJ CJK"/>
              </a:rPr>
              <a:t>do </a:t>
            </a:r>
            <a:r>
              <a:rPr sz="2000" spc="30" dirty="0">
                <a:latin typeface="UKIJ CJK"/>
                <a:cs typeface="UKIJ CJK"/>
              </a:rPr>
              <a:t>not </a:t>
            </a:r>
            <a:r>
              <a:rPr sz="2000" spc="26" dirty="0">
                <a:latin typeface="UKIJ CJK"/>
                <a:cs typeface="UKIJ CJK"/>
              </a:rPr>
              <a:t>need </a:t>
            </a:r>
            <a:r>
              <a:rPr sz="2000" spc="34" dirty="0">
                <a:latin typeface="UKIJ CJK"/>
                <a:cs typeface="UKIJ CJK"/>
              </a:rPr>
              <a:t>to be </a:t>
            </a:r>
            <a:r>
              <a:rPr sz="2000" spc="19" dirty="0">
                <a:latin typeface="UKIJ CJK"/>
                <a:cs typeface="UKIJ CJK"/>
              </a:rPr>
              <a:t>predefined. </a:t>
            </a:r>
            <a:r>
              <a:rPr sz="2000" spc="26" dirty="0">
                <a:latin typeface="UKIJ CJK"/>
                <a:cs typeface="UKIJ CJK"/>
              </a:rPr>
              <a:t>Columns </a:t>
            </a:r>
            <a:r>
              <a:rPr sz="2000" spc="30" dirty="0">
                <a:latin typeface="UKIJ CJK"/>
                <a:cs typeface="UKIJ CJK"/>
              </a:rPr>
              <a:t>of </a:t>
            </a:r>
            <a:r>
              <a:rPr sz="2000" spc="15" dirty="0">
                <a:latin typeface="UKIJ CJK"/>
                <a:cs typeface="UKIJ CJK"/>
              </a:rPr>
              <a:t>a </a:t>
            </a:r>
            <a:r>
              <a:rPr sz="2000" spc="23" dirty="0">
                <a:latin typeface="UKIJ CJK"/>
                <a:cs typeface="UKIJ CJK"/>
              </a:rPr>
              <a:t>table </a:t>
            </a:r>
            <a:r>
              <a:rPr sz="2000" spc="11" dirty="0">
                <a:latin typeface="UKIJ CJK"/>
                <a:cs typeface="UKIJ CJK"/>
              </a:rPr>
              <a:t>in </a:t>
            </a:r>
            <a:r>
              <a:rPr sz="2000" spc="19" dirty="0" err="1">
                <a:latin typeface="UKIJ CJK"/>
                <a:cs typeface="UKIJ CJK"/>
              </a:rPr>
              <a:t>HBase</a:t>
            </a:r>
            <a:r>
              <a:rPr sz="2000" spc="19" dirty="0">
                <a:latin typeface="UKIJ CJK"/>
                <a:cs typeface="UKIJ CJK"/>
              </a:rPr>
              <a:t>  </a:t>
            </a:r>
            <a:r>
              <a:rPr sz="2000" spc="8" dirty="0">
                <a:latin typeface="UKIJ CJK"/>
                <a:cs typeface="UKIJ CJK"/>
              </a:rPr>
              <a:t>are </a:t>
            </a:r>
            <a:r>
              <a:rPr sz="2000" spc="15" dirty="0">
                <a:latin typeface="UKIJ CJK"/>
                <a:cs typeface="UKIJ CJK"/>
              </a:rPr>
              <a:t>sparsely distributed. </a:t>
            </a:r>
            <a:r>
              <a:rPr sz="2000" spc="26" dirty="0">
                <a:latin typeface="UKIJ CJK"/>
                <a:cs typeface="UKIJ CJK"/>
              </a:rPr>
              <a:t>The </a:t>
            </a:r>
            <a:r>
              <a:rPr sz="2000" spc="19" dirty="0">
                <a:latin typeface="UKIJ CJK"/>
                <a:cs typeface="UKIJ CJK"/>
              </a:rPr>
              <a:t>number </a:t>
            </a:r>
            <a:r>
              <a:rPr sz="2000" spc="26" dirty="0">
                <a:latin typeface="UKIJ CJK"/>
                <a:cs typeface="UKIJ CJK"/>
              </a:rPr>
              <a:t>and </a:t>
            </a:r>
            <a:r>
              <a:rPr sz="2000" spc="30" dirty="0">
                <a:latin typeface="UKIJ CJK"/>
                <a:cs typeface="UKIJ CJK"/>
              </a:rPr>
              <a:t>type of </a:t>
            </a:r>
            <a:r>
              <a:rPr sz="2000" spc="23" dirty="0">
                <a:latin typeface="UKIJ CJK"/>
                <a:cs typeface="UKIJ CJK"/>
              </a:rPr>
              <a:t>columns </a:t>
            </a:r>
            <a:r>
              <a:rPr sz="2000" spc="11" dirty="0">
                <a:latin typeface="UKIJ CJK"/>
                <a:cs typeface="UKIJ CJK"/>
              </a:rPr>
              <a:t>in </a:t>
            </a:r>
            <a:r>
              <a:rPr sz="2000" spc="15" dirty="0">
                <a:latin typeface="UKIJ CJK"/>
                <a:cs typeface="UKIJ CJK"/>
              </a:rPr>
              <a:t>different rows  </a:t>
            </a:r>
            <a:r>
              <a:rPr sz="2000" spc="19" dirty="0">
                <a:latin typeface="UKIJ CJK"/>
                <a:cs typeface="UKIJ CJK"/>
              </a:rPr>
              <a:t>can </a:t>
            </a:r>
            <a:r>
              <a:rPr sz="2000" spc="34" dirty="0">
                <a:latin typeface="UKIJ CJK"/>
                <a:cs typeface="UKIJ CJK"/>
              </a:rPr>
              <a:t>be</a:t>
            </a:r>
            <a:r>
              <a:rPr sz="2000" spc="38" dirty="0">
                <a:latin typeface="UKIJ CJK"/>
                <a:cs typeface="UKIJ CJK"/>
              </a:rPr>
              <a:t> </a:t>
            </a:r>
            <a:r>
              <a:rPr sz="2000" spc="11" dirty="0">
                <a:latin typeface="UKIJ CJK"/>
                <a:cs typeface="UKIJ CJK"/>
              </a:rPr>
              <a:t>different.</a:t>
            </a:r>
            <a:endParaRPr sz="2000" dirty="0">
              <a:latin typeface="UKIJ CJK"/>
              <a:cs typeface="UKIJ CJK"/>
            </a:endParaRPr>
          </a:p>
        </p:txBody>
      </p:sp>
      <p:grpSp>
        <p:nvGrpSpPr>
          <p:cNvPr id="3" name="object 3"/>
          <p:cNvGrpSpPr/>
          <p:nvPr/>
        </p:nvGrpSpPr>
        <p:grpSpPr>
          <a:xfrm>
            <a:off x="326571" y="226750"/>
            <a:ext cx="11430000" cy="4541193"/>
            <a:chOff x="376427" y="679704"/>
            <a:chExt cx="6106160" cy="3442335"/>
          </a:xfrm>
        </p:grpSpPr>
        <p:sp>
          <p:nvSpPr>
            <p:cNvPr id="4" name="object 4"/>
            <p:cNvSpPr/>
            <p:nvPr/>
          </p:nvSpPr>
          <p:spPr>
            <a:xfrm>
              <a:off x="602470" y="832680"/>
              <a:ext cx="5745306" cy="3227563"/>
            </a:xfrm>
            <a:prstGeom prst="rect">
              <a:avLst/>
            </a:prstGeom>
            <a:blipFill>
              <a:blip r:embed="rId2" cstate="print"/>
              <a:stretch>
                <a:fillRect/>
              </a:stretch>
            </a:blipFill>
          </p:spPr>
          <p:txBody>
            <a:bodyPr wrap="square" lIns="0" tIns="0" rIns="0" bIns="0" rtlCol="0"/>
            <a:lstStyle/>
            <a:p>
              <a:endParaRPr sz="1350"/>
            </a:p>
          </p:txBody>
        </p:sp>
        <p:sp>
          <p:nvSpPr>
            <p:cNvPr id="5" name="object 5"/>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
        <p:nvSpPr>
          <p:cNvPr id="6" name="Rectangle 5"/>
          <p:cNvSpPr/>
          <p:nvPr/>
        </p:nvSpPr>
        <p:spPr>
          <a:xfrm>
            <a:off x="795741" y="4425463"/>
            <a:ext cx="10737509" cy="2609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003529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7654" y="5564503"/>
            <a:ext cx="11686631" cy="1265892"/>
          </a:xfrm>
          <a:prstGeom prst="rect">
            <a:avLst/>
          </a:prstGeom>
        </p:spPr>
        <p:txBody>
          <a:bodyPr vert="horz" wrap="square" lIns="0" tIns="9049" rIns="0" bIns="0" rtlCol="0">
            <a:spAutoFit/>
          </a:bodyPr>
          <a:lstStyle/>
          <a:p>
            <a:pPr marL="138113" marR="3810" indent="-128588" algn="just">
              <a:spcBef>
                <a:spcPts val="71"/>
              </a:spcBef>
              <a:buFont typeface="Wingdings"/>
              <a:buChar char=""/>
              <a:tabLst>
                <a:tab pos="138113" algn="l"/>
              </a:tabLst>
            </a:pPr>
            <a:r>
              <a:rPr lang="en-US" sz="2000" spc="4" dirty="0">
                <a:latin typeface="UKIJ CJK"/>
                <a:cs typeface="UKIJ CJK"/>
              </a:rPr>
              <a:t>Zookeeper provides distributed coordination services for </a:t>
            </a:r>
            <a:r>
              <a:rPr lang="en-US" sz="2000" spc="4" dirty="0" smtClean="0">
                <a:latin typeface="UKIJ CJK"/>
                <a:cs typeface="UKIJ CJK"/>
              </a:rPr>
              <a:t>processing </a:t>
            </a:r>
            <a:r>
              <a:rPr lang="en-US" sz="2000" spc="4" dirty="0">
                <a:latin typeface="UKIJ CJK"/>
                <a:cs typeface="UKIJ CJK"/>
              </a:rPr>
              <a:t>Hbase cluster</a:t>
            </a:r>
          </a:p>
          <a:p>
            <a:pPr marL="138113" marR="3810" indent="-128588" algn="just">
              <a:spcBef>
                <a:spcPts val="71"/>
              </a:spcBef>
              <a:buFont typeface="Wingdings"/>
              <a:buChar char=""/>
              <a:tabLst>
                <a:tab pos="138113" algn="l"/>
              </a:tabLst>
            </a:pPr>
            <a:r>
              <a:rPr lang="en-US" sz="2000" spc="4" dirty="0">
                <a:latin typeface="UKIJ CJK"/>
                <a:cs typeface="UKIJ CJK"/>
              </a:rPr>
              <a:t>Each region server is register with the zookeeper so that active Hmaster can obtain </a:t>
            </a:r>
            <a:r>
              <a:rPr lang="en-US" sz="2000" spc="4">
                <a:latin typeface="UKIJ CJK"/>
                <a:cs typeface="UKIJ CJK"/>
              </a:rPr>
              <a:t>the </a:t>
            </a:r>
            <a:r>
              <a:rPr lang="en-US" sz="2000" spc="4" smtClean="0">
                <a:latin typeface="UKIJ CJK"/>
                <a:cs typeface="UKIJ CJK"/>
              </a:rPr>
              <a:t>health </a:t>
            </a:r>
            <a:r>
              <a:rPr lang="en-US" sz="2000" spc="4" dirty="0">
                <a:latin typeface="UKIJ CJK"/>
                <a:cs typeface="UKIJ CJK"/>
              </a:rPr>
              <a:t>status of each region server.</a:t>
            </a:r>
          </a:p>
          <a:p>
            <a:pPr marL="138113" marR="3810" indent="-128588" algn="just">
              <a:spcBef>
                <a:spcPts val="71"/>
              </a:spcBef>
              <a:buFont typeface="Wingdings"/>
              <a:buChar char=""/>
              <a:tabLst>
                <a:tab pos="138113" algn="l"/>
              </a:tabLst>
            </a:pPr>
            <a:r>
              <a:rPr sz="2000" spc="4" dirty="0">
                <a:latin typeface="UKIJ CJK"/>
                <a:cs typeface="UKIJ CJK"/>
              </a:rPr>
              <a:t>.</a:t>
            </a:r>
            <a:endParaRPr sz="2000" dirty="0">
              <a:latin typeface="UKIJ CJK"/>
              <a:cs typeface="UKIJ CJK"/>
            </a:endParaRPr>
          </a:p>
        </p:txBody>
      </p:sp>
      <p:grpSp>
        <p:nvGrpSpPr>
          <p:cNvPr id="3" name="object 3"/>
          <p:cNvGrpSpPr/>
          <p:nvPr/>
        </p:nvGrpSpPr>
        <p:grpSpPr>
          <a:xfrm>
            <a:off x="519084" y="357379"/>
            <a:ext cx="11150402" cy="4867764"/>
            <a:chOff x="376427" y="679704"/>
            <a:chExt cx="6106160" cy="3442335"/>
          </a:xfrm>
        </p:grpSpPr>
        <p:sp>
          <p:nvSpPr>
            <p:cNvPr id="4" name="object 4"/>
            <p:cNvSpPr/>
            <p:nvPr/>
          </p:nvSpPr>
          <p:spPr>
            <a:xfrm>
              <a:off x="565876" y="832680"/>
              <a:ext cx="5781900" cy="3227563"/>
            </a:xfrm>
            <a:prstGeom prst="rect">
              <a:avLst/>
            </a:prstGeom>
            <a:blipFill>
              <a:blip r:embed="rId2" cstate="print"/>
              <a:stretch>
                <a:fillRect/>
              </a:stretch>
            </a:blipFill>
          </p:spPr>
          <p:txBody>
            <a:bodyPr wrap="square" lIns="0" tIns="0" rIns="0" bIns="0" rtlCol="0"/>
            <a:lstStyle/>
            <a:p>
              <a:endParaRPr sz="1350"/>
            </a:p>
          </p:txBody>
        </p:sp>
        <p:sp>
          <p:nvSpPr>
            <p:cNvPr id="5" name="object 5"/>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
        <p:nvSpPr>
          <p:cNvPr id="6" name="Rectangle 5"/>
          <p:cNvSpPr/>
          <p:nvPr/>
        </p:nvSpPr>
        <p:spPr>
          <a:xfrm>
            <a:off x="685800" y="4876800"/>
            <a:ext cx="10737509" cy="2609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869630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1124" y="5325018"/>
            <a:ext cx="11459007" cy="1240244"/>
          </a:xfrm>
          <a:prstGeom prst="rect">
            <a:avLst/>
          </a:prstGeom>
        </p:spPr>
        <p:txBody>
          <a:bodyPr vert="horz" wrap="square" lIns="0" tIns="9049" rIns="0" bIns="0" rtlCol="0">
            <a:spAutoFit/>
          </a:bodyPr>
          <a:lstStyle/>
          <a:p>
            <a:pPr marL="138113" marR="3810" indent="-128588">
              <a:spcBef>
                <a:spcPts val="71"/>
              </a:spcBef>
              <a:buFont typeface="Wingdings"/>
              <a:buChar char=""/>
              <a:tabLst>
                <a:tab pos="138113" algn="l"/>
              </a:tabLst>
            </a:pPr>
            <a:r>
              <a:rPr sz="2000" spc="34" dirty="0">
                <a:latin typeface="UKIJ CJK"/>
                <a:cs typeface="UKIJ CJK"/>
              </a:rPr>
              <a:t>MetaData </a:t>
            </a:r>
            <a:r>
              <a:rPr sz="2000" spc="15" dirty="0">
                <a:latin typeface="UKIJ CJK"/>
                <a:cs typeface="UKIJ CJK"/>
              </a:rPr>
              <a:t>records </a:t>
            </a:r>
            <a:r>
              <a:rPr sz="2000" spc="19" dirty="0">
                <a:latin typeface="UKIJ CJK"/>
                <a:cs typeface="UKIJ CJK"/>
              </a:rPr>
              <a:t>information </a:t>
            </a:r>
            <a:r>
              <a:rPr sz="2000" spc="30" dirty="0">
                <a:latin typeface="UKIJ CJK"/>
                <a:cs typeface="UKIJ CJK"/>
              </a:rPr>
              <a:t>about </a:t>
            </a:r>
            <a:r>
              <a:rPr sz="2000" spc="23" dirty="0">
                <a:latin typeface="UKIJ CJK"/>
                <a:cs typeface="UKIJ CJK"/>
              </a:rPr>
              <a:t>the </a:t>
            </a:r>
            <a:r>
              <a:rPr sz="2000" spc="19" dirty="0">
                <a:latin typeface="UKIJ CJK"/>
                <a:cs typeface="UKIJ CJK"/>
              </a:rPr>
              <a:t>location </a:t>
            </a:r>
            <a:r>
              <a:rPr sz="2000" spc="30" dirty="0">
                <a:latin typeface="UKIJ CJK"/>
                <a:cs typeface="UKIJ CJK"/>
              </a:rPr>
              <a:t>of </a:t>
            </a:r>
            <a:r>
              <a:rPr sz="2000" spc="34" dirty="0">
                <a:latin typeface="UKIJ CJK"/>
                <a:cs typeface="UKIJ CJK"/>
              </a:rPr>
              <a:t>Region, </a:t>
            </a:r>
            <a:r>
              <a:rPr sz="2000" spc="11" dirty="0">
                <a:latin typeface="UKIJ CJK"/>
                <a:cs typeface="UKIJ CJK"/>
              </a:rPr>
              <a:t>start </a:t>
            </a:r>
            <a:r>
              <a:rPr sz="2000" spc="38" dirty="0">
                <a:latin typeface="UKIJ CJK"/>
                <a:cs typeface="UKIJ CJK"/>
              </a:rPr>
              <a:t>RowKey  </a:t>
            </a:r>
            <a:r>
              <a:rPr sz="2000" spc="26" dirty="0">
                <a:latin typeface="UKIJ CJK"/>
                <a:cs typeface="UKIJ CJK"/>
              </a:rPr>
              <a:t>and </a:t>
            </a:r>
            <a:r>
              <a:rPr sz="2000" spc="30" dirty="0">
                <a:latin typeface="UKIJ CJK"/>
                <a:cs typeface="UKIJ CJK"/>
              </a:rPr>
              <a:t>end RowKey,</a:t>
            </a:r>
            <a:r>
              <a:rPr sz="2000" spc="23" dirty="0">
                <a:latin typeface="UKIJ CJK"/>
                <a:cs typeface="UKIJ CJK"/>
              </a:rPr>
              <a:t> </a:t>
            </a:r>
            <a:r>
              <a:rPr sz="2000" spc="8" dirty="0">
                <a:latin typeface="UKIJ CJK"/>
                <a:cs typeface="UKIJ CJK"/>
              </a:rPr>
              <a:t>etc.</a:t>
            </a:r>
            <a:endParaRPr sz="2000" dirty="0">
              <a:latin typeface="UKIJ CJK"/>
              <a:cs typeface="UKIJ CJK"/>
            </a:endParaRPr>
          </a:p>
          <a:p>
            <a:pPr>
              <a:spcBef>
                <a:spcPts val="26"/>
              </a:spcBef>
              <a:buFont typeface="Wingdings"/>
              <a:buChar char=""/>
            </a:pPr>
            <a:endParaRPr sz="2000" dirty="0">
              <a:latin typeface="UKIJ CJK"/>
              <a:cs typeface="UKIJ CJK"/>
            </a:endParaRPr>
          </a:p>
          <a:p>
            <a:pPr marL="138113" marR="337661" indent="-128588">
              <a:buFont typeface="Wingdings"/>
              <a:buChar char=""/>
              <a:tabLst>
                <a:tab pos="138113" algn="l"/>
              </a:tabLst>
            </a:pPr>
            <a:r>
              <a:rPr sz="2000" spc="30" dirty="0" err="1">
                <a:latin typeface="UKIJ CJK"/>
                <a:cs typeface="UKIJ CJK"/>
              </a:rPr>
              <a:t>regionID+regionserverID</a:t>
            </a:r>
            <a:r>
              <a:rPr sz="2000" spc="49" dirty="0">
                <a:latin typeface="UKIJ CJK"/>
                <a:cs typeface="UKIJ CJK"/>
              </a:rPr>
              <a:t> </a:t>
            </a:r>
            <a:r>
              <a:rPr sz="2000" spc="8" dirty="0">
                <a:latin typeface="UKIJ CJK"/>
                <a:cs typeface="UKIJ CJK"/>
              </a:rPr>
              <a:t>as</a:t>
            </a:r>
            <a:r>
              <a:rPr sz="2000" spc="41" dirty="0">
                <a:latin typeface="UKIJ CJK"/>
                <a:cs typeface="UKIJ CJK"/>
              </a:rPr>
              <a:t> </a:t>
            </a:r>
            <a:r>
              <a:rPr sz="2000" spc="23" dirty="0">
                <a:latin typeface="UKIJ CJK"/>
                <a:cs typeface="UKIJ CJK"/>
              </a:rPr>
              <a:t>metadata</a:t>
            </a:r>
            <a:r>
              <a:rPr sz="2000" spc="56" dirty="0">
                <a:latin typeface="UKIJ CJK"/>
                <a:cs typeface="UKIJ CJK"/>
              </a:rPr>
              <a:t> </a:t>
            </a:r>
            <a:r>
              <a:rPr sz="2000" spc="34" dirty="0">
                <a:latin typeface="UKIJ CJK"/>
                <a:cs typeface="UKIJ CJK"/>
              </a:rPr>
              <a:t>to</a:t>
            </a:r>
            <a:r>
              <a:rPr sz="2000" spc="41" dirty="0">
                <a:latin typeface="UKIJ CJK"/>
                <a:cs typeface="UKIJ CJK"/>
              </a:rPr>
              <a:t> </a:t>
            </a:r>
            <a:r>
              <a:rPr sz="2000" spc="19" dirty="0">
                <a:latin typeface="UKIJ CJK"/>
                <a:cs typeface="UKIJ CJK"/>
              </a:rPr>
              <a:t>record</a:t>
            </a:r>
            <a:r>
              <a:rPr sz="2000" spc="45" dirty="0">
                <a:latin typeface="UKIJ CJK"/>
                <a:cs typeface="UKIJ CJK"/>
              </a:rPr>
              <a:t> </a:t>
            </a:r>
            <a:r>
              <a:rPr sz="2000" spc="23" dirty="0">
                <a:latin typeface="UKIJ CJK"/>
                <a:cs typeface="UKIJ CJK"/>
              </a:rPr>
              <a:t>the  </a:t>
            </a:r>
            <a:r>
              <a:rPr sz="2000" spc="15" dirty="0">
                <a:latin typeface="UKIJ CJK"/>
                <a:cs typeface="UKIJ CJK"/>
              </a:rPr>
              <a:t>relationship </a:t>
            </a:r>
            <a:r>
              <a:rPr sz="2000" spc="26" dirty="0">
                <a:latin typeface="UKIJ CJK"/>
                <a:cs typeface="UKIJ CJK"/>
              </a:rPr>
              <a:t>between region and </a:t>
            </a:r>
            <a:r>
              <a:rPr sz="2000" spc="8" dirty="0">
                <a:latin typeface="UKIJ CJK"/>
                <a:cs typeface="UKIJ CJK"/>
              </a:rPr>
              <a:t>its </a:t>
            </a:r>
            <a:r>
              <a:rPr sz="2000" spc="30" dirty="0">
                <a:latin typeface="UKIJ CJK"/>
                <a:cs typeface="UKIJ CJK"/>
              </a:rPr>
              <a:t>region</a:t>
            </a:r>
            <a:r>
              <a:rPr sz="2000" spc="68" dirty="0">
                <a:latin typeface="UKIJ CJK"/>
                <a:cs typeface="UKIJ CJK"/>
              </a:rPr>
              <a:t> </a:t>
            </a:r>
            <a:r>
              <a:rPr sz="2000" spc="4" dirty="0">
                <a:latin typeface="UKIJ CJK"/>
                <a:cs typeface="UKIJ CJK"/>
              </a:rPr>
              <a:t>server.</a:t>
            </a:r>
            <a:endParaRPr sz="2000" dirty="0">
              <a:latin typeface="UKIJ CJK"/>
              <a:cs typeface="UKIJ CJK"/>
            </a:endParaRPr>
          </a:p>
        </p:txBody>
      </p:sp>
      <p:grpSp>
        <p:nvGrpSpPr>
          <p:cNvPr id="3" name="object 3"/>
          <p:cNvGrpSpPr/>
          <p:nvPr/>
        </p:nvGrpSpPr>
        <p:grpSpPr>
          <a:xfrm>
            <a:off x="402802" y="292065"/>
            <a:ext cx="11459007" cy="4824221"/>
            <a:chOff x="376427" y="679704"/>
            <a:chExt cx="6106160" cy="3442335"/>
          </a:xfrm>
        </p:grpSpPr>
        <p:sp>
          <p:nvSpPr>
            <p:cNvPr id="4" name="object 4"/>
            <p:cNvSpPr/>
            <p:nvPr/>
          </p:nvSpPr>
          <p:spPr>
            <a:xfrm>
              <a:off x="611619" y="841836"/>
              <a:ext cx="5731583" cy="3209251"/>
            </a:xfrm>
            <a:prstGeom prst="rect">
              <a:avLst/>
            </a:prstGeom>
            <a:blipFill>
              <a:blip r:embed="rId2" cstate="print"/>
              <a:stretch>
                <a:fillRect/>
              </a:stretch>
            </a:blipFill>
          </p:spPr>
          <p:txBody>
            <a:bodyPr wrap="square" lIns="0" tIns="0" rIns="0" bIns="0" rtlCol="0"/>
            <a:lstStyle/>
            <a:p>
              <a:endParaRPr sz="1350"/>
            </a:p>
          </p:txBody>
        </p:sp>
        <p:sp>
          <p:nvSpPr>
            <p:cNvPr id="5" name="object 5"/>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Tree>
    <p:extLst>
      <p:ext uri="{BB962C8B-B14F-4D97-AF65-F5344CB8AC3E}">
        <p14:creationId xmlns:p14="http://schemas.microsoft.com/office/powerpoint/2010/main" val="318138789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2016125" cy="0"/>
          </a:xfrm>
          <a:custGeom>
            <a:avLst/>
            <a:gdLst/>
            <a:ahLst/>
            <a:cxnLst/>
            <a:rect l="l" t="t" r="r" b="b"/>
            <a:pathLst>
              <a:path w="2016125">
                <a:moveTo>
                  <a:pt x="2015997"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2072639" cy="635000"/>
          </a:xfrm>
          <a:prstGeom prst="rect">
            <a:avLst/>
          </a:prstGeom>
        </p:spPr>
        <p:txBody>
          <a:bodyPr vert="horz" wrap="square" lIns="0" tIns="12065" rIns="0" bIns="0" rtlCol="0">
            <a:spAutoFit/>
          </a:bodyPr>
          <a:lstStyle/>
          <a:p>
            <a:pPr marL="12700">
              <a:lnSpc>
                <a:spcPct val="100000"/>
              </a:lnSpc>
              <a:spcBef>
                <a:spcPts val="95"/>
              </a:spcBef>
            </a:pPr>
            <a:r>
              <a:rPr sz="4000" spc="40" dirty="0">
                <a:solidFill>
                  <a:srgbClr val="404040"/>
                </a:solidFill>
              </a:rPr>
              <a:t>Conte</a:t>
            </a:r>
            <a:r>
              <a:rPr sz="4000" spc="55" dirty="0">
                <a:solidFill>
                  <a:srgbClr val="404040"/>
                </a:solidFill>
              </a:rPr>
              <a:t>n</a:t>
            </a:r>
            <a:r>
              <a:rPr sz="4000" spc="-40" dirty="0">
                <a:solidFill>
                  <a:srgbClr val="404040"/>
                </a:solidFill>
              </a:rPr>
              <a:t>ts</a:t>
            </a:r>
            <a:endParaRPr sz="4000"/>
          </a:p>
        </p:txBody>
      </p:sp>
      <p:sp>
        <p:nvSpPr>
          <p:cNvPr id="7" name="object 7"/>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27	</a:t>
            </a:r>
            <a:r>
              <a:rPr spc="30" dirty="0"/>
              <a:t>Huawei</a:t>
            </a:r>
            <a:r>
              <a:rPr spc="-10" dirty="0"/>
              <a:t> </a:t>
            </a:r>
            <a:r>
              <a:rPr spc="5" dirty="0"/>
              <a:t>Confidential</a:t>
            </a:r>
          </a:p>
        </p:txBody>
      </p:sp>
      <p:sp>
        <p:nvSpPr>
          <p:cNvPr id="6" name="object 6"/>
          <p:cNvSpPr txBox="1"/>
          <p:nvPr/>
        </p:nvSpPr>
        <p:spPr>
          <a:xfrm>
            <a:off x="1097991" y="2009393"/>
            <a:ext cx="4744720" cy="3779520"/>
          </a:xfrm>
          <a:prstGeom prst="rect">
            <a:avLst/>
          </a:prstGeom>
        </p:spPr>
        <p:txBody>
          <a:bodyPr vert="horz" wrap="square" lIns="0" tIns="12065" rIns="0" bIns="0" rtlCol="0">
            <a:spAutoFit/>
          </a:bodyPr>
          <a:lstStyle/>
          <a:p>
            <a:pPr marL="469900" indent="-457834">
              <a:lnSpc>
                <a:spcPct val="100000"/>
              </a:lnSpc>
              <a:spcBef>
                <a:spcPts val="95"/>
              </a:spcBef>
              <a:buAutoNum type="arabicPeriod"/>
              <a:tabLst>
                <a:tab pos="469265" algn="l"/>
                <a:tab pos="470534" algn="l"/>
              </a:tabLst>
            </a:pPr>
            <a:r>
              <a:rPr sz="2200" spc="10" dirty="0">
                <a:solidFill>
                  <a:srgbClr val="7E7E7E"/>
                </a:solidFill>
                <a:latin typeface="Trebuchet MS"/>
                <a:cs typeface="Trebuchet MS"/>
              </a:rPr>
              <a:t>Introduction </a:t>
            </a:r>
            <a:r>
              <a:rPr sz="2200" dirty="0">
                <a:solidFill>
                  <a:srgbClr val="7E7E7E"/>
                </a:solidFill>
                <a:latin typeface="Trebuchet MS"/>
                <a:cs typeface="Trebuchet MS"/>
              </a:rPr>
              <a:t>to</a:t>
            </a:r>
            <a:r>
              <a:rPr sz="2200" spc="40" dirty="0">
                <a:solidFill>
                  <a:srgbClr val="7E7E7E"/>
                </a:solidFill>
                <a:latin typeface="Trebuchet MS"/>
                <a:cs typeface="Trebuchet MS"/>
              </a:rPr>
              <a:t> </a:t>
            </a:r>
            <a:r>
              <a:rPr sz="2200" spc="60" dirty="0">
                <a:solidFill>
                  <a:srgbClr val="7E7E7E"/>
                </a:solidFill>
                <a:latin typeface="Trebuchet MS"/>
                <a:cs typeface="Trebuchet MS"/>
              </a:rPr>
              <a:t>HBase</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spc="65" dirty="0">
                <a:solidFill>
                  <a:srgbClr val="7E7E7E"/>
                </a:solidFill>
                <a:latin typeface="Trebuchet MS"/>
                <a:cs typeface="Trebuchet MS"/>
              </a:rPr>
              <a:t>HBase </a:t>
            </a:r>
            <a:r>
              <a:rPr sz="2200" spc="-10" dirty="0">
                <a:solidFill>
                  <a:srgbClr val="7E7E7E"/>
                </a:solidFill>
                <a:latin typeface="Trebuchet MS"/>
                <a:cs typeface="Trebuchet MS"/>
              </a:rPr>
              <a:t>Related</a:t>
            </a:r>
            <a:r>
              <a:rPr sz="2200" spc="-5" dirty="0">
                <a:solidFill>
                  <a:srgbClr val="7E7E7E"/>
                </a:solidFill>
                <a:latin typeface="Trebuchet MS"/>
                <a:cs typeface="Trebuchet MS"/>
              </a:rPr>
              <a:t> </a:t>
            </a:r>
            <a:r>
              <a:rPr sz="2200" dirty="0">
                <a:solidFill>
                  <a:srgbClr val="7E7E7E"/>
                </a:solidFill>
                <a:latin typeface="Trebuchet MS"/>
                <a:cs typeface="Trebuchet MS"/>
              </a:rPr>
              <a:t>Concepts</a:t>
            </a:r>
            <a:endParaRPr sz="2200">
              <a:latin typeface="Trebuchet MS"/>
              <a:cs typeface="Trebuchet MS"/>
            </a:endParaRPr>
          </a:p>
          <a:p>
            <a:pPr marL="469900" indent="-457834">
              <a:lnSpc>
                <a:spcPct val="100000"/>
              </a:lnSpc>
              <a:spcBef>
                <a:spcPts val="1845"/>
              </a:spcBef>
              <a:buAutoNum type="arabicPeriod"/>
              <a:tabLst>
                <a:tab pos="469265" algn="l"/>
                <a:tab pos="470534" algn="l"/>
              </a:tabLst>
            </a:pPr>
            <a:r>
              <a:rPr sz="2200" spc="60" dirty="0">
                <a:solidFill>
                  <a:srgbClr val="7E7E7E"/>
                </a:solidFill>
                <a:latin typeface="Trebuchet MS"/>
                <a:cs typeface="Trebuchet MS"/>
              </a:rPr>
              <a:t>HBase</a:t>
            </a:r>
            <a:r>
              <a:rPr sz="2200" spc="35" dirty="0">
                <a:solidFill>
                  <a:srgbClr val="7E7E7E"/>
                </a:solidFill>
                <a:latin typeface="Trebuchet MS"/>
                <a:cs typeface="Trebuchet MS"/>
              </a:rPr>
              <a:t> </a:t>
            </a:r>
            <a:r>
              <a:rPr sz="2200" spc="-25" dirty="0">
                <a:solidFill>
                  <a:srgbClr val="7E7E7E"/>
                </a:solidFill>
                <a:latin typeface="Trebuchet MS"/>
                <a:cs typeface="Trebuchet MS"/>
              </a:rPr>
              <a:t>Architecture</a:t>
            </a:r>
            <a:endParaRPr sz="2200">
              <a:latin typeface="Trebuchet MS"/>
              <a:cs typeface="Trebuchet MS"/>
            </a:endParaRPr>
          </a:p>
          <a:p>
            <a:pPr marL="469900" indent="-457834">
              <a:lnSpc>
                <a:spcPct val="100000"/>
              </a:lnSpc>
              <a:spcBef>
                <a:spcPts val="1839"/>
              </a:spcBef>
              <a:buAutoNum type="arabicPeriod"/>
              <a:tabLst>
                <a:tab pos="469265" algn="l"/>
                <a:tab pos="470534" algn="l"/>
              </a:tabLst>
            </a:pPr>
            <a:r>
              <a:rPr sz="2200" b="1" spc="-60" dirty="0">
                <a:latin typeface="Arial"/>
                <a:cs typeface="Arial"/>
              </a:rPr>
              <a:t>HBase </a:t>
            </a:r>
            <a:r>
              <a:rPr sz="2200" b="1" spc="-70" dirty="0">
                <a:latin typeface="Arial"/>
                <a:cs typeface="Arial"/>
              </a:rPr>
              <a:t>Key</a:t>
            </a:r>
            <a:r>
              <a:rPr sz="2200" b="1" spc="220" dirty="0">
                <a:latin typeface="Arial"/>
                <a:cs typeface="Arial"/>
              </a:rPr>
              <a:t> </a:t>
            </a:r>
            <a:r>
              <a:rPr sz="2200" b="1" spc="-125" dirty="0">
                <a:latin typeface="Arial"/>
                <a:cs typeface="Arial"/>
              </a:rPr>
              <a:t>Processes</a:t>
            </a:r>
            <a:endParaRPr sz="2200">
              <a:latin typeface="Arial"/>
              <a:cs typeface="Arial"/>
            </a:endParaRPr>
          </a:p>
          <a:p>
            <a:pPr marL="469900" indent="-457834">
              <a:lnSpc>
                <a:spcPct val="100000"/>
              </a:lnSpc>
              <a:spcBef>
                <a:spcPts val="1850"/>
              </a:spcBef>
              <a:buAutoNum type="arabicPeriod"/>
              <a:tabLst>
                <a:tab pos="469265" algn="l"/>
                <a:tab pos="470534" algn="l"/>
              </a:tabLst>
            </a:pPr>
            <a:r>
              <a:rPr sz="2200" spc="60" dirty="0">
                <a:solidFill>
                  <a:srgbClr val="7E7E7E"/>
                </a:solidFill>
                <a:latin typeface="Trebuchet MS"/>
                <a:cs typeface="Trebuchet MS"/>
              </a:rPr>
              <a:t>HBase</a:t>
            </a:r>
            <a:r>
              <a:rPr sz="2200" spc="35" dirty="0">
                <a:solidFill>
                  <a:srgbClr val="7E7E7E"/>
                </a:solidFill>
                <a:latin typeface="Trebuchet MS"/>
                <a:cs typeface="Trebuchet MS"/>
              </a:rPr>
              <a:t> </a:t>
            </a:r>
            <a:r>
              <a:rPr sz="2200" spc="40" dirty="0">
                <a:solidFill>
                  <a:srgbClr val="7E7E7E"/>
                </a:solidFill>
                <a:latin typeface="Trebuchet MS"/>
                <a:cs typeface="Trebuchet MS"/>
              </a:rPr>
              <a:t>Highlights</a:t>
            </a:r>
            <a:endParaRPr sz="2200">
              <a:latin typeface="Trebuchet MS"/>
              <a:cs typeface="Trebuchet MS"/>
            </a:endParaRPr>
          </a:p>
          <a:p>
            <a:pPr marL="469900" indent="-457834">
              <a:lnSpc>
                <a:spcPct val="100000"/>
              </a:lnSpc>
              <a:spcBef>
                <a:spcPts val="1845"/>
              </a:spcBef>
              <a:buAutoNum type="arabicPeriod"/>
              <a:tabLst>
                <a:tab pos="469265" algn="l"/>
                <a:tab pos="470534" algn="l"/>
              </a:tabLst>
            </a:pPr>
            <a:r>
              <a:rPr sz="2200" spc="65" dirty="0">
                <a:solidFill>
                  <a:srgbClr val="7E7E7E"/>
                </a:solidFill>
                <a:latin typeface="Trebuchet MS"/>
                <a:cs typeface="Trebuchet MS"/>
              </a:rPr>
              <a:t>HBase </a:t>
            </a:r>
            <a:r>
              <a:rPr sz="2200" spc="5" dirty="0">
                <a:solidFill>
                  <a:srgbClr val="7E7E7E"/>
                </a:solidFill>
                <a:latin typeface="Trebuchet MS"/>
                <a:cs typeface="Trebuchet MS"/>
              </a:rPr>
              <a:t>Performance</a:t>
            </a:r>
            <a:r>
              <a:rPr sz="2200" dirty="0">
                <a:solidFill>
                  <a:srgbClr val="7E7E7E"/>
                </a:solidFill>
                <a:latin typeface="Trebuchet MS"/>
                <a:cs typeface="Trebuchet MS"/>
              </a:rPr>
              <a:t> </a:t>
            </a:r>
            <a:r>
              <a:rPr sz="2200" spc="45" dirty="0">
                <a:solidFill>
                  <a:srgbClr val="7E7E7E"/>
                </a:solidFill>
                <a:latin typeface="Trebuchet MS"/>
                <a:cs typeface="Trebuchet MS"/>
              </a:rPr>
              <a:t>Tuning</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spc="90" dirty="0">
                <a:solidFill>
                  <a:srgbClr val="7E7E7E"/>
                </a:solidFill>
                <a:latin typeface="Trebuchet MS"/>
                <a:cs typeface="Trebuchet MS"/>
              </a:rPr>
              <a:t>Common </a:t>
            </a:r>
            <a:r>
              <a:rPr sz="2200" spc="60" dirty="0">
                <a:solidFill>
                  <a:srgbClr val="7E7E7E"/>
                </a:solidFill>
                <a:latin typeface="Trebuchet MS"/>
                <a:cs typeface="Trebuchet MS"/>
              </a:rPr>
              <a:t>HBase </a:t>
            </a:r>
            <a:r>
              <a:rPr sz="2200" spc="10" dirty="0">
                <a:solidFill>
                  <a:srgbClr val="7E7E7E"/>
                </a:solidFill>
                <a:latin typeface="Trebuchet MS"/>
                <a:cs typeface="Trebuchet MS"/>
              </a:rPr>
              <a:t>Shell</a:t>
            </a:r>
            <a:r>
              <a:rPr sz="2200" spc="-100" dirty="0">
                <a:solidFill>
                  <a:srgbClr val="7E7E7E"/>
                </a:solidFill>
                <a:latin typeface="Trebuchet MS"/>
                <a:cs typeface="Trebuchet MS"/>
              </a:rPr>
              <a:t> </a:t>
            </a:r>
            <a:r>
              <a:rPr sz="2200" spc="75" dirty="0">
                <a:solidFill>
                  <a:srgbClr val="7E7E7E"/>
                </a:solidFill>
                <a:latin typeface="Trebuchet MS"/>
                <a:cs typeface="Trebuchet MS"/>
              </a:rPr>
              <a:t>Commands</a:t>
            </a:r>
            <a:endParaRPr sz="2200">
              <a:latin typeface="Trebuchet MS"/>
              <a:cs typeface="Trebuchet MS"/>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5418455" cy="513715"/>
          </a:xfrm>
          <a:prstGeom prst="rect">
            <a:avLst/>
          </a:prstGeom>
        </p:spPr>
        <p:txBody>
          <a:bodyPr vert="horz" wrap="square" lIns="0" tIns="13335" rIns="0" bIns="0" rtlCol="0">
            <a:spAutoFit/>
          </a:bodyPr>
          <a:lstStyle/>
          <a:p>
            <a:pPr marL="12700">
              <a:lnSpc>
                <a:spcPct val="100000"/>
              </a:lnSpc>
              <a:spcBef>
                <a:spcPts val="105"/>
              </a:spcBef>
            </a:pPr>
            <a:r>
              <a:rPr sz="3200" spc="105" dirty="0">
                <a:solidFill>
                  <a:srgbClr val="000000"/>
                </a:solidFill>
              </a:rPr>
              <a:t>Data </a:t>
            </a:r>
            <a:r>
              <a:rPr sz="3200" spc="45" dirty="0">
                <a:solidFill>
                  <a:srgbClr val="000000"/>
                </a:solidFill>
              </a:rPr>
              <a:t>Read </a:t>
            </a:r>
            <a:r>
              <a:rPr sz="3200" spc="85" dirty="0">
                <a:solidFill>
                  <a:srgbClr val="000000"/>
                </a:solidFill>
              </a:rPr>
              <a:t>and </a:t>
            </a:r>
            <a:r>
              <a:rPr sz="3200" spc="15" dirty="0">
                <a:solidFill>
                  <a:srgbClr val="000000"/>
                </a:solidFill>
              </a:rPr>
              <a:t>Write</a:t>
            </a:r>
            <a:r>
              <a:rPr sz="3200" spc="-170" dirty="0">
                <a:solidFill>
                  <a:srgbClr val="000000"/>
                </a:solidFill>
              </a:rPr>
              <a:t> </a:t>
            </a:r>
            <a:r>
              <a:rPr sz="3200" dirty="0">
                <a:solidFill>
                  <a:srgbClr val="000000"/>
                </a:solidFill>
              </a:rPr>
              <a:t>Process</a:t>
            </a:r>
            <a:endParaRPr sz="320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28	</a:t>
            </a:r>
            <a:r>
              <a:rPr spc="30" dirty="0"/>
              <a:t>Huawei</a:t>
            </a:r>
            <a:r>
              <a:rPr spc="-10" dirty="0"/>
              <a:t> </a:t>
            </a:r>
            <a:r>
              <a:rPr spc="5" dirty="0"/>
              <a:t>Confidential</a:t>
            </a:r>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101039" y="1076604"/>
            <a:ext cx="10291445" cy="964565"/>
          </a:xfrm>
          <a:prstGeom prst="rect">
            <a:avLst/>
          </a:prstGeom>
        </p:spPr>
        <p:txBody>
          <a:bodyPr vert="horz" wrap="square" lIns="0" tIns="12700" rIns="0" bIns="0" rtlCol="0">
            <a:spAutoFit/>
          </a:bodyPr>
          <a:lstStyle/>
          <a:p>
            <a:pPr marL="12700" marR="5080">
              <a:lnSpc>
                <a:spcPct val="140000"/>
              </a:lnSpc>
              <a:spcBef>
                <a:spcPts val="100"/>
              </a:spcBef>
            </a:pPr>
            <a:r>
              <a:rPr sz="2200" spc="90" dirty="0">
                <a:latin typeface="Trebuchet MS"/>
                <a:cs typeface="Trebuchet MS"/>
              </a:rPr>
              <a:t>When </a:t>
            </a:r>
            <a:r>
              <a:rPr sz="2200" spc="50" dirty="0">
                <a:latin typeface="Trebuchet MS"/>
                <a:cs typeface="Trebuchet MS"/>
              </a:rPr>
              <a:t>you </a:t>
            </a:r>
            <a:r>
              <a:rPr sz="2200" spc="-30" dirty="0">
                <a:latin typeface="Trebuchet MS"/>
                <a:cs typeface="Trebuchet MS"/>
              </a:rPr>
              <a:t>write </a:t>
            </a:r>
            <a:r>
              <a:rPr sz="2200" spc="-45" dirty="0">
                <a:latin typeface="Trebuchet MS"/>
                <a:cs typeface="Trebuchet MS"/>
              </a:rPr>
              <a:t>data, </a:t>
            </a:r>
            <a:r>
              <a:rPr sz="2200" spc="-15" dirty="0">
                <a:latin typeface="Trebuchet MS"/>
                <a:cs typeface="Trebuchet MS"/>
              </a:rPr>
              <a:t>the </a:t>
            </a:r>
            <a:r>
              <a:rPr sz="2200" spc="20" dirty="0">
                <a:latin typeface="Trebuchet MS"/>
                <a:cs typeface="Trebuchet MS"/>
              </a:rPr>
              <a:t>data </a:t>
            </a:r>
            <a:r>
              <a:rPr sz="2200" spc="-15" dirty="0">
                <a:latin typeface="Trebuchet MS"/>
                <a:cs typeface="Trebuchet MS"/>
              </a:rPr>
              <a:t>is </a:t>
            </a:r>
            <a:r>
              <a:rPr sz="2200" spc="-10" dirty="0">
                <a:latin typeface="Trebuchet MS"/>
                <a:cs typeface="Trebuchet MS"/>
              </a:rPr>
              <a:t>allocated </a:t>
            </a:r>
            <a:r>
              <a:rPr sz="2200" spc="5" dirty="0">
                <a:latin typeface="Trebuchet MS"/>
                <a:cs typeface="Trebuchet MS"/>
              </a:rPr>
              <a:t>to </a:t>
            </a:r>
            <a:r>
              <a:rPr sz="2200" spc="-15" dirty="0">
                <a:latin typeface="Trebuchet MS"/>
                <a:cs typeface="Trebuchet MS"/>
              </a:rPr>
              <a:t>the </a:t>
            </a:r>
            <a:r>
              <a:rPr sz="2200" spc="20" dirty="0">
                <a:latin typeface="Trebuchet MS"/>
                <a:cs typeface="Trebuchet MS"/>
              </a:rPr>
              <a:t>corresponding </a:t>
            </a:r>
            <a:r>
              <a:rPr sz="2200" spc="30" dirty="0">
                <a:latin typeface="Trebuchet MS"/>
                <a:cs typeface="Trebuchet MS"/>
              </a:rPr>
              <a:t>HRegionServer  </a:t>
            </a:r>
            <a:r>
              <a:rPr sz="2200" spc="-5" dirty="0">
                <a:latin typeface="Trebuchet MS"/>
                <a:cs typeface="Trebuchet MS"/>
              </a:rPr>
              <a:t>for</a:t>
            </a:r>
            <a:r>
              <a:rPr sz="2200" spc="30" dirty="0">
                <a:latin typeface="Trebuchet MS"/>
                <a:cs typeface="Trebuchet MS"/>
              </a:rPr>
              <a:t> </a:t>
            </a:r>
            <a:r>
              <a:rPr sz="2200" spc="-45" dirty="0">
                <a:latin typeface="Trebuchet MS"/>
                <a:cs typeface="Trebuchet MS"/>
              </a:rPr>
              <a:t>execution.</a:t>
            </a:r>
            <a:endParaRPr sz="2200" dirty="0">
              <a:latin typeface="Trebuchet MS"/>
              <a:cs typeface="Trebuchet MS"/>
            </a:endParaRPr>
          </a:p>
        </p:txBody>
      </p:sp>
      <p:sp>
        <p:nvSpPr>
          <p:cNvPr id="5" name="object 5"/>
          <p:cNvSpPr txBox="1"/>
          <p:nvPr/>
        </p:nvSpPr>
        <p:spPr>
          <a:xfrm>
            <a:off x="799287" y="2330323"/>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6" name="object 6"/>
          <p:cNvSpPr txBox="1"/>
          <p:nvPr/>
        </p:nvSpPr>
        <p:spPr>
          <a:xfrm>
            <a:off x="1101039" y="2251074"/>
            <a:ext cx="10290810" cy="2910840"/>
          </a:xfrm>
          <a:prstGeom prst="rect">
            <a:avLst/>
          </a:prstGeom>
        </p:spPr>
        <p:txBody>
          <a:bodyPr vert="horz" wrap="square" lIns="0" tIns="12065" rIns="0" bIns="0" rtlCol="0">
            <a:spAutoFit/>
          </a:bodyPr>
          <a:lstStyle/>
          <a:p>
            <a:pPr marL="12700" algn="just">
              <a:lnSpc>
                <a:spcPct val="100000"/>
              </a:lnSpc>
              <a:spcBef>
                <a:spcPts val="95"/>
              </a:spcBef>
            </a:pPr>
            <a:r>
              <a:rPr sz="2200" spc="25" dirty="0">
                <a:latin typeface="Trebuchet MS"/>
                <a:cs typeface="Trebuchet MS"/>
              </a:rPr>
              <a:t>Your </a:t>
            </a:r>
            <a:r>
              <a:rPr sz="2200" spc="15" dirty="0">
                <a:latin typeface="Trebuchet MS"/>
                <a:cs typeface="Trebuchet MS"/>
              </a:rPr>
              <a:t>data </a:t>
            </a:r>
            <a:r>
              <a:rPr sz="2200" spc="-15" dirty="0">
                <a:latin typeface="Trebuchet MS"/>
                <a:cs typeface="Trebuchet MS"/>
              </a:rPr>
              <a:t>is </a:t>
            </a:r>
            <a:r>
              <a:rPr sz="2200" spc="-40" dirty="0">
                <a:latin typeface="Trebuchet MS"/>
                <a:cs typeface="Trebuchet MS"/>
              </a:rPr>
              <a:t>first </a:t>
            </a:r>
            <a:r>
              <a:rPr sz="2200" spc="-20" dirty="0">
                <a:latin typeface="Trebuchet MS"/>
                <a:cs typeface="Trebuchet MS"/>
              </a:rPr>
              <a:t>written </a:t>
            </a:r>
            <a:r>
              <a:rPr sz="2200" dirty="0">
                <a:latin typeface="Trebuchet MS"/>
                <a:cs typeface="Trebuchet MS"/>
              </a:rPr>
              <a:t>to </a:t>
            </a:r>
            <a:r>
              <a:rPr sz="2200" spc="75" dirty="0">
                <a:latin typeface="Trebuchet MS"/>
                <a:cs typeface="Trebuchet MS"/>
              </a:rPr>
              <a:t>MemStore </a:t>
            </a:r>
            <a:r>
              <a:rPr sz="2200" spc="55" dirty="0">
                <a:latin typeface="Trebuchet MS"/>
                <a:cs typeface="Trebuchet MS"/>
              </a:rPr>
              <a:t>and</a:t>
            </a:r>
            <a:r>
              <a:rPr sz="2200" spc="195" dirty="0">
                <a:latin typeface="Trebuchet MS"/>
                <a:cs typeface="Trebuchet MS"/>
              </a:rPr>
              <a:t> </a:t>
            </a:r>
            <a:r>
              <a:rPr sz="2200" spc="30" dirty="0">
                <a:latin typeface="Trebuchet MS"/>
                <a:cs typeface="Trebuchet MS"/>
              </a:rPr>
              <a:t>HLog.</a:t>
            </a:r>
            <a:endParaRPr sz="2200" dirty="0">
              <a:latin typeface="Trebuchet MS"/>
              <a:cs typeface="Trebuchet MS"/>
            </a:endParaRPr>
          </a:p>
          <a:p>
            <a:pPr marL="12700" marR="5080" algn="just">
              <a:lnSpc>
                <a:spcPct val="140100"/>
              </a:lnSpc>
              <a:spcBef>
                <a:spcPts val="800"/>
              </a:spcBef>
            </a:pPr>
            <a:r>
              <a:rPr sz="2200" spc="-5" dirty="0">
                <a:latin typeface="Trebuchet MS"/>
                <a:cs typeface="Trebuchet MS"/>
              </a:rPr>
              <a:t>The </a:t>
            </a:r>
            <a:r>
              <a:rPr sz="2200" b="1" spc="95" dirty="0">
                <a:latin typeface="Arial"/>
                <a:cs typeface="Arial"/>
              </a:rPr>
              <a:t>commit() </a:t>
            </a:r>
            <a:r>
              <a:rPr sz="2200" spc="5" dirty="0">
                <a:latin typeface="Trebuchet MS"/>
                <a:cs typeface="Trebuchet MS"/>
              </a:rPr>
              <a:t>invocation </a:t>
            </a:r>
            <a:r>
              <a:rPr sz="2200" dirty="0">
                <a:latin typeface="Trebuchet MS"/>
                <a:cs typeface="Trebuchet MS"/>
              </a:rPr>
              <a:t>returns </a:t>
            </a:r>
            <a:r>
              <a:rPr sz="2200" spc="-15" dirty="0">
                <a:latin typeface="Trebuchet MS"/>
                <a:cs typeface="Trebuchet MS"/>
              </a:rPr>
              <a:t>the </a:t>
            </a:r>
            <a:r>
              <a:rPr sz="2200" spc="20" dirty="0">
                <a:latin typeface="Trebuchet MS"/>
                <a:cs typeface="Trebuchet MS"/>
              </a:rPr>
              <a:t>data </a:t>
            </a:r>
            <a:r>
              <a:rPr sz="2200" dirty="0">
                <a:latin typeface="Trebuchet MS"/>
                <a:cs typeface="Trebuchet MS"/>
              </a:rPr>
              <a:t>to </a:t>
            </a:r>
            <a:r>
              <a:rPr sz="2200" spc="-15" dirty="0">
                <a:latin typeface="Trebuchet MS"/>
                <a:cs typeface="Trebuchet MS"/>
              </a:rPr>
              <a:t>the </a:t>
            </a:r>
            <a:r>
              <a:rPr sz="2200" spc="-40" dirty="0">
                <a:latin typeface="Trebuchet MS"/>
                <a:cs typeface="Trebuchet MS"/>
              </a:rPr>
              <a:t>client </a:t>
            </a:r>
            <a:r>
              <a:rPr sz="2200" spc="25" dirty="0">
                <a:latin typeface="Trebuchet MS"/>
                <a:cs typeface="Trebuchet MS"/>
              </a:rPr>
              <a:t>only </a:t>
            </a:r>
            <a:r>
              <a:rPr sz="2200" spc="-30" dirty="0">
                <a:latin typeface="Trebuchet MS"/>
                <a:cs typeface="Trebuchet MS"/>
              </a:rPr>
              <a:t>after </a:t>
            </a:r>
            <a:r>
              <a:rPr sz="2200" spc="-15" dirty="0">
                <a:latin typeface="Trebuchet MS"/>
                <a:cs typeface="Trebuchet MS"/>
              </a:rPr>
              <a:t>the </a:t>
            </a:r>
            <a:r>
              <a:rPr sz="2200" spc="5" dirty="0">
                <a:latin typeface="Trebuchet MS"/>
                <a:cs typeface="Trebuchet MS"/>
              </a:rPr>
              <a:t>operation  </a:t>
            </a:r>
            <a:r>
              <a:rPr sz="2200" spc="-15" dirty="0">
                <a:latin typeface="Trebuchet MS"/>
                <a:cs typeface="Trebuchet MS"/>
              </a:rPr>
              <a:t>is </a:t>
            </a:r>
            <a:r>
              <a:rPr sz="2200" spc="-20" dirty="0">
                <a:latin typeface="Trebuchet MS"/>
                <a:cs typeface="Trebuchet MS"/>
              </a:rPr>
              <a:t>written </a:t>
            </a:r>
            <a:r>
              <a:rPr sz="2200" dirty="0">
                <a:latin typeface="Trebuchet MS"/>
                <a:cs typeface="Trebuchet MS"/>
              </a:rPr>
              <a:t>to</a:t>
            </a:r>
            <a:r>
              <a:rPr sz="2200" spc="114" dirty="0">
                <a:latin typeface="Trebuchet MS"/>
                <a:cs typeface="Trebuchet MS"/>
              </a:rPr>
              <a:t> </a:t>
            </a:r>
            <a:r>
              <a:rPr sz="2200" spc="30" dirty="0">
                <a:latin typeface="Trebuchet MS"/>
                <a:cs typeface="Trebuchet MS"/>
              </a:rPr>
              <a:t>HLog.</a:t>
            </a:r>
            <a:endParaRPr sz="2200" dirty="0">
              <a:latin typeface="Trebuchet MS"/>
              <a:cs typeface="Trebuchet MS"/>
            </a:endParaRPr>
          </a:p>
          <a:p>
            <a:pPr marL="12700" marR="6350" algn="just">
              <a:lnSpc>
                <a:spcPct val="140100"/>
              </a:lnSpc>
              <a:spcBef>
                <a:spcPts val="790"/>
              </a:spcBef>
            </a:pPr>
            <a:r>
              <a:rPr sz="2200" spc="90" dirty="0">
                <a:latin typeface="Trebuchet MS"/>
                <a:cs typeface="Trebuchet MS"/>
              </a:rPr>
              <a:t>When </a:t>
            </a:r>
            <a:r>
              <a:rPr sz="2200" spc="50" dirty="0">
                <a:latin typeface="Trebuchet MS"/>
                <a:cs typeface="Trebuchet MS"/>
              </a:rPr>
              <a:t>you </a:t>
            </a:r>
            <a:r>
              <a:rPr sz="2200" spc="5" dirty="0">
                <a:latin typeface="Trebuchet MS"/>
                <a:cs typeface="Trebuchet MS"/>
              </a:rPr>
              <a:t>read </a:t>
            </a:r>
            <a:r>
              <a:rPr sz="2200" spc="-45" dirty="0">
                <a:latin typeface="Trebuchet MS"/>
                <a:cs typeface="Trebuchet MS"/>
              </a:rPr>
              <a:t>data, </a:t>
            </a:r>
            <a:r>
              <a:rPr sz="2200" spc="-15" dirty="0">
                <a:latin typeface="Trebuchet MS"/>
                <a:cs typeface="Trebuchet MS"/>
              </a:rPr>
              <a:t>the </a:t>
            </a:r>
            <a:r>
              <a:rPr sz="2200" spc="30" dirty="0">
                <a:latin typeface="Trebuchet MS"/>
                <a:cs typeface="Trebuchet MS"/>
              </a:rPr>
              <a:t>HRegionServer </a:t>
            </a:r>
            <a:r>
              <a:rPr sz="2200" spc="-40" dirty="0">
                <a:latin typeface="Trebuchet MS"/>
                <a:cs typeface="Trebuchet MS"/>
              </a:rPr>
              <a:t>first </a:t>
            </a:r>
            <a:r>
              <a:rPr sz="2200" spc="-15" dirty="0">
                <a:latin typeface="Trebuchet MS"/>
                <a:cs typeface="Trebuchet MS"/>
              </a:rPr>
              <a:t>accesses </a:t>
            </a:r>
            <a:r>
              <a:rPr sz="2200" spc="75" dirty="0">
                <a:latin typeface="Trebuchet MS"/>
                <a:cs typeface="Trebuchet MS"/>
              </a:rPr>
              <a:t>MemStore </a:t>
            </a:r>
            <a:r>
              <a:rPr sz="2200" spc="-65" dirty="0">
                <a:latin typeface="Trebuchet MS"/>
                <a:cs typeface="Trebuchet MS"/>
              </a:rPr>
              <a:t>cache. </a:t>
            </a:r>
            <a:r>
              <a:rPr sz="2200" spc="-15" dirty="0">
                <a:latin typeface="Trebuchet MS"/>
                <a:cs typeface="Trebuchet MS"/>
              </a:rPr>
              <a:t>If </a:t>
            </a:r>
            <a:r>
              <a:rPr sz="2200" spc="-20" dirty="0">
                <a:latin typeface="Trebuchet MS"/>
                <a:cs typeface="Trebuchet MS"/>
              </a:rPr>
              <a:t>the  </a:t>
            </a:r>
            <a:r>
              <a:rPr sz="2200" spc="75" dirty="0">
                <a:latin typeface="Trebuchet MS"/>
                <a:cs typeface="Trebuchet MS"/>
              </a:rPr>
              <a:t>MemStore </a:t>
            </a:r>
            <a:r>
              <a:rPr sz="2200" spc="-15" dirty="0">
                <a:latin typeface="Trebuchet MS"/>
                <a:cs typeface="Trebuchet MS"/>
              </a:rPr>
              <a:t>cache </a:t>
            </a:r>
            <a:r>
              <a:rPr sz="2200" spc="20" dirty="0">
                <a:latin typeface="Trebuchet MS"/>
                <a:cs typeface="Trebuchet MS"/>
              </a:rPr>
              <a:t>cannot </a:t>
            </a:r>
            <a:r>
              <a:rPr sz="2200" spc="-5" dirty="0">
                <a:latin typeface="Trebuchet MS"/>
                <a:cs typeface="Trebuchet MS"/>
              </a:rPr>
              <a:t>be </a:t>
            </a:r>
            <a:r>
              <a:rPr sz="2200" spc="-10" dirty="0">
                <a:latin typeface="Trebuchet MS"/>
                <a:cs typeface="Trebuchet MS"/>
              </a:rPr>
              <a:t>found, </a:t>
            </a:r>
            <a:r>
              <a:rPr sz="2200" spc="-15" dirty="0">
                <a:latin typeface="Trebuchet MS"/>
                <a:cs typeface="Trebuchet MS"/>
              </a:rPr>
              <a:t>the </a:t>
            </a:r>
            <a:r>
              <a:rPr sz="2200" spc="30" dirty="0">
                <a:latin typeface="Trebuchet MS"/>
                <a:cs typeface="Trebuchet MS"/>
              </a:rPr>
              <a:t>HRegionServer </a:t>
            </a:r>
            <a:r>
              <a:rPr sz="2200" dirty="0">
                <a:latin typeface="Trebuchet MS"/>
                <a:cs typeface="Trebuchet MS"/>
              </a:rPr>
              <a:t>searches </a:t>
            </a:r>
            <a:r>
              <a:rPr sz="2200" spc="-15" dirty="0">
                <a:latin typeface="Trebuchet MS"/>
                <a:cs typeface="Trebuchet MS"/>
              </a:rPr>
              <a:t>StoreFile </a:t>
            </a:r>
            <a:r>
              <a:rPr sz="2200" spc="75" dirty="0">
                <a:latin typeface="Trebuchet MS"/>
                <a:cs typeface="Trebuchet MS"/>
              </a:rPr>
              <a:t>on </a:t>
            </a:r>
            <a:r>
              <a:rPr sz="2200" spc="-15" dirty="0">
                <a:latin typeface="Trebuchet MS"/>
                <a:cs typeface="Trebuchet MS"/>
              </a:rPr>
              <a:t>the </a:t>
            </a:r>
            <a:r>
              <a:rPr sz="2200" spc="630" dirty="0">
                <a:latin typeface="Trebuchet MS"/>
                <a:cs typeface="Trebuchet MS"/>
              </a:rPr>
              <a:t> </a:t>
            </a:r>
            <a:r>
              <a:rPr sz="2200" spc="-50" dirty="0">
                <a:latin typeface="Trebuchet MS"/>
                <a:cs typeface="Trebuchet MS"/>
              </a:rPr>
              <a:t>disk.</a:t>
            </a:r>
            <a:endParaRPr sz="2200" dirty="0">
              <a:latin typeface="Trebuchet MS"/>
              <a:cs typeface="Trebuchet MS"/>
            </a:endParaRPr>
          </a:p>
        </p:txBody>
      </p:sp>
      <p:sp>
        <p:nvSpPr>
          <p:cNvPr id="7" name="object 7"/>
          <p:cNvSpPr txBox="1"/>
          <p:nvPr/>
        </p:nvSpPr>
        <p:spPr>
          <a:xfrm>
            <a:off x="799287" y="2901823"/>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8" name="object 8"/>
          <p:cNvSpPr txBox="1"/>
          <p:nvPr/>
        </p:nvSpPr>
        <p:spPr>
          <a:xfrm>
            <a:off x="799287" y="3941445"/>
            <a:ext cx="130175"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Wingdings"/>
                <a:cs typeface="Wingdings"/>
              </a:rPr>
              <a:t></a:t>
            </a:r>
            <a:endParaRPr sz="1100">
              <a:latin typeface="Wingdings"/>
              <a:cs typeface="Wingdings"/>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3218815" cy="513715"/>
          </a:xfrm>
          <a:prstGeom prst="rect">
            <a:avLst/>
          </a:prstGeom>
        </p:spPr>
        <p:txBody>
          <a:bodyPr vert="horz" wrap="square" lIns="0" tIns="13335" rIns="0" bIns="0" rtlCol="0">
            <a:spAutoFit/>
          </a:bodyPr>
          <a:lstStyle/>
          <a:p>
            <a:pPr marL="12700">
              <a:lnSpc>
                <a:spcPct val="100000"/>
              </a:lnSpc>
              <a:spcBef>
                <a:spcPts val="105"/>
              </a:spcBef>
            </a:pPr>
            <a:r>
              <a:rPr sz="3200" spc="10" dirty="0">
                <a:solidFill>
                  <a:srgbClr val="000000"/>
                </a:solidFill>
              </a:rPr>
              <a:t>Cache</a:t>
            </a:r>
            <a:r>
              <a:rPr sz="3200" spc="-30" dirty="0">
                <a:solidFill>
                  <a:srgbClr val="000000"/>
                </a:solidFill>
              </a:rPr>
              <a:t> </a:t>
            </a:r>
            <a:r>
              <a:rPr sz="3200" spc="25" dirty="0">
                <a:solidFill>
                  <a:srgbClr val="000000"/>
                </a:solidFill>
              </a:rPr>
              <a:t>Refreshing</a:t>
            </a:r>
            <a:endParaRPr sz="320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29	</a:t>
            </a:r>
            <a:r>
              <a:rPr spc="30" dirty="0"/>
              <a:t>Huawei</a:t>
            </a:r>
            <a:r>
              <a:rPr spc="-10" dirty="0"/>
              <a:t> </a:t>
            </a:r>
            <a:r>
              <a:rPr spc="5" dirty="0"/>
              <a:t>Confidential</a:t>
            </a:r>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101039" y="1076604"/>
            <a:ext cx="10290810" cy="964565"/>
          </a:xfrm>
          <a:prstGeom prst="rect">
            <a:avLst/>
          </a:prstGeom>
        </p:spPr>
        <p:txBody>
          <a:bodyPr vert="horz" wrap="square" lIns="0" tIns="12700" rIns="0" bIns="0" rtlCol="0">
            <a:spAutoFit/>
          </a:bodyPr>
          <a:lstStyle/>
          <a:p>
            <a:pPr marL="12700" marR="5080">
              <a:lnSpc>
                <a:spcPct val="140000"/>
              </a:lnSpc>
              <a:spcBef>
                <a:spcPts val="100"/>
              </a:spcBef>
              <a:tabLst>
                <a:tab pos="658495" algn="l"/>
                <a:tab pos="1713230" algn="l"/>
                <a:tab pos="3339465" algn="l"/>
                <a:tab pos="4281805" algn="l"/>
                <a:tab pos="4874260" algn="l"/>
                <a:tab pos="6017895" algn="l"/>
                <a:tab pos="6433820" algn="l"/>
                <a:tab pos="7023734" algn="l"/>
                <a:tab pos="8526780" algn="l"/>
                <a:tab pos="9424035" algn="l"/>
                <a:tab pos="9865995" algn="l"/>
              </a:tabLst>
            </a:pPr>
            <a:r>
              <a:rPr sz="2200" spc="-5" dirty="0">
                <a:latin typeface="Trebuchet MS"/>
                <a:cs typeface="Trebuchet MS"/>
              </a:rPr>
              <a:t>Th</a:t>
            </a:r>
            <a:r>
              <a:rPr sz="2200" dirty="0">
                <a:latin typeface="Trebuchet MS"/>
                <a:cs typeface="Trebuchet MS"/>
              </a:rPr>
              <a:t>e	</a:t>
            </a:r>
            <a:r>
              <a:rPr sz="2200" spc="35" dirty="0">
                <a:latin typeface="Trebuchet MS"/>
                <a:cs typeface="Trebuchet MS"/>
              </a:rPr>
              <a:t>s</a:t>
            </a:r>
            <a:r>
              <a:rPr sz="2200" spc="15" dirty="0">
                <a:latin typeface="Trebuchet MS"/>
                <a:cs typeface="Trebuchet MS"/>
              </a:rPr>
              <a:t>y</a:t>
            </a:r>
            <a:r>
              <a:rPr sz="2200" spc="5" dirty="0">
                <a:latin typeface="Trebuchet MS"/>
                <a:cs typeface="Trebuchet MS"/>
              </a:rPr>
              <a:t>s</a:t>
            </a:r>
            <a:r>
              <a:rPr sz="2200" spc="-55" dirty="0">
                <a:latin typeface="Trebuchet MS"/>
                <a:cs typeface="Trebuchet MS"/>
              </a:rPr>
              <a:t>t</a:t>
            </a:r>
            <a:r>
              <a:rPr sz="2200" spc="-60" dirty="0">
                <a:latin typeface="Trebuchet MS"/>
                <a:cs typeface="Trebuchet MS"/>
              </a:rPr>
              <a:t>e</a:t>
            </a:r>
            <a:r>
              <a:rPr sz="2200" spc="155" dirty="0">
                <a:latin typeface="Trebuchet MS"/>
                <a:cs typeface="Trebuchet MS"/>
              </a:rPr>
              <a:t>m</a:t>
            </a:r>
            <a:r>
              <a:rPr sz="2200" dirty="0">
                <a:latin typeface="Trebuchet MS"/>
                <a:cs typeface="Trebuchet MS"/>
              </a:rPr>
              <a:t>	</a:t>
            </a:r>
            <a:r>
              <a:rPr sz="2200" spc="-15" dirty="0">
                <a:latin typeface="Trebuchet MS"/>
                <a:cs typeface="Trebuchet MS"/>
              </a:rPr>
              <a:t>pe</a:t>
            </a:r>
            <a:r>
              <a:rPr sz="2200" spc="-10" dirty="0">
                <a:latin typeface="Trebuchet MS"/>
                <a:cs typeface="Trebuchet MS"/>
              </a:rPr>
              <a:t>r</a:t>
            </a:r>
            <a:r>
              <a:rPr sz="2200" spc="-20" dirty="0">
                <a:latin typeface="Trebuchet MS"/>
                <a:cs typeface="Trebuchet MS"/>
              </a:rPr>
              <a:t>iodically</a:t>
            </a:r>
            <a:r>
              <a:rPr sz="2200" dirty="0">
                <a:latin typeface="Trebuchet MS"/>
                <a:cs typeface="Trebuchet MS"/>
              </a:rPr>
              <a:t>	</a:t>
            </a:r>
            <a:r>
              <a:rPr sz="2200" spc="-5" dirty="0">
                <a:latin typeface="Trebuchet MS"/>
                <a:cs typeface="Trebuchet MS"/>
              </a:rPr>
              <a:t>wr</a:t>
            </a:r>
            <a:r>
              <a:rPr sz="2200" dirty="0">
                <a:latin typeface="Trebuchet MS"/>
                <a:cs typeface="Trebuchet MS"/>
              </a:rPr>
              <a:t>i</a:t>
            </a:r>
            <a:r>
              <a:rPr sz="2200" spc="-35" dirty="0">
                <a:latin typeface="Trebuchet MS"/>
                <a:cs typeface="Trebuchet MS"/>
              </a:rPr>
              <a:t>te</a:t>
            </a:r>
            <a:r>
              <a:rPr sz="2200" spc="-25" dirty="0">
                <a:latin typeface="Trebuchet MS"/>
                <a:cs typeface="Trebuchet MS"/>
              </a:rPr>
              <a:t>s</a:t>
            </a:r>
            <a:r>
              <a:rPr sz="2200" dirty="0">
                <a:latin typeface="Trebuchet MS"/>
                <a:cs typeface="Trebuchet MS"/>
              </a:rPr>
              <a:t>	</a:t>
            </a:r>
            <a:r>
              <a:rPr sz="2200" spc="-75" dirty="0">
                <a:latin typeface="Trebuchet MS"/>
                <a:cs typeface="Trebuchet MS"/>
              </a:rPr>
              <a:t>t</a:t>
            </a:r>
            <a:r>
              <a:rPr sz="2200" spc="85" dirty="0">
                <a:latin typeface="Trebuchet MS"/>
                <a:cs typeface="Trebuchet MS"/>
              </a:rPr>
              <a:t>h</a:t>
            </a:r>
            <a:r>
              <a:rPr sz="2200" spc="-45" dirty="0">
                <a:latin typeface="Trebuchet MS"/>
                <a:cs typeface="Trebuchet MS"/>
              </a:rPr>
              <a:t>e</a:t>
            </a:r>
            <a:r>
              <a:rPr sz="2200" dirty="0">
                <a:latin typeface="Trebuchet MS"/>
                <a:cs typeface="Trebuchet MS"/>
              </a:rPr>
              <a:t>	</a:t>
            </a:r>
            <a:r>
              <a:rPr sz="2200" spc="5" dirty="0">
                <a:latin typeface="Trebuchet MS"/>
                <a:cs typeface="Trebuchet MS"/>
              </a:rPr>
              <a:t>conte</a:t>
            </a:r>
            <a:r>
              <a:rPr sz="2200" spc="15" dirty="0">
                <a:latin typeface="Trebuchet MS"/>
                <a:cs typeface="Trebuchet MS"/>
              </a:rPr>
              <a:t>n</a:t>
            </a:r>
            <a:r>
              <a:rPr sz="2200" spc="-75" dirty="0">
                <a:latin typeface="Trebuchet MS"/>
                <a:cs typeface="Trebuchet MS"/>
              </a:rPr>
              <a:t>t</a:t>
            </a:r>
            <a:r>
              <a:rPr sz="2200" dirty="0">
                <a:latin typeface="Trebuchet MS"/>
                <a:cs typeface="Trebuchet MS"/>
              </a:rPr>
              <a:t>	</a:t>
            </a:r>
            <a:r>
              <a:rPr sz="2200" spc="15" dirty="0">
                <a:latin typeface="Trebuchet MS"/>
                <a:cs typeface="Trebuchet MS"/>
              </a:rPr>
              <a:t>i</a:t>
            </a:r>
            <a:r>
              <a:rPr sz="2200" spc="5" dirty="0">
                <a:latin typeface="Trebuchet MS"/>
                <a:cs typeface="Trebuchet MS"/>
              </a:rPr>
              <a:t>n</a:t>
            </a:r>
            <a:r>
              <a:rPr sz="2200" dirty="0">
                <a:latin typeface="Trebuchet MS"/>
                <a:cs typeface="Trebuchet MS"/>
              </a:rPr>
              <a:t>	</a:t>
            </a:r>
            <a:r>
              <a:rPr sz="2200" spc="-20" dirty="0">
                <a:latin typeface="Trebuchet MS"/>
                <a:cs typeface="Trebuchet MS"/>
              </a:rPr>
              <a:t>th</a:t>
            </a:r>
            <a:r>
              <a:rPr sz="2200" spc="-15" dirty="0">
                <a:latin typeface="Trebuchet MS"/>
                <a:cs typeface="Trebuchet MS"/>
              </a:rPr>
              <a:t>e</a:t>
            </a:r>
            <a:r>
              <a:rPr sz="2200" dirty="0">
                <a:latin typeface="Trebuchet MS"/>
                <a:cs typeface="Trebuchet MS"/>
              </a:rPr>
              <a:t>	</a:t>
            </a:r>
            <a:r>
              <a:rPr sz="2200" spc="240" dirty="0">
                <a:latin typeface="Trebuchet MS"/>
                <a:cs typeface="Trebuchet MS"/>
              </a:rPr>
              <a:t>M</a:t>
            </a:r>
            <a:r>
              <a:rPr sz="2200" spc="200" dirty="0">
                <a:latin typeface="Trebuchet MS"/>
                <a:cs typeface="Trebuchet MS"/>
              </a:rPr>
              <a:t>e</a:t>
            </a:r>
            <a:r>
              <a:rPr sz="2200" spc="70" dirty="0">
                <a:latin typeface="Trebuchet MS"/>
                <a:cs typeface="Trebuchet MS"/>
              </a:rPr>
              <a:t>mS</a:t>
            </a:r>
            <a:r>
              <a:rPr sz="2200" spc="35" dirty="0">
                <a:latin typeface="Trebuchet MS"/>
                <a:cs typeface="Trebuchet MS"/>
              </a:rPr>
              <a:t>t</a:t>
            </a:r>
            <a:r>
              <a:rPr sz="2200" spc="-5" dirty="0">
                <a:latin typeface="Trebuchet MS"/>
                <a:cs typeface="Trebuchet MS"/>
              </a:rPr>
              <a:t>or</a:t>
            </a:r>
            <a:r>
              <a:rPr sz="2200" dirty="0">
                <a:latin typeface="Trebuchet MS"/>
                <a:cs typeface="Trebuchet MS"/>
              </a:rPr>
              <a:t>e	</a:t>
            </a:r>
            <a:r>
              <a:rPr sz="2200" spc="-40" dirty="0">
                <a:latin typeface="Trebuchet MS"/>
                <a:cs typeface="Trebuchet MS"/>
              </a:rPr>
              <a:t>ca</a:t>
            </a:r>
            <a:r>
              <a:rPr sz="2200" spc="-50" dirty="0">
                <a:latin typeface="Trebuchet MS"/>
                <a:cs typeface="Trebuchet MS"/>
              </a:rPr>
              <a:t>c</a:t>
            </a:r>
            <a:r>
              <a:rPr sz="2200" spc="15" dirty="0">
                <a:latin typeface="Trebuchet MS"/>
                <a:cs typeface="Trebuchet MS"/>
              </a:rPr>
              <a:t>h</a:t>
            </a:r>
            <a:r>
              <a:rPr sz="2200" spc="20" dirty="0">
                <a:latin typeface="Trebuchet MS"/>
                <a:cs typeface="Trebuchet MS"/>
              </a:rPr>
              <a:t>e</a:t>
            </a:r>
            <a:r>
              <a:rPr sz="2200" dirty="0">
                <a:latin typeface="Trebuchet MS"/>
                <a:cs typeface="Trebuchet MS"/>
              </a:rPr>
              <a:t>	</a:t>
            </a:r>
            <a:r>
              <a:rPr sz="2200" spc="5" dirty="0">
                <a:latin typeface="Trebuchet MS"/>
                <a:cs typeface="Trebuchet MS"/>
              </a:rPr>
              <a:t>to</a:t>
            </a:r>
            <a:r>
              <a:rPr sz="2200" dirty="0">
                <a:latin typeface="Trebuchet MS"/>
                <a:cs typeface="Trebuchet MS"/>
              </a:rPr>
              <a:t>	</a:t>
            </a:r>
            <a:r>
              <a:rPr sz="2200" spc="-15" dirty="0">
                <a:latin typeface="Trebuchet MS"/>
                <a:cs typeface="Trebuchet MS"/>
              </a:rPr>
              <a:t>the  StoreFile </a:t>
            </a:r>
            <a:r>
              <a:rPr sz="2200" spc="-55" dirty="0">
                <a:latin typeface="Trebuchet MS"/>
                <a:cs typeface="Trebuchet MS"/>
              </a:rPr>
              <a:t>file </a:t>
            </a:r>
            <a:r>
              <a:rPr sz="2200" spc="5" dirty="0">
                <a:latin typeface="Trebuchet MS"/>
                <a:cs typeface="Trebuchet MS"/>
              </a:rPr>
              <a:t>in </a:t>
            </a:r>
            <a:r>
              <a:rPr sz="2200" spc="-15" dirty="0">
                <a:latin typeface="Trebuchet MS"/>
                <a:cs typeface="Trebuchet MS"/>
              </a:rPr>
              <a:t>the </a:t>
            </a:r>
            <a:r>
              <a:rPr sz="2200" spc="-50" dirty="0">
                <a:latin typeface="Trebuchet MS"/>
                <a:cs typeface="Trebuchet MS"/>
              </a:rPr>
              <a:t>disk, </a:t>
            </a:r>
            <a:r>
              <a:rPr sz="2200" spc="-20" dirty="0">
                <a:latin typeface="Trebuchet MS"/>
                <a:cs typeface="Trebuchet MS"/>
              </a:rPr>
              <a:t>clears </a:t>
            </a:r>
            <a:r>
              <a:rPr sz="2200" spc="-15" dirty="0">
                <a:latin typeface="Trebuchet MS"/>
                <a:cs typeface="Trebuchet MS"/>
              </a:rPr>
              <a:t>the </a:t>
            </a:r>
            <a:r>
              <a:rPr sz="2200" spc="-60" dirty="0">
                <a:latin typeface="Trebuchet MS"/>
                <a:cs typeface="Trebuchet MS"/>
              </a:rPr>
              <a:t>cache, </a:t>
            </a:r>
            <a:r>
              <a:rPr sz="2200" spc="55" dirty="0">
                <a:latin typeface="Trebuchet MS"/>
                <a:cs typeface="Trebuchet MS"/>
              </a:rPr>
              <a:t>and </a:t>
            </a:r>
            <a:r>
              <a:rPr sz="2200" spc="-20" dirty="0">
                <a:latin typeface="Trebuchet MS"/>
                <a:cs typeface="Trebuchet MS"/>
              </a:rPr>
              <a:t>writes </a:t>
            </a:r>
            <a:r>
              <a:rPr sz="2200" spc="55" dirty="0">
                <a:latin typeface="Trebuchet MS"/>
                <a:cs typeface="Trebuchet MS"/>
              </a:rPr>
              <a:t>a </a:t>
            </a:r>
            <a:r>
              <a:rPr sz="2200" spc="40" dirty="0">
                <a:latin typeface="Trebuchet MS"/>
                <a:cs typeface="Trebuchet MS"/>
              </a:rPr>
              <a:t>tag </a:t>
            </a:r>
            <a:r>
              <a:rPr sz="2200" spc="5" dirty="0">
                <a:latin typeface="Trebuchet MS"/>
                <a:cs typeface="Trebuchet MS"/>
              </a:rPr>
              <a:t>in </a:t>
            </a:r>
            <a:r>
              <a:rPr sz="2200" spc="-15" dirty="0">
                <a:latin typeface="Trebuchet MS"/>
                <a:cs typeface="Trebuchet MS"/>
              </a:rPr>
              <a:t>the</a:t>
            </a:r>
            <a:r>
              <a:rPr sz="2200" spc="455" dirty="0">
                <a:latin typeface="Trebuchet MS"/>
                <a:cs typeface="Trebuchet MS"/>
              </a:rPr>
              <a:t> </a:t>
            </a:r>
            <a:r>
              <a:rPr sz="2200" spc="30" dirty="0">
                <a:latin typeface="Trebuchet MS"/>
                <a:cs typeface="Trebuchet MS"/>
              </a:rPr>
              <a:t>HLog.</a:t>
            </a:r>
            <a:endParaRPr sz="2200" dirty="0">
              <a:latin typeface="Trebuchet MS"/>
              <a:cs typeface="Trebuchet MS"/>
            </a:endParaRPr>
          </a:p>
        </p:txBody>
      </p:sp>
      <p:sp>
        <p:nvSpPr>
          <p:cNvPr id="5" name="object 5"/>
          <p:cNvSpPr txBox="1"/>
          <p:nvPr/>
        </p:nvSpPr>
        <p:spPr>
          <a:xfrm>
            <a:off x="799287" y="2330323"/>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6" name="object 6"/>
          <p:cNvSpPr txBox="1"/>
          <p:nvPr/>
        </p:nvSpPr>
        <p:spPr>
          <a:xfrm>
            <a:off x="1101039" y="2116352"/>
            <a:ext cx="10292080" cy="964565"/>
          </a:xfrm>
          <a:prstGeom prst="rect">
            <a:avLst/>
          </a:prstGeom>
        </p:spPr>
        <p:txBody>
          <a:bodyPr vert="horz" wrap="square" lIns="0" tIns="12700" rIns="0" bIns="0" rtlCol="0">
            <a:spAutoFit/>
          </a:bodyPr>
          <a:lstStyle/>
          <a:p>
            <a:pPr marL="12700" marR="5080">
              <a:lnSpc>
                <a:spcPct val="140000"/>
              </a:lnSpc>
              <a:spcBef>
                <a:spcPts val="100"/>
              </a:spcBef>
              <a:tabLst>
                <a:tab pos="343535" algn="l"/>
                <a:tab pos="1021715" algn="l"/>
                <a:tab pos="2279015" algn="l"/>
                <a:tab pos="2820035" algn="l"/>
                <a:tab pos="3158490" algn="l"/>
                <a:tab pos="4594225" algn="l"/>
                <a:tab pos="5335905" algn="l"/>
                <a:tab pos="6057265" algn="l"/>
                <a:tab pos="6775450" algn="l"/>
                <a:tab pos="7113270" algn="l"/>
                <a:tab pos="8238490" algn="l"/>
                <a:tab pos="9686290" algn="l"/>
              </a:tabLst>
            </a:pPr>
            <a:r>
              <a:rPr sz="2200" spc="140" dirty="0">
                <a:latin typeface="Trebuchet MS"/>
                <a:cs typeface="Trebuchet MS"/>
              </a:rPr>
              <a:t>A	</a:t>
            </a:r>
            <a:r>
              <a:rPr sz="2200" spc="10" dirty="0">
                <a:latin typeface="Trebuchet MS"/>
                <a:cs typeface="Trebuchet MS"/>
              </a:rPr>
              <a:t>n</a:t>
            </a:r>
            <a:r>
              <a:rPr sz="2200" spc="20" dirty="0">
                <a:latin typeface="Trebuchet MS"/>
                <a:cs typeface="Trebuchet MS"/>
              </a:rPr>
              <a:t>e</a:t>
            </a:r>
            <a:r>
              <a:rPr sz="2200" spc="85" dirty="0">
                <a:latin typeface="Trebuchet MS"/>
                <a:cs typeface="Trebuchet MS"/>
              </a:rPr>
              <a:t>w</a:t>
            </a:r>
            <a:r>
              <a:rPr sz="2200" dirty="0">
                <a:latin typeface="Trebuchet MS"/>
                <a:cs typeface="Trebuchet MS"/>
              </a:rPr>
              <a:t>	</a:t>
            </a:r>
            <a:r>
              <a:rPr sz="2200" spc="125" dirty="0">
                <a:latin typeface="Trebuchet MS"/>
                <a:cs typeface="Trebuchet MS"/>
              </a:rPr>
              <a:t>S</a:t>
            </a:r>
            <a:r>
              <a:rPr sz="2200" spc="-5" dirty="0">
                <a:latin typeface="Trebuchet MS"/>
                <a:cs typeface="Trebuchet MS"/>
              </a:rPr>
              <a:t>t</a:t>
            </a:r>
            <a:r>
              <a:rPr sz="2200" spc="-10" dirty="0">
                <a:latin typeface="Trebuchet MS"/>
                <a:cs typeface="Trebuchet MS"/>
              </a:rPr>
              <a:t>o</a:t>
            </a:r>
            <a:r>
              <a:rPr sz="2200" spc="-20" dirty="0">
                <a:latin typeface="Trebuchet MS"/>
                <a:cs typeface="Trebuchet MS"/>
              </a:rPr>
              <a:t>r</a:t>
            </a:r>
            <a:r>
              <a:rPr sz="2200" spc="-45" dirty="0">
                <a:latin typeface="Trebuchet MS"/>
                <a:cs typeface="Trebuchet MS"/>
              </a:rPr>
              <a:t>e</a:t>
            </a:r>
            <a:r>
              <a:rPr sz="2200" spc="-50" dirty="0">
                <a:latin typeface="Trebuchet MS"/>
                <a:cs typeface="Trebuchet MS"/>
              </a:rPr>
              <a:t>F</a:t>
            </a:r>
            <a:r>
              <a:rPr sz="2200" spc="-20" dirty="0">
                <a:latin typeface="Trebuchet MS"/>
                <a:cs typeface="Trebuchet MS"/>
              </a:rPr>
              <a:t>i</a:t>
            </a:r>
            <a:r>
              <a:rPr sz="2200" spc="-45" dirty="0">
                <a:latin typeface="Trebuchet MS"/>
                <a:cs typeface="Trebuchet MS"/>
              </a:rPr>
              <a:t>le</a:t>
            </a:r>
            <a:r>
              <a:rPr sz="2200" dirty="0">
                <a:latin typeface="Trebuchet MS"/>
                <a:cs typeface="Trebuchet MS"/>
              </a:rPr>
              <a:t>	</a:t>
            </a:r>
            <a:r>
              <a:rPr sz="2200" spc="-50" dirty="0">
                <a:latin typeface="Trebuchet MS"/>
                <a:cs typeface="Trebuchet MS"/>
              </a:rPr>
              <a:t>fil</a:t>
            </a:r>
            <a:r>
              <a:rPr sz="2200" spc="-75" dirty="0">
                <a:latin typeface="Trebuchet MS"/>
                <a:cs typeface="Trebuchet MS"/>
              </a:rPr>
              <a:t>e</a:t>
            </a:r>
            <a:r>
              <a:rPr sz="2200" dirty="0">
                <a:latin typeface="Trebuchet MS"/>
                <a:cs typeface="Trebuchet MS"/>
              </a:rPr>
              <a:t>	</a:t>
            </a:r>
            <a:r>
              <a:rPr sz="2200" spc="-15" dirty="0">
                <a:latin typeface="Trebuchet MS"/>
                <a:cs typeface="Trebuchet MS"/>
              </a:rPr>
              <a:t>is</a:t>
            </a:r>
            <a:r>
              <a:rPr sz="2200" dirty="0">
                <a:latin typeface="Trebuchet MS"/>
                <a:cs typeface="Trebuchet MS"/>
              </a:rPr>
              <a:t>	</a:t>
            </a:r>
            <a:r>
              <a:rPr sz="2200" spc="30" dirty="0">
                <a:latin typeface="Trebuchet MS"/>
                <a:cs typeface="Trebuchet MS"/>
              </a:rPr>
              <a:t>gen</a:t>
            </a:r>
            <a:r>
              <a:rPr sz="2200" spc="45" dirty="0">
                <a:latin typeface="Trebuchet MS"/>
                <a:cs typeface="Trebuchet MS"/>
              </a:rPr>
              <a:t>e</a:t>
            </a:r>
            <a:r>
              <a:rPr sz="2200" spc="-15" dirty="0">
                <a:latin typeface="Trebuchet MS"/>
                <a:cs typeface="Trebuchet MS"/>
              </a:rPr>
              <a:t>rated</a:t>
            </a:r>
            <a:r>
              <a:rPr sz="2200" dirty="0">
                <a:latin typeface="Trebuchet MS"/>
                <a:cs typeface="Trebuchet MS"/>
              </a:rPr>
              <a:t>	</a:t>
            </a:r>
            <a:r>
              <a:rPr sz="2200" spc="-45" dirty="0">
                <a:latin typeface="Trebuchet MS"/>
                <a:cs typeface="Trebuchet MS"/>
              </a:rPr>
              <a:t>e</a:t>
            </a:r>
            <a:r>
              <a:rPr sz="2200" spc="10" dirty="0">
                <a:latin typeface="Trebuchet MS"/>
                <a:cs typeface="Trebuchet MS"/>
              </a:rPr>
              <a:t>ac</a:t>
            </a:r>
            <a:r>
              <a:rPr sz="2200" spc="20" dirty="0">
                <a:latin typeface="Trebuchet MS"/>
                <a:cs typeface="Trebuchet MS"/>
              </a:rPr>
              <a:t>h</a:t>
            </a:r>
            <a:r>
              <a:rPr sz="2200" dirty="0">
                <a:latin typeface="Trebuchet MS"/>
                <a:cs typeface="Trebuchet MS"/>
              </a:rPr>
              <a:t>	</a:t>
            </a:r>
            <a:r>
              <a:rPr sz="2200" spc="-15" dirty="0">
                <a:latin typeface="Trebuchet MS"/>
                <a:cs typeface="Trebuchet MS"/>
              </a:rPr>
              <a:t>tim</a:t>
            </a:r>
            <a:r>
              <a:rPr sz="2200" spc="-10" dirty="0">
                <a:latin typeface="Trebuchet MS"/>
                <a:cs typeface="Trebuchet MS"/>
              </a:rPr>
              <a:t>e</a:t>
            </a:r>
            <a:r>
              <a:rPr sz="2200" dirty="0">
                <a:latin typeface="Trebuchet MS"/>
                <a:cs typeface="Trebuchet MS"/>
              </a:rPr>
              <a:t>	</a:t>
            </a:r>
            <a:r>
              <a:rPr sz="2200" spc="45" dirty="0">
                <a:latin typeface="Trebuchet MS"/>
                <a:cs typeface="Trebuchet MS"/>
              </a:rPr>
              <a:t>d</a:t>
            </a:r>
            <a:r>
              <a:rPr sz="2200" spc="50" dirty="0">
                <a:latin typeface="Trebuchet MS"/>
                <a:cs typeface="Trebuchet MS"/>
              </a:rPr>
              <a:t>a</a:t>
            </a:r>
            <a:r>
              <a:rPr sz="2200" spc="-15" dirty="0">
                <a:latin typeface="Trebuchet MS"/>
                <a:cs typeface="Trebuchet MS"/>
              </a:rPr>
              <a:t>t</a:t>
            </a:r>
            <a:r>
              <a:rPr sz="2200" spc="-10" dirty="0">
                <a:latin typeface="Trebuchet MS"/>
                <a:cs typeface="Trebuchet MS"/>
              </a:rPr>
              <a:t>a</a:t>
            </a:r>
            <a:r>
              <a:rPr sz="2200" dirty="0">
                <a:latin typeface="Trebuchet MS"/>
                <a:cs typeface="Trebuchet MS"/>
              </a:rPr>
              <a:t>	</a:t>
            </a:r>
            <a:r>
              <a:rPr sz="2200" spc="-15" dirty="0">
                <a:latin typeface="Trebuchet MS"/>
                <a:cs typeface="Trebuchet MS"/>
              </a:rPr>
              <a:t>is</a:t>
            </a:r>
            <a:r>
              <a:rPr sz="2200" dirty="0">
                <a:latin typeface="Trebuchet MS"/>
                <a:cs typeface="Trebuchet MS"/>
              </a:rPr>
              <a:t>	</a:t>
            </a:r>
            <a:r>
              <a:rPr sz="2200" spc="35" dirty="0">
                <a:latin typeface="Trebuchet MS"/>
                <a:cs typeface="Trebuchet MS"/>
              </a:rPr>
              <a:t>w</a:t>
            </a:r>
            <a:r>
              <a:rPr sz="2200" spc="30" dirty="0">
                <a:latin typeface="Trebuchet MS"/>
                <a:cs typeface="Trebuchet MS"/>
              </a:rPr>
              <a:t>r</a:t>
            </a:r>
            <a:r>
              <a:rPr sz="2200" spc="-35" dirty="0">
                <a:latin typeface="Trebuchet MS"/>
                <a:cs typeface="Trebuchet MS"/>
              </a:rPr>
              <a:t>itten</a:t>
            </a:r>
            <a:r>
              <a:rPr sz="2200" spc="-305" dirty="0">
                <a:latin typeface="Trebuchet MS"/>
                <a:cs typeface="Trebuchet MS"/>
              </a:rPr>
              <a:t>.</a:t>
            </a:r>
            <a:r>
              <a:rPr sz="2200" dirty="0">
                <a:latin typeface="Trebuchet MS"/>
                <a:cs typeface="Trebuchet MS"/>
              </a:rPr>
              <a:t>	</a:t>
            </a:r>
            <a:r>
              <a:rPr sz="2200" spc="-15" dirty="0">
                <a:latin typeface="Trebuchet MS"/>
                <a:cs typeface="Trebuchet MS"/>
              </a:rPr>
              <a:t>The</a:t>
            </a:r>
            <a:r>
              <a:rPr sz="2200" spc="-5" dirty="0">
                <a:latin typeface="Trebuchet MS"/>
                <a:cs typeface="Trebuchet MS"/>
              </a:rPr>
              <a:t>r</a:t>
            </a:r>
            <a:r>
              <a:rPr sz="2200" spc="-30" dirty="0">
                <a:latin typeface="Trebuchet MS"/>
                <a:cs typeface="Trebuchet MS"/>
              </a:rPr>
              <a:t>e</a:t>
            </a:r>
            <a:r>
              <a:rPr sz="2200" spc="-75" dirty="0">
                <a:latin typeface="Trebuchet MS"/>
                <a:cs typeface="Trebuchet MS"/>
              </a:rPr>
              <a:t>fore</a:t>
            </a:r>
            <a:r>
              <a:rPr sz="2200" spc="-55" dirty="0">
                <a:latin typeface="Trebuchet MS"/>
                <a:cs typeface="Trebuchet MS"/>
              </a:rPr>
              <a:t>,</a:t>
            </a:r>
            <a:r>
              <a:rPr sz="2200" dirty="0">
                <a:latin typeface="Trebuchet MS"/>
                <a:cs typeface="Trebuchet MS"/>
              </a:rPr>
              <a:t>	</a:t>
            </a:r>
            <a:r>
              <a:rPr sz="2200" spc="-45" dirty="0">
                <a:latin typeface="Trebuchet MS"/>
                <a:cs typeface="Trebuchet MS"/>
              </a:rPr>
              <a:t>e</a:t>
            </a:r>
            <a:r>
              <a:rPr sz="2200" spc="10" dirty="0">
                <a:latin typeface="Trebuchet MS"/>
                <a:cs typeface="Trebuchet MS"/>
              </a:rPr>
              <a:t>ach  </a:t>
            </a:r>
            <a:r>
              <a:rPr sz="2200" spc="5" dirty="0">
                <a:latin typeface="Trebuchet MS"/>
                <a:cs typeface="Trebuchet MS"/>
              </a:rPr>
              <a:t>Store </a:t>
            </a:r>
            <a:r>
              <a:rPr sz="2200" spc="10" dirty="0">
                <a:latin typeface="Trebuchet MS"/>
                <a:cs typeface="Trebuchet MS"/>
              </a:rPr>
              <a:t>contains </a:t>
            </a:r>
            <a:r>
              <a:rPr sz="2200" spc="-10" dirty="0">
                <a:latin typeface="Trebuchet MS"/>
                <a:cs typeface="Trebuchet MS"/>
              </a:rPr>
              <a:t>multiple </a:t>
            </a:r>
            <a:r>
              <a:rPr sz="2200" spc="-15" dirty="0">
                <a:latin typeface="Trebuchet MS"/>
                <a:cs typeface="Trebuchet MS"/>
              </a:rPr>
              <a:t>StoreFile</a:t>
            </a:r>
            <a:r>
              <a:rPr sz="2200" spc="135" dirty="0">
                <a:latin typeface="Trebuchet MS"/>
                <a:cs typeface="Trebuchet MS"/>
              </a:rPr>
              <a:t> </a:t>
            </a:r>
            <a:r>
              <a:rPr sz="2200" spc="-80" dirty="0">
                <a:latin typeface="Trebuchet MS"/>
                <a:cs typeface="Trebuchet MS"/>
              </a:rPr>
              <a:t>files.</a:t>
            </a:r>
            <a:endParaRPr sz="2200">
              <a:latin typeface="Trebuchet MS"/>
              <a:cs typeface="Trebuchet MS"/>
            </a:endParaRPr>
          </a:p>
        </p:txBody>
      </p:sp>
      <p:sp>
        <p:nvSpPr>
          <p:cNvPr id="7" name="object 7"/>
          <p:cNvSpPr txBox="1"/>
          <p:nvPr/>
        </p:nvSpPr>
        <p:spPr>
          <a:xfrm>
            <a:off x="799287" y="3370910"/>
            <a:ext cx="130810" cy="194310"/>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8" name="object 8"/>
          <p:cNvSpPr txBox="1"/>
          <p:nvPr/>
        </p:nvSpPr>
        <p:spPr>
          <a:xfrm>
            <a:off x="1101039" y="3157499"/>
            <a:ext cx="10295255" cy="2371725"/>
          </a:xfrm>
          <a:prstGeom prst="rect">
            <a:avLst/>
          </a:prstGeom>
        </p:spPr>
        <p:txBody>
          <a:bodyPr vert="horz" wrap="square" lIns="0" tIns="12700" rIns="0" bIns="0" rtlCol="0">
            <a:spAutoFit/>
          </a:bodyPr>
          <a:lstStyle/>
          <a:p>
            <a:pPr marL="12700" marR="5080" algn="just">
              <a:lnSpc>
                <a:spcPct val="139900"/>
              </a:lnSpc>
              <a:spcBef>
                <a:spcPts val="100"/>
              </a:spcBef>
            </a:pPr>
            <a:r>
              <a:rPr sz="2200" spc="15" dirty="0">
                <a:latin typeface="Trebuchet MS"/>
                <a:cs typeface="Trebuchet MS"/>
              </a:rPr>
              <a:t>Each </a:t>
            </a:r>
            <a:r>
              <a:rPr sz="2200" spc="30" dirty="0">
                <a:latin typeface="Trebuchet MS"/>
                <a:cs typeface="Trebuchet MS"/>
              </a:rPr>
              <a:t>HRegionServer </a:t>
            </a:r>
            <a:r>
              <a:rPr sz="2200" spc="55" dirty="0">
                <a:latin typeface="Trebuchet MS"/>
                <a:cs typeface="Trebuchet MS"/>
              </a:rPr>
              <a:t>has </a:t>
            </a:r>
            <a:r>
              <a:rPr sz="2200" spc="-35" dirty="0">
                <a:latin typeface="Trebuchet MS"/>
                <a:cs typeface="Trebuchet MS"/>
              </a:rPr>
              <a:t>its </a:t>
            </a:r>
            <a:r>
              <a:rPr sz="2200" spc="80" dirty="0">
                <a:latin typeface="Trebuchet MS"/>
                <a:cs typeface="Trebuchet MS"/>
              </a:rPr>
              <a:t>own </a:t>
            </a:r>
            <a:r>
              <a:rPr sz="2200" spc="110" dirty="0">
                <a:latin typeface="Trebuchet MS"/>
                <a:cs typeface="Trebuchet MS"/>
              </a:rPr>
              <a:t>HLog </a:t>
            </a:r>
            <a:r>
              <a:rPr sz="2200" spc="-105" dirty="0">
                <a:latin typeface="Trebuchet MS"/>
                <a:cs typeface="Trebuchet MS"/>
              </a:rPr>
              <a:t>file. </a:t>
            </a:r>
            <a:r>
              <a:rPr sz="2200" spc="15" dirty="0">
                <a:latin typeface="Trebuchet MS"/>
                <a:cs typeface="Trebuchet MS"/>
              </a:rPr>
              <a:t>Each </a:t>
            </a:r>
            <a:r>
              <a:rPr sz="2200" spc="-10" dirty="0">
                <a:latin typeface="Trebuchet MS"/>
                <a:cs typeface="Trebuchet MS"/>
              </a:rPr>
              <a:t>time </a:t>
            </a:r>
            <a:r>
              <a:rPr sz="2200" spc="-15" dirty="0">
                <a:latin typeface="Trebuchet MS"/>
                <a:cs typeface="Trebuchet MS"/>
              </a:rPr>
              <a:t>the </a:t>
            </a:r>
            <a:r>
              <a:rPr sz="2200" spc="35" dirty="0">
                <a:latin typeface="Trebuchet MS"/>
                <a:cs typeface="Trebuchet MS"/>
              </a:rPr>
              <a:t>HRegionServer </a:t>
            </a:r>
            <a:r>
              <a:rPr sz="2200" spc="-15" dirty="0">
                <a:latin typeface="Trebuchet MS"/>
                <a:cs typeface="Trebuchet MS"/>
              </a:rPr>
              <a:t>is  </a:t>
            </a:r>
            <a:r>
              <a:rPr sz="2200" spc="-55" dirty="0">
                <a:latin typeface="Trebuchet MS"/>
                <a:cs typeface="Trebuchet MS"/>
              </a:rPr>
              <a:t>started, </a:t>
            </a:r>
            <a:r>
              <a:rPr sz="2200" spc="-15" dirty="0">
                <a:latin typeface="Trebuchet MS"/>
                <a:cs typeface="Trebuchet MS"/>
              </a:rPr>
              <a:t>the </a:t>
            </a:r>
            <a:r>
              <a:rPr sz="2200" spc="110" dirty="0">
                <a:latin typeface="Trebuchet MS"/>
                <a:cs typeface="Trebuchet MS"/>
              </a:rPr>
              <a:t>HLog </a:t>
            </a:r>
            <a:r>
              <a:rPr sz="2200" spc="-55" dirty="0">
                <a:latin typeface="Trebuchet MS"/>
                <a:cs typeface="Trebuchet MS"/>
              </a:rPr>
              <a:t>file </a:t>
            </a:r>
            <a:r>
              <a:rPr sz="2200" spc="-15" dirty="0">
                <a:latin typeface="Trebuchet MS"/>
                <a:cs typeface="Trebuchet MS"/>
              </a:rPr>
              <a:t>is checked </a:t>
            </a:r>
            <a:r>
              <a:rPr sz="2200" dirty="0">
                <a:latin typeface="Trebuchet MS"/>
                <a:cs typeface="Trebuchet MS"/>
              </a:rPr>
              <a:t>to </a:t>
            </a:r>
            <a:r>
              <a:rPr sz="2200" spc="10" dirty="0">
                <a:latin typeface="Trebuchet MS"/>
                <a:cs typeface="Trebuchet MS"/>
              </a:rPr>
              <a:t>confirm </a:t>
            </a:r>
            <a:r>
              <a:rPr sz="2200" spc="-15" dirty="0">
                <a:latin typeface="Trebuchet MS"/>
                <a:cs typeface="Trebuchet MS"/>
              </a:rPr>
              <a:t>the </a:t>
            </a:r>
            <a:r>
              <a:rPr sz="2200" spc="-30" dirty="0">
                <a:latin typeface="Trebuchet MS"/>
                <a:cs typeface="Trebuchet MS"/>
              </a:rPr>
              <a:t>latest </a:t>
            </a:r>
            <a:r>
              <a:rPr sz="2200" spc="-35" dirty="0">
                <a:latin typeface="Trebuchet MS"/>
                <a:cs typeface="Trebuchet MS"/>
              </a:rPr>
              <a:t>startup. </a:t>
            </a:r>
            <a:r>
              <a:rPr sz="2200" dirty="0">
                <a:latin typeface="Trebuchet MS"/>
                <a:cs typeface="Trebuchet MS"/>
              </a:rPr>
              <a:t>Check </a:t>
            </a:r>
            <a:r>
              <a:rPr sz="2200" spc="5" dirty="0">
                <a:latin typeface="Trebuchet MS"/>
                <a:cs typeface="Trebuchet MS"/>
              </a:rPr>
              <a:t>whether </a:t>
            </a:r>
            <a:r>
              <a:rPr sz="2200" spc="55" dirty="0">
                <a:latin typeface="Trebuchet MS"/>
                <a:cs typeface="Trebuchet MS"/>
              </a:rPr>
              <a:t>a  </a:t>
            </a:r>
            <a:r>
              <a:rPr sz="2200" spc="40" dirty="0">
                <a:latin typeface="Trebuchet MS"/>
                <a:cs typeface="Trebuchet MS"/>
              </a:rPr>
              <a:t>new </a:t>
            </a:r>
            <a:r>
              <a:rPr sz="2200" spc="-25" dirty="0">
                <a:latin typeface="Trebuchet MS"/>
                <a:cs typeface="Trebuchet MS"/>
              </a:rPr>
              <a:t>write </a:t>
            </a:r>
            <a:r>
              <a:rPr sz="2200" spc="10" dirty="0">
                <a:latin typeface="Trebuchet MS"/>
                <a:cs typeface="Trebuchet MS"/>
              </a:rPr>
              <a:t>operation </a:t>
            </a:r>
            <a:r>
              <a:rPr sz="2200" spc="-15" dirty="0">
                <a:latin typeface="Trebuchet MS"/>
                <a:cs typeface="Trebuchet MS"/>
              </a:rPr>
              <a:t>is </a:t>
            </a:r>
            <a:r>
              <a:rPr sz="2200" spc="10" dirty="0">
                <a:latin typeface="Trebuchet MS"/>
                <a:cs typeface="Trebuchet MS"/>
              </a:rPr>
              <a:t>performed </a:t>
            </a:r>
            <a:r>
              <a:rPr sz="2200" spc="-35" dirty="0">
                <a:latin typeface="Trebuchet MS"/>
                <a:cs typeface="Trebuchet MS"/>
              </a:rPr>
              <a:t>after </a:t>
            </a:r>
            <a:r>
              <a:rPr sz="2200" spc="-15" dirty="0">
                <a:latin typeface="Trebuchet MS"/>
                <a:cs typeface="Trebuchet MS"/>
              </a:rPr>
              <a:t>the cache is </a:t>
            </a:r>
            <a:r>
              <a:rPr sz="2200" spc="-40" dirty="0">
                <a:latin typeface="Trebuchet MS"/>
                <a:cs typeface="Trebuchet MS"/>
              </a:rPr>
              <a:t>refreshed. </a:t>
            </a:r>
            <a:r>
              <a:rPr sz="2200" spc="-10" dirty="0">
                <a:latin typeface="Trebuchet MS"/>
                <a:cs typeface="Trebuchet MS"/>
              </a:rPr>
              <a:t>If </a:t>
            </a:r>
            <a:r>
              <a:rPr sz="2200" spc="65" dirty="0">
                <a:latin typeface="Trebuchet MS"/>
                <a:cs typeface="Trebuchet MS"/>
              </a:rPr>
              <a:t>an </a:t>
            </a:r>
            <a:r>
              <a:rPr sz="2200" spc="10" dirty="0">
                <a:latin typeface="Trebuchet MS"/>
                <a:cs typeface="Trebuchet MS"/>
              </a:rPr>
              <a:t>update </a:t>
            </a:r>
            <a:r>
              <a:rPr sz="2200" spc="-15" dirty="0">
                <a:latin typeface="Trebuchet MS"/>
                <a:cs typeface="Trebuchet MS"/>
              </a:rPr>
              <a:t>is  </a:t>
            </a:r>
            <a:r>
              <a:rPr sz="2200" spc="-65" dirty="0">
                <a:latin typeface="Trebuchet MS"/>
                <a:cs typeface="Trebuchet MS"/>
              </a:rPr>
              <a:t>detected, </a:t>
            </a:r>
            <a:r>
              <a:rPr sz="2200" spc="-15" dirty="0">
                <a:latin typeface="Trebuchet MS"/>
                <a:cs typeface="Trebuchet MS"/>
              </a:rPr>
              <a:t>the </a:t>
            </a:r>
            <a:r>
              <a:rPr sz="2200" spc="15" dirty="0">
                <a:latin typeface="Trebuchet MS"/>
                <a:cs typeface="Trebuchet MS"/>
              </a:rPr>
              <a:t>data </a:t>
            </a:r>
            <a:r>
              <a:rPr sz="2200" spc="-15" dirty="0">
                <a:latin typeface="Trebuchet MS"/>
                <a:cs typeface="Trebuchet MS"/>
              </a:rPr>
              <a:t>is </a:t>
            </a:r>
            <a:r>
              <a:rPr sz="2200" spc="-20" dirty="0">
                <a:latin typeface="Trebuchet MS"/>
                <a:cs typeface="Trebuchet MS"/>
              </a:rPr>
              <a:t>written </a:t>
            </a:r>
            <a:r>
              <a:rPr sz="2200" dirty="0">
                <a:latin typeface="Trebuchet MS"/>
                <a:cs typeface="Trebuchet MS"/>
              </a:rPr>
              <a:t>to </a:t>
            </a:r>
            <a:r>
              <a:rPr sz="2200" spc="75" dirty="0">
                <a:latin typeface="Trebuchet MS"/>
                <a:cs typeface="Trebuchet MS"/>
              </a:rPr>
              <a:t>MemStore </a:t>
            </a:r>
            <a:r>
              <a:rPr sz="2200" spc="55" dirty="0">
                <a:latin typeface="Trebuchet MS"/>
                <a:cs typeface="Trebuchet MS"/>
              </a:rPr>
              <a:t>and </a:t>
            </a:r>
            <a:r>
              <a:rPr sz="2200" spc="5" dirty="0">
                <a:latin typeface="Trebuchet MS"/>
                <a:cs typeface="Trebuchet MS"/>
              </a:rPr>
              <a:t>then </a:t>
            </a:r>
            <a:r>
              <a:rPr sz="2200" dirty="0">
                <a:latin typeface="Trebuchet MS"/>
                <a:cs typeface="Trebuchet MS"/>
              </a:rPr>
              <a:t>to </a:t>
            </a:r>
            <a:r>
              <a:rPr sz="2200" spc="-40" dirty="0">
                <a:latin typeface="Trebuchet MS"/>
                <a:cs typeface="Trebuchet MS"/>
              </a:rPr>
              <a:t>StoreFile. </a:t>
            </a:r>
            <a:r>
              <a:rPr sz="2200" spc="30" dirty="0">
                <a:latin typeface="Trebuchet MS"/>
                <a:cs typeface="Trebuchet MS"/>
              </a:rPr>
              <a:t>At </a:t>
            </a:r>
            <a:r>
              <a:rPr sz="2200" spc="-65" dirty="0">
                <a:latin typeface="Trebuchet MS"/>
                <a:cs typeface="Trebuchet MS"/>
              </a:rPr>
              <a:t>last, </a:t>
            </a:r>
            <a:r>
              <a:rPr sz="2200" spc="-15" dirty="0">
                <a:latin typeface="Trebuchet MS"/>
                <a:cs typeface="Trebuchet MS"/>
              </a:rPr>
              <a:t>the </a:t>
            </a:r>
            <a:r>
              <a:rPr sz="2200" spc="15" dirty="0">
                <a:latin typeface="Trebuchet MS"/>
                <a:cs typeface="Trebuchet MS"/>
              </a:rPr>
              <a:t>old  </a:t>
            </a:r>
            <a:r>
              <a:rPr sz="2200" spc="110" dirty="0">
                <a:latin typeface="Trebuchet MS"/>
                <a:cs typeface="Trebuchet MS"/>
              </a:rPr>
              <a:t>HLog </a:t>
            </a:r>
            <a:r>
              <a:rPr sz="2200" spc="-55" dirty="0">
                <a:latin typeface="Trebuchet MS"/>
                <a:cs typeface="Trebuchet MS"/>
              </a:rPr>
              <a:t>file </a:t>
            </a:r>
            <a:r>
              <a:rPr sz="2200" spc="-15" dirty="0">
                <a:latin typeface="Trebuchet MS"/>
                <a:cs typeface="Trebuchet MS"/>
              </a:rPr>
              <a:t>is </a:t>
            </a:r>
            <a:r>
              <a:rPr sz="2200" spc="-60" dirty="0">
                <a:latin typeface="Trebuchet MS"/>
                <a:cs typeface="Trebuchet MS"/>
              </a:rPr>
              <a:t>deleted, </a:t>
            </a:r>
            <a:r>
              <a:rPr sz="2200" spc="55" dirty="0">
                <a:latin typeface="Trebuchet MS"/>
                <a:cs typeface="Trebuchet MS"/>
              </a:rPr>
              <a:t>and </a:t>
            </a:r>
            <a:r>
              <a:rPr sz="2200" spc="30" dirty="0">
                <a:latin typeface="Trebuchet MS"/>
                <a:cs typeface="Trebuchet MS"/>
              </a:rPr>
              <a:t>HRegionServer </a:t>
            </a:r>
            <a:r>
              <a:rPr sz="2200" spc="5" dirty="0">
                <a:latin typeface="Trebuchet MS"/>
                <a:cs typeface="Trebuchet MS"/>
              </a:rPr>
              <a:t>provides </a:t>
            </a:r>
            <a:r>
              <a:rPr sz="2200" spc="-25" dirty="0">
                <a:latin typeface="Trebuchet MS"/>
                <a:cs typeface="Trebuchet MS"/>
              </a:rPr>
              <a:t>services </a:t>
            </a:r>
            <a:r>
              <a:rPr sz="2200" spc="-5" dirty="0">
                <a:latin typeface="Trebuchet MS"/>
                <a:cs typeface="Trebuchet MS"/>
              </a:rPr>
              <a:t>for</a:t>
            </a:r>
            <a:r>
              <a:rPr sz="2200" spc="185" dirty="0">
                <a:latin typeface="Trebuchet MS"/>
                <a:cs typeface="Trebuchet MS"/>
              </a:rPr>
              <a:t> </a:t>
            </a:r>
            <a:r>
              <a:rPr sz="2200" spc="-40" dirty="0">
                <a:latin typeface="Trebuchet MS"/>
                <a:cs typeface="Trebuchet MS"/>
              </a:rPr>
              <a:t>you.</a:t>
            </a:r>
            <a:endParaRPr sz="2200" dirty="0">
              <a:latin typeface="Trebuchet MS"/>
              <a:cs typeface="Trebuchet MS"/>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3487420" cy="513715"/>
          </a:xfrm>
          <a:prstGeom prst="rect">
            <a:avLst/>
          </a:prstGeom>
        </p:spPr>
        <p:txBody>
          <a:bodyPr vert="horz" wrap="square" lIns="0" tIns="13335" rIns="0" bIns="0" rtlCol="0">
            <a:spAutoFit/>
          </a:bodyPr>
          <a:lstStyle/>
          <a:p>
            <a:pPr marL="12700">
              <a:lnSpc>
                <a:spcPct val="100000"/>
              </a:lnSpc>
              <a:spcBef>
                <a:spcPts val="105"/>
              </a:spcBef>
            </a:pPr>
            <a:r>
              <a:rPr sz="3200" spc="155" dirty="0">
                <a:solidFill>
                  <a:srgbClr val="000000"/>
                </a:solidFill>
              </a:rPr>
              <a:t>Merging</a:t>
            </a:r>
            <a:r>
              <a:rPr sz="3200" spc="-65" dirty="0">
                <a:solidFill>
                  <a:srgbClr val="000000"/>
                </a:solidFill>
              </a:rPr>
              <a:t> </a:t>
            </a:r>
            <a:r>
              <a:rPr sz="3200" spc="-10" dirty="0">
                <a:solidFill>
                  <a:srgbClr val="000000"/>
                </a:solidFill>
              </a:rPr>
              <a:t>StoreFiles</a:t>
            </a:r>
            <a:endParaRPr sz="3200"/>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30	</a:t>
            </a:r>
            <a:r>
              <a:rPr spc="30" dirty="0"/>
              <a:t>Huawei</a:t>
            </a:r>
            <a:r>
              <a:rPr spc="-10" dirty="0"/>
              <a:t> </a:t>
            </a:r>
            <a:r>
              <a:rPr spc="5" dirty="0"/>
              <a:t>Confidential</a:t>
            </a:r>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101039" y="1076604"/>
            <a:ext cx="10290810" cy="907108"/>
          </a:xfrm>
          <a:prstGeom prst="rect">
            <a:avLst/>
          </a:prstGeom>
        </p:spPr>
        <p:txBody>
          <a:bodyPr vert="horz" wrap="square" lIns="0" tIns="12700" rIns="0" bIns="0" rtlCol="0">
            <a:spAutoFit/>
          </a:bodyPr>
          <a:lstStyle/>
          <a:p>
            <a:pPr marL="12700" marR="5080">
              <a:lnSpc>
                <a:spcPct val="140000"/>
              </a:lnSpc>
              <a:spcBef>
                <a:spcPts val="100"/>
              </a:spcBef>
              <a:tabLst>
                <a:tab pos="337185" algn="l"/>
                <a:tab pos="1009015" algn="l"/>
                <a:tab pos="2257425" algn="l"/>
                <a:tab pos="2588260" algn="l"/>
                <a:tab pos="4016375" algn="l"/>
                <a:tab pos="4751070" algn="l"/>
                <a:tab pos="5464810" algn="l"/>
                <a:tab pos="6177915" algn="l"/>
                <a:tab pos="6508750" algn="l"/>
                <a:tab pos="7644130" algn="l"/>
                <a:tab pos="8907780" algn="l"/>
                <a:tab pos="9462135" algn="l"/>
              </a:tabLst>
            </a:pPr>
            <a:r>
              <a:rPr sz="2200" u="sng" spc="140" dirty="0">
                <a:latin typeface="Trebuchet MS"/>
                <a:cs typeface="Trebuchet MS"/>
              </a:rPr>
              <a:t>A	</a:t>
            </a:r>
            <a:r>
              <a:rPr sz="2200" u="sng" spc="10" dirty="0">
                <a:latin typeface="Trebuchet MS"/>
                <a:cs typeface="Trebuchet MS"/>
              </a:rPr>
              <a:t>n</a:t>
            </a:r>
            <a:r>
              <a:rPr sz="2200" u="sng" spc="20" dirty="0">
                <a:latin typeface="Trebuchet MS"/>
                <a:cs typeface="Trebuchet MS"/>
              </a:rPr>
              <a:t>e</a:t>
            </a:r>
            <a:r>
              <a:rPr sz="2200" u="sng" spc="85" dirty="0">
                <a:latin typeface="Trebuchet MS"/>
                <a:cs typeface="Trebuchet MS"/>
              </a:rPr>
              <a:t>w</a:t>
            </a:r>
            <a:r>
              <a:rPr sz="2200" u="sng" dirty="0">
                <a:latin typeface="Trebuchet MS"/>
                <a:cs typeface="Trebuchet MS"/>
              </a:rPr>
              <a:t>	</a:t>
            </a:r>
            <a:r>
              <a:rPr sz="2200" u="sng" spc="30" dirty="0">
                <a:latin typeface="Trebuchet MS"/>
                <a:cs typeface="Trebuchet MS"/>
              </a:rPr>
              <a:t>St</a:t>
            </a:r>
            <a:r>
              <a:rPr sz="2200" u="sng" spc="35" dirty="0">
                <a:latin typeface="Trebuchet MS"/>
                <a:cs typeface="Trebuchet MS"/>
              </a:rPr>
              <a:t>o</a:t>
            </a:r>
            <a:r>
              <a:rPr sz="2200" u="sng" spc="-35" dirty="0">
                <a:latin typeface="Trebuchet MS"/>
                <a:cs typeface="Trebuchet MS"/>
              </a:rPr>
              <a:t>r</a:t>
            </a:r>
            <a:r>
              <a:rPr sz="2200" u="sng" spc="-40" dirty="0">
                <a:latin typeface="Trebuchet MS"/>
                <a:cs typeface="Trebuchet MS"/>
              </a:rPr>
              <a:t>e</a:t>
            </a:r>
            <a:r>
              <a:rPr sz="2200" u="sng" spc="-50" dirty="0">
                <a:latin typeface="Trebuchet MS"/>
                <a:cs typeface="Trebuchet MS"/>
              </a:rPr>
              <a:t>F</a:t>
            </a:r>
            <a:r>
              <a:rPr sz="2200" u="sng" spc="-20" dirty="0">
                <a:latin typeface="Trebuchet MS"/>
                <a:cs typeface="Trebuchet MS"/>
              </a:rPr>
              <a:t>i</a:t>
            </a:r>
            <a:r>
              <a:rPr sz="2200" u="sng" spc="-45" dirty="0">
                <a:latin typeface="Trebuchet MS"/>
                <a:cs typeface="Trebuchet MS"/>
              </a:rPr>
              <a:t>le</a:t>
            </a:r>
            <a:r>
              <a:rPr sz="2200" u="sng" dirty="0">
                <a:latin typeface="Trebuchet MS"/>
                <a:cs typeface="Trebuchet MS"/>
              </a:rPr>
              <a:t>	</a:t>
            </a:r>
            <a:r>
              <a:rPr sz="2200" u="sng" spc="-15" dirty="0">
                <a:latin typeface="Trebuchet MS"/>
                <a:cs typeface="Trebuchet MS"/>
              </a:rPr>
              <a:t>is</a:t>
            </a:r>
            <a:r>
              <a:rPr sz="2200" u="sng" dirty="0">
                <a:latin typeface="Trebuchet MS"/>
                <a:cs typeface="Trebuchet MS"/>
              </a:rPr>
              <a:t>	</a:t>
            </a:r>
            <a:r>
              <a:rPr sz="2200" u="sng" spc="30" dirty="0">
                <a:latin typeface="Trebuchet MS"/>
                <a:cs typeface="Trebuchet MS"/>
              </a:rPr>
              <a:t>gen</a:t>
            </a:r>
            <a:r>
              <a:rPr sz="2200" u="sng" spc="45" dirty="0">
                <a:latin typeface="Trebuchet MS"/>
                <a:cs typeface="Trebuchet MS"/>
              </a:rPr>
              <a:t>e</a:t>
            </a:r>
            <a:r>
              <a:rPr sz="2200" u="sng" spc="-15" dirty="0">
                <a:latin typeface="Trebuchet MS"/>
                <a:cs typeface="Trebuchet MS"/>
              </a:rPr>
              <a:t>rated</a:t>
            </a:r>
            <a:r>
              <a:rPr sz="2200" u="sng" dirty="0">
                <a:latin typeface="Trebuchet MS"/>
                <a:cs typeface="Trebuchet MS"/>
              </a:rPr>
              <a:t>	</a:t>
            </a:r>
            <a:r>
              <a:rPr sz="2200" u="sng" spc="-45" dirty="0">
                <a:latin typeface="Trebuchet MS"/>
                <a:cs typeface="Trebuchet MS"/>
              </a:rPr>
              <a:t>e</a:t>
            </a:r>
            <a:r>
              <a:rPr sz="2200" u="sng" spc="10" dirty="0">
                <a:latin typeface="Trebuchet MS"/>
                <a:cs typeface="Trebuchet MS"/>
              </a:rPr>
              <a:t>ac</a:t>
            </a:r>
            <a:r>
              <a:rPr sz="2200" u="sng" spc="20" dirty="0">
                <a:latin typeface="Trebuchet MS"/>
                <a:cs typeface="Trebuchet MS"/>
              </a:rPr>
              <a:t>h</a:t>
            </a:r>
            <a:r>
              <a:rPr sz="2200" u="sng" dirty="0">
                <a:latin typeface="Trebuchet MS"/>
                <a:cs typeface="Trebuchet MS"/>
              </a:rPr>
              <a:t>	</a:t>
            </a:r>
            <a:r>
              <a:rPr sz="2200" u="sng" spc="-15" dirty="0">
                <a:latin typeface="Trebuchet MS"/>
                <a:cs typeface="Trebuchet MS"/>
              </a:rPr>
              <a:t>tim</a:t>
            </a:r>
            <a:r>
              <a:rPr sz="2200" u="sng" spc="-10" dirty="0">
                <a:latin typeface="Trebuchet MS"/>
                <a:cs typeface="Trebuchet MS"/>
              </a:rPr>
              <a:t>e</a:t>
            </a:r>
            <a:r>
              <a:rPr sz="2200" u="sng" dirty="0">
                <a:latin typeface="Trebuchet MS"/>
                <a:cs typeface="Trebuchet MS"/>
              </a:rPr>
              <a:t>	</a:t>
            </a:r>
            <a:r>
              <a:rPr sz="2200" u="sng" spc="40" dirty="0">
                <a:latin typeface="Trebuchet MS"/>
                <a:cs typeface="Trebuchet MS"/>
              </a:rPr>
              <a:t>d</a:t>
            </a:r>
            <a:r>
              <a:rPr sz="2200" u="sng" spc="-15" dirty="0">
                <a:latin typeface="Trebuchet MS"/>
                <a:cs typeface="Trebuchet MS"/>
              </a:rPr>
              <a:t>a</a:t>
            </a:r>
            <a:r>
              <a:rPr sz="2200" u="sng" spc="-20" dirty="0">
                <a:latin typeface="Trebuchet MS"/>
                <a:cs typeface="Trebuchet MS"/>
              </a:rPr>
              <a:t>t</a:t>
            </a:r>
            <a:r>
              <a:rPr sz="2200" u="sng" spc="55" dirty="0">
                <a:latin typeface="Trebuchet MS"/>
                <a:cs typeface="Trebuchet MS"/>
              </a:rPr>
              <a:t>a</a:t>
            </a:r>
            <a:r>
              <a:rPr sz="2200" u="sng" dirty="0">
                <a:latin typeface="Trebuchet MS"/>
                <a:cs typeface="Trebuchet MS"/>
              </a:rPr>
              <a:t>	</a:t>
            </a:r>
            <a:r>
              <a:rPr sz="2200" u="sng" spc="-15" dirty="0">
                <a:latin typeface="Trebuchet MS"/>
                <a:cs typeface="Trebuchet MS"/>
              </a:rPr>
              <a:t>is</a:t>
            </a:r>
            <a:r>
              <a:rPr sz="2200" u="sng" dirty="0">
                <a:latin typeface="Trebuchet MS"/>
                <a:cs typeface="Trebuchet MS"/>
              </a:rPr>
              <a:t>	flu</a:t>
            </a:r>
            <a:r>
              <a:rPr sz="2200" u="sng" spc="-5" dirty="0">
                <a:latin typeface="Trebuchet MS"/>
                <a:cs typeface="Trebuchet MS"/>
              </a:rPr>
              <a:t>s</a:t>
            </a:r>
            <a:r>
              <a:rPr sz="2200" u="sng" spc="-65" dirty="0">
                <a:latin typeface="Trebuchet MS"/>
                <a:cs typeface="Trebuchet MS"/>
              </a:rPr>
              <a:t>hed</a:t>
            </a:r>
            <a:r>
              <a:rPr sz="2200" u="sng" spc="-40" dirty="0">
                <a:latin typeface="Trebuchet MS"/>
                <a:cs typeface="Trebuchet MS"/>
              </a:rPr>
              <a:t>,</a:t>
            </a:r>
            <a:r>
              <a:rPr sz="2200" u="sng" dirty="0">
                <a:latin typeface="Trebuchet MS"/>
                <a:cs typeface="Trebuchet MS"/>
              </a:rPr>
              <a:t>	</a:t>
            </a:r>
            <a:r>
              <a:rPr sz="2200" u="sng" spc="-35" dirty="0">
                <a:latin typeface="Trebuchet MS"/>
                <a:cs typeface="Trebuchet MS"/>
              </a:rPr>
              <a:t>affecti</a:t>
            </a:r>
            <a:r>
              <a:rPr sz="2200" u="sng" spc="-25" dirty="0">
                <a:latin typeface="Trebuchet MS"/>
                <a:cs typeface="Trebuchet MS"/>
              </a:rPr>
              <a:t>n</a:t>
            </a:r>
            <a:r>
              <a:rPr sz="2200" u="sng" spc="155" dirty="0">
                <a:latin typeface="Trebuchet MS"/>
                <a:cs typeface="Trebuchet MS"/>
              </a:rPr>
              <a:t>g</a:t>
            </a:r>
            <a:r>
              <a:rPr sz="2200" u="sng" dirty="0">
                <a:latin typeface="Trebuchet MS"/>
                <a:cs typeface="Trebuchet MS"/>
              </a:rPr>
              <a:t>	</a:t>
            </a:r>
            <a:r>
              <a:rPr sz="2200" u="sng" spc="-75" dirty="0">
                <a:latin typeface="Trebuchet MS"/>
                <a:cs typeface="Trebuchet MS"/>
              </a:rPr>
              <a:t>t</a:t>
            </a:r>
            <a:r>
              <a:rPr sz="2200" u="sng" spc="15" dirty="0">
                <a:latin typeface="Trebuchet MS"/>
                <a:cs typeface="Trebuchet MS"/>
              </a:rPr>
              <a:t>h</a:t>
            </a:r>
            <a:r>
              <a:rPr sz="2200" u="sng" spc="20" dirty="0">
                <a:latin typeface="Trebuchet MS"/>
                <a:cs typeface="Trebuchet MS"/>
              </a:rPr>
              <a:t>e</a:t>
            </a:r>
            <a:r>
              <a:rPr sz="2200" u="sng" dirty="0">
                <a:latin typeface="Trebuchet MS"/>
                <a:cs typeface="Trebuchet MS"/>
              </a:rPr>
              <a:t>	search  </a:t>
            </a:r>
            <a:r>
              <a:rPr sz="2200" u="sng" spc="5" dirty="0">
                <a:latin typeface="Trebuchet MS"/>
                <a:cs typeface="Trebuchet MS"/>
              </a:rPr>
              <a:t>speed </a:t>
            </a:r>
            <a:r>
              <a:rPr sz="2200" u="sng" spc="25" dirty="0">
                <a:latin typeface="Trebuchet MS"/>
                <a:cs typeface="Trebuchet MS"/>
              </a:rPr>
              <a:t>due </a:t>
            </a:r>
            <a:r>
              <a:rPr sz="2200" u="sng" dirty="0">
                <a:latin typeface="Trebuchet MS"/>
                <a:cs typeface="Trebuchet MS"/>
              </a:rPr>
              <a:t>to </a:t>
            </a:r>
            <a:r>
              <a:rPr sz="2200" u="sng" spc="-15" dirty="0">
                <a:latin typeface="Trebuchet MS"/>
                <a:cs typeface="Trebuchet MS"/>
              </a:rPr>
              <a:t>the </a:t>
            </a:r>
            <a:r>
              <a:rPr sz="2200" u="sng" spc="15" dirty="0">
                <a:latin typeface="Trebuchet MS"/>
                <a:cs typeface="Trebuchet MS"/>
              </a:rPr>
              <a:t>large </a:t>
            </a:r>
            <a:r>
              <a:rPr sz="2200" u="sng" spc="40" dirty="0">
                <a:latin typeface="Trebuchet MS"/>
                <a:cs typeface="Trebuchet MS"/>
              </a:rPr>
              <a:t>number </a:t>
            </a:r>
            <a:r>
              <a:rPr sz="2200" u="sng" spc="15" dirty="0">
                <a:latin typeface="Trebuchet MS"/>
                <a:cs typeface="Trebuchet MS"/>
              </a:rPr>
              <a:t>of</a:t>
            </a:r>
            <a:r>
              <a:rPr sz="2200" u="sng" spc="140" dirty="0">
                <a:latin typeface="Trebuchet MS"/>
                <a:cs typeface="Trebuchet MS"/>
              </a:rPr>
              <a:t> </a:t>
            </a:r>
            <a:r>
              <a:rPr sz="2200" u="sng" spc="-35" dirty="0">
                <a:latin typeface="Trebuchet MS"/>
                <a:cs typeface="Trebuchet MS"/>
              </a:rPr>
              <a:t>StoreFiles</a:t>
            </a:r>
            <a:r>
              <a:rPr sz="2200" spc="-35" dirty="0">
                <a:latin typeface="Trebuchet MS"/>
                <a:cs typeface="Trebuchet MS"/>
              </a:rPr>
              <a:t>.</a:t>
            </a:r>
            <a:endParaRPr sz="2200" dirty="0">
              <a:latin typeface="Trebuchet MS"/>
              <a:cs typeface="Trebuchet MS"/>
            </a:endParaRPr>
          </a:p>
        </p:txBody>
      </p:sp>
      <p:sp>
        <p:nvSpPr>
          <p:cNvPr id="5" name="object 5"/>
          <p:cNvSpPr txBox="1"/>
          <p:nvPr/>
        </p:nvSpPr>
        <p:spPr>
          <a:xfrm>
            <a:off x="799287" y="2330323"/>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6" name="object 6"/>
          <p:cNvSpPr txBox="1">
            <a:spLocks noGrp="1"/>
          </p:cNvSpPr>
          <p:nvPr>
            <p:ph type="body" idx="1"/>
          </p:nvPr>
        </p:nvSpPr>
        <p:spPr>
          <a:prstGeom prst="rect">
            <a:avLst/>
          </a:prstGeom>
        </p:spPr>
        <p:txBody>
          <a:bodyPr vert="horz" wrap="square" lIns="0" tIns="206298" rIns="0" bIns="0" rtlCol="0">
            <a:spAutoFit/>
          </a:bodyPr>
          <a:lstStyle/>
          <a:p>
            <a:pPr marL="314960">
              <a:lnSpc>
                <a:spcPct val="100000"/>
              </a:lnSpc>
              <a:spcBef>
                <a:spcPts val="95"/>
              </a:spcBef>
            </a:pPr>
            <a:r>
              <a:rPr spc="-5" dirty="0"/>
              <a:t>The </a:t>
            </a:r>
            <a:r>
              <a:rPr b="1" spc="20" dirty="0">
                <a:latin typeface="Arial"/>
                <a:cs typeface="Arial"/>
              </a:rPr>
              <a:t>Store.compact() </a:t>
            </a:r>
            <a:r>
              <a:rPr dirty="0"/>
              <a:t>function </a:t>
            </a:r>
            <a:r>
              <a:rPr spc="-15" dirty="0"/>
              <a:t>is </a:t>
            </a:r>
            <a:r>
              <a:rPr spc="25" dirty="0"/>
              <a:t>used </a:t>
            </a:r>
            <a:r>
              <a:rPr dirty="0"/>
              <a:t>to </a:t>
            </a:r>
            <a:r>
              <a:rPr spc="20" dirty="0"/>
              <a:t>combine </a:t>
            </a:r>
            <a:r>
              <a:rPr spc="-10" dirty="0"/>
              <a:t>multiple StoreFiles </a:t>
            </a:r>
            <a:r>
              <a:rPr spc="5" dirty="0"/>
              <a:t>into</a:t>
            </a:r>
            <a:r>
              <a:rPr spc="409" dirty="0"/>
              <a:t> </a:t>
            </a:r>
            <a:r>
              <a:rPr spc="-50" dirty="0"/>
              <a:t>one.</a:t>
            </a:r>
          </a:p>
          <a:p>
            <a:pPr marL="314960" marR="5080">
              <a:lnSpc>
                <a:spcPct val="140100"/>
              </a:lnSpc>
              <a:spcBef>
                <a:spcPts val="800"/>
              </a:spcBef>
            </a:pPr>
            <a:r>
              <a:rPr spc="-5" dirty="0"/>
              <a:t>The </a:t>
            </a:r>
            <a:r>
              <a:rPr spc="35" dirty="0"/>
              <a:t>merge </a:t>
            </a:r>
            <a:r>
              <a:rPr spc="5" dirty="0"/>
              <a:t>operation </a:t>
            </a:r>
            <a:r>
              <a:rPr spc="-15" dirty="0"/>
              <a:t>is </a:t>
            </a:r>
            <a:r>
              <a:rPr spc="-20" dirty="0"/>
              <a:t>started </a:t>
            </a:r>
            <a:r>
              <a:rPr spc="25" dirty="0"/>
              <a:t>only </a:t>
            </a:r>
            <a:r>
              <a:rPr spc="50" dirty="0"/>
              <a:t>when </a:t>
            </a:r>
            <a:r>
              <a:rPr spc="-15" dirty="0"/>
              <a:t>the </a:t>
            </a:r>
            <a:r>
              <a:rPr spc="45" dirty="0"/>
              <a:t>number </a:t>
            </a:r>
            <a:r>
              <a:rPr spc="15" dirty="0"/>
              <a:t>of </a:t>
            </a:r>
            <a:r>
              <a:rPr spc="-10" dirty="0"/>
              <a:t>StoreFiles </a:t>
            </a:r>
            <a:r>
              <a:rPr spc="-5" dirty="0"/>
              <a:t>reaches </a:t>
            </a:r>
            <a:r>
              <a:rPr spc="55" dirty="0"/>
              <a:t>a  </a:t>
            </a:r>
            <a:r>
              <a:rPr spc="5" dirty="0"/>
              <a:t>threshold because </a:t>
            </a:r>
            <a:r>
              <a:rPr spc="-15" dirty="0"/>
              <a:t>the </a:t>
            </a:r>
            <a:r>
              <a:rPr spc="35" dirty="0"/>
              <a:t>merge </a:t>
            </a:r>
            <a:r>
              <a:rPr spc="5" dirty="0"/>
              <a:t>operation </a:t>
            </a:r>
            <a:r>
              <a:rPr spc="40" dirty="0"/>
              <a:t>consumes </a:t>
            </a:r>
            <a:r>
              <a:rPr spc="55" dirty="0"/>
              <a:t>a </a:t>
            </a:r>
            <a:r>
              <a:rPr spc="15" dirty="0"/>
              <a:t>large </a:t>
            </a:r>
            <a:r>
              <a:rPr spc="40" dirty="0"/>
              <a:t>number </a:t>
            </a:r>
            <a:r>
              <a:rPr spc="15" dirty="0"/>
              <a:t>of</a:t>
            </a:r>
            <a:r>
              <a:rPr spc="195" dirty="0"/>
              <a:t> </a:t>
            </a:r>
            <a:r>
              <a:rPr spc="-30" dirty="0"/>
              <a:t>resources.</a:t>
            </a:r>
          </a:p>
        </p:txBody>
      </p:sp>
      <p:sp>
        <p:nvSpPr>
          <p:cNvPr id="7" name="object 7"/>
          <p:cNvSpPr txBox="1"/>
          <p:nvPr/>
        </p:nvSpPr>
        <p:spPr>
          <a:xfrm>
            <a:off x="799287" y="2901823"/>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4079240" cy="513715"/>
          </a:xfrm>
          <a:prstGeom prst="rect">
            <a:avLst/>
          </a:prstGeom>
        </p:spPr>
        <p:txBody>
          <a:bodyPr vert="horz" wrap="square" lIns="0" tIns="13335" rIns="0" bIns="0" rtlCol="0">
            <a:spAutoFit/>
          </a:bodyPr>
          <a:lstStyle/>
          <a:p>
            <a:pPr marL="12700">
              <a:lnSpc>
                <a:spcPct val="100000"/>
              </a:lnSpc>
              <a:spcBef>
                <a:spcPts val="105"/>
              </a:spcBef>
            </a:pPr>
            <a:r>
              <a:rPr sz="3200" spc="15" dirty="0">
                <a:solidFill>
                  <a:srgbClr val="000000"/>
                </a:solidFill>
              </a:rPr>
              <a:t>Store</a:t>
            </a:r>
            <a:r>
              <a:rPr sz="3200" spc="-15" dirty="0">
                <a:solidFill>
                  <a:srgbClr val="000000"/>
                </a:solidFill>
              </a:rPr>
              <a:t> </a:t>
            </a:r>
            <a:r>
              <a:rPr sz="3200" spc="35" dirty="0">
                <a:solidFill>
                  <a:srgbClr val="000000"/>
                </a:solidFill>
              </a:rPr>
              <a:t>Implementation</a:t>
            </a:r>
            <a:endParaRPr sz="3200"/>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101039" y="1211325"/>
            <a:ext cx="10290175" cy="1971675"/>
          </a:xfrm>
          <a:prstGeom prst="rect">
            <a:avLst/>
          </a:prstGeom>
        </p:spPr>
        <p:txBody>
          <a:bodyPr vert="horz" wrap="square" lIns="0" tIns="12065" rIns="0" bIns="0" rtlCol="0">
            <a:spAutoFit/>
          </a:bodyPr>
          <a:lstStyle/>
          <a:p>
            <a:pPr marL="12700">
              <a:lnSpc>
                <a:spcPct val="100000"/>
              </a:lnSpc>
              <a:spcBef>
                <a:spcPts val="95"/>
              </a:spcBef>
            </a:pPr>
            <a:r>
              <a:rPr sz="2200" spc="5" dirty="0">
                <a:latin typeface="Trebuchet MS"/>
                <a:cs typeface="Trebuchet MS"/>
              </a:rPr>
              <a:t>Store </a:t>
            </a:r>
            <a:r>
              <a:rPr sz="2200" spc="-15" dirty="0">
                <a:latin typeface="Trebuchet MS"/>
                <a:cs typeface="Trebuchet MS"/>
              </a:rPr>
              <a:t>is the </a:t>
            </a:r>
            <a:r>
              <a:rPr sz="2200" spc="-20" dirty="0">
                <a:latin typeface="Trebuchet MS"/>
                <a:cs typeface="Trebuchet MS"/>
              </a:rPr>
              <a:t>core </a:t>
            </a:r>
            <a:r>
              <a:rPr sz="2200" spc="15" dirty="0">
                <a:latin typeface="Trebuchet MS"/>
                <a:cs typeface="Trebuchet MS"/>
              </a:rPr>
              <a:t>of </a:t>
            </a:r>
            <a:r>
              <a:rPr sz="2200" spc="55" dirty="0">
                <a:latin typeface="Trebuchet MS"/>
                <a:cs typeface="Trebuchet MS"/>
              </a:rPr>
              <a:t>a</a:t>
            </a:r>
            <a:r>
              <a:rPr sz="2200" spc="180" dirty="0">
                <a:latin typeface="Trebuchet MS"/>
                <a:cs typeface="Trebuchet MS"/>
              </a:rPr>
              <a:t> </a:t>
            </a:r>
            <a:r>
              <a:rPr sz="2200" spc="10" dirty="0">
                <a:latin typeface="Trebuchet MS"/>
                <a:cs typeface="Trebuchet MS"/>
              </a:rPr>
              <a:t>HRegionServer.</a:t>
            </a:r>
            <a:endParaRPr sz="2200" dirty="0">
              <a:latin typeface="Trebuchet MS"/>
              <a:cs typeface="Trebuchet MS"/>
            </a:endParaRPr>
          </a:p>
          <a:p>
            <a:pPr marL="12700">
              <a:lnSpc>
                <a:spcPct val="100000"/>
              </a:lnSpc>
              <a:spcBef>
                <a:spcPts val="1850"/>
              </a:spcBef>
            </a:pPr>
            <a:r>
              <a:rPr sz="2200" spc="35" dirty="0">
                <a:latin typeface="Trebuchet MS"/>
                <a:cs typeface="Trebuchet MS"/>
              </a:rPr>
              <a:t>Multiple </a:t>
            </a:r>
            <a:r>
              <a:rPr sz="2200" spc="-10" dirty="0">
                <a:latin typeface="Trebuchet MS"/>
                <a:cs typeface="Trebuchet MS"/>
              </a:rPr>
              <a:t>StoreFiles are </a:t>
            </a:r>
            <a:r>
              <a:rPr sz="2200" spc="25" dirty="0">
                <a:latin typeface="Trebuchet MS"/>
                <a:cs typeface="Trebuchet MS"/>
              </a:rPr>
              <a:t>combined </a:t>
            </a:r>
            <a:r>
              <a:rPr sz="2200" spc="5" dirty="0">
                <a:latin typeface="Trebuchet MS"/>
                <a:cs typeface="Trebuchet MS"/>
              </a:rPr>
              <a:t>into </a:t>
            </a:r>
            <a:r>
              <a:rPr sz="2200" spc="35" dirty="0">
                <a:latin typeface="Trebuchet MS"/>
                <a:cs typeface="Trebuchet MS"/>
              </a:rPr>
              <a:t>one</a:t>
            </a:r>
            <a:r>
              <a:rPr sz="2200" spc="105" dirty="0">
                <a:latin typeface="Trebuchet MS"/>
                <a:cs typeface="Trebuchet MS"/>
              </a:rPr>
              <a:t> </a:t>
            </a:r>
            <a:r>
              <a:rPr sz="2200" spc="-45" dirty="0">
                <a:latin typeface="Trebuchet MS"/>
                <a:cs typeface="Trebuchet MS"/>
              </a:rPr>
              <a:t>Store.</a:t>
            </a:r>
            <a:endParaRPr sz="2200" dirty="0">
              <a:latin typeface="Trebuchet MS"/>
              <a:cs typeface="Trebuchet MS"/>
            </a:endParaRPr>
          </a:p>
          <a:p>
            <a:pPr marL="12700" marR="5080">
              <a:lnSpc>
                <a:spcPct val="140000"/>
              </a:lnSpc>
              <a:spcBef>
                <a:spcPts val="805"/>
              </a:spcBef>
            </a:pPr>
            <a:r>
              <a:rPr sz="2200" spc="90" dirty="0">
                <a:latin typeface="Trebuchet MS"/>
                <a:cs typeface="Trebuchet MS"/>
              </a:rPr>
              <a:t>When </a:t>
            </a:r>
            <a:r>
              <a:rPr sz="2200" spc="-15" dirty="0">
                <a:latin typeface="Trebuchet MS"/>
                <a:cs typeface="Trebuchet MS"/>
              </a:rPr>
              <a:t>the </a:t>
            </a:r>
            <a:r>
              <a:rPr sz="2200" spc="-25" dirty="0">
                <a:latin typeface="Trebuchet MS"/>
                <a:cs typeface="Trebuchet MS"/>
              </a:rPr>
              <a:t>size </a:t>
            </a:r>
            <a:r>
              <a:rPr sz="2200" spc="15" dirty="0">
                <a:latin typeface="Trebuchet MS"/>
                <a:cs typeface="Trebuchet MS"/>
              </a:rPr>
              <a:t>of </a:t>
            </a:r>
            <a:r>
              <a:rPr sz="2200" spc="55" dirty="0">
                <a:latin typeface="Trebuchet MS"/>
                <a:cs typeface="Trebuchet MS"/>
              </a:rPr>
              <a:t>a </a:t>
            </a:r>
            <a:r>
              <a:rPr sz="2200" spc="20" dirty="0">
                <a:latin typeface="Trebuchet MS"/>
                <a:cs typeface="Trebuchet MS"/>
              </a:rPr>
              <a:t>single </a:t>
            </a:r>
            <a:r>
              <a:rPr sz="2200" spc="-15" dirty="0">
                <a:latin typeface="Trebuchet MS"/>
                <a:cs typeface="Trebuchet MS"/>
              </a:rPr>
              <a:t>StoreFile is </a:t>
            </a:r>
            <a:r>
              <a:rPr sz="2200" spc="25" dirty="0">
                <a:latin typeface="Trebuchet MS"/>
                <a:cs typeface="Trebuchet MS"/>
              </a:rPr>
              <a:t>too </a:t>
            </a:r>
            <a:r>
              <a:rPr sz="2200" spc="-30" dirty="0">
                <a:latin typeface="Trebuchet MS"/>
                <a:cs typeface="Trebuchet MS"/>
              </a:rPr>
              <a:t>large, </a:t>
            </a:r>
            <a:r>
              <a:rPr sz="2200" spc="-5" dirty="0">
                <a:latin typeface="Trebuchet MS"/>
                <a:cs typeface="Trebuchet MS"/>
              </a:rPr>
              <a:t>splitting </a:t>
            </a:r>
            <a:r>
              <a:rPr sz="2200" spc="-15" dirty="0">
                <a:latin typeface="Trebuchet MS"/>
                <a:cs typeface="Trebuchet MS"/>
              </a:rPr>
              <a:t>is </a:t>
            </a:r>
            <a:r>
              <a:rPr sz="2200" spc="-25" dirty="0">
                <a:latin typeface="Trebuchet MS"/>
                <a:cs typeface="Trebuchet MS"/>
              </a:rPr>
              <a:t>triggered. </a:t>
            </a:r>
            <a:r>
              <a:rPr sz="2200" spc="90" dirty="0">
                <a:latin typeface="Trebuchet MS"/>
                <a:cs typeface="Trebuchet MS"/>
              </a:rPr>
              <a:t>One </a:t>
            </a:r>
            <a:r>
              <a:rPr sz="2200" dirty="0">
                <a:latin typeface="Trebuchet MS"/>
                <a:cs typeface="Trebuchet MS"/>
              </a:rPr>
              <a:t>parent  </a:t>
            </a:r>
            <a:r>
              <a:rPr sz="2200" spc="25" dirty="0">
                <a:latin typeface="Trebuchet MS"/>
                <a:cs typeface="Trebuchet MS"/>
              </a:rPr>
              <a:t>region </a:t>
            </a:r>
            <a:r>
              <a:rPr sz="2200" spc="-15" dirty="0">
                <a:latin typeface="Trebuchet MS"/>
                <a:cs typeface="Trebuchet MS"/>
              </a:rPr>
              <a:t>is </a:t>
            </a:r>
            <a:r>
              <a:rPr sz="2200" spc="-30" dirty="0">
                <a:latin typeface="Trebuchet MS"/>
                <a:cs typeface="Trebuchet MS"/>
              </a:rPr>
              <a:t>split </a:t>
            </a:r>
            <a:r>
              <a:rPr sz="2200" spc="5" dirty="0">
                <a:latin typeface="Trebuchet MS"/>
                <a:cs typeface="Trebuchet MS"/>
              </a:rPr>
              <a:t>into </a:t>
            </a:r>
            <a:r>
              <a:rPr sz="2200" spc="25" dirty="0">
                <a:latin typeface="Trebuchet MS"/>
                <a:cs typeface="Trebuchet MS"/>
              </a:rPr>
              <a:t>two</a:t>
            </a:r>
            <a:r>
              <a:rPr sz="2200" spc="140" dirty="0">
                <a:latin typeface="Trebuchet MS"/>
                <a:cs typeface="Trebuchet MS"/>
              </a:rPr>
              <a:t> </a:t>
            </a:r>
            <a:r>
              <a:rPr sz="2200" spc="5" dirty="0">
                <a:latin typeface="Trebuchet MS"/>
                <a:cs typeface="Trebuchet MS"/>
              </a:rPr>
              <a:t>sub-regions.</a:t>
            </a:r>
            <a:endParaRPr sz="2200" dirty="0">
              <a:latin typeface="Trebuchet MS"/>
              <a:cs typeface="Trebuchet MS"/>
            </a:endParaRPr>
          </a:p>
        </p:txBody>
      </p:sp>
      <p:sp>
        <p:nvSpPr>
          <p:cNvPr id="5" name="object 5"/>
          <p:cNvSpPr txBox="1"/>
          <p:nvPr/>
        </p:nvSpPr>
        <p:spPr>
          <a:xfrm>
            <a:off x="799287" y="1860550"/>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6" name="object 6"/>
          <p:cNvSpPr txBox="1"/>
          <p:nvPr/>
        </p:nvSpPr>
        <p:spPr>
          <a:xfrm>
            <a:off x="799287" y="2432431"/>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grpSp>
        <p:nvGrpSpPr>
          <p:cNvPr id="7" name="object 7"/>
          <p:cNvGrpSpPr/>
          <p:nvPr/>
        </p:nvGrpSpPr>
        <p:grpSpPr>
          <a:xfrm>
            <a:off x="1677923" y="3713988"/>
            <a:ext cx="8521065" cy="1871980"/>
            <a:chOff x="1677923" y="3713988"/>
            <a:chExt cx="8521065" cy="1871980"/>
          </a:xfrm>
        </p:grpSpPr>
        <p:sp>
          <p:nvSpPr>
            <p:cNvPr id="8" name="object 8"/>
            <p:cNvSpPr/>
            <p:nvPr/>
          </p:nvSpPr>
          <p:spPr>
            <a:xfrm>
              <a:off x="3461766" y="3783306"/>
              <a:ext cx="6562725" cy="1647145"/>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1684019" y="3720084"/>
              <a:ext cx="8509000" cy="1859280"/>
            </a:xfrm>
            <a:custGeom>
              <a:avLst/>
              <a:gdLst/>
              <a:ahLst/>
              <a:cxnLst/>
              <a:rect l="l" t="t" r="r" b="b"/>
              <a:pathLst>
                <a:path w="8509000" h="1859279">
                  <a:moveTo>
                    <a:pt x="0" y="1859280"/>
                  </a:moveTo>
                  <a:lnTo>
                    <a:pt x="8508492" y="1859280"/>
                  </a:lnTo>
                  <a:lnTo>
                    <a:pt x="8508492" y="0"/>
                  </a:lnTo>
                  <a:lnTo>
                    <a:pt x="0" y="0"/>
                  </a:lnTo>
                  <a:lnTo>
                    <a:pt x="0" y="1859280"/>
                  </a:lnTo>
                  <a:close/>
                </a:path>
              </a:pathLst>
            </a:custGeom>
            <a:ln w="12192">
              <a:solidFill>
                <a:srgbClr val="D9D9D9"/>
              </a:solidFill>
            </a:ln>
          </p:spPr>
          <p:txBody>
            <a:bodyPr wrap="square" lIns="0" tIns="0" rIns="0" bIns="0" rtlCol="0"/>
            <a:lstStyle/>
            <a:p>
              <a:endParaRPr/>
            </a:p>
          </p:txBody>
        </p:sp>
      </p:grpSp>
      <p:sp>
        <p:nvSpPr>
          <p:cNvPr id="10" name="object 10"/>
          <p:cNvSpPr txBox="1"/>
          <p:nvPr/>
        </p:nvSpPr>
        <p:spPr>
          <a:xfrm>
            <a:off x="4478782" y="4541266"/>
            <a:ext cx="1320800" cy="208279"/>
          </a:xfrm>
          <a:prstGeom prst="rect">
            <a:avLst/>
          </a:prstGeom>
        </p:spPr>
        <p:txBody>
          <a:bodyPr vert="horz" wrap="square" lIns="0" tIns="12700" rIns="0" bIns="0" rtlCol="0">
            <a:spAutoFit/>
          </a:bodyPr>
          <a:lstStyle/>
          <a:p>
            <a:pPr>
              <a:lnSpc>
                <a:spcPct val="100000"/>
              </a:lnSpc>
              <a:spcBef>
                <a:spcPts val="100"/>
              </a:spcBef>
            </a:pPr>
            <a:r>
              <a:rPr sz="1200" spc="-20" dirty="0">
                <a:latin typeface="Trebuchet MS"/>
                <a:cs typeface="Trebuchet MS"/>
              </a:rPr>
              <a:t>StoreFile5: </a:t>
            </a:r>
            <a:r>
              <a:rPr sz="1200" spc="35" dirty="0">
                <a:latin typeface="Trebuchet MS"/>
                <a:cs typeface="Trebuchet MS"/>
              </a:rPr>
              <a:t>256</a:t>
            </a:r>
            <a:r>
              <a:rPr sz="1200" spc="-10" dirty="0">
                <a:latin typeface="Trebuchet MS"/>
                <a:cs typeface="Trebuchet MS"/>
              </a:rPr>
              <a:t> </a:t>
            </a:r>
            <a:r>
              <a:rPr sz="1200" spc="150" dirty="0">
                <a:latin typeface="Trebuchet MS"/>
                <a:cs typeface="Trebuchet MS"/>
              </a:rPr>
              <a:t>MB</a:t>
            </a:r>
            <a:endParaRPr sz="1200">
              <a:latin typeface="Trebuchet MS"/>
              <a:cs typeface="Trebuchet MS"/>
            </a:endParaRPr>
          </a:p>
        </p:txBody>
      </p:sp>
      <p:sp>
        <p:nvSpPr>
          <p:cNvPr id="21" name="object 2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31	</a:t>
            </a:r>
            <a:r>
              <a:rPr spc="30" dirty="0"/>
              <a:t>Huawei</a:t>
            </a:r>
            <a:r>
              <a:rPr spc="-10" dirty="0"/>
              <a:t> </a:t>
            </a:r>
            <a:r>
              <a:rPr spc="5" dirty="0"/>
              <a:t>Confidential</a:t>
            </a:r>
          </a:p>
        </p:txBody>
      </p:sp>
      <p:sp>
        <p:nvSpPr>
          <p:cNvPr id="11" name="object 11"/>
          <p:cNvSpPr txBox="1"/>
          <p:nvPr/>
        </p:nvSpPr>
        <p:spPr>
          <a:xfrm>
            <a:off x="1844039" y="4213859"/>
            <a:ext cx="1550035" cy="277495"/>
          </a:xfrm>
          <a:prstGeom prst="rect">
            <a:avLst/>
          </a:prstGeom>
          <a:ln w="9144">
            <a:solidFill>
              <a:srgbClr val="151515"/>
            </a:solidFill>
          </a:ln>
        </p:spPr>
        <p:txBody>
          <a:bodyPr vert="horz" wrap="square" lIns="0" tIns="45719" rIns="0" bIns="0" rtlCol="0">
            <a:spAutoFit/>
          </a:bodyPr>
          <a:lstStyle/>
          <a:p>
            <a:pPr marL="90805">
              <a:lnSpc>
                <a:spcPct val="100000"/>
              </a:lnSpc>
              <a:spcBef>
                <a:spcPts val="359"/>
              </a:spcBef>
            </a:pPr>
            <a:r>
              <a:rPr sz="1200" spc="-20" dirty="0">
                <a:latin typeface="Trebuchet MS"/>
                <a:cs typeface="Trebuchet MS"/>
              </a:rPr>
              <a:t>StoreFile2: </a:t>
            </a:r>
            <a:r>
              <a:rPr sz="1200" spc="35" dirty="0">
                <a:latin typeface="Trebuchet MS"/>
                <a:cs typeface="Trebuchet MS"/>
              </a:rPr>
              <a:t>64 </a:t>
            </a:r>
            <a:r>
              <a:rPr sz="1200" spc="150" dirty="0">
                <a:latin typeface="Trebuchet MS"/>
                <a:cs typeface="Trebuchet MS"/>
              </a:rPr>
              <a:t>MB</a:t>
            </a:r>
            <a:endParaRPr sz="1200">
              <a:latin typeface="Trebuchet MS"/>
              <a:cs typeface="Trebuchet MS"/>
            </a:endParaRPr>
          </a:p>
        </p:txBody>
      </p:sp>
      <p:sp>
        <p:nvSpPr>
          <p:cNvPr id="12" name="object 12"/>
          <p:cNvSpPr txBox="1"/>
          <p:nvPr/>
        </p:nvSpPr>
        <p:spPr>
          <a:xfrm>
            <a:off x="1821179" y="4661915"/>
            <a:ext cx="1550035" cy="276225"/>
          </a:xfrm>
          <a:prstGeom prst="rect">
            <a:avLst/>
          </a:prstGeom>
          <a:ln w="9144">
            <a:solidFill>
              <a:srgbClr val="151515"/>
            </a:solidFill>
          </a:ln>
        </p:spPr>
        <p:txBody>
          <a:bodyPr vert="horz" wrap="square" lIns="0" tIns="44450" rIns="0" bIns="0" rtlCol="0">
            <a:spAutoFit/>
          </a:bodyPr>
          <a:lstStyle/>
          <a:p>
            <a:pPr marL="90805">
              <a:lnSpc>
                <a:spcPct val="100000"/>
              </a:lnSpc>
              <a:spcBef>
                <a:spcPts val="350"/>
              </a:spcBef>
            </a:pPr>
            <a:r>
              <a:rPr sz="1200" spc="-25" dirty="0">
                <a:latin typeface="Trebuchet MS"/>
                <a:cs typeface="Trebuchet MS"/>
              </a:rPr>
              <a:t>StoreFile3: </a:t>
            </a:r>
            <a:r>
              <a:rPr sz="1200" spc="40" dirty="0">
                <a:latin typeface="Trebuchet MS"/>
                <a:cs typeface="Trebuchet MS"/>
              </a:rPr>
              <a:t>64</a:t>
            </a:r>
            <a:r>
              <a:rPr sz="1200" spc="50" dirty="0">
                <a:latin typeface="Trebuchet MS"/>
                <a:cs typeface="Trebuchet MS"/>
              </a:rPr>
              <a:t> </a:t>
            </a:r>
            <a:r>
              <a:rPr sz="1200" spc="145" dirty="0">
                <a:latin typeface="Trebuchet MS"/>
                <a:cs typeface="Trebuchet MS"/>
              </a:rPr>
              <a:t>MB</a:t>
            </a:r>
            <a:endParaRPr sz="1200">
              <a:latin typeface="Trebuchet MS"/>
              <a:cs typeface="Trebuchet MS"/>
            </a:endParaRPr>
          </a:p>
        </p:txBody>
      </p:sp>
      <p:sp>
        <p:nvSpPr>
          <p:cNvPr id="13" name="object 13"/>
          <p:cNvSpPr txBox="1"/>
          <p:nvPr/>
        </p:nvSpPr>
        <p:spPr>
          <a:xfrm>
            <a:off x="1821179" y="5215128"/>
            <a:ext cx="1550035" cy="277495"/>
          </a:xfrm>
          <a:prstGeom prst="rect">
            <a:avLst/>
          </a:prstGeom>
          <a:ln w="9144">
            <a:solidFill>
              <a:srgbClr val="151515"/>
            </a:solidFill>
          </a:ln>
        </p:spPr>
        <p:txBody>
          <a:bodyPr vert="horz" wrap="square" lIns="0" tIns="45085" rIns="0" bIns="0" rtlCol="0">
            <a:spAutoFit/>
          </a:bodyPr>
          <a:lstStyle/>
          <a:p>
            <a:pPr marL="90805">
              <a:lnSpc>
                <a:spcPct val="100000"/>
              </a:lnSpc>
              <a:spcBef>
                <a:spcPts val="355"/>
              </a:spcBef>
            </a:pPr>
            <a:r>
              <a:rPr sz="1200" spc="-20" dirty="0">
                <a:latin typeface="Trebuchet MS"/>
                <a:cs typeface="Trebuchet MS"/>
              </a:rPr>
              <a:t>StoreFile4: </a:t>
            </a:r>
            <a:r>
              <a:rPr sz="1200" spc="35" dirty="0">
                <a:latin typeface="Trebuchet MS"/>
                <a:cs typeface="Trebuchet MS"/>
              </a:rPr>
              <a:t>64 </a:t>
            </a:r>
            <a:r>
              <a:rPr sz="1200" spc="150" dirty="0">
                <a:latin typeface="Trebuchet MS"/>
                <a:cs typeface="Trebuchet MS"/>
              </a:rPr>
              <a:t>MB</a:t>
            </a:r>
            <a:endParaRPr sz="1200">
              <a:latin typeface="Trebuchet MS"/>
              <a:cs typeface="Trebuchet MS"/>
            </a:endParaRPr>
          </a:p>
        </p:txBody>
      </p:sp>
      <p:sp>
        <p:nvSpPr>
          <p:cNvPr id="14" name="object 14"/>
          <p:cNvSpPr txBox="1"/>
          <p:nvPr/>
        </p:nvSpPr>
        <p:spPr>
          <a:xfrm>
            <a:off x="1821179" y="3802379"/>
            <a:ext cx="1550035" cy="277495"/>
          </a:xfrm>
          <a:prstGeom prst="rect">
            <a:avLst/>
          </a:prstGeom>
          <a:ln w="9144">
            <a:solidFill>
              <a:srgbClr val="151515"/>
            </a:solidFill>
          </a:ln>
        </p:spPr>
        <p:txBody>
          <a:bodyPr vert="horz" wrap="square" lIns="0" tIns="45085" rIns="0" bIns="0" rtlCol="0">
            <a:spAutoFit/>
          </a:bodyPr>
          <a:lstStyle/>
          <a:p>
            <a:pPr marL="90805">
              <a:lnSpc>
                <a:spcPct val="100000"/>
              </a:lnSpc>
              <a:spcBef>
                <a:spcPts val="355"/>
              </a:spcBef>
            </a:pPr>
            <a:r>
              <a:rPr sz="1200" spc="-20" dirty="0">
                <a:latin typeface="Trebuchet MS"/>
                <a:cs typeface="Trebuchet MS"/>
              </a:rPr>
              <a:t>StoreFile1: </a:t>
            </a:r>
            <a:r>
              <a:rPr sz="1200" spc="35" dirty="0">
                <a:latin typeface="Trebuchet MS"/>
                <a:cs typeface="Trebuchet MS"/>
              </a:rPr>
              <a:t>64 </a:t>
            </a:r>
            <a:r>
              <a:rPr sz="1200" spc="150" dirty="0">
                <a:latin typeface="Trebuchet MS"/>
                <a:cs typeface="Trebuchet MS"/>
              </a:rPr>
              <a:t>MB</a:t>
            </a:r>
            <a:endParaRPr sz="1200">
              <a:latin typeface="Trebuchet MS"/>
              <a:cs typeface="Trebuchet MS"/>
            </a:endParaRPr>
          </a:p>
        </p:txBody>
      </p:sp>
      <p:sp>
        <p:nvSpPr>
          <p:cNvPr id="15" name="object 15"/>
          <p:cNvSpPr txBox="1"/>
          <p:nvPr/>
        </p:nvSpPr>
        <p:spPr>
          <a:xfrm>
            <a:off x="6490970" y="4196333"/>
            <a:ext cx="1421765" cy="208279"/>
          </a:xfrm>
          <a:prstGeom prst="rect">
            <a:avLst/>
          </a:prstGeom>
        </p:spPr>
        <p:txBody>
          <a:bodyPr vert="horz" wrap="square" lIns="0" tIns="12700" rIns="0" bIns="0" rtlCol="0">
            <a:spAutoFit/>
          </a:bodyPr>
          <a:lstStyle/>
          <a:p>
            <a:pPr>
              <a:lnSpc>
                <a:spcPct val="100000"/>
              </a:lnSpc>
              <a:spcBef>
                <a:spcPts val="100"/>
              </a:spcBef>
            </a:pPr>
            <a:r>
              <a:rPr sz="1200" spc="-15" dirty="0">
                <a:latin typeface="Trebuchet MS"/>
                <a:cs typeface="Trebuchet MS"/>
              </a:rPr>
              <a:t>StoreFile5A: </a:t>
            </a:r>
            <a:r>
              <a:rPr sz="1200" spc="35" dirty="0">
                <a:latin typeface="Trebuchet MS"/>
                <a:cs typeface="Trebuchet MS"/>
              </a:rPr>
              <a:t>128</a:t>
            </a:r>
            <a:r>
              <a:rPr sz="1200" spc="20" dirty="0">
                <a:latin typeface="Trebuchet MS"/>
                <a:cs typeface="Trebuchet MS"/>
              </a:rPr>
              <a:t> </a:t>
            </a:r>
            <a:r>
              <a:rPr sz="1200" spc="150" dirty="0">
                <a:latin typeface="Trebuchet MS"/>
                <a:cs typeface="Trebuchet MS"/>
              </a:rPr>
              <a:t>MB</a:t>
            </a:r>
            <a:endParaRPr sz="1200">
              <a:latin typeface="Trebuchet MS"/>
              <a:cs typeface="Trebuchet MS"/>
            </a:endParaRPr>
          </a:p>
        </p:txBody>
      </p:sp>
      <p:sp>
        <p:nvSpPr>
          <p:cNvPr id="16" name="object 16"/>
          <p:cNvSpPr txBox="1"/>
          <p:nvPr/>
        </p:nvSpPr>
        <p:spPr>
          <a:xfrm>
            <a:off x="6490970" y="4678426"/>
            <a:ext cx="1414145" cy="208279"/>
          </a:xfrm>
          <a:prstGeom prst="rect">
            <a:avLst/>
          </a:prstGeom>
        </p:spPr>
        <p:txBody>
          <a:bodyPr vert="horz" wrap="square" lIns="0" tIns="12700" rIns="0" bIns="0" rtlCol="0">
            <a:spAutoFit/>
          </a:bodyPr>
          <a:lstStyle/>
          <a:p>
            <a:pPr>
              <a:lnSpc>
                <a:spcPct val="100000"/>
              </a:lnSpc>
              <a:spcBef>
                <a:spcPts val="100"/>
              </a:spcBef>
            </a:pPr>
            <a:r>
              <a:rPr sz="1200" spc="-15" dirty="0">
                <a:latin typeface="Trebuchet MS"/>
                <a:cs typeface="Trebuchet MS"/>
              </a:rPr>
              <a:t>StoreFile5B: </a:t>
            </a:r>
            <a:r>
              <a:rPr sz="1200" spc="35" dirty="0">
                <a:latin typeface="Trebuchet MS"/>
                <a:cs typeface="Trebuchet MS"/>
              </a:rPr>
              <a:t>128</a:t>
            </a:r>
            <a:r>
              <a:rPr sz="1200" spc="-5" dirty="0">
                <a:latin typeface="Trebuchet MS"/>
                <a:cs typeface="Trebuchet MS"/>
              </a:rPr>
              <a:t> </a:t>
            </a:r>
            <a:r>
              <a:rPr sz="1200" spc="150" dirty="0">
                <a:latin typeface="Trebuchet MS"/>
                <a:cs typeface="Trebuchet MS"/>
              </a:rPr>
              <a:t>MB</a:t>
            </a:r>
            <a:endParaRPr sz="1200">
              <a:latin typeface="Trebuchet MS"/>
              <a:cs typeface="Trebuchet MS"/>
            </a:endParaRPr>
          </a:p>
        </p:txBody>
      </p:sp>
      <p:sp>
        <p:nvSpPr>
          <p:cNvPr id="17" name="object 17"/>
          <p:cNvSpPr txBox="1"/>
          <p:nvPr/>
        </p:nvSpPr>
        <p:spPr>
          <a:xfrm>
            <a:off x="8474329" y="3933570"/>
            <a:ext cx="1320800" cy="208279"/>
          </a:xfrm>
          <a:prstGeom prst="rect">
            <a:avLst/>
          </a:prstGeom>
        </p:spPr>
        <p:txBody>
          <a:bodyPr vert="horz" wrap="square" lIns="0" tIns="12700" rIns="0" bIns="0" rtlCol="0">
            <a:spAutoFit/>
          </a:bodyPr>
          <a:lstStyle/>
          <a:p>
            <a:pPr>
              <a:lnSpc>
                <a:spcPct val="100000"/>
              </a:lnSpc>
              <a:spcBef>
                <a:spcPts val="100"/>
              </a:spcBef>
            </a:pPr>
            <a:r>
              <a:rPr sz="1200" spc="-20" dirty="0">
                <a:latin typeface="Trebuchet MS"/>
                <a:cs typeface="Trebuchet MS"/>
              </a:rPr>
              <a:t>StoreFile6: </a:t>
            </a:r>
            <a:r>
              <a:rPr sz="1200" spc="35" dirty="0">
                <a:latin typeface="Trebuchet MS"/>
                <a:cs typeface="Trebuchet MS"/>
              </a:rPr>
              <a:t>128</a:t>
            </a:r>
            <a:r>
              <a:rPr sz="1200" spc="-10" dirty="0">
                <a:latin typeface="Trebuchet MS"/>
                <a:cs typeface="Trebuchet MS"/>
              </a:rPr>
              <a:t> </a:t>
            </a:r>
            <a:r>
              <a:rPr sz="1200" spc="150" dirty="0">
                <a:latin typeface="Trebuchet MS"/>
                <a:cs typeface="Trebuchet MS"/>
              </a:rPr>
              <a:t>MB</a:t>
            </a:r>
            <a:endParaRPr sz="1200">
              <a:latin typeface="Trebuchet MS"/>
              <a:cs typeface="Trebuchet MS"/>
            </a:endParaRPr>
          </a:p>
        </p:txBody>
      </p:sp>
      <p:sp>
        <p:nvSpPr>
          <p:cNvPr id="18" name="object 18"/>
          <p:cNvSpPr txBox="1"/>
          <p:nvPr/>
        </p:nvSpPr>
        <p:spPr>
          <a:xfrm>
            <a:off x="8547861" y="4939665"/>
            <a:ext cx="1320800" cy="208279"/>
          </a:xfrm>
          <a:prstGeom prst="rect">
            <a:avLst/>
          </a:prstGeom>
        </p:spPr>
        <p:txBody>
          <a:bodyPr vert="horz" wrap="square" lIns="0" tIns="12700" rIns="0" bIns="0" rtlCol="0">
            <a:spAutoFit/>
          </a:bodyPr>
          <a:lstStyle/>
          <a:p>
            <a:pPr>
              <a:lnSpc>
                <a:spcPct val="100000"/>
              </a:lnSpc>
              <a:spcBef>
                <a:spcPts val="100"/>
              </a:spcBef>
            </a:pPr>
            <a:r>
              <a:rPr sz="1200" spc="-20" dirty="0">
                <a:latin typeface="Trebuchet MS"/>
                <a:cs typeface="Trebuchet MS"/>
              </a:rPr>
              <a:t>StoreFile7: </a:t>
            </a:r>
            <a:r>
              <a:rPr sz="1200" spc="35" dirty="0">
                <a:latin typeface="Trebuchet MS"/>
                <a:cs typeface="Trebuchet MS"/>
              </a:rPr>
              <a:t>128</a:t>
            </a:r>
            <a:r>
              <a:rPr sz="1200" spc="-10" dirty="0">
                <a:latin typeface="Trebuchet MS"/>
                <a:cs typeface="Trebuchet MS"/>
              </a:rPr>
              <a:t> </a:t>
            </a:r>
            <a:r>
              <a:rPr sz="1200" spc="150" dirty="0">
                <a:latin typeface="Trebuchet MS"/>
                <a:cs typeface="Trebuchet MS"/>
              </a:rPr>
              <a:t>MB</a:t>
            </a:r>
            <a:endParaRPr sz="1200">
              <a:latin typeface="Trebuchet MS"/>
              <a:cs typeface="Trebuchet MS"/>
            </a:endParaRPr>
          </a:p>
        </p:txBody>
      </p:sp>
      <p:sp>
        <p:nvSpPr>
          <p:cNvPr id="19" name="object 19"/>
          <p:cNvSpPr txBox="1"/>
          <p:nvPr/>
        </p:nvSpPr>
        <p:spPr>
          <a:xfrm>
            <a:off x="3662807" y="4219702"/>
            <a:ext cx="624840" cy="208279"/>
          </a:xfrm>
          <a:prstGeom prst="rect">
            <a:avLst/>
          </a:prstGeom>
        </p:spPr>
        <p:txBody>
          <a:bodyPr vert="horz" wrap="square" lIns="0" tIns="12700" rIns="0" bIns="0" rtlCol="0">
            <a:spAutoFit/>
          </a:bodyPr>
          <a:lstStyle/>
          <a:p>
            <a:pPr>
              <a:lnSpc>
                <a:spcPct val="100000"/>
              </a:lnSpc>
              <a:spcBef>
                <a:spcPts val="100"/>
              </a:spcBef>
            </a:pPr>
            <a:r>
              <a:rPr sz="1200" spc="25" dirty="0">
                <a:latin typeface="Trebuchet MS"/>
                <a:cs typeface="Trebuchet MS"/>
              </a:rPr>
              <a:t>Co</a:t>
            </a:r>
            <a:r>
              <a:rPr sz="1200" spc="75" dirty="0">
                <a:latin typeface="Trebuchet MS"/>
                <a:cs typeface="Trebuchet MS"/>
              </a:rPr>
              <a:t>m</a:t>
            </a:r>
            <a:r>
              <a:rPr sz="1200" spc="10" dirty="0">
                <a:latin typeface="Trebuchet MS"/>
                <a:cs typeface="Trebuchet MS"/>
              </a:rPr>
              <a:t>b</a:t>
            </a:r>
            <a:r>
              <a:rPr sz="1200" spc="-50" dirty="0">
                <a:latin typeface="Trebuchet MS"/>
                <a:cs typeface="Trebuchet MS"/>
              </a:rPr>
              <a:t>i</a:t>
            </a:r>
            <a:r>
              <a:rPr sz="1200" spc="35" dirty="0">
                <a:latin typeface="Trebuchet MS"/>
                <a:cs typeface="Trebuchet MS"/>
              </a:rPr>
              <a:t>n</a:t>
            </a:r>
            <a:r>
              <a:rPr sz="1200" spc="-25" dirty="0">
                <a:latin typeface="Trebuchet MS"/>
                <a:cs typeface="Trebuchet MS"/>
              </a:rPr>
              <a:t>e</a:t>
            </a:r>
            <a:endParaRPr sz="1200">
              <a:latin typeface="Trebuchet MS"/>
              <a:cs typeface="Trebuchet MS"/>
            </a:endParaRPr>
          </a:p>
        </p:txBody>
      </p:sp>
      <p:sp>
        <p:nvSpPr>
          <p:cNvPr id="20" name="object 20"/>
          <p:cNvSpPr txBox="1"/>
          <p:nvPr/>
        </p:nvSpPr>
        <p:spPr>
          <a:xfrm>
            <a:off x="5966459" y="4005833"/>
            <a:ext cx="314960" cy="208279"/>
          </a:xfrm>
          <a:prstGeom prst="rect">
            <a:avLst/>
          </a:prstGeom>
        </p:spPr>
        <p:txBody>
          <a:bodyPr vert="horz" wrap="square" lIns="0" tIns="12700" rIns="0" bIns="0" rtlCol="0">
            <a:spAutoFit/>
          </a:bodyPr>
          <a:lstStyle/>
          <a:p>
            <a:pPr>
              <a:lnSpc>
                <a:spcPct val="100000"/>
              </a:lnSpc>
              <a:spcBef>
                <a:spcPts val="100"/>
              </a:spcBef>
            </a:pPr>
            <a:r>
              <a:rPr sz="1200" spc="55" dirty="0">
                <a:latin typeface="Trebuchet MS"/>
                <a:cs typeface="Trebuchet MS"/>
              </a:rPr>
              <a:t>S</a:t>
            </a:r>
            <a:r>
              <a:rPr sz="1200" spc="10" dirty="0">
                <a:latin typeface="Trebuchet MS"/>
                <a:cs typeface="Trebuchet MS"/>
              </a:rPr>
              <a:t>p</a:t>
            </a:r>
            <a:r>
              <a:rPr sz="1200" spc="-35" dirty="0">
                <a:latin typeface="Trebuchet MS"/>
                <a:cs typeface="Trebuchet MS"/>
              </a:rPr>
              <a:t>l</a:t>
            </a:r>
            <a:r>
              <a:rPr sz="1200" spc="-50" dirty="0">
                <a:latin typeface="Trebuchet MS"/>
                <a:cs typeface="Trebuchet MS"/>
              </a:rPr>
              <a:t>i</a:t>
            </a:r>
            <a:r>
              <a:rPr sz="1200" spc="-40" dirty="0">
                <a:latin typeface="Trebuchet MS"/>
                <a:cs typeface="Trebuchet MS"/>
              </a:rPr>
              <a:t>t</a:t>
            </a:r>
            <a:endParaRPr sz="1200">
              <a:latin typeface="Trebuchet MS"/>
              <a:cs typeface="Trebuchet MS"/>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4096385" cy="513715"/>
          </a:xfrm>
          <a:prstGeom prst="rect">
            <a:avLst/>
          </a:prstGeom>
        </p:spPr>
        <p:txBody>
          <a:bodyPr vert="horz" wrap="square" lIns="0" tIns="13335" rIns="0" bIns="0" rtlCol="0">
            <a:spAutoFit/>
          </a:bodyPr>
          <a:lstStyle/>
          <a:p>
            <a:pPr marL="12700">
              <a:lnSpc>
                <a:spcPct val="100000"/>
              </a:lnSpc>
              <a:spcBef>
                <a:spcPts val="105"/>
              </a:spcBef>
            </a:pPr>
            <a:r>
              <a:rPr sz="3200" spc="170" dirty="0">
                <a:solidFill>
                  <a:srgbClr val="000000"/>
                </a:solidFill>
              </a:rPr>
              <a:t>HLog</a:t>
            </a:r>
            <a:r>
              <a:rPr sz="3200" spc="-30" dirty="0">
                <a:solidFill>
                  <a:srgbClr val="000000"/>
                </a:solidFill>
              </a:rPr>
              <a:t> </a:t>
            </a:r>
            <a:r>
              <a:rPr sz="3200" spc="35" dirty="0">
                <a:solidFill>
                  <a:srgbClr val="000000"/>
                </a:solidFill>
              </a:rPr>
              <a:t>Implementation</a:t>
            </a:r>
            <a:endParaRPr sz="320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r>
              <a:rPr spc="45" dirty="0"/>
              <a:t>32	</a:t>
            </a:r>
            <a:r>
              <a:rPr spc="30" dirty="0"/>
              <a:t>Huawei</a:t>
            </a:r>
            <a:r>
              <a:rPr spc="-10" dirty="0"/>
              <a:t> </a:t>
            </a:r>
            <a:r>
              <a:rPr spc="5" dirty="0"/>
              <a:t>Confidential</a:t>
            </a:r>
          </a:p>
        </p:txBody>
      </p:sp>
      <p:sp>
        <p:nvSpPr>
          <p:cNvPr id="4" name="object 4"/>
          <p:cNvSpPr txBox="1"/>
          <p:nvPr/>
        </p:nvSpPr>
        <p:spPr>
          <a:xfrm>
            <a:off x="1101039" y="1076604"/>
            <a:ext cx="10291445" cy="5130315"/>
          </a:xfrm>
          <a:prstGeom prst="rect">
            <a:avLst/>
          </a:prstGeom>
        </p:spPr>
        <p:txBody>
          <a:bodyPr vert="horz" wrap="square" lIns="0" tIns="12700" rIns="0" bIns="0" rtlCol="0">
            <a:spAutoFit/>
          </a:bodyPr>
          <a:lstStyle/>
          <a:p>
            <a:pPr marL="355600" marR="5080" indent="-342900">
              <a:lnSpc>
                <a:spcPts val="3200"/>
              </a:lnSpc>
              <a:spcBef>
                <a:spcPts val="600"/>
              </a:spcBef>
              <a:buFont typeface="Arial" panose="020B0604020202020204" pitchFamily="34" charset="0"/>
              <a:buChar char="•"/>
              <a:tabLst>
                <a:tab pos="382905" algn="l"/>
                <a:tab pos="664845" algn="l"/>
                <a:tab pos="2152015" algn="l"/>
                <a:tab pos="3961765" algn="l"/>
                <a:tab pos="4552950" algn="l"/>
                <a:tab pos="5299710" algn="l"/>
                <a:tab pos="5688330" algn="l"/>
                <a:tab pos="6871334" algn="l"/>
                <a:tab pos="7872730" algn="l"/>
                <a:tab pos="8805545" algn="l"/>
                <a:tab pos="9732010" algn="l"/>
              </a:tabLst>
            </a:pPr>
            <a:r>
              <a:rPr sz="2200" spc="25" dirty="0">
                <a:latin typeface="Trebuchet MS"/>
                <a:cs typeface="Trebuchet MS"/>
              </a:rPr>
              <a:t>I</a:t>
            </a:r>
            <a:r>
              <a:rPr sz="2200" spc="60" dirty="0">
                <a:latin typeface="Trebuchet MS"/>
                <a:cs typeface="Trebuchet MS"/>
              </a:rPr>
              <a:t>n</a:t>
            </a:r>
            <a:r>
              <a:rPr sz="2200" dirty="0">
                <a:latin typeface="Trebuchet MS"/>
                <a:cs typeface="Trebuchet MS"/>
              </a:rPr>
              <a:t>	</a:t>
            </a:r>
            <a:r>
              <a:rPr sz="2200" spc="55" dirty="0" smtClean="0">
                <a:latin typeface="Trebuchet MS"/>
                <a:cs typeface="Trebuchet MS"/>
              </a:rPr>
              <a:t>a</a:t>
            </a:r>
            <a:r>
              <a:rPr lang="en-US" sz="2200" dirty="0">
                <a:latin typeface="Trebuchet MS"/>
                <a:cs typeface="Trebuchet MS"/>
              </a:rPr>
              <a:t> </a:t>
            </a:r>
            <a:r>
              <a:rPr sz="2200" spc="-20" dirty="0" smtClean="0">
                <a:latin typeface="Trebuchet MS"/>
                <a:cs typeface="Trebuchet MS"/>
              </a:rPr>
              <a:t>dis</a:t>
            </a:r>
            <a:r>
              <a:rPr sz="2200" spc="-30" dirty="0" smtClean="0">
                <a:latin typeface="Trebuchet MS"/>
                <a:cs typeface="Trebuchet MS"/>
              </a:rPr>
              <a:t>t</a:t>
            </a:r>
            <a:r>
              <a:rPr sz="2200" spc="-60" dirty="0" smtClean="0">
                <a:latin typeface="Trebuchet MS"/>
                <a:cs typeface="Trebuchet MS"/>
              </a:rPr>
              <a:t>r</a:t>
            </a:r>
            <a:r>
              <a:rPr sz="2200" spc="-40" dirty="0" smtClean="0">
                <a:latin typeface="Trebuchet MS"/>
                <a:cs typeface="Trebuchet MS"/>
              </a:rPr>
              <a:t>i</a:t>
            </a:r>
            <a:r>
              <a:rPr sz="2200" spc="40" dirty="0" smtClean="0">
                <a:latin typeface="Trebuchet MS"/>
                <a:cs typeface="Trebuchet MS"/>
              </a:rPr>
              <a:t>b</a:t>
            </a:r>
            <a:r>
              <a:rPr sz="2200" dirty="0" smtClean="0">
                <a:latin typeface="Trebuchet MS"/>
                <a:cs typeface="Trebuchet MS"/>
              </a:rPr>
              <a:t>uted</a:t>
            </a:r>
            <a:r>
              <a:rPr lang="en-US" sz="2200" dirty="0">
                <a:latin typeface="Trebuchet MS"/>
                <a:cs typeface="Trebuchet MS"/>
              </a:rPr>
              <a:t> </a:t>
            </a:r>
            <a:r>
              <a:rPr sz="2200" spc="-45" dirty="0" smtClean="0">
                <a:latin typeface="Trebuchet MS"/>
                <a:cs typeface="Trebuchet MS"/>
              </a:rPr>
              <a:t>e</a:t>
            </a:r>
            <a:r>
              <a:rPr sz="2200" dirty="0" smtClean="0">
                <a:latin typeface="Trebuchet MS"/>
                <a:cs typeface="Trebuchet MS"/>
              </a:rPr>
              <a:t>nvi</a:t>
            </a:r>
            <a:r>
              <a:rPr sz="2200" spc="20" dirty="0" smtClean="0">
                <a:latin typeface="Trebuchet MS"/>
                <a:cs typeface="Trebuchet MS"/>
              </a:rPr>
              <a:t>r</a:t>
            </a:r>
            <a:r>
              <a:rPr sz="2200" spc="35" dirty="0" smtClean="0">
                <a:latin typeface="Trebuchet MS"/>
                <a:cs typeface="Trebuchet MS"/>
              </a:rPr>
              <a:t>o</a:t>
            </a:r>
            <a:r>
              <a:rPr sz="2200" spc="65" dirty="0" smtClean="0">
                <a:latin typeface="Trebuchet MS"/>
                <a:cs typeface="Trebuchet MS"/>
              </a:rPr>
              <a:t>nme</a:t>
            </a:r>
            <a:r>
              <a:rPr sz="2200" spc="70" dirty="0" smtClean="0">
                <a:latin typeface="Trebuchet MS"/>
                <a:cs typeface="Trebuchet MS"/>
              </a:rPr>
              <a:t>n</a:t>
            </a:r>
            <a:r>
              <a:rPr sz="2200" spc="-195" dirty="0" smtClean="0">
                <a:latin typeface="Trebuchet MS"/>
                <a:cs typeface="Trebuchet MS"/>
              </a:rPr>
              <a:t>t</a:t>
            </a:r>
            <a:r>
              <a:rPr sz="2200" spc="-175" dirty="0" smtClean="0">
                <a:latin typeface="Trebuchet MS"/>
                <a:cs typeface="Trebuchet MS"/>
              </a:rPr>
              <a:t>,</a:t>
            </a:r>
            <a:r>
              <a:rPr lang="en-US" sz="2200" dirty="0">
                <a:latin typeface="Trebuchet MS"/>
                <a:cs typeface="Trebuchet MS"/>
              </a:rPr>
              <a:t> </a:t>
            </a:r>
            <a:r>
              <a:rPr sz="2200" spc="50" dirty="0" smtClean="0">
                <a:latin typeface="Trebuchet MS"/>
                <a:cs typeface="Trebuchet MS"/>
              </a:rPr>
              <a:t>you</a:t>
            </a:r>
            <a:r>
              <a:rPr sz="2200" dirty="0">
                <a:latin typeface="Trebuchet MS"/>
                <a:cs typeface="Trebuchet MS"/>
              </a:rPr>
              <a:t>	</a:t>
            </a:r>
            <a:r>
              <a:rPr lang="en-US" sz="2200" dirty="0" smtClean="0">
                <a:latin typeface="Trebuchet MS"/>
                <a:cs typeface="Trebuchet MS"/>
              </a:rPr>
              <a:t> </a:t>
            </a:r>
            <a:r>
              <a:rPr sz="2200" spc="10" dirty="0" smtClean="0">
                <a:latin typeface="Trebuchet MS"/>
                <a:cs typeface="Trebuchet MS"/>
              </a:rPr>
              <a:t>n</a:t>
            </a:r>
            <a:r>
              <a:rPr sz="2200" spc="20" dirty="0" smtClean="0">
                <a:latin typeface="Trebuchet MS"/>
                <a:cs typeface="Trebuchet MS"/>
              </a:rPr>
              <a:t>e</a:t>
            </a:r>
            <a:r>
              <a:rPr sz="2200" spc="-45" dirty="0" smtClean="0">
                <a:latin typeface="Trebuchet MS"/>
                <a:cs typeface="Trebuchet MS"/>
              </a:rPr>
              <a:t>e</a:t>
            </a:r>
            <a:r>
              <a:rPr sz="2200" spc="35" dirty="0" smtClean="0">
                <a:latin typeface="Trebuchet MS"/>
                <a:cs typeface="Trebuchet MS"/>
              </a:rPr>
              <a:t>d</a:t>
            </a:r>
            <a:r>
              <a:rPr sz="2200" dirty="0">
                <a:latin typeface="Trebuchet MS"/>
                <a:cs typeface="Trebuchet MS"/>
              </a:rPr>
              <a:t>	</a:t>
            </a:r>
            <a:r>
              <a:rPr sz="2200" spc="-5" dirty="0" smtClean="0">
                <a:latin typeface="Trebuchet MS"/>
                <a:cs typeface="Trebuchet MS"/>
              </a:rPr>
              <a:t>t</a:t>
            </a:r>
            <a:r>
              <a:rPr sz="2200" spc="5" dirty="0" smtClean="0">
                <a:latin typeface="Trebuchet MS"/>
                <a:cs typeface="Trebuchet MS"/>
              </a:rPr>
              <a:t>o</a:t>
            </a:r>
            <a:r>
              <a:rPr lang="en-US" sz="2200" dirty="0">
                <a:latin typeface="Trebuchet MS"/>
                <a:cs typeface="Trebuchet MS"/>
              </a:rPr>
              <a:t> </a:t>
            </a:r>
            <a:r>
              <a:rPr sz="2200" dirty="0" smtClean="0">
                <a:latin typeface="Trebuchet MS"/>
                <a:cs typeface="Trebuchet MS"/>
              </a:rPr>
              <a:t>c</a:t>
            </a:r>
            <a:r>
              <a:rPr sz="2200" spc="5" dirty="0" smtClean="0">
                <a:latin typeface="Trebuchet MS"/>
                <a:cs typeface="Trebuchet MS"/>
              </a:rPr>
              <a:t>o</a:t>
            </a:r>
            <a:r>
              <a:rPr sz="2200" spc="-5" dirty="0" smtClean="0">
                <a:latin typeface="Trebuchet MS"/>
                <a:cs typeface="Trebuchet MS"/>
              </a:rPr>
              <a:t>nside</a:t>
            </a:r>
            <a:r>
              <a:rPr sz="2200" dirty="0" smtClean="0">
                <a:latin typeface="Trebuchet MS"/>
                <a:cs typeface="Trebuchet MS"/>
              </a:rPr>
              <a:t>r</a:t>
            </a:r>
            <a:r>
              <a:rPr lang="en-US" sz="2200" dirty="0">
                <a:latin typeface="Trebuchet MS"/>
                <a:cs typeface="Trebuchet MS"/>
              </a:rPr>
              <a:t> </a:t>
            </a:r>
            <a:r>
              <a:rPr sz="2200" spc="15" dirty="0" smtClean="0">
                <a:latin typeface="Trebuchet MS"/>
                <a:cs typeface="Trebuchet MS"/>
              </a:rPr>
              <a:t>s</a:t>
            </a:r>
            <a:r>
              <a:rPr sz="2200" spc="5" dirty="0" smtClean="0">
                <a:latin typeface="Trebuchet MS"/>
                <a:cs typeface="Trebuchet MS"/>
              </a:rPr>
              <a:t>y</a:t>
            </a:r>
            <a:r>
              <a:rPr sz="2200" spc="35" dirty="0" smtClean="0">
                <a:latin typeface="Trebuchet MS"/>
                <a:cs typeface="Trebuchet MS"/>
              </a:rPr>
              <a:t>s</a:t>
            </a:r>
            <a:r>
              <a:rPr sz="2200" spc="5" dirty="0" smtClean="0">
                <a:latin typeface="Trebuchet MS"/>
                <a:cs typeface="Trebuchet MS"/>
              </a:rPr>
              <a:t>te</a:t>
            </a:r>
            <a:r>
              <a:rPr sz="2200" spc="20" dirty="0" smtClean="0">
                <a:latin typeface="Trebuchet MS"/>
                <a:cs typeface="Trebuchet MS"/>
              </a:rPr>
              <a:t>m</a:t>
            </a:r>
            <a:r>
              <a:rPr lang="en-US" sz="2200" dirty="0">
                <a:latin typeface="Trebuchet MS"/>
                <a:cs typeface="Trebuchet MS"/>
              </a:rPr>
              <a:t> </a:t>
            </a:r>
            <a:r>
              <a:rPr sz="2200" spc="-45" dirty="0" smtClean="0">
                <a:latin typeface="Trebuchet MS"/>
                <a:cs typeface="Trebuchet MS"/>
              </a:rPr>
              <a:t>e</a:t>
            </a:r>
            <a:r>
              <a:rPr sz="2200" spc="-35" dirty="0" smtClean="0">
                <a:latin typeface="Trebuchet MS"/>
                <a:cs typeface="Trebuchet MS"/>
              </a:rPr>
              <a:t>r</a:t>
            </a:r>
            <a:r>
              <a:rPr sz="2200" spc="-30" dirty="0" smtClean="0">
                <a:latin typeface="Trebuchet MS"/>
                <a:cs typeface="Trebuchet MS"/>
              </a:rPr>
              <a:t>r</a:t>
            </a:r>
            <a:r>
              <a:rPr sz="2200" spc="25" dirty="0" smtClean="0">
                <a:latin typeface="Trebuchet MS"/>
                <a:cs typeface="Trebuchet MS"/>
              </a:rPr>
              <a:t>ors</a:t>
            </a:r>
            <a:r>
              <a:rPr sz="2200" spc="-305" dirty="0" smtClean="0">
                <a:latin typeface="Trebuchet MS"/>
                <a:cs typeface="Trebuchet MS"/>
              </a:rPr>
              <a:t>.</a:t>
            </a:r>
            <a:r>
              <a:rPr lang="en-US" sz="2200" dirty="0">
                <a:latin typeface="Trebuchet MS"/>
                <a:cs typeface="Trebuchet MS"/>
              </a:rPr>
              <a:t> </a:t>
            </a:r>
            <a:r>
              <a:rPr sz="2200" spc="225" dirty="0" err="1" smtClean="0">
                <a:latin typeface="Trebuchet MS"/>
                <a:cs typeface="Trebuchet MS"/>
              </a:rPr>
              <a:t>H</a:t>
            </a:r>
            <a:r>
              <a:rPr lang="en-US" sz="2200" spc="55" dirty="0" err="1" smtClean="0">
                <a:latin typeface="Trebuchet MS"/>
                <a:cs typeface="Trebuchet MS"/>
              </a:rPr>
              <a:t>b</a:t>
            </a:r>
            <a:r>
              <a:rPr sz="2200" spc="55" dirty="0" err="1" smtClean="0">
                <a:latin typeface="Trebuchet MS"/>
                <a:cs typeface="Trebuchet MS"/>
              </a:rPr>
              <a:t>a</a:t>
            </a:r>
            <a:r>
              <a:rPr sz="2200" spc="35" dirty="0" err="1" smtClean="0">
                <a:latin typeface="Trebuchet MS"/>
                <a:cs typeface="Trebuchet MS"/>
              </a:rPr>
              <a:t>s</a:t>
            </a:r>
            <a:r>
              <a:rPr sz="2200" spc="-45" dirty="0" err="1" smtClean="0">
                <a:latin typeface="Trebuchet MS"/>
                <a:cs typeface="Trebuchet MS"/>
              </a:rPr>
              <a:t>e</a:t>
            </a:r>
            <a:r>
              <a:rPr lang="en-US" sz="2200" dirty="0" smtClean="0">
                <a:latin typeface="Trebuchet MS"/>
                <a:cs typeface="Trebuchet MS"/>
              </a:rPr>
              <a:t> </a:t>
            </a:r>
            <a:r>
              <a:rPr sz="2200" spc="25" dirty="0" smtClean="0">
                <a:latin typeface="Trebuchet MS"/>
                <a:cs typeface="Trebuchet MS"/>
              </a:rPr>
              <a:t>uses  </a:t>
            </a:r>
            <a:r>
              <a:rPr sz="2200" spc="110" dirty="0">
                <a:latin typeface="Trebuchet MS"/>
                <a:cs typeface="Trebuchet MS"/>
              </a:rPr>
              <a:t>HLog </a:t>
            </a:r>
            <a:r>
              <a:rPr sz="2200" dirty="0">
                <a:latin typeface="Trebuchet MS"/>
                <a:cs typeface="Trebuchet MS"/>
              </a:rPr>
              <a:t>to </a:t>
            </a:r>
            <a:r>
              <a:rPr sz="2200" spc="10" dirty="0">
                <a:latin typeface="Trebuchet MS"/>
                <a:cs typeface="Trebuchet MS"/>
              </a:rPr>
              <a:t>ensure </a:t>
            </a:r>
            <a:r>
              <a:rPr sz="2200" spc="15" dirty="0">
                <a:latin typeface="Trebuchet MS"/>
                <a:cs typeface="Trebuchet MS"/>
              </a:rPr>
              <a:t>system</a:t>
            </a:r>
            <a:r>
              <a:rPr sz="2200" spc="25" dirty="0">
                <a:latin typeface="Trebuchet MS"/>
                <a:cs typeface="Trebuchet MS"/>
              </a:rPr>
              <a:t> </a:t>
            </a:r>
            <a:r>
              <a:rPr sz="2200" spc="-50" dirty="0">
                <a:latin typeface="Trebuchet MS"/>
                <a:cs typeface="Trebuchet MS"/>
              </a:rPr>
              <a:t>recovery</a:t>
            </a:r>
            <a:r>
              <a:rPr sz="2200" spc="-50" dirty="0" smtClean="0">
                <a:latin typeface="Trebuchet MS"/>
                <a:cs typeface="Trebuchet MS"/>
              </a:rPr>
              <a:t>.</a:t>
            </a:r>
            <a:endParaRPr lang="en-US" sz="2200" spc="-50" dirty="0" smtClean="0">
              <a:latin typeface="Trebuchet MS"/>
              <a:cs typeface="Trebuchet MS"/>
            </a:endParaRPr>
          </a:p>
          <a:p>
            <a:pPr marL="342900" indent="-342900">
              <a:lnSpc>
                <a:spcPts val="3200"/>
              </a:lnSpc>
              <a:spcBef>
                <a:spcPts val="600"/>
              </a:spcBef>
              <a:buFont typeface="Arial" panose="020B0604020202020204" pitchFamily="34" charset="0"/>
              <a:buChar char="•"/>
            </a:pPr>
            <a:r>
              <a:rPr lang="en-US" sz="2200" spc="-5" dirty="0">
                <a:latin typeface="Trebuchet MS"/>
                <a:cs typeface="Trebuchet MS"/>
              </a:rPr>
              <a:t>The </a:t>
            </a:r>
            <a:r>
              <a:rPr lang="en-US" sz="2200" spc="65" dirty="0" err="1">
                <a:latin typeface="Trebuchet MS"/>
                <a:cs typeface="Trebuchet MS"/>
              </a:rPr>
              <a:t>HBase</a:t>
            </a:r>
            <a:r>
              <a:rPr lang="en-US" sz="2200" spc="65" dirty="0">
                <a:latin typeface="Trebuchet MS"/>
                <a:cs typeface="Trebuchet MS"/>
              </a:rPr>
              <a:t> </a:t>
            </a:r>
            <a:r>
              <a:rPr lang="en-US" sz="2200" spc="15" dirty="0">
                <a:latin typeface="Trebuchet MS"/>
                <a:cs typeface="Trebuchet MS"/>
              </a:rPr>
              <a:t>system configures </a:t>
            </a:r>
            <a:r>
              <a:rPr lang="en-US" sz="2200" spc="65" dirty="0">
                <a:latin typeface="Trebuchet MS"/>
                <a:cs typeface="Trebuchet MS"/>
              </a:rPr>
              <a:t>an </a:t>
            </a:r>
            <a:r>
              <a:rPr lang="en-US" sz="2200" spc="114" dirty="0" err="1">
                <a:latin typeface="Trebuchet MS"/>
                <a:cs typeface="Trebuchet MS"/>
              </a:rPr>
              <a:t>HLog</a:t>
            </a:r>
            <a:r>
              <a:rPr lang="en-US" sz="2200" spc="114" dirty="0">
                <a:latin typeface="Trebuchet MS"/>
                <a:cs typeface="Trebuchet MS"/>
              </a:rPr>
              <a:t> </a:t>
            </a:r>
            <a:r>
              <a:rPr lang="en-US" sz="2200" spc="-55" dirty="0">
                <a:latin typeface="Trebuchet MS"/>
                <a:cs typeface="Trebuchet MS"/>
              </a:rPr>
              <a:t>file </a:t>
            </a:r>
            <a:r>
              <a:rPr lang="en-US" sz="2200" dirty="0">
                <a:latin typeface="Trebuchet MS"/>
                <a:cs typeface="Trebuchet MS"/>
              </a:rPr>
              <a:t>for each </a:t>
            </a:r>
            <a:r>
              <a:rPr lang="en-US" sz="2200" spc="10" dirty="0" err="1">
                <a:latin typeface="Trebuchet MS"/>
                <a:cs typeface="Trebuchet MS"/>
              </a:rPr>
              <a:t>HRegionServer</a:t>
            </a:r>
            <a:r>
              <a:rPr lang="en-US" sz="2200" spc="10" dirty="0">
                <a:latin typeface="Trebuchet MS"/>
                <a:cs typeface="Trebuchet MS"/>
              </a:rPr>
              <a:t>, </a:t>
            </a:r>
            <a:r>
              <a:rPr lang="en-US" sz="2200" spc="20" dirty="0">
                <a:latin typeface="Trebuchet MS"/>
                <a:cs typeface="Trebuchet MS"/>
              </a:rPr>
              <a:t>which </a:t>
            </a:r>
            <a:r>
              <a:rPr lang="en-US" sz="2200" spc="-15" dirty="0">
                <a:latin typeface="Trebuchet MS"/>
                <a:cs typeface="Trebuchet MS"/>
              </a:rPr>
              <a:t>is </a:t>
            </a:r>
            <a:r>
              <a:rPr lang="en-US" sz="2200" spc="55" dirty="0">
                <a:latin typeface="Trebuchet MS"/>
                <a:cs typeface="Trebuchet MS"/>
              </a:rPr>
              <a:t>a  </a:t>
            </a:r>
            <a:r>
              <a:rPr lang="en-US" sz="2200" spc="5" dirty="0">
                <a:latin typeface="Trebuchet MS"/>
                <a:cs typeface="Trebuchet MS"/>
              </a:rPr>
              <a:t>write-ahead </a:t>
            </a:r>
            <a:r>
              <a:rPr lang="en-US" sz="2200" spc="60" dirty="0">
                <a:latin typeface="Trebuchet MS"/>
                <a:cs typeface="Trebuchet MS"/>
              </a:rPr>
              <a:t>log</a:t>
            </a:r>
            <a:r>
              <a:rPr lang="en-US" sz="2200" spc="35" dirty="0">
                <a:latin typeface="Trebuchet MS"/>
                <a:cs typeface="Trebuchet MS"/>
              </a:rPr>
              <a:t> </a:t>
            </a:r>
            <a:r>
              <a:rPr lang="en-US" sz="2200" spc="45" dirty="0">
                <a:latin typeface="Trebuchet MS"/>
                <a:cs typeface="Trebuchet MS"/>
              </a:rPr>
              <a:t>(WAL). </a:t>
            </a:r>
            <a:r>
              <a:rPr lang="en-US" sz="2200" spc="45" dirty="0" smtClean="0">
                <a:solidFill>
                  <a:schemeClr val="tx2">
                    <a:lumMod val="50000"/>
                  </a:schemeClr>
                </a:solidFill>
                <a:latin typeface="Trebuchet MS"/>
                <a:cs typeface="Trebuchet MS"/>
              </a:rPr>
              <a:t>(</a:t>
            </a:r>
            <a:r>
              <a:rPr lang="en-US" sz="2200" b="1" i="1" spc="15" dirty="0" smtClean="0">
                <a:solidFill>
                  <a:schemeClr val="tx2">
                    <a:lumMod val="50000"/>
                  </a:schemeClr>
                </a:solidFill>
                <a:latin typeface="Trebuchet MS"/>
                <a:cs typeface="Trebuchet MS"/>
              </a:rPr>
              <a:t>In </a:t>
            </a:r>
            <a:r>
              <a:rPr lang="en-US" sz="2200" b="1" i="1" spc="15" dirty="0">
                <a:solidFill>
                  <a:schemeClr val="tx2">
                    <a:lumMod val="50000"/>
                  </a:schemeClr>
                </a:solidFill>
                <a:latin typeface="Trebuchet MS"/>
                <a:cs typeface="Trebuchet MS"/>
              </a:rPr>
              <a:t>computer science, write-ahead logging (WAL) is a family of techniques for providing atomicity and durability (two of the ACID properties) in database systems. </a:t>
            </a:r>
            <a:r>
              <a:rPr lang="en-US" sz="2200" b="1" i="1" spc="15" dirty="0" smtClean="0">
                <a:solidFill>
                  <a:schemeClr val="tx2">
                    <a:lumMod val="50000"/>
                  </a:schemeClr>
                </a:solidFill>
                <a:latin typeface="Trebuchet MS"/>
                <a:cs typeface="Trebuchet MS"/>
              </a:rPr>
              <a:t>The </a:t>
            </a:r>
            <a:r>
              <a:rPr lang="en-US" sz="2200" b="1" i="1" spc="15" dirty="0">
                <a:solidFill>
                  <a:schemeClr val="tx2">
                    <a:lumMod val="50000"/>
                  </a:schemeClr>
                </a:solidFill>
                <a:latin typeface="Trebuchet MS"/>
                <a:cs typeface="Trebuchet MS"/>
              </a:rPr>
              <a:t>changes are first recorded in the log, which must be written to stable storage, before the changes are written to the </a:t>
            </a:r>
            <a:r>
              <a:rPr lang="en-US" sz="2200" b="1" i="1" spc="15" dirty="0" smtClean="0">
                <a:solidFill>
                  <a:schemeClr val="tx2">
                    <a:lumMod val="50000"/>
                  </a:schemeClr>
                </a:solidFill>
                <a:latin typeface="Trebuchet MS"/>
                <a:cs typeface="Trebuchet MS"/>
              </a:rPr>
              <a:t>database).</a:t>
            </a:r>
            <a:endParaRPr lang="en-US" sz="2200" b="1" i="1" spc="15" dirty="0">
              <a:solidFill>
                <a:schemeClr val="tx2">
                  <a:lumMod val="50000"/>
                </a:schemeClr>
              </a:solidFill>
              <a:latin typeface="Trebuchet MS"/>
              <a:cs typeface="Trebuchet MS"/>
            </a:endParaRPr>
          </a:p>
          <a:p>
            <a:pPr marL="355600" marR="5080" indent="-342900" algn="just">
              <a:lnSpc>
                <a:spcPts val="3200"/>
              </a:lnSpc>
              <a:spcBef>
                <a:spcPts val="600"/>
              </a:spcBef>
              <a:buFont typeface="Arial" panose="020B0604020202020204" pitchFamily="34" charset="0"/>
              <a:buChar char="•"/>
              <a:tabLst>
                <a:tab pos="382905" algn="l"/>
                <a:tab pos="664845" algn="l"/>
                <a:tab pos="2152015" algn="l"/>
                <a:tab pos="3961765" algn="l"/>
                <a:tab pos="4552950" algn="l"/>
                <a:tab pos="5299710" algn="l"/>
                <a:tab pos="5688330" algn="l"/>
                <a:tab pos="6871334" algn="l"/>
                <a:tab pos="7872730" algn="l"/>
                <a:tab pos="8805545" algn="l"/>
                <a:tab pos="9732010" algn="l"/>
              </a:tabLst>
            </a:pPr>
            <a:r>
              <a:rPr lang="en-US" sz="2200" spc="-5" dirty="0">
                <a:latin typeface="Trebuchet MS"/>
                <a:cs typeface="Trebuchet MS"/>
              </a:rPr>
              <a:t>The </a:t>
            </a:r>
            <a:r>
              <a:rPr lang="en-US" sz="2200" spc="15" dirty="0">
                <a:latin typeface="Trebuchet MS"/>
                <a:cs typeface="Trebuchet MS"/>
              </a:rPr>
              <a:t>updated </a:t>
            </a:r>
            <a:r>
              <a:rPr lang="en-US" sz="2200" spc="20" dirty="0">
                <a:latin typeface="Trebuchet MS"/>
                <a:cs typeface="Trebuchet MS"/>
              </a:rPr>
              <a:t>data </a:t>
            </a:r>
            <a:r>
              <a:rPr lang="en-US" sz="2200" spc="15" dirty="0">
                <a:latin typeface="Trebuchet MS"/>
                <a:cs typeface="Trebuchet MS"/>
              </a:rPr>
              <a:t>can </a:t>
            </a:r>
            <a:r>
              <a:rPr lang="en-US" sz="2200" spc="-10" dirty="0">
                <a:latin typeface="Trebuchet MS"/>
                <a:cs typeface="Trebuchet MS"/>
              </a:rPr>
              <a:t>be </a:t>
            </a:r>
            <a:r>
              <a:rPr lang="en-US" sz="2200" spc="-20" dirty="0">
                <a:latin typeface="Trebuchet MS"/>
                <a:cs typeface="Trebuchet MS"/>
              </a:rPr>
              <a:t>written </a:t>
            </a:r>
            <a:r>
              <a:rPr lang="en-US" sz="2200" spc="5" dirty="0">
                <a:latin typeface="Trebuchet MS"/>
                <a:cs typeface="Trebuchet MS"/>
              </a:rPr>
              <a:t>to </a:t>
            </a:r>
            <a:r>
              <a:rPr lang="en-US" sz="2200" spc="-15" dirty="0">
                <a:latin typeface="Trebuchet MS"/>
                <a:cs typeface="Trebuchet MS"/>
              </a:rPr>
              <a:t>the </a:t>
            </a:r>
            <a:r>
              <a:rPr lang="en-US" sz="2200" spc="80" dirty="0" err="1">
                <a:latin typeface="Trebuchet MS"/>
                <a:cs typeface="Trebuchet MS"/>
              </a:rPr>
              <a:t>MemStore</a:t>
            </a:r>
            <a:r>
              <a:rPr lang="en-US" sz="2200" spc="80" dirty="0">
                <a:latin typeface="Trebuchet MS"/>
                <a:cs typeface="Trebuchet MS"/>
              </a:rPr>
              <a:t> </a:t>
            </a:r>
            <a:r>
              <a:rPr lang="en-US" sz="2200" spc="-15" dirty="0">
                <a:latin typeface="Trebuchet MS"/>
                <a:cs typeface="Trebuchet MS"/>
              </a:rPr>
              <a:t>cache </a:t>
            </a:r>
            <a:r>
              <a:rPr lang="en-US" sz="2200" spc="25" dirty="0">
                <a:latin typeface="Trebuchet MS"/>
                <a:cs typeface="Trebuchet MS"/>
              </a:rPr>
              <a:t>only </a:t>
            </a:r>
            <a:r>
              <a:rPr lang="en-US" sz="2200" spc="-30" dirty="0">
                <a:latin typeface="Trebuchet MS"/>
                <a:cs typeface="Trebuchet MS"/>
              </a:rPr>
              <a:t>after </a:t>
            </a:r>
            <a:r>
              <a:rPr lang="en-US" sz="2200" spc="-15" dirty="0">
                <a:latin typeface="Trebuchet MS"/>
                <a:cs typeface="Trebuchet MS"/>
              </a:rPr>
              <a:t>the </a:t>
            </a:r>
            <a:r>
              <a:rPr lang="en-US" sz="2200" spc="15" dirty="0">
                <a:latin typeface="Trebuchet MS"/>
                <a:cs typeface="Trebuchet MS"/>
              </a:rPr>
              <a:t>data </a:t>
            </a:r>
            <a:r>
              <a:rPr lang="en-US" sz="2200" spc="-15" dirty="0">
                <a:latin typeface="Trebuchet MS"/>
                <a:cs typeface="Trebuchet MS"/>
              </a:rPr>
              <a:t>is  </a:t>
            </a:r>
            <a:r>
              <a:rPr lang="en-US" sz="2200" spc="-20" dirty="0">
                <a:latin typeface="Trebuchet MS"/>
                <a:cs typeface="Trebuchet MS"/>
              </a:rPr>
              <a:t>written </a:t>
            </a:r>
            <a:r>
              <a:rPr lang="en-US" sz="2200" spc="5" dirty="0">
                <a:latin typeface="Trebuchet MS"/>
                <a:cs typeface="Trebuchet MS"/>
              </a:rPr>
              <a:t>to </a:t>
            </a:r>
            <a:r>
              <a:rPr lang="en-US" sz="2200" spc="-20" dirty="0">
                <a:latin typeface="Trebuchet MS"/>
                <a:cs typeface="Trebuchet MS"/>
              </a:rPr>
              <a:t>logs. </a:t>
            </a:r>
            <a:r>
              <a:rPr lang="en-US" sz="2200" spc="40" dirty="0">
                <a:latin typeface="Trebuchet MS"/>
                <a:cs typeface="Trebuchet MS"/>
              </a:rPr>
              <a:t>In </a:t>
            </a:r>
            <a:r>
              <a:rPr lang="en-US" sz="2200" spc="-25" dirty="0">
                <a:latin typeface="Trebuchet MS"/>
                <a:cs typeface="Trebuchet MS"/>
              </a:rPr>
              <a:t>addition, </a:t>
            </a:r>
            <a:r>
              <a:rPr lang="en-US" sz="2200" spc="-15" dirty="0">
                <a:latin typeface="Trebuchet MS"/>
                <a:cs typeface="Trebuchet MS"/>
              </a:rPr>
              <a:t>the </a:t>
            </a:r>
            <a:r>
              <a:rPr lang="en-US" sz="2200" spc="-5" dirty="0">
                <a:latin typeface="Trebuchet MS"/>
                <a:cs typeface="Trebuchet MS"/>
              </a:rPr>
              <a:t>cached </a:t>
            </a:r>
            <a:r>
              <a:rPr lang="en-US" sz="2200" spc="15" dirty="0">
                <a:latin typeface="Trebuchet MS"/>
                <a:cs typeface="Trebuchet MS"/>
              </a:rPr>
              <a:t>data can </a:t>
            </a:r>
            <a:r>
              <a:rPr lang="en-US" sz="2200" spc="-10" dirty="0">
                <a:latin typeface="Trebuchet MS"/>
                <a:cs typeface="Trebuchet MS"/>
              </a:rPr>
              <a:t>be </a:t>
            </a:r>
            <a:r>
              <a:rPr lang="en-US" sz="2200" spc="-20" dirty="0">
                <a:latin typeface="Trebuchet MS"/>
                <a:cs typeface="Trebuchet MS"/>
              </a:rPr>
              <a:t>written </a:t>
            </a:r>
            <a:r>
              <a:rPr lang="en-US" sz="2200" dirty="0">
                <a:latin typeface="Trebuchet MS"/>
                <a:cs typeface="Trebuchet MS"/>
              </a:rPr>
              <a:t>to </a:t>
            </a:r>
            <a:r>
              <a:rPr lang="en-US" sz="2200" spc="-15" dirty="0">
                <a:latin typeface="Trebuchet MS"/>
                <a:cs typeface="Trebuchet MS"/>
              </a:rPr>
              <a:t>the </a:t>
            </a:r>
            <a:r>
              <a:rPr lang="en-US" sz="2200" spc="15" dirty="0">
                <a:latin typeface="Trebuchet MS"/>
                <a:cs typeface="Trebuchet MS"/>
              </a:rPr>
              <a:t>disk </a:t>
            </a:r>
            <a:r>
              <a:rPr lang="en-US" sz="2200" spc="25" dirty="0">
                <a:latin typeface="Trebuchet MS"/>
                <a:cs typeface="Trebuchet MS"/>
              </a:rPr>
              <a:t>only </a:t>
            </a:r>
            <a:r>
              <a:rPr lang="en-US" sz="2200" spc="-30" dirty="0">
                <a:latin typeface="Trebuchet MS"/>
                <a:cs typeface="Trebuchet MS"/>
              </a:rPr>
              <a:t>after  </a:t>
            </a:r>
            <a:r>
              <a:rPr lang="en-US" sz="2200" spc="-15" dirty="0">
                <a:latin typeface="Trebuchet MS"/>
                <a:cs typeface="Trebuchet MS"/>
              </a:rPr>
              <a:t>the </a:t>
            </a:r>
            <a:r>
              <a:rPr lang="en-US" sz="2200" spc="55" dirty="0">
                <a:latin typeface="Trebuchet MS"/>
                <a:cs typeface="Trebuchet MS"/>
              </a:rPr>
              <a:t>logs </a:t>
            </a:r>
            <a:r>
              <a:rPr lang="en-US" sz="2200" spc="25" dirty="0">
                <a:latin typeface="Trebuchet MS"/>
                <a:cs typeface="Trebuchet MS"/>
              </a:rPr>
              <a:t>corresponding </a:t>
            </a:r>
            <a:r>
              <a:rPr lang="en-US" sz="2200" dirty="0">
                <a:latin typeface="Trebuchet MS"/>
                <a:cs typeface="Trebuchet MS"/>
              </a:rPr>
              <a:t>to </a:t>
            </a:r>
            <a:r>
              <a:rPr lang="en-US" sz="2200" spc="-15" dirty="0">
                <a:latin typeface="Trebuchet MS"/>
                <a:cs typeface="Trebuchet MS"/>
              </a:rPr>
              <a:t>the </a:t>
            </a:r>
            <a:r>
              <a:rPr lang="en-US" sz="2200" spc="15" dirty="0">
                <a:latin typeface="Trebuchet MS"/>
                <a:cs typeface="Trebuchet MS"/>
              </a:rPr>
              <a:t>data </a:t>
            </a:r>
            <a:r>
              <a:rPr lang="en-US" sz="2200" spc="-5" dirty="0">
                <a:latin typeface="Trebuchet MS"/>
                <a:cs typeface="Trebuchet MS"/>
              </a:rPr>
              <a:t>cached </a:t>
            </a:r>
            <a:r>
              <a:rPr lang="en-US" sz="2200" spc="5" dirty="0">
                <a:latin typeface="Trebuchet MS"/>
                <a:cs typeface="Trebuchet MS"/>
              </a:rPr>
              <a:t>in </a:t>
            </a:r>
            <a:r>
              <a:rPr lang="en-US" sz="2200" spc="-15" dirty="0">
                <a:latin typeface="Trebuchet MS"/>
                <a:cs typeface="Trebuchet MS"/>
              </a:rPr>
              <a:t>the </a:t>
            </a:r>
            <a:r>
              <a:rPr lang="en-US" sz="2200" spc="80" dirty="0" err="1">
                <a:latin typeface="Trebuchet MS"/>
                <a:cs typeface="Trebuchet MS"/>
              </a:rPr>
              <a:t>MemStore</a:t>
            </a:r>
            <a:r>
              <a:rPr lang="en-US" sz="2200" spc="80" dirty="0">
                <a:latin typeface="Trebuchet MS"/>
                <a:cs typeface="Trebuchet MS"/>
              </a:rPr>
              <a:t> </a:t>
            </a:r>
            <a:r>
              <a:rPr lang="en-US" sz="2200" spc="-10" dirty="0">
                <a:latin typeface="Trebuchet MS"/>
                <a:cs typeface="Trebuchet MS"/>
              </a:rPr>
              <a:t>are </a:t>
            </a:r>
            <a:r>
              <a:rPr lang="en-US" sz="2200" spc="-20" dirty="0">
                <a:latin typeface="Trebuchet MS"/>
                <a:cs typeface="Trebuchet MS"/>
              </a:rPr>
              <a:t>written </a:t>
            </a:r>
            <a:r>
              <a:rPr lang="en-US" sz="2200" dirty="0">
                <a:latin typeface="Trebuchet MS"/>
                <a:cs typeface="Trebuchet MS"/>
              </a:rPr>
              <a:t>to </a:t>
            </a:r>
            <a:r>
              <a:rPr lang="en-US" sz="2200" spc="-15" dirty="0">
                <a:latin typeface="Trebuchet MS"/>
                <a:cs typeface="Trebuchet MS"/>
              </a:rPr>
              <a:t>the  </a:t>
            </a:r>
            <a:r>
              <a:rPr lang="en-US" sz="2200" spc="-50" dirty="0">
                <a:latin typeface="Trebuchet MS"/>
                <a:cs typeface="Trebuchet MS"/>
              </a:rPr>
              <a:t>disk</a:t>
            </a:r>
            <a:r>
              <a:rPr lang="en-US" sz="2200" spc="-50" dirty="0" smtClean="0">
                <a:latin typeface="Trebuchet MS"/>
                <a:cs typeface="Trebuchet MS"/>
              </a:rPr>
              <a:t>.</a:t>
            </a:r>
            <a:endParaRPr lang="en-US" sz="2200" dirty="0">
              <a:latin typeface="Trebuchet MS"/>
              <a:cs typeface="Trebuchet MS"/>
            </a:endParaRPr>
          </a:p>
        </p:txBody>
      </p:sp>
      <p:sp>
        <p:nvSpPr>
          <p:cNvPr id="6" name="object 6"/>
          <p:cNvSpPr txBox="1"/>
          <p:nvPr/>
        </p:nvSpPr>
        <p:spPr>
          <a:xfrm>
            <a:off x="1101039" y="2116352"/>
            <a:ext cx="10291445" cy="689932"/>
          </a:xfrm>
          <a:prstGeom prst="rect">
            <a:avLst/>
          </a:prstGeom>
        </p:spPr>
        <p:txBody>
          <a:bodyPr vert="horz" wrap="square" lIns="0" tIns="12700" rIns="0" bIns="0" rtlCol="0">
            <a:spAutoFit/>
          </a:bodyPr>
          <a:lstStyle/>
          <a:p>
            <a:r>
              <a:rPr lang="en-US" sz="2200" spc="15" dirty="0">
                <a:latin typeface="Trebuchet MS"/>
                <a:cs typeface="Trebuchet MS"/>
              </a:rPr>
              <a:t/>
            </a:r>
            <a:br>
              <a:rPr lang="en-US" sz="2200" spc="15" dirty="0">
                <a:latin typeface="Trebuchet MS"/>
                <a:cs typeface="Trebuchet MS"/>
              </a:rPr>
            </a:br>
            <a:endParaRPr sz="2200" spc="15" dirty="0">
              <a:latin typeface="Trebuchet MS"/>
              <a:cs typeface="Trebuchet MS"/>
            </a:endParaRPr>
          </a:p>
        </p:txBody>
      </p:sp>
      <p:sp>
        <p:nvSpPr>
          <p:cNvPr id="8" name="object 8"/>
          <p:cNvSpPr txBox="1"/>
          <p:nvPr/>
        </p:nvSpPr>
        <p:spPr>
          <a:xfrm>
            <a:off x="1098499" y="4282148"/>
            <a:ext cx="10293985" cy="433132"/>
          </a:xfrm>
          <a:prstGeom prst="rect">
            <a:avLst/>
          </a:prstGeom>
        </p:spPr>
        <p:txBody>
          <a:bodyPr vert="horz" wrap="square" lIns="0" tIns="12700" rIns="0" bIns="0" rtlCol="0">
            <a:spAutoFit/>
          </a:bodyPr>
          <a:lstStyle/>
          <a:p>
            <a:pPr marL="12700" marR="5080" algn="just">
              <a:lnSpc>
                <a:spcPct val="139900"/>
              </a:lnSpc>
              <a:spcBef>
                <a:spcPts val="100"/>
              </a:spcBef>
            </a:pPr>
            <a:endParaRPr sz="2200" dirty="0">
              <a:latin typeface="Trebuchet MS"/>
              <a:cs typeface="Trebuchet MS"/>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381000"/>
            <a:ext cx="11277600" cy="5867400"/>
          </a:xfrm>
          <a:prstGeom prst="rect">
            <a:avLst/>
          </a:prstGeom>
        </p:spPr>
      </p:pic>
    </p:spTree>
    <p:extLst>
      <p:ext uri="{BB962C8B-B14F-4D97-AF65-F5344CB8AC3E}">
        <p14:creationId xmlns:p14="http://schemas.microsoft.com/office/powerpoint/2010/main" val="420745777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2016125" cy="0"/>
          </a:xfrm>
          <a:custGeom>
            <a:avLst/>
            <a:gdLst/>
            <a:ahLst/>
            <a:cxnLst/>
            <a:rect l="l" t="t" r="r" b="b"/>
            <a:pathLst>
              <a:path w="2016125">
                <a:moveTo>
                  <a:pt x="2015997"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2072639" cy="635000"/>
          </a:xfrm>
          <a:prstGeom prst="rect">
            <a:avLst/>
          </a:prstGeom>
        </p:spPr>
        <p:txBody>
          <a:bodyPr vert="horz" wrap="square" lIns="0" tIns="12065" rIns="0" bIns="0" rtlCol="0">
            <a:spAutoFit/>
          </a:bodyPr>
          <a:lstStyle/>
          <a:p>
            <a:pPr marL="12700">
              <a:lnSpc>
                <a:spcPct val="100000"/>
              </a:lnSpc>
              <a:spcBef>
                <a:spcPts val="95"/>
              </a:spcBef>
            </a:pPr>
            <a:r>
              <a:rPr sz="4000" spc="40" dirty="0">
                <a:solidFill>
                  <a:srgbClr val="404040"/>
                </a:solidFill>
              </a:rPr>
              <a:t>Conte</a:t>
            </a:r>
            <a:r>
              <a:rPr sz="4000" spc="55" dirty="0">
                <a:solidFill>
                  <a:srgbClr val="404040"/>
                </a:solidFill>
              </a:rPr>
              <a:t>n</a:t>
            </a:r>
            <a:r>
              <a:rPr sz="4000" spc="-40" dirty="0">
                <a:solidFill>
                  <a:srgbClr val="404040"/>
                </a:solidFill>
              </a:rPr>
              <a:t>ts</a:t>
            </a:r>
            <a:endParaRPr sz="4000"/>
          </a:p>
        </p:txBody>
      </p:sp>
      <p:sp>
        <p:nvSpPr>
          <p:cNvPr id="7" name="object 7"/>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fld id="{81D60167-4931-47E6-BA6A-407CBD079E47}" type="slidenum">
              <a:rPr spc="45" dirty="0"/>
              <a:t>51</a:t>
            </a:fld>
            <a:r>
              <a:rPr spc="45" dirty="0"/>
              <a:t>	</a:t>
            </a:r>
            <a:r>
              <a:rPr spc="30" dirty="0"/>
              <a:t>Huawei</a:t>
            </a:r>
            <a:r>
              <a:rPr spc="-10" dirty="0"/>
              <a:t> </a:t>
            </a:r>
            <a:r>
              <a:rPr spc="5" dirty="0"/>
              <a:t>Confidential</a:t>
            </a:r>
          </a:p>
        </p:txBody>
      </p:sp>
      <p:sp>
        <p:nvSpPr>
          <p:cNvPr id="6" name="object 6"/>
          <p:cNvSpPr txBox="1"/>
          <p:nvPr/>
        </p:nvSpPr>
        <p:spPr>
          <a:xfrm>
            <a:off x="1097991" y="2009393"/>
            <a:ext cx="4744720" cy="3779520"/>
          </a:xfrm>
          <a:prstGeom prst="rect">
            <a:avLst/>
          </a:prstGeom>
        </p:spPr>
        <p:txBody>
          <a:bodyPr vert="horz" wrap="square" lIns="0" tIns="12065" rIns="0" bIns="0" rtlCol="0">
            <a:spAutoFit/>
          </a:bodyPr>
          <a:lstStyle/>
          <a:p>
            <a:pPr marL="469900" indent="-457834">
              <a:lnSpc>
                <a:spcPct val="100000"/>
              </a:lnSpc>
              <a:spcBef>
                <a:spcPts val="95"/>
              </a:spcBef>
              <a:buAutoNum type="arabicPeriod"/>
              <a:tabLst>
                <a:tab pos="469265" algn="l"/>
                <a:tab pos="470534" algn="l"/>
              </a:tabLst>
            </a:pPr>
            <a:r>
              <a:rPr sz="2200" spc="10" dirty="0">
                <a:solidFill>
                  <a:srgbClr val="7E7E7E"/>
                </a:solidFill>
                <a:latin typeface="Trebuchet MS"/>
                <a:cs typeface="Trebuchet MS"/>
              </a:rPr>
              <a:t>Introduction </a:t>
            </a:r>
            <a:r>
              <a:rPr sz="2200" dirty="0">
                <a:solidFill>
                  <a:srgbClr val="7E7E7E"/>
                </a:solidFill>
                <a:latin typeface="Trebuchet MS"/>
                <a:cs typeface="Trebuchet MS"/>
              </a:rPr>
              <a:t>to</a:t>
            </a:r>
            <a:r>
              <a:rPr sz="2200" spc="40" dirty="0">
                <a:solidFill>
                  <a:srgbClr val="7E7E7E"/>
                </a:solidFill>
                <a:latin typeface="Trebuchet MS"/>
                <a:cs typeface="Trebuchet MS"/>
              </a:rPr>
              <a:t> </a:t>
            </a:r>
            <a:r>
              <a:rPr sz="2200" spc="60" dirty="0">
                <a:solidFill>
                  <a:srgbClr val="7E7E7E"/>
                </a:solidFill>
                <a:latin typeface="Trebuchet MS"/>
                <a:cs typeface="Trebuchet MS"/>
              </a:rPr>
              <a:t>HBase</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spc="65" dirty="0">
                <a:solidFill>
                  <a:srgbClr val="7E7E7E"/>
                </a:solidFill>
                <a:latin typeface="Trebuchet MS"/>
                <a:cs typeface="Trebuchet MS"/>
              </a:rPr>
              <a:t>HBase </a:t>
            </a:r>
            <a:r>
              <a:rPr sz="2200" spc="-10" dirty="0">
                <a:solidFill>
                  <a:srgbClr val="7E7E7E"/>
                </a:solidFill>
                <a:latin typeface="Trebuchet MS"/>
                <a:cs typeface="Trebuchet MS"/>
              </a:rPr>
              <a:t>Related</a:t>
            </a:r>
            <a:r>
              <a:rPr sz="2200" spc="-5" dirty="0">
                <a:solidFill>
                  <a:srgbClr val="7E7E7E"/>
                </a:solidFill>
                <a:latin typeface="Trebuchet MS"/>
                <a:cs typeface="Trebuchet MS"/>
              </a:rPr>
              <a:t> </a:t>
            </a:r>
            <a:r>
              <a:rPr sz="2200" dirty="0">
                <a:solidFill>
                  <a:srgbClr val="7E7E7E"/>
                </a:solidFill>
                <a:latin typeface="Trebuchet MS"/>
                <a:cs typeface="Trebuchet MS"/>
              </a:rPr>
              <a:t>Concepts</a:t>
            </a:r>
            <a:endParaRPr sz="2200">
              <a:latin typeface="Trebuchet MS"/>
              <a:cs typeface="Trebuchet MS"/>
            </a:endParaRPr>
          </a:p>
          <a:p>
            <a:pPr marL="469900" indent="-457834">
              <a:lnSpc>
                <a:spcPct val="100000"/>
              </a:lnSpc>
              <a:spcBef>
                <a:spcPts val="1845"/>
              </a:spcBef>
              <a:buAutoNum type="arabicPeriod"/>
              <a:tabLst>
                <a:tab pos="469265" algn="l"/>
                <a:tab pos="470534" algn="l"/>
              </a:tabLst>
            </a:pPr>
            <a:r>
              <a:rPr sz="2200" spc="60" dirty="0">
                <a:solidFill>
                  <a:srgbClr val="7E7E7E"/>
                </a:solidFill>
                <a:latin typeface="Trebuchet MS"/>
                <a:cs typeface="Trebuchet MS"/>
              </a:rPr>
              <a:t>HBase</a:t>
            </a:r>
            <a:r>
              <a:rPr sz="2200" spc="35" dirty="0">
                <a:solidFill>
                  <a:srgbClr val="7E7E7E"/>
                </a:solidFill>
                <a:latin typeface="Trebuchet MS"/>
                <a:cs typeface="Trebuchet MS"/>
              </a:rPr>
              <a:t> </a:t>
            </a:r>
            <a:r>
              <a:rPr sz="2200" spc="-25" dirty="0">
                <a:solidFill>
                  <a:srgbClr val="7E7E7E"/>
                </a:solidFill>
                <a:latin typeface="Trebuchet MS"/>
                <a:cs typeface="Trebuchet MS"/>
              </a:rPr>
              <a:t>Architecture</a:t>
            </a:r>
            <a:endParaRPr sz="2200">
              <a:latin typeface="Trebuchet MS"/>
              <a:cs typeface="Trebuchet MS"/>
            </a:endParaRPr>
          </a:p>
          <a:p>
            <a:pPr marL="469900" indent="-457834">
              <a:lnSpc>
                <a:spcPct val="100000"/>
              </a:lnSpc>
              <a:spcBef>
                <a:spcPts val="1839"/>
              </a:spcBef>
              <a:buAutoNum type="arabicPeriod"/>
              <a:tabLst>
                <a:tab pos="469265" algn="l"/>
                <a:tab pos="470534" algn="l"/>
              </a:tabLst>
            </a:pPr>
            <a:r>
              <a:rPr sz="2200" spc="65" dirty="0">
                <a:solidFill>
                  <a:srgbClr val="7E7E7E"/>
                </a:solidFill>
                <a:latin typeface="Trebuchet MS"/>
                <a:cs typeface="Trebuchet MS"/>
              </a:rPr>
              <a:t>HBase </a:t>
            </a:r>
            <a:r>
              <a:rPr sz="2200" spc="5" dirty="0">
                <a:solidFill>
                  <a:srgbClr val="7E7E7E"/>
                </a:solidFill>
                <a:latin typeface="Trebuchet MS"/>
                <a:cs typeface="Trebuchet MS"/>
              </a:rPr>
              <a:t>Key </a:t>
            </a:r>
            <a:r>
              <a:rPr sz="2200" spc="-5" dirty="0">
                <a:solidFill>
                  <a:srgbClr val="7E7E7E"/>
                </a:solidFill>
                <a:latin typeface="Trebuchet MS"/>
                <a:cs typeface="Trebuchet MS"/>
              </a:rPr>
              <a:t>Processes</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b="1" spc="-65" dirty="0">
                <a:latin typeface="Arial"/>
                <a:cs typeface="Arial"/>
              </a:rPr>
              <a:t>HBase</a:t>
            </a:r>
            <a:r>
              <a:rPr sz="2200" b="1" spc="85" dirty="0">
                <a:latin typeface="Arial"/>
                <a:cs typeface="Arial"/>
              </a:rPr>
              <a:t> </a:t>
            </a:r>
            <a:r>
              <a:rPr sz="2200" b="1" spc="15" dirty="0">
                <a:latin typeface="Arial"/>
                <a:cs typeface="Arial"/>
              </a:rPr>
              <a:t>Highlights</a:t>
            </a:r>
            <a:endParaRPr sz="2200">
              <a:latin typeface="Arial"/>
              <a:cs typeface="Arial"/>
            </a:endParaRPr>
          </a:p>
          <a:p>
            <a:pPr marL="469900" indent="-457834">
              <a:lnSpc>
                <a:spcPct val="100000"/>
              </a:lnSpc>
              <a:spcBef>
                <a:spcPts val="1845"/>
              </a:spcBef>
              <a:buAutoNum type="arabicPeriod"/>
              <a:tabLst>
                <a:tab pos="469265" algn="l"/>
                <a:tab pos="470534" algn="l"/>
              </a:tabLst>
            </a:pPr>
            <a:r>
              <a:rPr sz="2200" spc="65" dirty="0">
                <a:solidFill>
                  <a:srgbClr val="7E7E7E"/>
                </a:solidFill>
                <a:latin typeface="Trebuchet MS"/>
                <a:cs typeface="Trebuchet MS"/>
              </a:rPr>
              <a:t>HBase </a:t>
            </a:r>
            <a:r>
              <a:rPr sz="2200" spc="5" dirty="0">
                <a:solidFill>
                  <a:srgbClr val="7E7E7E"/>
                </a:solidFill>
                <a:latin typeface="Trebuchet MS"/>
                <a:cs typeface="Trebuchet MS"/>
              </a:rPr>
              <a:t>Performance</a:t>
            </a:r>
            <a:r>
              <a:rPr sz="2200" dirty="0">
                <a:solidFill>
                  <a:srgbClr val="7E7E7E"/>
                </a:solidFill>
                <a:latin typeface="Trebuchet MS"/>
                <a:cs typeface="Trebuchet MS"/>
              </a:rPr>
              <a:t> </a:t>
            </a:r>
            <a:r>
              <a:rPr sz="2200" spc="45" dirty="0">
                <a:solidFill>
                  <a:srgbClr val="7E7E7E"/>
                </a:solidFill>
                <a:latin typeface="Trebuchet MS"/>
                <a:cs typeface="Trebuchet MS"/>
              </a:rPr>
              <a:t>Tuning</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spc="90" dirty="0">
                <a:solidFill>
                  <a:srgbClr val="7E7E7E"/>
                </a:solidFill>
                <a:latin typeface="Trebuchet MS"/>
                <a:cs typeface="Trebuchet MS"/>
              </a:rPr>
              <a:t>Common </a:t>
            </a:r>
            <a:r>
              <a:rPr sz="2200" spc="60" dirty="0">
                <a:solidFill>
                  <a:srgbClr val="7E7E7E"/>
                </a:solidFill>
                <a:latin typeface="Trebuchet MS"/>
                <a:cs typeface="Trebuchet MS"/>
              </a:rPr>
              <a:t>HBase </a:t>
            </a:r>
            <a:r>
              <a:rPr sz="2200" spc="10" dirty="0">
                <a:solidFill>
                  <a:srgbClr val="7E7E7E"/>
                </a:solidFill>
                <a:latin typeface="Trebuchet MS"/>
                <a:cs typeface="Trebuchet MS"/>
              </a:rPr>
              <a:t>Shell</a:t>
            </a:r>
            <a:r>
              <a:rPr sz="2200" spc="-100" dirty="0">
                <a:solidFill>
                  <a:srgbClr val="7E7E7E"/>
                </a:solidFill>
                <a:latin typeface="Trebuchet MS"/>
                <a:cs typeface="Trebuchet MS"/>
              </a:rPr>
              <a:t> </a:t>
            </a:r>
            <a:r>
              <a:rPr sz="2200" spc="75" dirty="0">
                <a:solidFill>
                  <a:srgbClr val="7E7E7E"/>
                </a:solidFill>
                <a:latin typeface="Trebuchet MS"/>
                <a:cs typeface="Trebuchet MS"/>
              </a:rPr>
              <a:t>Commands</a:t>
            </a:r>
            <a:endParaRPr sz="2200">
              <a:latin typeface="Trebuchet MS"/>
              <a:cs typeface="Trebuchet MS"/>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fld id="{81D60167-4931-47E6-BA6A-407CBD079E47}" type="slidenum">
              <a:rPr spc="45" dirty="0"/>
              <a:t>52</a:t>
            </a:fld>
            <a:r>
              <a:rPr spc="45" dirty="0"/>
              <a:t>	</a:t>
            </a:r>
            <a:r>
              <a:rPr spc="30" dirty="0"/>
              <a:t>Huawei</a:t>
            </a:r>
            <a:r>
              <a:rPr spc="-10" dirty="0"/>
              <a:t> </a:t>
            </a:r>
            <a:r>
              <a:rPr spc="5" dirty="0"/>
              <a:t>Confidential</a:t>
            </a:r>
          </a:p>
        </p:txBody>
      </p:sp>
      <p:sp>
        <p:nvSpPr>
          <p:cNvPr id="9" name="object 2"/>
          <p:cNvSpPr txBox="1"/>
          <p:nvPr/>
        </p:nvSpPr>
        <p:spPr>
          <a:xfrm>
            <a:off x="259642" y="5610325"/>
            <a:ext cx="11691257" cy="624690"/>
          </a:xfrm>
          <a:prstGeom prst="rect">
            <a:avLst/>
          </a:prstGeom>
        </p:spPr>
        <p:txBody>
          <a:bodyPr vert="horz" wrap="square" lIns="0" tIns="9049" rIns="0" bIns="0" rtlCol="0">
            <a:spAutoFit/>
          </a:bodyPr>
          <a:lstStyle/>
          <a:p>
            <a:pPr marL="138113" indent="-128588">
              <a:spcBef>
                <a:spcPts val="71"/>
              </a:spcBef>
              <a:buFont typeface="Wingdings"/>
              <a:buChar char=""/>
              <a:tabLst>
                <a:tab pos="138113" algn="l"/>
              </a:tabLst>
            </a:pPr>
            <a:r>
              <a:rPr sz="2000" spc="41" dirty="0">
                <a:latin typeface="UKIJ CJK"/>
                <a:cs typeface="UKIJ CJK"/>
              </a:rPr>
              <a:t>As </a:t>
            </a:r>
            <a:r>
              <a:rPr sz="2000" spc="23" dirty="0">
                <a:latin typeface="UKIJ CJK"/>
                <a:cs typeface="UKIJ CJK"/>
              </a:rPr>
              <a:t>time </a:t>
            </a:r>
            <a:r>
              <a:rPr sz="2000" spc="15" dirty="0">
                <a:latin typeface="UKIJ CJK"/>
                <a:cs typeface="UKIJ CJK"/>
              </a:rPr>
              <a:t>passes </a:t>
            </a:r>
            <a:r>
              <a:rPr sz="2000" spc="23" dirty="0">
                <a:latin typeface="UKIJ CJK"/>
                <a:cs typeface="UKIJ CJK"/>
              </a:rPr>
              <a:t>by, the </a:t>
            </a:r>
            <a:r>
              <a:rPr sz="2000" spc="19" dirty="0">
                <a:latin typeface="UKIJ CJK"/>
                <a:cs typeface="UKIJ CJK"/>
              </a:rPr>
              <a:t>number </a:t>
            </a:r>
            <a:r>
              <a:rPr sz="2000" spc="30" dirty="0">
                <a:latin typeface="UKIJ CJK"/>
                <a:cs typeface="UKIJ CJK"/>
              </a:rPr>
              <a:t>of </a:t>
            </a:r>
            <a:r>
              <a:rPr sz="2000" spc="19" dirty="0">
                <a:latin typeface="UKIJ CJK"/>
                <a:cs typeface="UKIJ CJK"/>
              </a:rPr>
              <a:t>HFiles </a:t>
            </a:r>
            <a:r>
              <a:rPr sz="2000" spc="11" dirty="0">
                <a:latin typeface="UKIJ CJK"/>
                <a:cs typeface="UKIJ CJK"/>
              </a:rPr>
              <a:t>increases </a:t>
            </a:r>
            <a:r>
              <a:rPr sz="2000" spc="23" dirty="0">
                <a:latin typeface="UKIJ CJK"/>
                <a:cs typeface="UKIJ CJK"/>
              </a:rPr>
              <a:t>because </a:t>
            </a:r>
            <a:r>
              <a:rPr sz="2000" spc="15" dirty="0">
                <a:latin typeface="UKIJ CJK"/>
                <a:cs typeface="UKIJ CJK"/>
              </a:rPr>
              <a:t>service</a:t>
            </a:r>
            <a:r>
              <a:rPr sz="2000" spc="94" dirty="0">
                <a:latin typeface="UKIJ CJK"/>
                <a:cs typeface="UKIJ CJK"/>
              </a:rPr>
              <a:t> </a:t>
            </a:r>
            <a:r>
              <a:rPr sz="2000" spc="23" dirty="0" smtClean="0">
                <a:latin typeface="UKIJ CJK"/>
                <a:cs typeface="UKIJ CJK"/>
              </a:rPr>
              <a:t>data</a:t>
            </a:r>
            <a:r>
              <a:rPr lang="en-US" sz="2000" dirty="0">
                <a:latin typeface="UKIJ CJK"/>
                <a:cs typeface="UKIJ CJK"/>
              </a:rPr>
              <a:t> </a:t>
            </a:r>
            <a:r>
              <a:rPr sz="2000" spc="19" dirty="0" smtClean="0">
                <a:latin typeface="UKIJ CJK"/>
                <a:cs typeface="UKIJ CJK"/>
              </a:rPr>
              <a:t>flows </a:t>
            </a:r>
            <a:r>
              <a:rPr sz="2000" spc="34" dirty="0">
                <a:latin typeface="UKIJ CJK"/>
                <a:cs typeface="UKIJ CJK"/>
              </a:rPr>
              <a:t>to </a:t>
            </a:r>
            <a:r>
              <a:rPr sz="2000" spc="23" dirty="0">
                <a:latin typeface="UKIJ CJK"/>
                <a:cs typeface="UKIJ CJK"/>
              </a:rPr>
              <a:t>the </a:t>
            </a:r>
            <a:r>
              <a:rPr sz="2000" spc="19" dirty="0" err="1">
                <a:latin typeface="UKIJ CJK"/>
                <a:cs typeface="UKIJ CJK"/>
              </a:rPr>
              <a:t>HBase</a:t>
            </a:r>
            <a:r>
              <a:rPr sz="2000" spc="19" dirty="0">
                <a:latin typeface="UKIJ CJK"/>
                <a:cs typeface="UKIJ CJK"/>
              </a:rPr>
              <a:t> </a:t>
            </a:r>
            <a:r>
              <a:rPr sz="2000" spc="8" dirty="0">
                <a:latin typeface="UKIJ CJK"/>
                <a:cs typeface="UKIJ CJK"/>
              </a:rPr>
              <a:t>cluster. </a:t>
            </a:r>
            <a:r>
              <a:rPr sz="2000" spc="34" dirty="0">
                <a:latin typeface="UKIJ CJK"/>
                <a:cs typeface="UKIJ CJK"/>
              </a:rPr>
              <a:t>More </a:t>
            </a:r>
            <a:r>
              <a:rPr sz="2000" spc="11" dirty="0">
                <a:latin typeface="UKIJ CJK"/>
                <a:cs typeface="UKIJ CJK"/>
              </a:rPr>
              <a:t>files </a:t>
            </a:r>
            <a:r>
              <a:rPr sz="2000" spc="26" dirty="0">
                <a:latin typeface="UKIJ CJK"/>
                <a:cs typeface="UKIJ CJK"/>
              </a:rPr>
              <a:t>need </a:t>
            </a:r>
            <a:r>
              <a:rPr sz="2000" spc="34" dirty="0">
                <a:latin typeface="UKIJ CJK"/>
                <a:cs typeface="UKIJ CJK"/>
              </a:rPr>
              <a:t>to be opened </a:t>
            </a:r>
            <a:r>
              <a:rPr sz="2000" spc="15" dirty="0">
                <a:latin typeface="UKIJ CJK"/>
                <a:cs typeface="UKIJ CJK"/>
              </a:rPr>
              <a:t>for </a:t>
            </a:r>
            <a:r>
              <a:rPr sz="2000" spc="23" dirty="0">
                <a:latin typeface="UKIJ CJK"/>
                <a:cs typeface="UKIJ CJK"/>
              </a:rPr>
              <a:t>the same</a:t>
            </a:r>
            <a:r>
              <a:rPr sz="2000" spc="94" dirty="0">
                <a:latin typeface="UKIJ CJK"/>
                <a:cs typeface="UKIJ CJK"/>
              </a:rPr>
              <a:t> </a:t>
            </a:r>
            <a:r>
              <a:rPr sz="2000" spc="15" dirty="0" smtClean="0">
                <a:latin typeface="UKIJ CJK"/>
                <a:cs typeface="UKIJ CJK"/>
              </a:rPr>
              <a:t>query, so</a:t>
            </a:r>
            <a:r>
              <a:rPr sz="2000" spc="26" dirty="0" smtClean="0">
                <a:latin typeface="UKIJ CJK"/>
                <a:cs typeface="UKIJ CJK"/>
              </a:rPr>
              <a:t> </a:t>
            </a:r>
            <a:r>
              <a:rPr sz="2000" spc="23" dirty="0">
                <a:latin typeface="UKIJ CJK"/>
                <a:cs typeface="UKIJ CJK"/>
              </a:rPr>
              <a:t>the query </a:t>
            </a:r>
            <a:r>
              <a:rPr sz="2000" spc="19" dirty="0">
                <a:latin typeface="UKIJ CJK"/>
                <a:cs typeface="UKIJ CJK"/>
              </a:rPr>
              <a:t>latency</a:t>
            </a:r>
            <a:r>
              <a:rPr sz="2000" spc="45" dirty="0">
                <a:latin typeface="UKIJ CJK"/>
                <a:cs typeface="UKIJ CJK"/>
              </a:rPr>
              <a:t> </a:t>
            </a:r>
            <a:r>
              <a:rPr sz="2000" spc="8" dirty="0">
                <a:latin typeface="UKIJ CJK"/>
                <a:cs typeface="UKIJ CJK"/>
              </a:rPr>
              <a:t>increases.</a:t>
            </a:r>
            <a:endParaRPr sz="2000" dirty="0">
              <a:latin typeface="UKIJ CJK"/>
              <a:cs typeface="UKIJ CJK"/>
            </a:endParaRPr>
          </a:p>
        </p:txBody>
      </p:sp>
      <p:grpSp>
        <p:nvGrpSpPr>
          <p:cNvPr id="10" name="object 3"/>
          <p:cNvGrpSpPr/>
          <p:nvPr/>
        </p:nvGrpSpPr>
        <p:grpSpPr>
          <a:xfrm>
            <a:off x="250845" y="228600"/>
            <a:ext cx="11691257" cy="5222746"/>
            <a:chOff x="376427" y="679704"/>
            <a:chExt cx="6106160" cy="3442335"/>
          </a:xfrm>
        </p:grpSpPr>
        <p:sp>
          <p:nvSpPr>
            <p:cNvPr id="11" name="object 4"/>
            <p:cNvSpPr/>
            <p:nvPr/>
          </p:nvSpPr>
          <p:spPr>
            <a:xfrm>
              <a:off x="602470" y="832680"/>
              <a:ext cx="5745306" cy="3227563"/>
            </a:xfrm>
            <a:prstGeom prst="rect">
              <a:avLst/>
            </a:prstGeom>
            <a:blipFill>
              <a:blip r:embed="rId2" cstate="print"/>
              <a:stretch>
                <a:fillRect/>
              </a:stretch>
            </a:blipFill>
          </p:spPr>
          <p:txBody>
            <a:bodyPr wrap="square" lIns="0" tIns="0" rIns="0" bIns="0" rtlCol="0"/>
            <a:lstStyle/>
            <a:p>
              <a:endParaRPr sz="1350"/>
            </a:p>
          </p:txBody>
        </p:sp>
        <p:sp>
          <p:nvSpPr>
            <p:cNvPr id="12" name="object 5"/>
            <p:cNvSpPr/>
            <p:nvPr/>
          </p:nvSpPr>
          <p:spPr>
            <a:xfrm>
              <a:off x="382904" y="686181"/>
              <a:ext cx="6093460" cy="3429000"/>
            </a:xfrm>
            <a:custGeom>
              <a:avLst/>
              <a:gdLst/>
              <a:ahLst/>
              <a:cxnLst/>
              <a:rect l="l" t="t" r="r" b="b"/>
              <a:pathLst>
                <a:path w="6093460" h="3429000">
                  <a:moveTo>
                    <a:pt x="0" y="3429000"/>
                  </a:moveTo>
                  <a:lnTo>
                    <a:pt x="6092952" y="3429000"/>
                  </a:lnTo>
                  <a:lnTo>
                    <a:pt x="6092952" y="0"/>
                  </a:lnTo>
                  <a:lnTo>
                    <a:pt x="0" y="0"/>
                  </a:lnTo>
                  <a:lnTo>
                    <a:pt x="0" y="3429000"/>
                  </a:lnTo>
                  <a:close/>
                </a:path>
              </a:pathLst>
            </a:custGeom>
            <a:ln w="12954">
              <a:solidFill>
                <a:srgbClr val="000000"/>
              </a:solidFill>
            </a:ln>
          </p:spPr>
          <p:txBody>
            <a:bodyPr wrap="square" lIns="0" tIns="0" rIns="0" bIns="0" rtlCol="0"/>
            <a:lstStyle/>
            <a:p>
              <a:endParaRPr sz="1350"/>
            </a:p>
          </p:txBody>
        </p:sp>
      </p:gr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5616" y="366521"/>
            <a:ext cx="2933700" cy="513715"/>
          </a:xfrm>
          <a:prstGeom prst="rect">
            <a:avLst/>
          </a:prstGeom>
        </p:spPr>
        <p:txBody>
          <a:bodyPr vert="horz" wrap="square" lIns="0" tIns="13335" rIns="0" bIns="0" rtlCol="0">
            <a:spAutoFit/>
          </a:bodyPr>
          <a:lstStyle/>
          <a:p>
            <a:pPr marL="12700">
              <a:lnSpc>
                <a:spcPct val="100000"/>
              </a:lnSpc>
              <a:spcBef>
                <a:spcPts val="105"/>
              </a:spcBef>
            </a:pPr>
            <a:r>
              <a:rPr sz="3200" spc="40" dirty="0">
                <a:solidFill>
                  <a:srgbClr val="000000"/>
                </a:solidFill>
              </a:rPr>
              <a:t>Compaction</a:t>
            </a:r>
            <a:r>
              <a:rPr sz="3200" spc="-5" dirty="0">
                <a:solidFill>
                  <a:srgbClr val="000000"/>
                </a:solidFill>
              </a:rPr>
              <a:t> </a:t>
            </a:r>
            <a:r>
              <a:rPr sz="3200" spc="130" dirty="0">
                <a:solidFill>
                  <a:srgbClr val="000000"/>
                </a:solidFill>
              </a:rPr>
              <a:t>(1)</a:t>
            </a:r>
            <a:endParaRPr sz="3200"/>
          </a:p>
        </p:txBody>
      </p:sp>
      <p:sp>
        <p:nvSpPr>
          <p:cNvPr id="13" name="object 13"/>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fld id="{81D60167-4931-47E6-BA6A-407CBD079E47}" type="slidenum">
              <a:rPr spc="45" dirty="0"/>
              <a:t>53</a:t>
            </a:fld>
            <a:r>
              <a:rPr spc="45" dirty="0"/>
              <a:t>	</a:t>
            </a:r>
            <a:r>
              <a:rPr spc="30" dirty="0"/>
              <a:t>Huawei</a:t>
            </a:r>
            <a:r>
              <a:rPr spc="-10" dirty="0"/>
              <a:t> </a:t>
            </a:r>
            <a:r>
              <a:rPr spc="5" dirty="0"/>
              <a:t>Confidential</a:t>
            </a:r>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101039" y="1076604"/>
            <a:ext cx="10289540" cy="964565"/>
          </a:xfrm>
          <a:prstGeom prst="rect">
            <a:avLst/>
          </a:prstGeom>
        </p:spPr>
        <p:txBody>
          <a:bodyPr vert="horz" wrap="square" lIns="0" tIns="12700" rIns="0" bIns="0" rtlCol="0">
            <a:spAutoFit/>
          </a:bodyPr>
          <a:lstStyle/>
          <a:p>
            <a:pPr marL="12700" marR="5080">
              <a:lnSpc>
                <a:spcPct val="140000"/>
              </a:lnSpc>
              <a:spcBef>
                <a:spcPts val="100"/>
              </a:spcBef>
              <a:tabLst>
                <a:tab pos="1661795" algn="l"/>
                <a:tab pos="1979930" algn="l"/>
                <a:tab pos="2698115" algn="l"/>
                <a:tab pos="3089910" algn="l"/>
                <a:tab pos="4070985" algn="l"/>
                <a:tab pos="4612005" algn="l"/>
                <a:tab pos="5732780" algn="l"/>
                <a:tab pos="6121400" algn="l"/>
                <a:tab pos="6925945" algn="l"/>
                <a:tab pos="7567930" algn="l"/>
                <a:tab pos="8700135" algn="l"/>
                <a:tab pos="9064625" algn="l"/>
                <a:tab pos="9605645" algn="l"/>
              </a:tabLst>
            </a:pPr>
            <a:r>
              <a:rPr sz="2200" spc="25" dirty="0">
                <a:latin typeface="Trebuchet MS"/>
                <a:cs typeface="Trebuchet MS"/>
              </a:rPr>
              <a:t>Compac</a:t>
            </a:r>
            <a:r>
              <a:rPr sz="2200" spc="10" dirty="0">
                <a:latin typeface="Trebuchet MS"/>
                <a:cs typeface="Trebuchet MS"/>
              </a:rPr>
              <a:t>t</a:t>
            </a:r>
            <a:r>
              <a:rPr sz="2200" spc="30" dirty="0">
                <a:latin typeface="Trebuchet MS"/>
                <a:cs typeface="Trebuchet MS"/>
              </a:rPr>
              <a:t>ion</a:t>
            </a:r>
            <a:r>
              <a:rPr sz="2200" dirty="0">
                <a:latin typeface="Trebuchet MS"/>
                <a:cs typeface="Trebuchet MS"/>
              </a:rPr>
              <a:t>	</a:t>
            </a:r>
            <a:r>
              <a:rPr sz="2200" spc="-15" dirty="0">
                <a:latin typeface="Trebuchet MS"/>
                <a:cs typeface="Trebuchet MS"/>
              </a:rPr>
              <a:t>is</a:t>
            </a:r>
            <a:r>
              <a:rPr sz="2200" dirty="0">
                <a:latin typeface="Trebuchet MS"/>
                <a:cs typeface="Trebuchet MS"/>
              </a:rPr>
              <a:t>	</a:t>
            </a:r>
            <a:r>
              <a:rPr sz="2200" spc="25" dirty="0">
                <a:latin typeface="Trebuchet MS"/>
                <a:cs typeface="Trebuchet MS"/>
              </a:rPr>
              <a:t>used</a:t>
            </a:r>
            <a:r>
              <a:rPr sz="2200" dirty="0">
                <a:latin typeface="Trebuchet MS"/>
                <a:cs typeface="Trebuchet MS"/>
              </a:rPr>
              <a:t>	</a:t>
            </a:r>
            <a:r>
              <a:rPr sz="2200" spc="5" dirty="0">
                <a:latin typeface="Trebuchet MS"/>
                <a:cs typeface="Trebuchet MS"/>
              </a:rPr>
              <a:t>to</a:t>
            </a:r>
            <a:r>
              <a:rPr sz="2200" dirty="0">
                <a:latin typeface="Trebuchet MS"/>
                <a:cs typeface="Trebuchet MS"/>
              </a:rPr>
              <a:t>	</a:t>
            </a:r>
            <a:r>
              <a:rPr sz="2200" spc="-35" dirty="0">
                <a:latin typeface="Trebuchet MS"/>
                <a:cs typeface="Trebuchet MS"/>
              </a:rPr>
              <a:t>r</a:t>
            </a:r>
            <a:r>
              <a:rPr sz="2200" spc="-40" dirty="0">
                <a:latin typeface="Trebuchet MS"/>
                <a:cs typeface="Trebuchet MS"/>
              </a:rPr>
              <a:t>e</a:t>
            </a:r>
            <a:r>
              <a:rPr sz="2200" spc="-5" dirty="0">
                <a:latin typeface="Trebuchet MS"/>
                <a:cs typeface="Trebuchet MS"/>
              </a:rPr>
              <a:t>duce</a:t>
            </a:r>
            <a:r>
              <a:rPr sz="2200" dirty="0">
                <a:latin typeface="Trebuchet MS"/>
                <a:cs typeface="Trebuchet MS"/>
              </a:rPr>
              <a:t>	</a:t>
            </a:r>
            <a:r>
              <a:rPr sz="2200" spc="-20" dirty="0">
                <a:latin typeface="Trebuchet MS"/>
                <a:cs typeface="Trebuchet MS"/>
              </a:rPr>
              <a:t>th</a:t>
            </a:r>
            <a:r>
              <a:rPr sz="2200" spc="-15" dirty="0">
                <a:latin typeface="Trebuchet MS"/>
                <a:cs typeface="Trebuchet MS"/>
              </a:rPr>
              <a:t>e</a:t>
            </a:r>
            <a:r>
              <a:rPr sz="2200" dirty="0">
                <a:latin typeface="Trebuchet MS"/>
                <a:cs typeface="Trebuchet MS"/>
              </a:rPr>
              <a:t>	</a:t>
            </a:r>
            <a:r>
              <a:rPr sz="2200" spc="85" dirty="0">
                <a:latin typeface="Trebuchet MS"/>
                <a:cs typeface="Trebuchet MS"/>
              </a:rPr>
              <a:t>num</a:t>
            </a:r>
            <a:r>
              <a:rPr sz="2200" spc="70" dirty="0">
                <a:latin typeface="Trebuchet MS"/>
                <a:cs typeface="Trebuchet MS"/>
              </a:rPr>
              <a:t>b</a:t>
            </a:r>
            <a:r>
              <a:rPr sz="2200" spc="-45" dirty="0">
                <a:latin typeface="Trebuchet MS"/>
                <a:cs typeface="Trebuchet MS"/>
              </a:rPr>
              <a:t>e</a:t>
            </a:r>
            <a:r>
              <a:rPr sz="2200" spc="-35" dirty="0">
                <a:latin typeface="Trebuchet MS"/>
                <a:cs typeface="Trebuchet MS"/>
              </a:rPr>
              <a:t>r</a:t>
            </a:r>
            <a:r>
              <a:rPr sz="2200" dirty="0">
                <a:latin typeface="Trebuchet MS"/>
                <a:cs typeface="Trebuchet MS"/>
              </a:rPr>
              <a:t>	</a:t>
            </a:r>
            <a:r>
              <a:rPr sz="2200" spc="25" dirty="0">
                <a:latin typeface="Trebuchet MS"/>
                <a:cs typeface="Trebuchet MS"/>
              </a:rPr>
              <a:t>o</a:t>
            </a:r>
            <a:r>
              <a:rPr sz="2200" spc="15" dirty="0">
                <a:latin typeface="Trebuchet MS"/>
                <a:cs typeface="Trebuchet MS"/>
              </a:rPr>
              <a:t>f</a:t>
            </a:r>
            <a:r>
              <a:rPr sz="2200" dirty="0">
                <a:latin typeface="Trebuchet MS"/>
                <a:cs typeface="Trebuchet MS"/>
              </a:rPr>
              <a:t>	</a:t>
            </a:r>
            <a:r>
              <a:rPr sz="2200" spc="60" dirty="0">
                <a:latin typeface="Trebuchet MS"/>
                <a:cs typeface="Trebuchet MS"/>
              </a:rPr>
              <a:t>s</a:t>
            </a:r>
            <a:r>
              <a:rPr sz="2200" spc="114" dirty="0">
                <a:latin typeface="Trebuchet MS"/>
                <a:cs typeface="Trebuchet MS"/>
              </a:rPr>
              <a:t>m</a:t>
            </a:r>
            <a:r>
              <a:rPr sz="2200" spc="-20" dirty="0">
                <a:latin typeface="Trebuchet MS"/>
                <a:cs typeface="Trebuchet MS"/>
              </a:rPr>
              <a:t>al</a:t>
            </a:r>
            <a:r>
              <a:rPr sz="2200" spc="-10" dirty="0">
                <a:latin typeface="Trebuchet MS"/>
                <a:cs typeface="Trebuchet MS"/>
              </a:rPr>
              <a:t>l</a:t>
            </a:r>
            <a:r>
              <a:rPr sz="2200" dirty="0">
                <a:latin typeface="Trebuchet MS"/>
                <a:cs typeface="Trebuchet MS"/>
              </a:rPr>
              <a:t>	</a:t>
            </a:r>
            <a:r>
              <a:rPr sz="2200" spc="-50" dirty="0">
                <a:latin typeface="Trebuchet MS"/>
                <a:cs typeface="Trebuchet MS"/>
              </a:rPr>
              <a:t>fil</a:t>
            </a:r>
            <a:r>
              <a:rPr sz="2200" spc="-70" dirty="0">
                <a:latin typeface="Trebuchet MS"/>
                <a:cs typeface="Trebuchet MS"/>
              </a:rPr>
              <a:t>e</a:t>
            </a:r>
            <a:r>
              <a:rPr sz="2200" spc="35" dirty="0">
                <a:latin typeface="Trebuchet MS"/>
                <a:cs typeface="Trebuchet MS"/>
              </a:rPr>
              <a:t>s</a:t>
            </a:r>
            <a:r>
              <a:rPr sz="2200" dirty="0">
                <a:latin typeface="Trebuchet MS"/>
                <a:cs typeface="Trebuchet MS"/>
              </a:rPr>
              <a:t>	</a:t>
            </a:r>
            <a:r>
              <a:rPr sz="2200" spc="95" dirty="0">
                <a:latin typeface="Trebuchet MS"/>
                <a:cs typeface="Trebuchet MS"/>
              </a:rPr>
              <a:t>(</a:t>
            </a:r>
            <a:r>
              <a:rPr sz="2200" spc="5" dirty="0">
                <a:latin typeface="Trebuchet MS"/>
                <a:cs typeface="Trebuchet MS"/>
              </a:rPr>
              <a:t>HFil</a:t>
            </a:r>
            <a:r>
              <a:rPr sz="2200" spc="20" dirty="0">
                <a:latin typeface="Trebuchet MS"/>
                <a:cs typeface="Trebuchet MS"/>
              </a:rPr>
              <a:t>e</a:t>
            </a:r>
            <a:r>
              <a:rPr sz="2200" spc="35" dirty="0">
                <a:latin typeface="Trebuchet MS"/>
                <a:cs typeface="Trebuchet MS"/>
              </a:rPr>
              <a:t>s</a:t>
            </a:r>
            <a:r>
              <a:rPr sz="2200" spc="95" dirty="0">
                <a:latin typeface="Trebuchet MS"/>
                <a:cs typeface="Trebuchet MS"/>
              </a:rPr>
              <a:t>)</a:t>
            </a:r>
            <a:r>
              <a:rPr sz="2200" dirty="0">
                <a:latin typeface="Trebuchet MS"/>
                <a:cs typeface="Trebuchet MS"/>
              </a:rPr>
              <a:t>	</a:t>
            </a:r>
            <a:r>
              <a:rPr sz="2200" spc="5" dirty="0">
                <a:latin typeface="Trebuchet MS"/>
                <a:cs typeface="Trebuchet MS"/>
              </a:rPr>
              <a:t>in</a:t>
            </a:r>
            <a:r>
              <a:rPr sz="2200" dirty="0">
                <a:latin typeface="Trebuchet MS"/>
                <a:cs typeface="Trebuchet MS"/>
              </a:rPr>
              <a:t>	</a:t>
            </a:r>
            <a:r>
              <a:rPr sz="2200" spc="-20" dirty="0">
                <a:latin typeface="Trebuchet MS"/>
                <a:cs typeface="Trebuchet MS"/>
              </a:rPr>
              <a:t>th</a:t>
            </a:r>
            <a:r>
              <a:rPr sz="2200" spc="-15" dirty="0">
                <a:latin typeface="Trebuchet MS"/>
                <a:cs typeface="Trebuchet MS"/>
              </a:rPr>
              <a:t>e</a:t>
            </a:r>
            <a:r>
              <a:rPr sz="2200" dirty="0">
                <a:latin typeface="Trebuchet MS"/>
                <a:cs typeface="Trebuchet MS"/>
              </a:rPr>
              <a:t>	</a:t>
            </a:r>
            <a:r>
              <a:rPr sz="2200" spc="40" dirty="0">
                <a:latin typeface="Trebuchet MS"/>
                <a:cs typeface="Trebuchet MS"/>
              </a:rPr>
              <a:t>sa</a:t>
            </a:r>
            <a:r>
              <a:rPr sz="2200" spc="35" dirty="0">
                <a:latin typeface="Trebuchet MS"/>
                <a:cs typeface="Trebuchet MS"/>
              </a:rPr>
              <a:t>me  </a:t>
            </a:r>
            <a:r>
              <a:rPr sz="2200" spc="40" dirty="0">
                <a:latin typeface="Trebuchet MS"/>
                <a:cs typeface="Trebuchet MS"/>
              </a:rPr>
              <a:t>column </a:t>
            </a:r>
            <a:r>
              <a:rPr sz="2200" spc="5" dirty="0">
                <a:latin typeface="Trebuchet MS"/>
                <a:cs typeface="Trebuchet MS"/>
              </a:rPr>
              <a:t>family </a:t>
            </a:r>
            <a:r>
              <a:rPr sz="2200" spc="15" dirty="0">
                <a:latin typeface="Trebuchet MS"/>
                <a:cs typeface="Trebuchet MS"/>
              </a:rPr>
              <a:t>of </a:t>
            </a:r>
            <a:r>
              <a:rPr sz="2200" spc="-15" dirty="0">
                <a:latin typeface="Trebuchet MS"/>
                <a:cs typeface="Trebuchet MS"/>
              </a:rPr>
              <a:t>the </a:t>
            </a:r>
            <a:r>
              <a:rPr sz="2200" spc="50" dirty="0">
                <a:latin typeface="Trebuchet MS"/>
                <a:cs typeface="Trebuchet MS"/>
              </a:rPr>
              <a:t>same </a:t>
            </a:r>
            <a:r>
              <a:rPr sz="2200" spc="25" dirty="0">
                <a:latin typeface="Trebuchet MS"/>
                <a:cs typeface="Trebuchet MS"/>
              </a:rPr>
              <a:t>region </a:t>
            </a:r>
            <a:r>
              <a:rPr sz="2200" dirty="0">
                <a:latin typeface="Trebuchet MS"/>
                <a:cs typeface="Trebuchet MS"/>
              </a:rPr>
              <a:t>to </a:t>
            </a:r>
            <a:r>
              <a:rPr sz="2200" spc="15" dirty="0">
                <a:latin typeface="Trebuchet MS"/>
                <a:cs typeface="Trebuchet MS"/>
              </a:rPr>
              <a:t>improve </a:t>
            </a:r>
            <a:r>
              <a:rPr sz="2200" spc="-15" dirty="0">
                <a:latin typeface="Trebuchet MS"/>
                <a:cs typeface="Trebuchet MS"/>
              </a:rPr>
              <a:t>the </a:t>
            </a:r>
            <a:r>
              <a:rPr sz="2200" spc="5" dirty="0">
                <a:latin typeface="Trebuchet MS"/>
                <a:cs typeface="Trebuchet MS"/>
              </a:rPr>
              <a:t>read</a:t>
            </a:r>
            <a:r>
              <a:rPr sz="2200" spc="165" dirty="0">
                <a:latin typeface="Trebuchet MS"/>
                <a:cs typeface="Trebuchet MS"/>
              </a:rPr>
              <a:t> </a:t>
            </a:r>
            <a:r>
              <a:rPr sz="2200" spc="-15" dirty="0">
                <a:latin typeface="Trebuchet MS"/>
                <a:cs typeface="Trebuchet MS"/>
              </a:rPr>
              <a:t>performance.</a:t>
            </a:r>
            <a:endParaRPr sz="2200">
              <a:latin typeface="Trebuchet MS"/>
              <a:cs typeface="Trebuchet MS"/>
            </a:endParaRPr>
          </a:p>
        </p:txBody>
      </p:sp>
      <p:sp>
        <p:nvSpPr>
          <p:cNvPr id="5" name="object 5"/>
          <p:cNvSpPr txBox="1"/>
          <p:nvPr/>
        </p:nvSpPr>
        <p:spPr>
          <a:xfrm>
            <a:off x="799287" y="2330323"/>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6" name="object 6"/>
          <p:cNvSpPr txBox="1"/>
          <p:nvPr/>
        </p:nvSpPr>
        <p:spPr>
          <a:xfrm>
            <a:off x="1101039" y="2251074"/>
            <a:ext cx="9065895" cy="360680"/>
          </a:xfrm>
          <a:prstGeom prst="rect">
            <a:avLst/>
          </a:prstGeom>
        </p:spPr>
        <p:txBody>
          <a:bodyPr vert="horz" wrap="square" lIns="0" tIns="12065" rIns="0" bIns="0" rtlCol="0">
            <a:spAutoFit/>
          </a:bodyPr>
          <a:lstStyle/>
          <a:p>
            <a:pPr marL="12700">
              <a:lnSpc>
                <a:spcPct val="100000"/>
              </a:lnSpc>
              <a:spcBef>
                <a:spcPts val="95"/>
              </a:spcBef>
            </a:pPr>
            <a:r>
              <a:rPr sz="2200" spc="25" dirty="0">
                <a:latin typeface="Trebuchet MS"/>
                <a:cs typeface="Trebuchet MS"/>
              </a:rPr>
              <a:t>Compaction </a:t>
            </a:r>
            <a:r>
              <a:rPr sz="2200" spc="-15" dirty="0">
                <a:latin typeface="Trebuchet MS"/>
                <a:cs typeface="Trebuchet MS"/>
              </a:rPr>
              <a:t>is </a:t>
            </a:r>
            <a:r>
              <a:rPr sz="2200" spc="-20" dirty="0">
                <a:latin typeface="Trebuchet MS"/>
                <a:cs typeface="Trebuchet MS"/>
              </a:rPr>
              <a:t>classified </a:t>
            </a:r>
            <a:r>
              <a:rPr sz="2200" spc="5" dirty="0">
                <a:latin typeface="Trebuchet MS"/>
                <a:cs typeface="Trebuchet MS"/>
              </a:rPr>
              <a:t>into </a:t>
            </a:r>
            <a:r>
              <a:rPr sz="2200" u="sng" spc="40" dirty="0">
                <a:latin typeface="Trebuchet MS"/>
                <a:cs typeface="Trebuchet MS"/>
              </a:rPr>
              <a:t>minor </a:t>
            </a:r>
            <a:r>
              <a:rPr sz="2200" u="sng" spc="15" dirty="0">
                <a:latin typeface="Trebuchet MS"/>
                <a:cs typeface="Trebuchet MS"/>
              </a:rPr>
              <a:t>compaction </a:t>
            </a:r>
            <a:r>
              <a:rPr sz="2200" u="sng" spc="55" dirty="0">
                <a:latin typeface="Trebuchet MS"/>
                <a:cs typeface="Trebuchet MS"/>
              </a:rPr>
              <a:t>and </a:t>
            </a:r>
            <a:r>
              <a:rPr sz="2200" u="sng" dirty="0">
                <a:latin typeface="Trebuchet MS"/>
                <a:cs typeface="Trebuchet MS"/>
              </a:rPr>
              <a:t>major</a:t>
            </a:r>
            <a:r>
              <a:rPr sz="2200" u="sng" spc="114" dirty="0">
                <a:latin typeface="Trebuchet MS"/>
                <a:cs typeface="Trebuchet MS"/>
              </a:rPr>
              <a:t> </a:t>
            </a:r>
            <a:r>
              <a:rPr sz="2200" u="sng" spc="-15" dirty="0">
                <a:latin typeface="Trebuchet MS"/>
                <a:cs typeface="Trebuchet MS"/>
              </a:rPr>
              <a:t>compaction</a:t>
            </a:r>
            <a:r>
              <a:rPr sz="2200" spc="-15" dirty="0">
                <a:latin typeface="Trebuchet MS"/>
                <a:cs typeface="Trebuchet MS"/>
              </a:rPr>
              <a:t>.</a:t>
            </a:r>
            <a:endParaRPr sz="2200" dirty="0">
              <a:latin typeface="Trebuchet MS"/>
              <a:cs typeface="Trebuchet MS"/>
            </a:endParaRPr>
          </a:p>
        </p:txBody>
      </p:sp>
      <p:sp>
        <p:nvSpPr>
          <p:cNvPr id="7" name="object 7"/>
          <p:cNvSpPr txBox="1"/>
          <p:nvPr/>
        </p:nvSpPr>
        <p:spPr>
          <a:xfrm>
            <a:off x="1203147" y="2869818"/>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8" name="object 8"/>
          <p:cNvSpPr txBox="1"/>
          <p:nvPr/>
        </p:nvSpPr>
        <p:spPr>
          <a:xfrm>
            <a:off x="1454911" y="2678852"/>
            <a:ext cx="9213850" cy="1302385"/>
          </a:xfrm>
          <a:prstGeom prst="rect">
            <a:avLst/>
          </a:prstGeom>
        </p:spPr>
        <p:txBody>
          <a:bodyPr vert="horz" wrap="square" lIns="0" tIns="10795" rIns="0" bIns="0" rtlCol="0">
            <a:spAutoFit/>
          </a:bodyPr>
          <a:lstStyle/>
          <a:p>
            <a:pPr marL="12700" marR="5080" algn="just">
              <a:lnSpc>
                <a:spcPct val="139800"/>
              </a:lnSpc>
              <a:spcBef>
                <a:spcPts val="85"/>
              </a:spcBef>
            </a:pPr>
            <a:r>
              <a:rPr sz="2000" spc="35" dirty="0">
                <a:latin typeface="Trebuchet MS"/>
                <a:cs typeface="Trebuchet MS"/>
              </a:rPr>
              <a:t>Minor: </a:t>
            </a:r>
            <a:r>
              <a:rPr sz="2000" spc="-10" dirty="0">
                <a:latin typeface="Trebuchet MS"/>
                <a:cs typeface="Trebuchet MS"/>
              </a:rPr>
              <a:t>indicates </a:t>
            </a:r>
            <a:r>
              <a:rPr sz="2000" spc="15" dirty="0">
                <a:latin typeface="Trebuchet MS"/>
                <a:cs typeface="Trebuchet MS"/>
              </a:rPr>
              <a:t>small-scale </a:t>
            </a:r>
            <a:r>
              <a:rPr sz="2000" spc="-10" dirty="0">
                <a:latin typeface="Trebuchet MS"/>
                <a:cs typeface="Trebuchet MS"/>
              </a:rPr>
              <a:t>compaction. </a:t>
            </a:r>
            <a:r>
              <a:rPr sz="2000" spc="-15" dirty="0">
                <a:latin typeface="Trebuchet MS"/>
                <a:cs typeface="Trebuchet MS"/>
              </a:rPr>
              <a:t>There </a:t>
            </a:r>
            <a:r>
              <a:rPr sz="2000" spc="-5" dirty="0">
                <a:latin typeface="Trebuchet MS"/>
                <a:cs typeface="Trebuchet MS"/>
              </a:rPr>
              <a:t>are </a:t>
            </a:r>
            <a:r>
              <a:rPr sz="2000" spc="-10" dirty="0">
                <a:latin typeface="Trebuchet MS"/>
                <a:cs typeface="Trebuchet MS"/>
              </a:rPr>
              <a:t>limits </a:t>
            </a:r>
            <a:r>
              <a:rPr sz="2000" spc="75" dirty="0">
                <a:latin typeface="Trebuchet MS"/>
                <a:cs typeface="Trebuchet MS"/>
              </a:rPr>
              <a:t>on </a:t>
            </a:r>
            <a:r>
              <a:rPr sz="2000" spc="-10" dirty="0">
                <a:latin typeface="Trebuchet MS"/>
                <a:cs typeface="Trebuchet MS"/>
              </a:rPr>
              <a:t>the </a:t>
            </a:r>
            <a:r>
              <a:rPr sz="2000" spc="70" dirty="0">
                <a:latin typeface="Trebuchet MS"/>
                <a:cs typeface="Trebuchet MS"/>
              </a:rPr>
              <a:t>minimum </a:t>
            </a:r>
            <a:r>
              <a:rPr sz="2000" spc="50" dirty="0">
                <a:latin typeface="Trebuchet MS"/>
                <a:cs typeface="Trebuchet MS"/>
              </a:rPr>
              <a:t>and  </a:t>
            </a:r>
            <a:r>
              <a:rPr sz="2000" spc="65" dirty="0">
                <a:latin typeface="Trebuchet MS"/>
                <a:cs typeface="Trebuchet MS"/>
              </a:rPr>
              <a:t>maximum </a:t>
            </a:r>
            <a:r>
              <a:rPr sz="2000" spc="45" dirty="0">
                <a:latin typeface="Trebuchet MS"/>
                <a:cs typeface="Trebuchet MS"/>
              </a:rPr>
              <a:t>number </a:t>
            </a:r>
            <a:r>
              <a:rPr sz="2000" spc="20" dirty="0">
                <a:latin typeface="Trebuchet MS"/>
                <a:cs typeface="Trebuchet MS"/>
              </a:rPr>
              <a:t>of </a:t>
            </a:r>
            <a:r>
              <a:rPr sz="2000" spc="-75" dirty="0">
                <a:latin typeface="Trebuchet MS"/>
                <a:cs typeface="Trebuchet MS"/>
              </a:rPr>
              <a:t>files. </a:t>
            </a:r>
            <a:r>
              <a:rPr sz="2000" spc="-30" dirty="0">
                <a:latin typeface="Trebuchet MS"/>
                <a:cs typeface="Trebuchet MS"/>
              </a:rPr>
              <a:t>Generally, </a:t>
            </a:r>
            <a:r>
              <a:rPr sz="2000" spc="30" dirty="0">
                <a:latin typeface="Trebuchet MS"/>
                <a:cs typeface="Trebuchet MS"/>
              </a:rPr>
              <a:t>small </a:t>
            </a:r>
            <a:r>
              <a:rPr sz="2000" spc="-30" dirty="0">
                <a:latin typeface="Trebuchet MS"/>
                <a:cs typeface="Trebuchet MS"/>
              </a:rPr>
              <a:t>files </a:t>
            </a:r>
            <a:r>
              <a:rPr sz="2000" spc="10" dirty="0">
                <a:latin typeface="Trebuchet MS"/>
                <a:cs typeface="Trebuchet MS"/>
              </a:rPr>
              <a:t>in </a:t>
            </a:r>
            <a:r>
              <a:rPr sz="2000" spc="55" dirty="0">
                <a:latin typeface="Trebuchet MS"/>
                <a:cs typeface="Trebuchet MS"/>
              </a:rPr>
              <a:t>a </a:t>
            </a:r>
            <a:r>
              <a:rPr sz="2000" spc="25" dirty="0">
                <a:latin typeface="Trebuchet MS"/>
                <a:cs typeface="Trebuchet MS"/>
              </a:rPr>
              <a:t>continuous </a:t>
            </a:r>
            <a:r>
              <a:rPr sz="2000" spc="-5" dirty="0">
                <a:latin typeface="Trebuchet MS"/>
                <a:cs typeface="Trebuchet MS"/>
              </a:rPr>
              <a:t>time </a:t>
            </a:r>
            <a:r>
              <a:rPr sz="2000" spc="45" dirty="0">
                <a:latin typeface="Trebuchet MS"/>
                <a:cs typeface="Trebuchet MS"/>
              </a:rPr>
              <a:t>range </a:t>
            </a:r>
            <a:r>
              <a:rPr sz="2000" spc="-5" dirty="0">
                <a:latin typeface="Trebuchet MS"/>
                <a:cs typeface="Trebuchet MS"/>
              </a:rPr>
              <a:t>are  </a:t>
            </a:r>
            <a:r>
              <a:rPr sz="2000" spc="-10" dirty="0">
                <a:latin typeface="Trebuchet MS"/>
                <a:cs typeface="Trebuchet MS"/>
              </a:rPr>
              <a:t>merged.</a:t>
            </a:r>
            <a:endParaRPr sz="2000" dirty="0">
              <a:latin typeface="Trebuchet MS"/>
              <a:cs typeface="Trebuchet MS"/>
            </a:endParaRPr>
          </a:p>
        </p:txBody>
      </p:sp>
      <p:sp>
        <p:nvSpPr>
          <p:cNvPr id="9" name="object 9"/>
          <p:cNvSpPr txBox="1"/>
          <p:nvPr/>
        </p:nvSpPr>
        <p:spPr>
          <a:xfrm>
            <a:off x="1203147" y="4238625"/>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10" name="object 10"/>
          <p:cNvSpPr txBox="1"/>
          <p:nvPr/>
        </p:nvSpPr>
        <p:spPr>
          <a:xfrm>
            <a:off x="1454911" y="4046829"/>
            <a:ext cx="9337040" cy="825803"/>
          </a:xfrm>
          <a:prstGeom prst="rect">
            <a:avLst/>
          </a:prstGeom>
        </p:spPr>
        <p:txBody>
          <a:bodyPr vert="horz" wrap="square" lIns="0" tIns="12700" rIns="0" bIns="0" rtlCol="0">
            <a:spAutoFit/>
          </a:bodyPr>
          <a:lstStyle/>
          <a:p>
            <a:pPr marL="12700" marR="5080">
              <a:lnSpc>
                <a:spcPct val="139600"/>
              </a:lnSpc>
              <a:spcBef>
                <a:spcPts val="100"/>
              </a:spcBef>
            </a:pPr>
            <a:r>
              <a:rPr sz="2000" spc="5" dirty="0">
                <a:latin typeface="Trebuchet MS"/>
                <a:cs typeface="Trebuchet MS"/>
              </a:rPr>
              <a:t>Major: </a:t>
            </a:r>
            <a:r>
              <a:rPr sz="2000" spc="-10" dirty="0">
                <a:latin typeface="Trebuchet MS"/>
                <a:cs typeface="Trebuchet MS"/>
              </a:rPr>
              <a:t>indicates the </a:t>
            </a:r>
            <a:r>
              <a:rPr sz="2000" spc="15" dirty="0">
                <a:latin typeface="Trebuchet MS"/>
                <a:cs typeface="Trebuchet MS"/>
              </a:rPr>
              <a:t>compaction of </a:t>
            </a:r>
            <a:r>
              <a:rPr sz="2000" u="sng" spc="-15" dirty="0">
                <a:latin typeface="Trebuchet MS"/>
                <a:cs typeface="Trebuchet MS"/>
              </a:rPr>
              <a:t>all </a:t>
            </a:r>
            <a:r>
              <a:rPr sz="2000" u="sng" spc="10" dirty="0">
                <a:latin typeface="Trebuchet MS"/>
                <a:cs typeface="Trebuchet MS"/>
              </a:rPr>
              <a:t>HFile </a:t>
            </a:r>
            <a:r>
              <a:rPr sz="2000" u="sng" spc="-35" dirty="0">
                <a:latin typeface="Trebuchet MS"/>
                <a:cs typeface="Trebuchet MS"/>
              </a:rPr>
              <a:t>files </a:t>
            </a:r>
            <a:r>
              <a:rPr sz="2000" u="sng" spc="25" dirty="0">
                <a:latin typeface="Trebuchet MS"/>
                <a:cs typeface="Trebuchet MS"/>
              </a:rPr>
              <a:t>under </a:t>
            </a:r>
            <a:r>
              <a:rPr sz="2000" u="sng" spc="-10" dirty="0">
                <a:latin typeface="Trebuchet MS"/>
                <a:cs typeface="Trebuchet MS"/>
              </a:rPr>
              <a:t>the </a:t>
            </a:r>
            <a:r>
              <a:rPr sz="2000" u="sng" spc="40" dirty="0">
                <a:latin typeface="Trebuchet MS"/>
                <a:cs typeface="Trebuchet MS"/>
              </a:rPr>
              <a:t>column </a:t>
            </a:r>
            <a:r>
              <a:rPr sz="2000" u="sng" spc="5" dirty="0">
                <a:latin typeface="Trebuchet MS"/>
                <a:cs typeface="Trebuchet MS"/>
              </a:rPr>
              <a:t>family </a:t>
            </a:r>
            <a:r>
              <a:rPr sz="2000" u="sng" spc="15" dirty="0">
                <a:latin typeface="Trebuchet MS"/>
                <a:cs typeface="Trebuchet MS"/>
              </a:rPr>
              <a:t>of </a:t>
            </a:r>
            <a:r>
              <a:rPr sz="2000" u="sng" spc="-10" dirty="0">
                <a:latin typeface="Trebuchet MS"/>
                <a:cs typeface="Trebuchet MS"/>
              </a:rPr>
              <a:t>the  </a:t>
            </a:r>
            <a:r>
              <a:rPr sz="2000" u="sng" spc="-15" dirty="0">
                <a:latin typeface="Trebuchet MS"/>
                <a:cs typeface="Trebuchet MS"/>
              </a:rPr>
              <a:t>region.</a:t>
            </a:r>
            <a:endParaRPr sz="2000" u="sng" dirty="0">
              <a:latin typeface="Trebuchet MS"/>
              <a:cs typeface="Trebuchet MS"/>
            </a:endParaRPr>
          </a:p>
        </p:txBody>
      </p:sp>
      <p:sp>
        <p:nvSpPr>
          <p:cNvPr id="11" name="object 11"/>
          <p:cNvSpPr txBox="1"/>
          <p:nvPr/>
        </p:nvSpPr>
        <p:spPr>
          <a:xfrm>
            <a:off x="1203147" y="5180838"/>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12" name="object 12"/>
          <p:cNvSpPr txBox="1"/>
          <p:nvPr/>
        </p:nvSpPr>
        <p:spPr>
          <a:xfrm>
            <a:off x="1454911" y="5109209"/>
            <a:ext cx="8518525" cy="330835"/>
          </a:xfrm>
          <a:prstGeom prst="rect">
            <a:avLst/>
          </a:prstGeom>
        </p:spPr>
        <p:txBody>
          <a:bodyPr vert="horz" wrap="square" lIns="0" tIns="12700" rIns="0" bIns="0" rtlCol="0">
            <a:spAutoFit/>
          </a:bodyPr>
          <a:lstStyle/>
          <a:p>
            <a:pPr marL="12700">
              <a:lnSpc>
                <a:spcPct val="100000"/>
              </a:lnSpc>
              <a:spcBef>
                <a:spcPts val="100"/>
              </a:spcBef>
            </a:pPr>
            <a:r>
              <a:rPr sz="2000" spc="100" dirty="0">
                <a:latin typeface="Trebuchet MS"/>
                <a:cs typeface="Trebuchet MS"/>
              </a:rPr>
              <a:t>Minor </a:t>
            </a:r>
            <a:r>
              <a:rPr sz="2000" spc="15" dirty="0">
                <a:latin typeface="Trebuchet MS"/>
                <a:cs typeface="Trebuchet MS"/>
              </a:rPr>
              <a:t>compaction </a:t>
            </a:r>
            <a:r>
              <a:rPr sz="2000" spc="5" dirty="0">
                <a:latin typeface="Trebuchet MS"/>
                <a:cs typeface="Trebuchet MS"/>
              </a:rPr>
              <a:t>complies </a:t>
            </a:r>
            <a:r>
              <a:rPr sz="2000" spc="10" dirty="0">
                <a:latin typeface="Trebuchet MS"/>
                <a:cs typeface="Trebuchet MS"/>
              </a:rPr>
              <a:t>with </a:t>
            </a:r>
            <a:r>
              <a:rPr sz="2000" spc="55" dirty="0">
                <a:latin typeface="Trebuchet MS"/>
                <a:cs typeface="Trebuchet MS"/>
              </a:rPr>
              <a:t>a </a:t>
            </a:r>
            <a:r>
              <a:rPr sz="2000" spc="-20" dirty="0">
                <a:latin typeface="Trebuchet MS"/>
                <a:cs typeface="Trebuchet MS"/>
              </a:rPr>
              <a:t>certain </a:t>
            </a:r>
            <a:r>
              <a:rPr sz="2000" spc="30" dirty="0">
                <a:latin typeface="Trebuchet MS"/>
                <a:cs typeface="Trebuchet MS"/>
              </a:rPr>
              <a:t>algorithm </a:t>
            </a:r>
            <a:r>
              <a:rPr sz="2000" spc="50" dirty="0">
                <a:latin typeface="Trebuchet MS"/>
                <a:cs typeface="Trebuchet MS"/>
              </a:rPr>
              <a:t>when </a:t>
            </a:r>
            <a:r>
              <a:rPr sz="2000" spc="-10" dirty="0">
                <a:latin typeface="Trebuchet MS"/>
                <a:cs typeface="Trebuchet MS"/>
              </a:rPr>
              <a:t>selecting</a:t>
            </a:r>
            <a:r>
              <a:rPr sz="2000" spc="-195" dirty="0">
                <a:latin typeface="Trebuchet MS"/>
                <a:cs typeface="Trebuchet MS"/>
              </a:rPr>
              <a:t> </a:t>
            </a:r>
            <a:r>
              <a:rPr sz="2000" spc="-75" dirty="0">
                <a:latin typeface="Trebuchet MS"/>
                <a:cs typeface="Trebuchet MS"/>
              </a:rPr>
              <a:t>files.</a:t>
            </a:r>
            <a:endParaRPr sz="2000">
              <a:latin typeface="Trebuchet MS"/>
              <a:cs typeface="Trebuchet MS"/>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2886710" cy="513715"/>
          </a:xfrm>
          <a:prstGeom prst="rect">
            <a:avLst/>
          </a:prstGeom>
        </p:spPr>
        <p:txBody>
          <a:bodyPr vert="horz" wrap="square" lIns="0" tIns="13335" rIns="0" bIns="0" rtlCol="0">
            <a:spAutoFit/>
          </a:bodyPr>
          <a:lstStyle/>
          <a:p>
            <a:pPr marL="12700">
              <a:lnSpc>
                <a:spcPct val="100000"/>
              </a:lnSpc>
              <a:spcBef>
                <a:spcPts val="105"/>
              </a:spcBef>
            </a:pPr>
            <a:r>
              <a:rPr sz="3200" spc="40" dirty="0">
                <a:solidFill>
                  <a:srgbClr val="000000"/>
                </a:solidFill>
              </a:rPr>
              <a:t>Compaction </a:t>
            </a:r>
            <a:r>
              <a:rPr sz="3200" spc="80" dirty="0">
                <a:solidFill>
                  <a:srgbClr val="000000"/>
                </a:solidFill>
              </a:rPr>
              <a:t>-</a:t>
            </a:r>
            <a:r>
              <a:rPr sz="3200" spc="5" dirty="0">
                <a:solidFill>
                  <a:srgbClr val="000000"/>
                </a:solidFill>
              </a:rPr>
              <a:t> </a:t>
            </a:r>
            <a:r>
              <a:rPr sz="3200" spc="110" dirty="0">
                <a:solidFill>
                  <a:srgbClr val="000000"/>
                </a:solidFill>
              </a:rPr>
              <a:t>2</a:t>
            </a:r>
            <a:endParaRPr sz="3200"/>
          </a:p>
        </p:txBody>
      </p:sp>
      <p:grpSp>
        <p:nvGrpSpPr>
          <p:cNvPr id="3" name="object 3"/>
          <p:cNvGrpSpPr/>
          <p:nvPr/>
        </p:nvGrpSpPr>
        <p:grpSpPr>
          <a:xfrm>
            <a:off x="2167127" y="2563367"/>
            <a:ext cx="7842884" cy="3133725"/>
            <a:chOff x="2167127" y="2563367"/>
            <a:chExt cx="7842884" cy="3133725"/>
          </a:xfrm>
        </p:grpSpPr>
        <p:sp>
          <p:nvSpPr>
            <p:cNvPr id="4" name="object 4"/>
            <p:cNvSpPr/>
            <p:nvPr/>
          </p:nvSpPr>
          <p:spPr>
            <a:xfrm>
              <a:off x="2167127" y="4867655"/>
              <a:ext cx="7842884" cy="829310"/>
            </a:xfrm>
            <a:custGeom>
              <a:avLst/>
              <a:gdLst/>
              <a:ahLst/>
              <a:cxnLst/>
              <a:rect l="l" t="t" r="r" b="b"/>
              <a:pathLst>
                <a:path w="7842884" h="829310">
                  <a:moveTo>
                    <a:pt x="7842504" y="0"/>
                  </a:moveTo>
                  <a:lnTo>
                    <a:pt x="0" y="0"/>
                  </a:lnTo>
                  <a:lnTo>
                    <a:pt x="0" y="829056"/>
                  </a:lnTo>
                  <a:lnTo>
                    <a:pt x="7842504" y="829056"/>
                  </a:lnTo>
                  <a:lnTo>
                    <a:pt x="7842504" y="0"/>
                  </a:lnTo>
                  <a:close/>
                </a:path>
              </a:pathLst>
            </a:custGeom>
            <a:solidFill>
              <a:srgbClr val="F8F8F8"/>
            </a:solidFill>
          </p:spPr>
          <p:txBody>
            <a:bodyPr wrap="square" lIns="0" tIns="0" rIns="0" bIns="0" rtlCol="0"/>
            <a:lstStyle/>
            <a:p>
              <a:endParaRPr/>
            </a:p>
          </p:txBody>
        </p:sp>
        <p:sp>
          <p:nvSpPr>
            <p:cNvPr id="5" name="object 5"/>
            <p:cNvSpPr/>
            <p:nvPr/>
          </p:nvSpPr>
          <p:spPr>
            <a:xfrm>
              <a:off x="2167128" y="2563380"/>
              <a:ext cx="7842884" cy="2013585"/>
            </a:xfrm>
            <a:custGeom>
              <a:avLst/>
              <a:gdLst/>
              <a:ahLst/>
              <a:cxnLst/>
              <a:rect l="l" t="t" r="r" b="b"/>
              <a:pathLst>
                <a:path w="7842884" h="2013585">
                  <a:moveTo>
                    <a:pt x="7842504" y="1184135"/>
                  </a:moveTo>
                  <a:lnTo>
                    <a:pt x="0" y="1184135"/>
                  </a:lnTo>
                  <a:lnTo>
                    <a:pt x="0" y="2013191"/>
                  </a:lnTo>
                  <a:lnTo>
                    <a:pt x="7842504" y="2013191"/>
                  </a:lnTo>
                  <a:lnTo>
                    <a:pt x="7842504" y="1184135"/>
                  </a:lnTo>
                  <a:close/>
                </a:path>
                <a:path w="7842884" h="2013585">
                  <a:moveTo>
                    <a:pt x="7842504" y="0"/>
                  </a:moveTo>
                  <a:lnTo>
                    <a:pt x="0" y="0"/>
                  </a:lnTo>
                  <a:lnTo>
                    <a:pt x="0" y="829043"/>
                  </a:lnTo>
                  <a:lnTo>
                    <a:pt x="7842504" y="829043"/>
                  </a:lnTo>
                  <a:lnTo>
                    <a:pt x="7842504" y="0"/>
                  </a:lnTo>
                  <a:close/>
                </a:path>
              </a:pathLst>
            </a:custGeom>
            <a:solidFill>
              <a:srgbClr val="F8F8F8"/>
            </a:solidFill>
          </p:spPr>
          <p:txBody>
            <a:bodyPr wrap="square" lIns="0" tIns="0" rIns="0" bIns="0" rtlCol="0"/>
            <a:lstStyle/>
            <a:p>
              <a:endParaRPr/>
            </a:p>
          </p:txBody>
        </p:sp>
        <p:sp>
          <p:nvSpPr>
            <p:cNvPr id="6" name="object 6"/>
            <p:cNvSpPr/>
            <p:nvPr/>
          </p:nvSpPr>
          <p:spPr>
            <a:xfrm>
              <a:off x="2404871" y="2691383"/>
              <a:ext cx="1478280" cy="553720"/>
            </a:xfrm>
            <a:custGeom>
              <a:avLst/>
              <a:gdLst/>
              <a:ahLst/>
              <a:cxnLst/>
              <a:rect l="l" t="t" r="r" b="b"/>
              <a:pathLst>
                <a:path w="1478279" h="553719">
                  <a:moveTo>
                    <a:pt x="1386077" y="0"/>
                  </a:moveTo>
                  <a:lnTo>
                    <a:pt x="92201" y="0"/>
                  </a:lnTo>
                  <a:lnTo>
                    <a:pt x="56310" y="7244"/>
                  </a:lnTo>
                  <a:lnTo>
                    <a:pt x="27003" y="27003"/>
                  </a:lnTo>
                  <a:lnTo>
                    <a:pt x="7244" y="56310"/>
                  </a:lnTo>
                  <a:lnTo>
                    <a:pt x="0" y="92201"/>
                  </a:lnTo>
                  <a:lnTo>
                    <a:pt x="0" y="461010"/>
                  </a:lnTo>
                  <a:lnTo>
                    <a:pt x="7244" y="496901"/>
                  </a:lnTo>
                  <a:lnTo>
                    <a:pt x="27003" y="526208"/>
                  </a:lnTo>
                  <a:lnTo>
                    <a:pt x="56310" y="545967"/>
                  </a:lnTo>
                  <a:lnTo>
                    <a:pt x="92201" y="553212"/>
                  </a:lnTo>
                  <a:lnTo>
                    <a:pt x="1386077" y="553212"/>
                  </a:lnTo>
                  <a:lnTo>
                    <a:pt x="1421969" y="545967"/>
                  </a:lnTo>
                  <a:lnTo>
                    <a:pt x="1451276" y="526208"/>
                  </a:lnTo>
                  <a:lnTo>
                    <a:pt x="1471035" y="496901"/>
                  </a:lnTo>
                  <a:lnTo>
                    <a:pt x="1478279" y="461010"/>
                  </a:lnTo>
                  <a:lnTo>
                    <a:pt x="1478279" y="92201"/>
                  </a:lnTo>
                  <a:lnTo>
                    <a:pt x="1471035" y="56310"/>
                  </a:lnTo>
                  <a:lnTo>
                    <a:pt x="1451276" y="27003"/>
                  </a:lnTo>
                  <a:lnTo>
                    <a:pt x="1421969" y="7244"/>
                  </a:lnTo>
                  <a:lnTo>
                    <a:pt x="1386077" y="0"/>
                  </a:lnTo>
                  <a:close/>
                </a:path>
              </a:pathLst>
            </a:custGeom>
            <a:solidFill>
              <a:srgbClr val="D9D9D9"/>
            </a:solidFill>
          </p:spPr>
          <p:txBody>
            <a:bodyPr wrap="square" lIns="0" tIns="0" rIns="0" bIns="0" rtlCol="0"/>
            <a:lstStyle/>
            <a:p>
              <a:endParaRPr/>
            </a:p>
          </p:txBody>
        </p:sp>
        <p:sp>
          <p:nvSpPr>
            <p:cNvPr id="7" name="object 7"/>
            <p:cNvSpPr/>
            <p:nvPr/>
          </p:nvSpPr>
          <p:spPr>
            <a:xfrm>
              <a:off x="2404871" y="2691383"/>
              <a:ext cx="1478280" cy="553720"/>
            </a:xfrm>
            <a:custGeom>
              <a:avLst/>
              <a:gdLst/>
              <a:ahLst/>
              <a:cxnLst/>
              <a:rect l="l" t="t" r="r" b="b"/>
              <a:pathLst>
                <a:path w="1478279" h="553719">
                  <a:moveTo>
                    <a:pt x="0" y="92201"/>
                  </a:moveTo>
                  <a:lnTo>
                    <a:pt x="7244" y="56310"/>
                  </a:lnTo>
                  <a:lnTo>
                    <a:pt x="27003" y="27003"/>
                  </a:lnTo>
                  <a:lnTo>
                    <a:pt x="56310" y="7244"/>
                  </a:lnTo>
                  <a:lnTo>
                    <a:pt x="92201" y="0"/>
                  </a:lnTo>
                  <a:lnTo>
                    <a:pt x="1386077" y="0"/>
                  </a:lnTo>
                  <a:lnTo>
                    <a:pt x="1421969" y="7244"/>
                  </a:lnTo>
                  <a:lnTo>
                    <a:pt x="1451276" y="27003"/>
                  </a:lnTo>
                  <a:lnTo>
                    <a:pt x="1471035" y="56310"/>
                  </a:lnTo>
                  <a:lnTo>
                    <a:pt x="1478279" y="92201"/>
                  </a:lnTo>
                  <a:lnTo>
                    <a:pt x="1478279" y="461010"/>
                  </a:lnTo>
                  <a:lnTo>
                    <a:pt x="1471035" y="496901"/>
                  </a:lnTo>
                  <a:lnTo>
                    <a:pt x="1451276" y="526208"/>
                  </a:lnTo>
                  <a:lnTo>
                    <a:pt x="1421969" y="545967"/>
                  </a:lnTo>
                  <a:lnTo>
                    <a:pt x="1386077" y="553212"/>
                  </a:lnTo>
                  <a:lnTo>
                    <a:pt x="92201" y="553212"/>
                  </a:lnTo>
                  <a:lnTo>
                    <a:pt x="56310" y="545967"/>
                  </a:lnTo>
                  <a:lnTo>
                    <a:pt x="27003" y="526208"/>
                  </a:lnTo>
                  <a:lnTo>
                    <a:pt x="7244" y="496901"/>
                  </a:lnTo>
                  <a:lnTo>
                    <a:pt x="0" y="461010"/>
                  </a:lnTo>
                  <a:lnTo>
                    <a:pt x="0" y="92201"/>
                  </a:lnTo>
                  <a:close/>
                </a:path>
              </a:pathLst>
            </a:custGeom>
            <a:ln w="9144">
              <a:solidFill>
                <a:srgbClr val="000000"/>
              </a:solidFill>
            </a:ln>
          </p:spPr>
          <p:txBody>
            <a:bodyPr wrap="square" lIns="0" tIns="0" rIns="0" bIns="0" rtlCol="0"/>
            <a:lstStyle/>
            <a:p>
              <a:endParaRPr/>
            </a:p>
          </p:txBody>
        </p:sp>
        <p:sp>
          <p:nvSpPr>
            <p:cNvPr id="8" name="object 8"/>
            <p:cNvSpPr/>
            <p:nvPr/>
          </p:nvSpPr>
          <p:spPr>
            <a:xfrm>
              <a:off x="3963923" y="2691383"/>
              <a:ext cx="963294" cy="553720"/>
            </a:xfrm>
            <a:custGeom>
              <a:avLst/>
              <a:gdLst/>
              <a:ahLst/>
              <a:cxnLst/>
              <a:rect l="l" t="t" r="r" b="b"/>
              <a:pathLst>
                <a:path w="963295" h="553719">
                  <a:moveTo>
                    <a:pt x="870965" y="0"/>
                  </a:moveTo>
                  <a:lnTo>
                    <a:pt x="92201" y="0"/>
                  </a:lnTo>
                  <a:lnTo>
                    <a:pt x="56310" y="7244"/>
                  </a:lnTo>
                  <a:lnTo>
                    <a:pt x="27003" y="27003"/>
                  </a:lnTo>
                  <a:lnTo>
                    <a:pt x="7244" y="56310"/>
                  </a:lnTo>
                  <a:lnTo>
                    <a:pt x="0" y="92201"/>
                  </a:lnTo>
                  <a:lnTo>
                    <a:pt x="0" y="461010"/>
                  </a:lnTo>
                  <a:lnTo>
                    <a:pt x="7244" y="496901"/>
                  </a:lnTo>
                  <a:lnTo>
                    <a:pt x="27003" y="526208"/>
                  </a:lnTo>
                  <a:lnTo>
                    <a:pt x="56310" y="545967"/>
                  </a:lnTo>
                  <a:lnTo>
                    <a:pt x="92201" y="553212"/>
                  </a:lnTo>
                  <a:lnTo>
                    <a:pt x="870965" y="553212"/>
                  </a:lnTo>
                  <a:lnTo>
                    <a:pt x="906857" y="545967"/>
                  </a:lnTo>
                  <a:lnTo>
                    <a:pt x="936164" y="526208"/>
                  </a:lnTo>
                  <a:lnTo>
                    <a:pt x="955923" y="496901"/>
                  </a:lnTo>
                  <a:lnTo>
                    <a:pt x="963167" y="461010"/>
                  </a:lnTo>
                  <a:lnTo>
                    <a:pt x="963167" y="92201"/>
                  </a:lnTo>
                  <a:lnTo>
                    <a:pt x="955923" y="56310"/>
                  </a:lnTo>
                  <a:lnTo>
                    <a:pt x="936164" y="27003"/>
                  </a:lnTo>
                  <a:lnTo>
                    <a:pt x="906857" y="7244"/>
                  </a:lnTo>
                  <a:lnTo>
                    <a:pt x="870965" y="0"/>
                  </a:lnTo>
                  <a:close/>
                </a:path>
              </a:pathLst>
            </a:custGeom>
            <a:solidFill>
              <a:srgbClr val="D9D9D9"/>
            </a:solidFill>
          </p:spPr>
          <p:txBody>
            <a:bodyPr wrap="square" lIns="0" tIns="0" rIns="0" bIns="0" rtlCol="0"/>
            <a:lstStyle/>
            <a:p>
              <a:endParaRPr/>
            </a:p>
          </p:txBody>
        </p:sp>
        <p:sp>
          <p:nvSpPr>
            <p:cNvPr id="9" name="object 9"/>
            <p:cNvSpPr/>
            <p:nvPr/>
          </p:nvSpPr>
          <p:spPr>
            <a:xfrm>
              <a:off x="3963923" y="2691383"/>
              <a:ext cx="963294" cy="553720"/>
            </a:xfrm>
            <a:custGeom>
              <a:avLst/>
              <a:gdLst/>
              <a:ahLst/>
              <a:cxnLst/>
              <a:rect l="l" t="t" r="r" b="b"/>
              <a:pathLst>
                <a:path w="963295" h="553719">
                  <a:moveTo>
                    <a:pt x="0" y="92201"/>
                  </a:moveTo>
                  <a:lnTo>
                    <a:pt x="7244" y="56310"/>
                  </a:lnTo>
                  <a:lnTo>
                    <a:pt x="27003" y="27003"/>
                  </a:lnTo>
                  <a:lnTo>
                    <a:pt x="56310" y="7244"/>
                  </a:lnTo>
                  <a:lnTo>
                    <a:pt x="92201" y="0"/>
                  </a:lnTo>
                  <a:lnTo>
                    <a:pt x="870965" y="0"/>
                  </a:lnTo>
                  <a:lnTo>
                    <a:pt x="906857" y="7244"/>
                  </a:lnTo>
                  <a:lnTo>
                    <a:pt x="936164" y="27003"/>
                  </a:lnTo>
                  <a:lnTo>
                    <a:pt x="955923" y="56310"/>
                  </a:lnTo>
                  <a:lnTo>
                    <a:pt x="963167" y="92201"/>
                  </a:lnTo>
                  <a:lnTo>
                    <a:pt x="963167" y="461010"/>
                  </a:lnTo>
                  <a:lnTo>
                    <a:pt x="955923" y="496901"/>
                  </a:lnTo>
                  <a:lnTo>
                    <a:pt x="936164" y="526208"/>
                  </a:lnTo>
                  <a:lnTo>
                    <a:pt x="906857" y="545967"/>
                  </a:lnTo>
                  <a:lnTo>
                    <a:pt x="870965" y="553212"/>
                  </a:lnTo>
                  <a:lnTo>
                    <a:pt x="92201" y="553212"/>
                  </a:lnTo>
                  <a:lnTo>
                    <a:pt x="56310" y="545967"/>
                  </a:lnTo>
                  <a:lnTo>
                    <a:pt x="27003" y="526208"/>
                  </a:lnTo>
                  <a:lnTo>
                    <a:pt x="7244" y="496901"/>
                  </a:lnTo>
                  <a:lnTo>
                    <a:pt x="0" y="461010"/>
                  </a:lnTo>
                  <a:lnTo>
                    <a:pt x="0" y="92201"/>
                  </a:lnTo>
                  <a:close/>
                </a:path>
              </a:pathLst>
            </a:custGeom>
            <a:ln w="9144">
              <a:solidFill>
                <a:srgbClr val="000000"/>
              </a:solidFill>
            </a:ln>
          </p:spPr>
          <p:txBody>
            <a:bodyPr wrap="square" lIns="0" tIns="0" rIns="0" bIns="0" rtlCol="0"/>
            <a:lstStyle/>
            <a:p>
              <a:endParaRPr/>
            </a:p>
          </p:txBody>
        </p:sp>
        <p:sp>
          <p:nvSpPr>
            <p:cNvPr id="10" name="object 10"/>
            <p:cNvSpPr/>
            <p:nvPr/>
          </p:nvSpPr>
          <p:spPr>
            <a:xfrm>
              <a:off x="5015483" y="2691383"/>
              <a:ext cx="929640" cy="553720"/>
            </a:xfrm>
            <a:custGeom>
              <a:avLst/>
              <a:gdLst/>
              <a:ahLst/>
              <a:cxnLst/>
              <a:rect l="l" t="t" r="r" b="b"/>
              <a:pathLst>
                <a:path w="929639" h="553719">
                  <a:moveTo>
                    <a:pt x="837438" y="0"/>
                  </a:moveTo>
                  <a:lnTo>
                    <a:pt x="92201" y="0"/>
                  </a:lnTo>
                  <a:lnTo>
                    <a:pt x="56310" y="7244"/>
                  </a:lnTo>
                  <a:lnTo>
                    <a:pt x="27003" y="27003"/>
                  </a:lnTo>
                  <a:lnTo>
                    <a:pt x="7244" y="56310"/>
                  </a:lnTo>
                  <a:lnTo>
                    <a:pt x="0" y="92201"/>
                  </a:lnTo>
                  <a:lnTo>
                    <a:pt x="0" y="461010"/>
                  </a:lnTo>
                  <a:lnTo>
                    <a:pt x="7244" y="496901"/>
                  </a:lnTo>
                  <a:lnTo>
                    <a:pt x="27003" y="526208"/>
                  </a:lnTo>
                  <a:lnTo>
                    <a:pt x="56310" y="545967"/>
                  </a:lnTo>
                  <a:lnTo>
                    <a:pt x="92201" y="553212"/>
                  </a:lnTo>
                  <a:lnTo>
                    <a:pt x="837438" y="553212"/>
                  </a:lnTo>
                  <a:lnTo>
                    <a:pt x="873329" y="545967"/>
                  </a:lnTo>
                  <a:lnTo>
                    <a:pt x="902636" y="526208"/>
                  </a:lnTo>
                  <a:lnTo>
                    <a:pt x="922395" y="496901"/>
                  </a:lnTo>
                  <a:lnTo>
                    <a:pt x="929639" y="461010"/>
                  </a:lnTo>
                  <a:lnTo>
                    <a:pt x="929639" y="92201"/>
                  </a:lnTo>
                  <a:lnTo>
                    <a:pt x="922395" y="56310"/>
                  </a:lnTo>
                  <a:lnTo>
                    <a:pt x="902636" y="27003"/>
                  </a:lnTo>
                  <a:lnTo>
                    <a:pt x="873329" y="7244"/>
                  </a:lnTo>
                  <a:lnTo>
                    <a:pt x="837438" y="0"/>
                  </a:lnTo>
                  <a:close/>
                </a:path>
              </a:pathLst>
            </a:custGeom>
            <a:solidFill>
              <a:srgbClr val="D9D9D9"/>
            </a:solidFill>
          </p:spPr>
          <p:txBody>
            <a:bodyPr wrap="square" lIns="0" tIns="0" rIns="0" bIns="0" rtlCol="0"/>
            <a:lstStyle/>
            <a:p>
              <a:endParaRPr/>
            </a:p>
          </p:txBody>
        </p:sp>
        <p:sp>
          <p:nvSpPr>
            <p:cNvPr id="11" name="object 11"/>
            <p:cNvSpPr/>
            <p:nvPr/>
          </p:nvSpPr>
          <p:spPr>
            <a:xfrm>
              <a:off x="5015483" y="2691383"/>
              <a:ext cx="929640" cy="553720"/>
            </a:xfrm>
            <a:custGeom>
              <a:avLst/>
              <a:gdLst/>
              <a:ahLst/>
              <a:cxnLst/>
              <a:rect l="l" t="t" r="r" b="b"/>
              <a:pathLst>
                <a:path w="929639" h="553719">
                  <a:moveTo>
                    <a:pt x="0" y="92201"/>
                  </a:moveTo>
                  <a:lnTo>
                    <a:pt x="7244" y="56310"/>
                  </a:lnTo>
                  <a:lnTo>
                    <a:pt x="27003" y="27003"/>
                  </a:lnTo>
                  <a:lnTo>
                    <a:pt x="56310" y="7244"/>
                  </a:lnTo>
                  <a:lnTo>
                    <a:pt x="92201" y="0"/>
                  </a:lnTo>
                  <a:lnTo>
                    <a:pt x="837438" y="0"/>
                  </a:lnTo>
                  <a:lnTo>
                    <a:pt x="873329" y="7244"/>
                  </a:lnTo>
                  <a:lnTo>
                    <a:pt x="902636" y="27003"/>
                  </a:lnTo>
                  <a:lnTo>
                    <a:pt x="922395" y="56310"/>
                  </a:lnTo>
                  <a:lnTo>
                    <a:pt x="929639" y="92201"/>
                  </a:lnTo>
                  <a:lnTo>
                    <a:pt x="929639" y="461010"/>
                  </a:lnTo>
                  <a:lnTo>
                    <a:pt x="922395" y="496901"/>
                  </a:lnTo>
                  <a:lnTo>
                    <a:pt x="902636" y="526208"/>
                  </a:lnTo>
                  <a:lnTo>
                    <a:pt x="873329" y="545967"/>
                  </a:lnTo>
                  <a:lnTo>
                    <a:pt x="837438" y="553212"/>
                  </a:lnTo>
                  <a:lnTo>
                    <a:pt x="92201" y="553212"/>
                  </a:lnTo>
                  <a:lnTo>
                    <a:pt x="56310" y="545967"/>
                  </a:lnTo>
                  <a:lnTo>
                    <a:pt x="27003" y="526208"/>
                  </a:lnTo>
                  <a:lnTo>
                    <a:pt x="7244" y="496901"/>
                  </a:lnTo>
                  <a:lnTo>
                    <a:pt x="0" y="461010"/>
                  </a:lnTo>
                  <a:lnTo>
                    <a:pt x="0" y="92201"/>
                  </a:lnTo>
                  <a:close/>
                </a:path>
              </a:pathLst>
            </a:custGeom>
            <a:ln w="9144">
              <a:solidFill>
                <a:srgbClr val="000000"/>
              </a:solidFill>
            </a:ln>
          </p:spPr>
          <p:txBody>
            <a:bodyPr wrap="square" lIns="0" tIns="0" rIns="0" bIns="0" rtlCol="0"/>
            <a:lstStyle/>
            <a:p>
              <a:endParaRPr/>
            </a:p>
          </p:txBody>
        </p:sp>
        <p:sp>
          <p:nvSpPr>
            <p:cNvPr id="12" name="object 12"/>
            <p:cNvSpPr/>
            <p:nvPr/>
          </p:nvSpPr>
          <p:spPr>
            <a:xfrm>
              <a:off x="6033516" y="2691383"/>
              <a:ext cx="791210" cy="553720"/>
            </a:xfrm>
            <a:custGeom>
              <a:avLst/>
              <a:gdLst/>
              <a:ahLst/>
              <a:cxnLst/>
              <a:rect l="l" t="t" r="r" b="b"/>
              <a:pathLst>
                <a:path w="791209" h="553719">
                  <a:moveTo>
                    <a:pt x="698754" y="0"/>
                  </a:moveTo>
                  <a:lnTo>
                    <a:pt x="92201" y="0"/>
                  </a:lnTo>
                  <a:lnTo>
                    <a:pt x="56310" y="7244"/>
                  </a:lnTo>
                  <a:lnTo>
                    <a:pt x="27003" y="27003"/>
                  </a:lnTo>
                  <a:lnTo>
                    <a:pt x="7244" y="56310"/>
                  </a:lnTo>
                  <a:lnTo>
                    <a:pt x="0" y="92201"/>
                  </a:lnTo>
                  <a:lnTo>
                    <a:pt x="0" y="461010"/>
                  </a:lnTo>
                  <a:lnTo>
                    <a:pt x="7244" y="496901"/>
                  </a:lnTo>
                  <a:lnTo>
                    <a:pt x="27003" y="526208"/>
                  </a:lnTo>
                  <a:lnTo>
                    <a:pt x="56310" y="545967"/>
                  </a:lnTo>
                  <a:lnTo>
                    <a:pt x="92201" y="553212"/>
                  </a:lnTo>
                  <a:lnTo>
                    <a:pt x="698754" y="553212"/>
                  </a:lnTo>
                  <a:lnTo>
                    <a:pt x="734645" y="545967"/>
                  </a:lnTo>
                  <a:lnTo>
                    <a:pt x="763952" y="526208"/>
                  </a:lnTo>
                  <a:lnTo>
                    <a:pt x="783711" y="496901"/>
                  </a:lnTo>
                  <a:lnTo>
                    <a:pt x="790956" y="461010"/>
                  </a:lnTo>
                  <a:lnTo>
                    <a:pt x="790956" y="92201"/>
                  </a:lnTo>
                  <a:lnTo>
                    <a:pt x="783711" y="56310"/>
                  </a:lnTo>
                  <a:lnTo>
                    <a:pt x="763952" y="27003"/>
                  </a:lnTo>
                  <a:lnTo>
                    <a:pt x="734645" y="7244"/>
                  </a:lnTo>
                  <a:lnTo>
                    <a:pt x="698754" y="0"/>
                  </a:lnTo>
                  <a:close/>
                </a:path>
              </a:pathLst>
            </a:custGeom>
            <a:solidFill>
              <a:srgbClr val="D9D9D9"/>
            </a:solidFill>
          </p:spPr>
          <p:txBody>
            <a:bodyPr wrap="square" lIns="0" tIns="0" rIns="0" bIns="0" rtlCol="0"/>
            <a:lstStyle/>
            <a:p>
              <a:endParaRPr/>
            </a:p>
          </p:txBody>
        </p:sp>
        <p:sp>
          <p:nvSpPr>
            <p:cNvPr id="13" name="object 13"/>
            <p:cNvSpPr/>
            <p:nvPr/>
          </p:nvSpPr>
          <p:spPr>
            <a:xfrm>
              <a:off x="6033516" y="2691383"/>
              <a:ext cx="791210" cy="553720"/>
            </a:xfrm>
            <a:custGeom>
              <a:avLst/>
              <a:gdLst/>
              <a:ahLst/>
              <a:cxnLst/>
              <a:rect l="l" t="t" r="r" b="b"/>
              <a:pathLst>
                <a:path w="791209" h="553719">
                  <a:moveTo>
                    <a:pt x="0" y="92201"/>
                  </a:moveTo>
                  <a:lnTo>
                    <a:pt x="7244" y="56310"/>
                  </a:lnTo>
                  <a:lnTo>
                    <a:pt x="27003" y="27003"/>
                  </a:lnTo>
                  <a:lnTo>
                    <a:pt x="56310" y="7244"/>
                  </a:lnTo>
                  <a:lnTo>
                    <a:pt x="92201" y="0"/>
                  </a:lnTo>
                  <a:lnTo>
                    <a:pt x="698754" y="0"/>
                  </a:lnTo>
                  <a:lnTo>
                    <a:pt x="734645" y="7244"/>
                  </a:lnTo>
                  <a:lnTo>
                    <a:pt x="763952" y="27003"/>
                  </a:lnTo>
                  <a:lnTo>
                    <a:pt x="783711" y="56310"/>
                  </a:lnTo>
                  <a:lnTo>
                    <a:pt x="790956" y="92201"/>
                  </a:lnTo>
                  <a:lnTo>
                    <a:pt x="790956" y="461010"/>
                  </a:lnTo>
                  <a:lnTo>
                    <a:pt x="783711" y="496901"/>
                  </a:lnTo>
                  <a:lnTo>
                    <a:pt x="763952" y="526208"/>
                  </a:lnTo>
                  <a:lnTo>
                    <a:pt x="734645" y="545967"/>
                  </a:lnTo>
                  <a:lnTo>
                    <a:pt x="698754" y="553212"/>
                  </a:lnTo>
                  <a:lnTo>
                    <a:pt x="92201" y="553212"/>
                  </a:lnTo>
                  <a:lnTo>
                    <a:pt x="56310" y="545967"/>
                  </a:lnTo>
                  <a:lnTo>
                    <a:pt x="27003" y="526208"/>
                  </a:lnTo>
                  <a:lnTo>
                    <a:pt x="7244" y="496901"/>
                  </a:lnTo>
                  <a:lnTo>
                    <a:pt x="0" y="461010"/>
                  </a:lnTo>
                  <a:lnTo>
                    <a:pt x="0" y="92201"/>
                  </a:lnTo>
                  <a:close/>
                </a:path>
              </a:pathLst>
            </a:custGeom>
            <a:ln w="9143">
              <a:solidFill>
                <a:srgbClr val="000000"/>
              </a:solidFill>
            </a:ln>
          </p:spPr>
          <p:txBody>
            <a:bodyPr wrap="square" lIns="0" tIns="0" rIns="0" bIns="0" rtlCol="0"/>
            <a:lstStyle/>
            <a:p>
              <a:endParaRPr/>
            </a:p>
          </p:txBody>
        </p:sp>
        <p:sp>
          <p:nvSpPr>
            <p:cNvPr id="14" name="object 14"/>
            <p:cNvSpPr/>
            <p:nvPr/>
          </p:nvSpPr>
          <p:spPr>
            <a:xfrm>
              <a:off x="6915912" y="2691383"/>
              <a:ext cx="791210" cy="553720"/>
            </a:xfrm>
            <a:custGeom>
              <a:avLst/>
              <a:gdLst/>
              <a:ahLst/>
              <a:cxnLst/>
              <a:rect l="l" t="t" r="r" b="b"/>
              <a:pathLst>
                <a:path w="791209" h="553719">
                  <a:moveTo>
                    <a:pt x="698754" y="0"/>
                  </a:moveTo>
                  <a:lnTo>
                    <a:pt x="92202" y="0"/>
                  </a:lnTo>
                  <a:lnTo>
                    <a:pt x="56310" y="7244"/>
                  </a:lnTo>
                  <a:lnTo>
                    <a:pt x="27003" y="27003"/>
                  </a:lnTo>
                  <a:lnTo>
                    <a:pt x="7244" y="56310"/>
                  </a:lnTo>
                  <a:lnTo>
                    <a:pt x="0" y="92201"/>
                  </a:lnTo>
                  <a:lnTo>
                    <a:pt x="0" y="461010"/>
                  </a:lnTo>
                  <a:lnTo>
                    <a:pt x="7244" y="496901"/>
                  </a:lnTo>
                  <a:lnTo>
                    <a:pt x="27003" y="526208"/>
                  </a:lnTo>
                  <a:lnTo>
                    <a:pt x="56310" y="545967"/>
                  </a:lnTo>
                  <a:lnTo>
                    <a:pt x="92202" y="553212"/>
                  </a:lnTo>
                  <a:lnTo>
                    <a:pt x="698754" y="553212"/>
                  </a:lnTo>
                  <a:lnTo>
                    <a:pt x="734645" y="545967"/>
                  </a:lnTo>
                  <a:lnTo>
                    <a:pt x="763952" y="526208"/>
                  </a:lnTo>
                  <a:lnTo>
                    <a:pt x="783711" y="496901"/>
                  </a:lnTo>
                  <a:lnTo>
                    <a:pt x="790956" y="461010"/>
                  </a:lnTo>
                  <a:lnTo>
                    <a:pt x="790956" y="92201"/>
                  </a:lnTo>
                  <a:lnTo>
                    <a:pt x="783711" y="56310"/>
                  </a:lnTo>
                  <a:lnTo>
                    <a:pt x="763952" y="27003"/>
                  </a:lnTo>
                  <a:lnTo>
                    <a:pt x="734645" y="7244"/>
                  </a:lnTo>
                  <a:lnTo>
                    <a:pt x="698754" y="0"/>
                  </a:lnTo>
                  <a:close/>
                </a:path>
              </a:pathLst>
            </a:custGeom>
            <a:solidFill>
              <a:srgbClr val="D9D9D9"/>
            </a:solidFill>
          </p:spPr>
          <p:txBody>
            <a:bodyPr wrap="square" lIns="0" tIns="0" rIns="0" bIns="0" rtlCol="0"/>
            <a:lstStyle/>
            <a:p>
              <a:endParaRPr/>
            </a:p>
          </p:txBody>
        </p:sp>
        <p:sp>
          <p:nvSpPr>
            <p:cNvPr id="15" name="object 15"/>
            <p:cNvSpPr/>
            <p:nvPr/>
          </p:nvSpPr>
          <p:spPr>
            <a:xfrm>
              <a:off x="6915912" y="2691383"/>
              <a:ext cx="791210" cy="553720"/>
            </a:xfrm>
            <a:custGeom>
              <a:avLst/>
              <a:gdLst/>
              <a:ahLst/>
              <a:cxnLst/>
              <a:rect l="l" t="t" r="r" b="b"/>
              <a:pathLst>
                <a:path w="791209" h="553719">
                  <a:moveTo>
                    <a:pt x="0" y="92201"/>
                  </a:moveTo>
                  <a:lnTo>
                    <a:pt x="7244" y="56310"/>
                  </a:lnTo>
                  <a:lnTo>
                    <a:pt x="27003" y="27003"/>
                  </a:lnTo>
                  <a:lnTo>
                    <a:pt x="56310" y="7244"/>
                  </a:lnTo>
                  <a:lnTo>
                    <a:pt x="92202" y="0"/>
                  </a:lnTo>
                  <a:lnTo>
                    <a:pt x="698754" y="0"/>
                  </a:lnTo>
                  <a:lnTo>
                    <a:pt x="734645" y="7244"/>
                  </a:lnTo>
                  <a:lnTo>
                    <a:pt x="763952" y="27003"/>
                  </a:lnTo>
                  <a:lnTo>
                    <a:pt x="783711" y="56310"/>
                  </a:lnTo>
                  <a:lnTo>
                    <a:pt x="790956" y="92201"/>
                  </a:lnTo>
                  <a:lnTo>
                    <a:pt x="790956" y="461010"/>
                  </a:lnTo>
                  <a:lnTo>
                    <a:pt x="783711" y="496901"/>
                  </a:lnTo>
                  <a:lnTo>
                    <a:pt x="763952" y="526208"/>
                  </a:lnTo>
                  <a:lnTo>
                    <a:pt x="734645" y="545967"/>
                  </a:lnTo>
                  <a:lnTo>
                    <a:pt x="698754" y="553212"/>
                  </a:lnTo>
                  <a:lnTo>
                    <a:pt x="92202" y="553212"/>
                  </a:lnTo>
                  <a:lnTo>
                    <a:pt x="56310" y="545967"/>
                  </a:lnTo>
                  <a:lnTo>
                    <a:pt x="27003" y="526208"/>
                  </a:lnTo>
                  <a:lnTo>
                    <a:pt x="7244" y="496901"/>
                  </a:lnTo>
                  <a:lnTo>
                    <a:pt x="0" y="461010"/>
                  </a:lnTo>
                  <a:lnTo>
                    <a:pt x="0" y="92201"/>
                  </a:lnTo>
                  <a:close/>
                </a:path>
              </a:pathLst>
            </a:custGeom>
            <a:ln w="9144">
              <a:solidFill>
                <a:srgbClr val="000000"/>
              </a:solidFill>
            </a:ln>
          </p:spPr>
          <p:txBody>
            <a:bodyPr wrap="square" lIns="0" tIns="0" rIns="0" bIns="0" rtlCol="0"/>
            <a:lstStyle/>
            <a:p>
              <a:endParaRPr/>
            </a:p>
          </p:txBody>
        </p:sp>
        <p:sp>
          <p:nvSpPr>
            <p:cNvPr id="16" name="object 16"/>
            <p:cNvSpPr/>
            <p:nvPr/>
          </p:nvSpPr>
          <p:spPr>
            <a:xfrm>
              <a:off x="7796783" y="2691383"/>
              <a:ext cx="791210" cy="553720"/>
            </a:xfrm>
            <a:custGeom>
              <a:avLst/>
              <a:gdLst/>
              <a:ahLst/>
              <a:cxnLst/>
              <a:rect l="l" t="t" r="r" b="b"/>
              <a:pathLst>
                <a:path w="791209" h="553719">
                  <a:moveTo>
                    <a:pt x="698754" y="0"/>
                  </a:moveTo>
                  <a:lnTo>
                    <a:pt x="92201" y="0"/>
                  </a:lnTo>
                  <a:lnTo>
                    <a:pt x="56310" y="7244"/>
                  </a:lnTo>
                  <a:lnTo>
                    <a:pt x="27003" y="27003"/>
                  </a:lnTo>
                  <a:lnTo>
                    <a:pt x="7244" y="56310"/>
                  </a:lnTo>
                  <a:lnTo>
                    <a:pt x="0" y="92201"/>
                  </a:lnTo>
                  <a:lnTo>
                    <a:pt x="0" y="461010"/>
                  </a:lnTo>
                  <a:lnTo>
                    <a:pt x="7244" y="496901"/>
                  </a:lnTo>
                  <a:lnTo>
                    <a:pt x="27003" y="526208"/>
                  </a:lnTo>
                  <a:lnTo>
                    <a:pt x="56310" y="545967"/>
                  </a:lnTo>
                  <a:lnTo>
                    <a:pt x="92201" y="553212"/>
                  </a:lnTo>
                  <a:lnTo>
                    <a:pt x="698754" y="553212"/>
                  </a:lnTo>
                  <a:lnTo>
                    <a:pt x="734645" y="545967"/>
                  </a:lnTo>
                  <a:lnTo>
                    <a:pt x="763952" y="526208"/>
                  </a:lnTo>
                  <a:lnTo>
                    <a:pt x="783711" y="496901"/>
                  </a:lnTo>
                  <a:lnTo>
                    <a:pt x="790956" y="461010"/>
                  </a:lnTo>
                  <a:lnTo>
                    <a:pt x="790956" y="92201"/>
                  </a:lnTo>
                  <a:lnTo>
                    <a:pt x="783711" y="56310"/>
                  </a:lnTo>
                  <a:lnTo>
                    <a:pt x="763952" y="27003"/>
                  </a:lnTo>
                  <a:lnTo>
                    <a:pt x="734645" y="7244"/>
                  </a:lnTo>
                  <a:lnTo>
                    <a:pt x="698754" y="0"/>
                  </a:lnTo>
                  <a:close/>
                </a:path>
              </a:pathLst>
            </a:custGeom>
            <a:solidFill>
              <a:srgbClr val="D9D9D9"/>
            </a:solidFill>
          </p:spPr>
          <p:txBody>
            <a:bodyPr wrap="square" lIns="0" tIns="0" rIns="0" bIns="0" rtlCol="0"/>
            <a:lstStyle/>
            <a:p>
              <a:endParaRPr/>
            </a:p>
          </p:txBody>
        </p:sp>
        <p:sp>
          <p:nvSpPr>
            <p:cNvPr id="17" name="object 17"/>
            <p:cNvSpPr/>
            <p:nvPr/>
          </p:nvSpPr>
          <p:spPr>
            <a:xfrm>
              <a:off x="7796783" y="2691383"/>
              <a:ext cx="791210" cy="553720"/>
            </a:xfrm>
            <a:custGeom>
              <a:avLst/>
              <a:gdLst/>
              <a:ahLst/>
              <a:cxnLst/>
              <a:rect l="l" t="t" r="r" b="b"/>
              <a:pathLst>
                <a:path w="791209" h="553719">
                  <a:moveTo>
                    <a:pt x="0" y="92201"/>
                  </a:moveTo>
                  <a:lnTo>
                    <a:pt x="7244" y="56310"/>
                  </a:lnTo>
                  <a:lnTo>
                    <a:pt x="27003" y="27003"/>
                  </a:lnTo>
                  <a:lnTo>
                    <a:pt x="56310" y="7244"/>
                  </a:lnTo>
                  <a:lnTo>
                    <a:pt x="92201" y="0"/>
                  </a:lnTo>
                  <a:lnTo>
                    <a:pt x="698754" y="0"/>
                  </a:lnTo>
                  <a:lnTo>
                    <a:pt x="734645" y="7244"/>
                  </a:lnTo>
                  <a:lnTo>
                    <a:pt x="763952" y="27003"/>
                  </a:lnTo>
                  <a:lnTo>
                    <a:pt x="783711" y="56310"/>
                  </a:lnTo>
                  <a:lnTo>
                    <a:pt x="790956" y="92201"/>
                  </a:lnTo>
                  <a:lnTo>
                    <a:pt x="790956" y="461010"/>
                  </a:lnTo>
                  <a:lnTo>
                    <a:pt x="783711" y="496901"/>
                  </a:lnTo>
                  <a:lnTo>
                    <a:pt x="763952" y="526208"/>
                  </a:lnTo>
                  <a:lnTo>
                    <a:pt x="734645" y="545967"/>
                  </a:lnTo>
                  <a:lnTo>
                    <a:pt x="698754" y="553212"/>
                  </a:lnTo>
                  <a:lnTo>
                    <a:pt x="92201" y="553212"/>
                  </a:lnTo>
                  <a:lnTo>
                    <a:pt x="56310" y="545967"/>
                  </a:lnTo>
                  <a:lnTo>
                    <a:pt x="27003" y="526208"/>
                  </a:lnTo>
                  <a:lnTo>
                    <a:pt x="7244" y="496901"/>
                  </a:lnTo>
                  <a:lnTo>
                    <a:pt x="0" y="461010"/>
                  </a:lnTo>
                  <a:lnTo>
                    <a:pt x="0" y="92201"/>
                  </a:lnTo>
                  <a:close/>
                </a:path>
              </a:pathLst>
            </a:custGeom>
            <a:ln w="9144">
              <a:solidFill>
                <a:srgbClr val="000000"/>
              </a:solidFill>
            </a:ln>
          </p:spPr>
          <p:txBody>
            <a:bodyPr wrap="square" lIns="0" tIns="0" rIns="0" bIns="0" rtlCol="0"/>
            <a:lstStyle/>
            <a:p>
              <a:endParaRPr/>
            </a:p>
          </p:txBody>
        </p:sp>
        <p:sp>
          <p:nvSpPr>
            <p:cNvPr id="18" name="object 18"/>
            <p:cNvSpPr/>
            <p:nvPr/>
          </p:nvSpPr>
          <p:spPr>
            <a:xfrm>
              <a:off x="8679180" y="2691383"/>
              <a:ext cx="791210" cy="553720"/>
            </a:xfrm>
            <a:custGeom>
              <a:avLst/>
              <a:gdLst/>
              <a:ahLst/>
              <a:cxnLst/>
              <a:rect l="l" t="t" r="r" b="b"/>
              <a:pathLst>
                <a:path w="791209" h="553719">
                  <a:moveTo>
                    <a:pt x="698753" y="0"/>
                  </a:moveTo>
                  <a:lnTo>
                    <a:pt x="92201" y="0"/>
                  </a:lnTo>
                  <a:lnTo>
                    <a:pt x="56310" y="7244"/>
                  </a:lnTo>
                  <a:lnTo>
                    <a:pt x="27003" y="27003"/>
                  </a:lnTo>
                  <a:lnTo>
                    <a:pt x="7244" y="56310"/>
                  </a:lnTo>
                  <a:lnTo>
                    <a:pt x="0" y="92201"/>
                  </a:lnTo>
                  <a:lnTo>
                    <a:pt x="0" y="461010"/>
                  </a:lnTo>
                  <a:lnTo>
                    <a:pt x="7244" y="496901"/>
                  </a:lnTo>
                  <a:lnTo>
                    <a:pt x="27003" y="526208"/>
                  </a:lnTo>
                  <a:lnTo>
                    <a:pt x="56310" y="545967"/>
                  </a:lnTo>
                  <a:lnTo>
                    <a:pt x="92201" y="553212"/>
                  </a:lnTo>
                  <a:lnTo>
                    <a:pt x="698753" y="553212"/>
                  </a:lnTo>
                  <a:lnTo>
                    <a:pt x="734645" y="545967"/>
                  </a:lnTo>
                  <a:lnTo>
                    <a:pt x="763952" y="526208"/>
                  </a:lnTo>
                  <a:lnTo>
                    <a:pt x="783711" y="496901"/>
                  </a:lnTo>
                  <a:lnTo>
                    <a:pt x="790955" y="461010"/>
                  </a:lnTo>
                  <a:lnTo>
                    <a:pt x="790955" y="92201"/>
                  </a:lnTo>
                  <a:lnTo>
                    <a:pt x="783711" y="56310"/>
                  </a:lnTo>
                  <a:lnTo>
                    <a:pt x="763952" y="27003"/>
                  </a:lnTo>
                  <a:lnTo>
                    <a:pt x="734645" y="7244"/>
                  </a:lnTo>
                  <a:lnTo>
                    <a:pt x="698753" y="0"/>
                  </a:lnTo>
                  <a:close/>
                </a:path>
              </a:pathLst>
            </a:custGeom>
            <a:solidFill>
              <a:srgbClr val="D9D9D9"/>
            </a:solidFill>
          </p:spPr>
          <p:txBody>
            <a:bodyPr wrap="square" lIns="0" tIns="0" rIns="0" bIns="0" rtlCol="0"/>
            <a:lstStyle/>
            <a:p>
              <a:endParaRPr/>
            </a:p>
          </p:txBody>
        </p:sp>
        <p:sp>
          <p:nvSpPr>
            <p:cNvPr id="19" name="object 19"/>
            <p:cNvSpPr/>
            <p:nvPr/>
          </p:nvSpPr>
          <p:spPr>
            <a:xfrm>
              <a:off x="8679180" y="2691383"/>
              <a:ext cx="791210" cy="553720"/>
            </a:xfrm>
            <a:custGeom>
              <a:avLst/>
              <a:gdLst/>
              <a:ahLst/>
              <a:cxnLst/>
              <a:rect l="l" t="t" r="r" b="b"/>
              <a:pathLst>
                <a:path w="791209" h="553719">
                  <a:moveTo>
                    <a:pt x="0" y="92201"/>
                  </a:moveTo>
                  <a:lnTo>
                    <a:pt x="7244" y="56310"/>
                  </a:lnTo>
                  <a:lnTo>
                    <a:pt x="27003" y="27003"/>
                  </a:lnTo>
                  <a:lnTo>
                    <a:pt x="56310" y="7244"/>
                  </a:lnTo>
                  <a:lnTo>
                    <a:pt x="92201" y="0"/>
                  </a:lnTo>
                  <a:lnTo>
                    <a:pt x="698753" y="0"/>
                  </a:lnTo>
                  <a:lnTo>
                    <a:pt x="734645" y="7244"/>
                  </a:lnTo>
                  <a:lnTo>
                    <a:pt x="763952" y="27003"/>
                  </a:lnTo>
                  <a:lnTo>
                    <a:pt x="783711" y="56310"/>
                  </a:lnTo>
                  <a:lnTo>
                    <a:pt x="790955" y="92201"/>
                  </a:lnTo>
                  <a:lnTo>
                    <a:pt x="790955" y="461010"/>
                  </a:lnTo>
                  <a:lnTo>
                    <a:pt x="783711" y="496901"/>
                  </a:lnTo>
                  <a:lnTo>
                    <a:pt x="763952" y="526208"/>
                  </a:lnTo>
                  <a:lnTo>
                    <a:pt x="734645" y="545967"/>
                  </a:lnTo>
                  <a:lnTo>
                    <a:pt x="698753" y="553212"/>
                  </a:lnTo>
                  <a:lnTo>
                    <a:pt x="92201" y="553212"/>
                  </a:lnTo>
                  <a:lnTo>
                    <a:pt x="56310" y="545967"/>
                  </a:lnTo>
                  <a:lnTo>
                    <a:pt x="27003" y="526208"/>
                  </a:lnTo>
                  <a:lnTo>
                    <a:pt x="7244" y="496901"/>
                  </a:lnTo>
                  <a:lnTo>
                    <a:pt x="0" y="461010"/>
                  </a:lnTo>
                  <a:lnTo>
                    <a:pt x="0" y="92201"/>
                  </a:lnTo>
                  <a:close/>
                </a:path>
              </a:pathLst>
            </a:custGeom>
            <a:ln w="9143">
              <a:solidFill>
                <a:srgbClr val="000000"/>
              </a:solidFill>
            </a:ln>
          </p:spPr>
          <p:txBody>
            <a:bodyPr wrap="square" lIns="0" tIns="0" rIns="0" bIns="0" rtlCol="0"/>
            <a:lstStyle/>
            <a:p>
              <a:endParaRPr/>
            </a:p>
          </p:txBody>
        </p:sp>
      </p:grpSp>
      <p:sp>
        <p:nvSpPr>
          <p:cNvPr id="20" name="object 20"/>
          <p:cNvSpPr txBox="1"/>
          <p:nvPr/>
        </p:nvSpPr>
        <p:spPr>
          <a:xfrm>
            <a:off x="2167127" y="2563367"/>
            <a:ext cx="7842884" cy="829310"/>
          </a:xfrm>
          <a:prstGeom prst="rect">
            <a:avLst/>
          </a:prstGeom>
          <a:ln w="9144">
            <a:solidFill>
              <a:srgbClr val="E7E6E6"/>
            </a:solidFill>
          </a:ln>
        </p:spPr>
        <p:txBody>
          <a:bodyPr vert="horz" wrap="square" lIns="0" tIns="635" rIns="0" bIns="0" rtlCol="0">
            <a:spAutoFit/>
          </a:bodyPr>
          <a:lstStyle/>
          <a:p>
            <a:pPr>
              <a:lnSpc>
                <a:spcPct val="100000"/>
              </a:lnSpc>
              <a:spcBef>
                <a:spcPts val="5"/>
              </a:spcBef>
            </a:pPr>
            <a:endParaRPr sz="1800">
              <a:latin typeface="Times New Roman"/>
              <a:cs typeface="Times New Roman"/>
            </a:endParaRPr>
          </a:p>
          <a:p>
            <a:pPr marL="739140">
              <a:lnSpc>
                <a:spcPct val="100000"/>
              </a:lnSpc>
              <a:tabLst>
                <a:tab pos="2041525" algn="l"/>
                <a:tab pos="3075940" algn="l"/>
                <a:tab pos="4025265" algn="l"/>
                <a:tab pos="4907280" algn="l"/>
                <a:tab pos="5789295" algn="l"/>
                <a:tab pos="6671309" algn="l"/>
              </a:tabLst>
            </a:pPr>
            <a:r>
              <a:rPr sz="1600" spc="5" dirty="0">
                <a:latin typeface="Trebuchet MS"/>
                <a:cs typeface="Trebuchet MS"/>
              </a:rPr>
              <a:t>HFile	HFile	HFile	HFile	HFile	HFile	HFile</a:t>
            </a:r>
            <a:endParaRPr sz="1600">
              <a:latin typeface="Trebuchet MS"/>
              <a:cs typeface="Trebuchet MS"/>
            </a:endParaRPr>
          </a:p>
        </p:txBody>
      </p:sp>
      <p:sp>
        <p:nvSpPr>
          <p:cNvPr id="21" name="object 21"/>
          <p:cNvSpPr txBox="1"/>
          <p:nvPr/>
        </p:nvSpPr>
        <p:spPr>
          <a:xfrm>
            <a:off x="4506467" y="1699260"/>
            <a:ext cx="2202180" cy="480059"/>
          </a:xfrm>
          <a:prstGeom prst="rect">
            <a:avLst/>
          </a:prstGeom>
          <a:ln w="9144">
            <a:solidFill>
              <a:srgbClr val="000000"/>
            </a:solidFill>
          </a:ln>
        </p:spPr>
        <p:txBody>
          <a:bodyPr vert="horz" wrap="square" lIns="0" tIns="99060" rIns="0" bIns="0" rtlCol="0">
            <a:spAutoFit/>
          </a:bodyPr>
          <a:lstStyle/>
          <a:p>
            <a:pPr marL="622300">
              <a:lnSpc>
                <a:spcPct val="100000"/>
              </a:lnSpc>
              <a:spcBef>
                <a:spcPts val="780"/>
              </a:spcBef>
            </a:pPr>
            <a:r>
              <a:rPr sz="1600" spc="50" dirty="0">
                <a:latin typeface="Trebuchet MS"/>
                <a:cs typeface="Trebuchet MS"/>
              </a:rPr>
              <a:t>MemStore</a:t>
            </a:r>
            <a:endParaRPr sz="1600">
              <a:latin typeface="Trebuchet MS"/>
              <a:cs typeface="Trebuchet MS"/>
            </a:endParaRPr>
          </a:p>
        </p:txBody>
      </p:sp>
      <p:grpSp>
        <p:nvGrpSpPr>
          <p:cNvPr id="22" name="object 22"/>
          <p:cNvGrpSpPr/>
          <p:nvPr/>
        </p:nvGrpSpPr>
        <p:grpSpPr>
          <a:xfrm>
            <a:off x="1982533" y="1694497"/>
            <a:ext cx="662305" cy="563245"/>
            <a:chOff x="1982533" y="1694497"/>
            <a:chExt cx="662305" cy="563245"/>
          </a:xfrm>
        </p:grpSpPr>
        <p:sp>
          <p:nvSpPr>
            <p:cNvPr id="23" name="object 23"/>
            <p:cNvSpPr/>
            <p:nvPr/>
          </p:nvSpPr>
          <p:spPr>
            <a:xfrm>
              <a:off x="1987295" y="1699260"/>
              <a:ext cx="652780" cy="553720"/>
            </a:xfrm>
            <a:custGeom>
              <a:avLst/>
              <a:gdLst/>
              <a:ahLst/>
              <a:cxnLst/>
              <a:rect l="l" t="t" r="r" b="b"/>
              <a:pathLst>
                <a:path w="652780" h="553719">
                  <a:moveTo>
                    <a:pt x="326136" y="0"/>
                  </a:moveTo>
                  <a:lnTo>
                    <a:pt x="273243" y="3619"/>
                  </a:lnTo>
                  <a:lnTo>
                    <a:pt x="223064" y="14100"/>
                  </a:lnTo>
                  <a:lnTo>
                    <a:pt x="176272" y="30871"/>
                  </a:lnTo>
                  <a:lnTo>
                    <a:pt x="133538" y="53364"/>
                  </a:lnTo>
                  <a:lnTo>
                    <a:pt x="95535" y="81010"/>
                  </a:lnTo>
                  <a:lnTo>
                    <a:pt x="62935" y="113239"/>
                  </a:lnTo>
                  <a:lnTo>
                    <a:pt x="36409" y="149482"/>
                  </a:lnTo>
                  <a:lnTo>
                    <a:pt x="16629" y="189171"/>
                  </a:lnTo>
                  <a:lnTo>
                    <a:pt x="4269" y="231735"/>
                  </a:lnTo>
                  <a:lnTo>
                    <a:pt x="0" y="276605"/>
                  </a:lnTo>
                  <a:lnTo>
                    <a:pt x="4269" y="321476"/>
                  </a:lnTo>
                  <a:lnTo>
                    <a:pt x="16629" y="364040"/>
                  </a:lnTo>
                  <a:lnTo>
                    <a:pt x="36409" y="403729"/>
                  </a:lnTo>
                  <a:lnTo>
                    <a:pt x="62935" y="439972"/>
                  </a:lnTo>
                  <a:lnTo>
                    <a:pt x="95535" y="472201"/>
                  </a:lnTo>
                  <a:lnTo>
                    <a:pt x="133538" y="499847"/>
                  </a:lnTo>
                  <a:lnTo>
                    <a:pt x="176272" y="522340"/>
                  </a:lnTo>
                  <a:lnTo>
                    <a:pt x="223064" y="539111"/>
                  </a:lnTo>
                  <a:lnTo>
                    <a:pt x="273243" y="549592"/>
                  </a:lnTo>
                  <a:lnTo>
                    <a:pt x="326136" y="553212"/>
                  </a:lnTo>
                  <a:lnTo>
                    <a:pt x="379028" y="549592"/>
                  </a:lnTo>
                  <a:lnTo>
                    <a:pt x="429207" y="539111"/>
                  </a:lnTo>
                  <a:lnTo>
                    <a:pt x="475999" y="522340"/>
                  </a:lnTo>
                  <a:lnTo>
                    <a:pt x="518733" y="499847"/>
                  </a:lnTo>
                  <a:lnTo>
                    <a:pt x="556736" y="472201"/>
                  </a:lnTo>
                  <a:lnTo>
                    <a:pt x="589336" y="439972"/>
                  </a:lnTo>
                  <a:lnTo>
                    <a:pt x="615862" y="403729"/>
                  </a:lnTo>
                  <a:lnTo>
                    <a:pt x="635642" y="364040"/>
                  </a:lnTo>
                  <a:lnTo>
                    <a:pt x="648002" y="321476"/>
                  </a:lnTo>
                  <a:lnTo>
                    <a:pt x="652272" y="276605"/>
                  </a:lnTo>
                  <a:lnTo>
                    <a:pt x="648002" y="231735"/>
                  </a:lnTo>
                  <a:lnTo>
                    <a:pt x="635642" y="189171"/>
                  </a:lnTo>
                  <a:lnTo>
                    <a:pt x="615862" y="149482"/>
                  </a:lnTo>
                  <a:lnTo>
                    <a:pt x="589336" y="113239"/>
                  </a:lnTo>
                  <a:lnTo>
                    <a:pt x="556736" y="81010"/>
                  </a:lnTo>
                  <a:lnTo>
                    <a:pt x="518733" y="53364"/>
                  </a:lnTo>
                  <a:lnTo>
                    <a:pt x="475999" y="30871"/>
                  </a:lnTo>
                  <a:lnTo>
                    <a:pt x="429207" y="14100"/>
                  </a:lnTo>
                  <a:lnTo>
                    <a:pt x="379028" y="3619"/>
                  </a:lnTo>
                  <a:lnTo>
                    <a:pt x="326136" y="0"/>
                  </a:lnTo>
                  <a:close/>
                </a:path>
              </a:pathLst>
            </a:custGeom>
            <a:solidFill>
              <a:srgbClr val="F8F8F8"/>
            </a:solidFill>
          </p:spPr>
          <p:txBody>
            <a:bodyPr wrap="square" lIns="0" tIns="0" rIns="0" bIns="0" rtlCol="0"/>
            <a:lstStyle/>
            <a:p>
              <a:endParaRPr/>
            </a:p>
          </p:txBody>
        </p:sp>
        <p:sp>
          <p:nvSpPr>
            <p:cNvPr id="24" name="object 24"/>
            <p:cNvSpPr/>
            <p:nvPr/>
          </p:nvSpPr>
          <p:spPr>
            <a:xfrm>
              <a:off x="1987295" y="1699260"/>
              <a:ext cx="652780" cy="553720"/>
            </a:xfrm>
            <a:custGeom>
              <a:avLst/>
              <a:gdLst/>
              <a:ahLst/>
              <a:cxnLst/>
              <a:rect l="l" t="t" r="r" b="b"/>
              <a:pathLst>
                <a:path w="652780" h="553719">
                  <a:moveTo>
                    <a:pt x="0" y="276605"/>
                  </a:moveTo>
                  <a:lnTo>
                    <a:pt x="4269" y="231735"/>
                  </a:lnTo>
                  <a:lnTo>
                    <a:pt x="16629" y="189171"/>
                  </a:lnTo>
                  <a:lnTo>
                    <a:pt x="36409" y="149482"/>
                  </a:lnTo>
                  <a:lnTo>
                    <a:pt x="62935" y="113239"/>
                  </a:lnTo>
                  <a:lnTo>
                    <a:pt x="95535" y="81010"/>
                  </a:lnTo>
                  <a:lnTo>
                    <a:pt x="133538" y="53364"/>
                  </a:lnTo>
                  <a:lnTo>
                    <a:pt x="176272" y="30871"/>
                  </a:lnTo>
                  <a:lnTo>
                    <a:pt x="223064" y="14100"/>
                  </a:lnTo>
                  <a:lnTo>
                    <a:pt x="273243" y="3619"/>
                  </a:lnTo>
                  <a:lnTo>
                    <a:pt x="326136" y="0"/>
                  </a:lnTo>
                  <a:lnTo>
                    <a:pt x="379028" y="3619"/>
                  </a:lnTo>
                  <a:lnTo>
                    <a:pt x="429207" y="14100"/>
                  </a:lnTo>
                  <a:lnTo>
                    <a:pt x="475999" y="30871"/>
                  </a:lnTo>
                  <a:lnTo>
                    <a:pt x="518733" y="53364"/>
                  </a:lnTo>
                  <a:lnTo>
                    <a:pt x="556736" y="81010"/>
                  </a:lnTo>
                  <a:lnTo>
                    <a:pt x="589336" y="113239"/>
                  </a:lnTo>
                  <a:lnTo>
                    <a:pt x="615862" y="149482"/>
                  </a:lnTo>
                  <a:lnTo>
                    <a:pt x="635642" y="189171"/>
                  </a:lnTo>
                  <a:lnTo>
                    <a:pt x="648002" y="231735"/>
                  </a:lnTo>
                  <a:lnTo>
                    <a:pt x="652272" y="276605"/>
                  </a:lnTo>
                  <a:lnTo>
                    <a:pt x="648002" y="321476"/>
                  </a:lnTo>
                  <a:lnTo>
                    <a:pt x="635642" y="364040"/>
                  </a:lnTo>
                  <a:lnTo>
                    <a:pt x="615862" y="403729"/>
                  </a:lnTo>
                  <a:lnTo>
                    <a:pt x="589336" y="439972"/>
                  </a:lnTo>
                  <a:lnTo>
                    <a:pt x="556736" y="472201"/>
                  </a:lnTo>
                  <a:lnTo>
                    <a:pt x="518733" y="499847"/>
                  </a:lnTo>
                  <a:lnTo>
                    <a:pt x="475999" y="522340"/>
                  </a:lnTo>
                  <a:lnTo>
                    <a:pt x="429207" y="539111"/>
                  </a:lnTo>
                  <a:lnTo>
                    <a:pt x="379028" y="549592"/>
                  </a:lnTo>
                  <a:lnTo>
                    <a:pt x="326136" y="553212"/>
                  </a:lnTo>
                  <a:lnTo>
                    <a:pt x="273243" y="549592"/>
                  </a:lnTo>
                  <a:lnTo>
                    <a:pt x="223064" y="539111"/>
                  </a:lnTo>
                  <a:lnTo>
                    <a:pt x="176272" y="522340"/>
                  </a:lnTo>
                  <a:lnTo>
                    <a:pt x="133538" y="499847"/>
                  </a:lnTo>
                  <a:lnTo>
                    <a:pt x="95535" y="472201"/>
                  </a:lnTo>
                  <a:lnTo>
                    <a:pt x="62935" y="439972"/>
                  </a:lnTo>
                  <a:lnTo>
                    <a:pt x="36409" y="403729"/>
                  </a:lnTo>
                  <a:lnTo>
                    <a:pt x="16629" y="364040"/>
                  </a:lnTo>
                  <a:lnTo>
                    <a:pt x="4269" y="321476"/>
                  </a:lnTo>
                  <a:lnTo>
                    <a:pt x="0" y="276605"/>
                  </a:lnTo>
                  <a:close/>
                </a:path>
              </a:pathLst>
            </a:custGeom>
            <a:ln w="9144">
              <a:solidFill>
                <a:srgbClr val="000000"/>
              </a:solidFill>
            </a:ln>
          </p:spPr>
          <p:txBody>
            <a:bodyPr wrap="square" lIns="0" tIns="0" rIns="0" bIns="0" rtlCol="0"/>
            <a:lstStyle/>
            <a:p>
              <a:endParaRPr/>
            </a:p>
          </p:txBody>
        </p:sp>
      </p:grpSp>
      <p:sp>
        <p:nvSpPr>
          <p:cNvPr id="25" name="object 25"/>
          <p:cNvSpPr txBox="1"/>
          <p:nvPr/>
        </p:nvSpPr>
        <p:spPr>
          <a:xfrm>
            <a:off x="2146554" y="1822449"/>
            <a:ext cx="334645" cy="269240"/>
          </a:xfrm>
          <a:prstGeom prst="rect">
            <a:avLst/>
          </a:prstGeom>
        </p:spPr>
        <p:txBody>
          <a:bodyPr vert="horz" wrap="square" lIns="0" tIns="12065" rIns="0" bIns="0" rtlCol="0">
            <a:spAutoFit/>
          </a:bodyPr>
          <a:lstStyle/>
          <a:p>
            <a:pPr marL="12700">
              <a:lnSpc>
                <a:spcPct val="100000"/>
              </a:lnSpc>
              <a:spcBef>
                <a:spcPts val="95"/>
              </a:spcBef>
            </a:pPr>
            <a:r>
              <a:rPr sz="1600" spc="5" dirty="0">
                <a:latin typeface="Trebuchet MS"/>
                <a:cs typeface="Trebuchet MS"/>
              </a:rPr>
              <a:t>put</a:t>
            </a:r>
            <a:endParaRPr sz="1600">
              <a:latin typeface="Trebuchet MS"/>
              <a:cs typeface="Trebuchet MS"/>
            </a:endParaRPr>
          </a:p>
        </p:txBody>
      </p:sp>
      <p:grpSp>
        <p:nvGrpSpPr>
          <p:cNvPr id="26" name="object 26"/>
          <p:cNvGrpSpPr/>
          <p:nvPr/>
        </p:nvGrpSpPr>
        <p:grpSpPr>
          <a:xfrm>
            <a:off x="2400109" y="2169922"/>
            <a:ext cx="7075170" cy="2263775"/>
            <a:chOff x="2400109" y="2169922"/>
            <a:chExt cx="7075170" cy="2263775"/>
          </a:xfrm>
        </p:grpSpPr>
        <p:sp>
          <p:nvSpPr>
            <p:cNvPr id="27" name="object 27"/>
            <p:cNvSpPr/>
            <p:nvPr/>
          </p:nvSpPr>
          <p:spPr>
            <a:xfrm>
              <a:off x="2404872" y="3875532"/>
              <a:ext cx="5366385" cy="553720"/>
            </a:xfrm>
            <a:custGeom>
              <a:avLst/>
              <a:gdLst/>
              <a:ahLst/>
              <a:cxnLst/>
              <a:rect l="l" t="t" r="r" b="b"/>
              <a:pathLst>
                <a:path w="5366384" h="553720">
                  <a:moveTo>
                    <a:pt x="5273802" y="0"/>
                  </a:moveTo>
                  <a:lnTo>
                    <a:pt x="92201" y="0"/>
                  </a:lnTo>
                  <a:lnTo>
                    <a:pt x="56310" y="7244"/>
                  </a:lnTo>
                  <a:lnTo>
                    <a:pt x="27003" y="27003"/>
                  </a:lnTo>
                  <a:lnTo>
                    <a:pt x="7244" y="56310"/>
                  </a:lnTo>
                  <a:lnTo>
                    <a:pt x="0" y="92202"/>
                  </a:lnTo>
                  <a:lnTo>
                    <a:pt x="0" y="461010"/>
                  </a:lnTo>
                  <a:lnTo>
                    <a:pt x="7244" y="496901"/>
                  </a:lnTo>
                  <a:lnTo>
                    <a:pt x="27003" y="526208"/>
                  </a:lnTo>
                  <a:lnTo>
                    <a:pt x="56310" y="545967"/>
                  </a:lnTo>
                  <a:lnTo>
                    <a:pt x="92201" y="553212"/>
                  </a:lnTo>
                  <a:lnTo>
                    <a:pt x="5273802" y="553212"/>
                  </a:lnTo>
                  <a:lnTo>
                    <a:pt x="5309693" y="545967"/>
                  </a:lnTo>
                  <a:lnTo>
                    <a:pt x="5339000" y="526208"/>
                  </a:lnTo>
                  <a:lnTo>
                    <a:pt x="5358759" y="496901"/>
                  </a:lnTo>
                  <a:lnTo>
                    <a:pt x="5366004" y="461010"/>
                  </a:lnTo>
                  <a:lnTo>
                    <a:pt x="5366004" y="92202"/>
                  </a:lnTo>
                  <a:lnTo>
                    <a:pt x="5358759" y="56310"/>
                  </a:lnTo>
                  <a:lnTo>
                    <a:pt x="5339000" y="27003"/>
                  </a:lnTo>
                  <a:lnTo>
                    <a:pt x="5309693" y="7244"/>
                  </a:lnTo>
                  <a:lnTo>
                    <a:pt x="5273802" y="0"/>
                  </a:lnTo>
                  <a:close/>
                </a:path>
              </a:pathLst>
            </a:custGeom>
            <a:solidFill>
              <a:srgbClr val="D9D9D9"/>
            </a:solidFill>
          </p:spPr>
          <p:txBody>
            <a:bodyPr wrap="square" lIns="0" tIns="0" rIns="0" bIns="0" rtlCol="0"/>
            <a:lstStyle/>
            <a:p>
              <a:endParaRPr/>
            </a:p>
          </p:txBody>
        </p:sp>
        <p:sp>
          <p:nvSpPr>
            <p:cNvPr id="28" name="object 28"/>
            <p:cNvSpPr/>
            <p:nvPr/>
          </p:nvSpPr>
          <p:spPr>
            <a:xfrm>
              <a:off x="2404872" y="3875532"/>
              <a:ext cx="5366385" cy="553720"/>
            </a:xfrm>
            <a:custGeom>
              <a:avLst/>
              <a:gdLst/>
              <a:ahLst/>
              <a:cxnLst/>
              <a:rect l="l" t="t" r="r" b="b"/>
              <a:pathLst>
                <a:path w="5366384" h="553720">
                  <a:moveTo>
                    <a:pt x="0" y="92202"/>
                  </a:moveTo>
                  <a:lnTo>
                    <a:pt x="7244" y="56310"/>
                  </a:lnTo>
                  <a:lnTo>
                    <a:pt x="27003" y="27003"/>
                  </a:lnTo>
                  <a:lnTo>
                    <a:pt x="56310" y="7244"/>
                  </a:lnTo>
                  <a:lnTo>
                    <a:pt x="92201" y="0"/>
                  </a:lnTo>
                  <a:lnTo>
                    <a:pt x="5273802" y="0"/>
                  </a:lnTo>
                  <a:lnTo>
                    <a:pt x="5309693" y="7244"/>
                  </a:lnTo>
                  <a:lnTo>
                    <a:pt x="5339000" y="27003"/>
                  </a:lnTo>
                  <a:lnTo>
                    <a:pt x="5358759" y="56310"/>
                  </a:lnTo>
                  <a:lnTo>
                    <a:pt x="5366004" y="92202"/>
                  </a:lnTo>
                  <a:lnTo>
                    <a:pt x="5366004" y="461010"/>
                  </a:lnTo>
                  <a:lnTo>
                    <a:pt x="5358759" y="496901"/>
                  </a:lnTo>
                  <a:lnTo>
                    <a:pt x="5339000" y="526208"/>
                  </a:lnTo>
                  <a:lnTo>
                    <a:pt x="5309693" y="545967"/>
                  </a:lnTo>
                  <a:lnTo>
                    <a:pt x="5273802" y="553212"/>
                  </a:lnTo>
                  <a:lnTo>
                    <a:pt x="92201" y="553212"/>
                  </a:lnTo>
                  <a:lnTo>
                    <a:pt x="56310" y="545967"/>
                  </a:lnTo>
                  <a:lnTo>
                    <a:pt x="27003" y="526208"/>
                  </a:lnTo>
                  <a:lnTo>
                    <a:pt x="7244" y="496901"/>
                  </a:lnTo>
                  <a:lnTo>
                    <a:pt x="0" y="461010"/>
                  </a:lnTo>
                  <a:lnTo>
                    <a:pt x="0" y="92202"/>
                  </a:lnTo>
                  <a:close/>
                </a:path>
              </a:pathLst>
            </a:custGeom>
            <a:ln w="9144">
              <a:solidFill>
                <a:srgbClr val="000000"/>
              </a:solidFill>
            </a:ln>
          </p:spPr>
          <p:txBody>
            <a:bodyPr wrap="square" lIns="0" tIns="0" rIns="0" bIns="0" rtlCol="0"/>
            <a:lstStyle/>
            <a:p>
              <a:endParaRPr/>
            </a:p>
          </p:txBody>
        </p:sp>
        <p:sp>
          <p:nvSpPr>
            <p:cNvPr id="29" name="object 29"/>
            <p:cNvSpPr/>
            <p:nvPr/>
          </p:nvSpPr>
          <p:spPr>
            <a:xfrm>
              <a:off x="7796783" y="3875532"/>
              <a:ext cx="791210" cy="553720"/>
            </a:xfrm>
            <a:custGeom>
              <a:avLst/>
              <a:gdLst/>
              <a:ahLst/>
              <a:cxnLst/>
              <a:rect l="l" t="t" r="r" b="b"/>
              <a:pathLst>
                <a:path w="791209" h="553720">
                  <a:moveTo>
                    <a:pt x="698754" y="0"/>
                  </a:moveTo>
                  <a:lnTo>
                    <a:pt x="92201" y="0"/>
                  </a:lnTo>
                  <a:lnTo>
                    <a:pt x="56310" y="7244"/>
                  </a:lnTo>
                  <a:lnTo>
                    <a:pt x="27003" y="27003"/>
                  </a:lnTo>
                  <a:lnTo>
                    <a:pt x="7244" y="56310"/>
                  </a:lnTo>
                  <a:lnTo>
                    <a:pt x="0" y="92202"/>
                  </a:lnTo>
                  <a:lnTo>
                    <a:pt x="0" y="461010"/>
                  </a:lnTo>
                  <a:lnTo>
                    <a:pt x="7244" y="496901"/>
                  </a:lnTo>
                  <a:lnTo>
                    <a:pt x="27003" y="526208"/>
                  </a:lnTo>
                  <a:lnTo>
                    <a:pt x="56310" y="545967"/>
                  </a:lnTo>
                  <a:lnTo>
                    <a:pt x="92201" y="553212"/>
                  </a:lnTo>
                  <a:lnTo>
                    <a:pt x="698754" y="553212"/>
                  </a:lnTo>
                  <a:lnTo>
                    <a:pt x="734645" y="545967"/>
                  </a:lnTo>
                  <a:lnTo>
                    <a:pt x="763952" y="526208"/>
                  </a:lnTo>
                  <a:lnTo>
                    <a:pt x="783711" y="496901"/>
                  </a:lnTo>
                  <a:lnTo>
                    <a:pt x="790956" y="461010"/>
                  </a:lnTo>
                  <a:lnTo>
                    <a:pt x="790956" y="92202"/>
                  </a:lnTo>
                  <a:lnTo>
                    <a:pt x="783711" y="56310"/>
                  </a:lnTo>
                  <a:lnTo>
                    <a:pt x="763952" y="27003"/>
                  </a:lnTo>
                  <a:lnTo>
                    <a:pt x="734645" y="7244"/>
                  </a:lnTo>
                  <a:lnTo>
                    <a:pt x="698754" y="0"/>
                  </a:lnTo>
                  <a:close/>
                </a:path>
              </a:pathLst>
            </a:custGeom>
            <a:solidFill>
              <a:srgbClr val="D9D9D9"/>
            </a:solidFill>
          </p:spPr>
          <p:txBody>
            <a:bodyPr wrap="square" lIns="0" tIns="0" rIns="0" bIns="0" rtlCol="0"/>
            <a:lstStyle/>
            <a:p>
              <a:endParaRPr/>
            </a:p>
          </p:txBody>
        </p:sp>
        <p:sp>
          <p:nvSpPr>
            <p:cNvPr id="30" name="object 30"/>
            <p:cNvSpPr/>
            <p:nvPr/>
          </p:nvSpPr>
          <p:spPr>
            <a:xfrm>
              <a:off x="7796783" y="3875532"/>
              <a:ext cx="791210" cy="553720"/>
            </a:xfrm>
            <a:custGeom>
              <a:avLst/>
              <a:gdLst/>
              <a:ahLst/>
              <a:cxnLst/>
              <a:rect l="l" t="t" r="r" b="b"/>
              <a:pathLst>
                <a:path w="791209" h="553720">
                  <a:moveTo>
                    <a:pt x="0" y="92202"/>
                  </a:moveTo>
                  <a:lnTo>
                    <a:pt x="7244" y="56310"/>
                  </a:lnTo>
                  <a:lnTo>
                    <a:pt x="27003" y="27003"/>
                  </a:lnTo>
                  <a:lnTo>
                    <a:pt x="56310" y="7244"/>
                  </a:lnTo>
                  <a:lnTo>
                    <a:pt x="92201" y="0"/>
                  </a:lnTo>
                  <a:lnTo>
                    <a:pt x="698754" y="0"/>
                  </a:lnTo>
                  <a:lnTo>
                    <a:pt x="734645" y="7244"/>
                  </a:lnTo>
                  <a:lnTo>
                    <a:pt x="763952" y="27003"/>
                  </a:lnTo>
                  <a:lnTo>
                    <a:pt x="783711" y="56310"/>
                  </a:lnTo>
                  <a:lnTo>
                    <a:pt x="790956" y="92202"/>
                  </a:lnTo>
                  <a:lnTo>
                    <a:pt x="790956" y="461010"/>
                  </a:lnTo>
                  <a:lnTo>
                    <a:pt x="783711" y="496901"/>
                  </a:lnTo>
                  <a:lnTo>
                    <a:pt x="763952" y="526208"/>
                  </a:lnTo>
                  <a:lnTo>
                    <a:pt x="734645" y="545967"/>
                  </a:lnTo>
                  <a:lnTo>
                    <a:pt x="698754" y="553212"/>
                  </a:lnTo>
                  <a:lnTo>
                    <a:pt x="92201" y="553212"/>
                  </a:lnTo>
                  <a:lnTo>
                    <a:pt x="56310" y="545967"/>
                  </a:lnTo>
                  <a:lnTo>
                    <a:pt x="27003" y="526208"/>
                  </a:lnTo>
                  <a:lnTo>
                    <a:pt x="7244" y="496901"/>
                  </a:lnTo>
                  <a:lnTo>
                    <a:pt x="0" y="461010"/>
                  </a:lnTo>
                  <a:lnTo>
                    <a:pt x="0" y="92202"/>
                  </a:lnTo>
                  <a:close/>
                </a:path>
              </a:pathLst>
            </a:custGeom>
            <a:ln w="9144">
              <a:solidFill>
                <a:srgbClr val="000000"/>
              </a:solidFill>
            </a:ln>
          </p:spPr>
          <p:txBody>
            <a:bodyPr wrap="square" lIns="0" tIns="0" rIns="0" bIns="0" rtlCol="0"/>
            <a:lstStyle/>
            <a:p>
              <a:endParaRPr/>
            </a:p>
          </p:txBody>
        </p:sp>
        <p:sp>
          <p:nvSpPr>
            <p:cNvPr id="31" name="object 31"/>
            <p:cNvSpPr/>
            <p:nvPr/>
          </p:nvSpPr>
          <p:spPr>
            <a:xfrm>
              <a:off x="8679180" y="3875532"/>
              <a:ext cx="791210" cy="553720"/>
            </a:xfrm>
            <a:custGeom>
              <a:avLst/>
              <a:gdLst/>
              <a:ahLst/>
              <a:cxnLst/>
              <a:rect l="l" t="t" r="r" b="b"/>
              <a:pathLst>
                <a:path w="791209" h="553720">
                  <a:moveTo>
                    <a:pt x="698753" y="0"/>
                  </a:moveTo>
                  <a:lnTo>
                    <a:pt x="92201" y="0"/>
                  </a:lnTo>
                  <a:lnTo>
                    <a:pt x="56310" y="7244"/>
                  </a:lnTo>
                  <a:lnTo>
                    <a:pt x="27003" y="27003"/>
                  </a:lnTo>
                  <a:lnTo>
                    <a:pt x="7244" y="56310"/>
                  </a:lnTo>
                  <a:lnTo>
                    <a:pt x="0" y="92202"/>
                  </a:lnTo>
                  <a:lnTo>
                    <a:pt x="0" y="461010"/>
                  </a:lnTo>
                  <a:lnTo>
                    <a:pt x="7244" y="496901"/>
                  </a:lnTo>
                  <a:lnTo>
                    <a:pt x="27003" y="526208"/>
                  </a:lnTo>
                  <a:lnTo>
                    <a:pt x="56310" y="545967"/>
                  </a:lnTo>
                  <a:lnTo>
                    <a:pt x="92201" y="553212"/>
                  </a:lnTo>
                  <a:lnTo>
                    <a:pt x="698753" y="553212"/>
                  </a:lnTo>
                  <a:lnTo>
                    <a:pt x="734645" y="545967"/>
                  </a:lnTo>
                  <a:lnTo>
                    <a:pt x="763952" y="526208"/>
                  </a:lnTo>
                  <a:lnTo>
                    <a:pt x="783711" y="496901"/>
                  </a:lnTo>
                  <a:lnTo>
                    <a:pt x="790955" y="461010"/>
                  </a:lnTo>
                  <a:lnTo>
                    <a:pt x="790955" y="92202"/>
                  </a:lnTo>
                  <a:lnTo>
                    <a:pt x="783711" y="56310"/>
                  </a:lnTo>
                  <a:lnTo>
                    <a:pt x="763952" y="27003"/>
                  </a:lnTo>
                  <a:lnTo>
                    <a:pt x="734645" y="7244"/>
                  </a:lnTo>
                  <a:lnTo>
                    <a:pt x="698753" y="0"/>
                  </a:lnTo>
                  <a:close/>
                </a:path>
              </a:pathLst>
            </a:custGeom>
            <a:solidFill>
              <a:srgbClr val="D9D9D9"/>
            </a:solidFill>
          </p:spPr>
          <p:txBody>
            <a:bodyPr wrap="square" lIns="0" tIns="0" rIns="0" bIns="0" rtlCol="0"/>
            <a:lstStyle/>
            <a:p>
              <a:endParaRPr/>
            </a:p>
          </p:txBody>
        </p:sp>
        <p:sp>
          <p:nvSpPr>
            <p:cNvPr id="32" name="object 32"/>
            <p:cNvSpPr/>
            <p:nvPr/>
          </p:nvSpPr>
          <p:spPr>
            <a:xfrm>
              <a:off x="8679180" y="3875532"/>
              <a:ext cx="791210" cy="553720"/>
            </a:xfrm>
            <a:custGeom>
              <a:avLst/>
              <a:gdLst/>
              <a:ahLst/>
              <a:cxnLst/>
              <a:rect l="l" t="t" r="r" b="b"/>
              <a:pathLst>
                <a:path w="791209" h="553720">
                  <a:moveTo>
                    <a:pt x="0" y="92202"/>
                  </a:moveTo>
                  <a:lnTo>
                    <a:pt x="7244" y="56310"/>
                  </a:lnTo>
                  <a:lnTo>
                    <a:pt x="27003" y="27003"/>
                  </a:lnTo>
                  <a:lnTo>
                    <a:pt x="56310" y="7244"/>
                  </a:lnTo>
                  <a:lnTo>
                    <a:pt x="92201" y="0"/>
                  </a:lnTo>
                  <a:lnTo>
                    <a:pt x="698753" y="0"/>
                  </a:lnTo>
                  <a:lnTo>
                    <a:pt x="734645" y="7244"/>
                  </a:lnTo>
                  <a:lnTo>
                    <a:pt x="763952" y="27003"/>
                  </a:lnTo>
                  <a:lnTo>
                    <a:pt x="783711" y="56310"/>
                  </a:lnTo>
                  <a:lnTo>
                    <a:pt x="790955" y="92202"/>
                  </a:lnTo>
                  <a:lnTo>
                    <a:pt x="790955" y="461010"/>
                  </a:lnTo>
                  <a:lnTo>
                    <a:pt x="783711" y="496901"/>
                  </a:lnTo>
                  <a:lnTo>
                    <a:pt x="763952" y="526208"/>
                  </a:lnTo>
                  <a:lnTo>
                    <a:pt x="734645" y="545967"/>
                  </a:lnTo>
                  <a:lnTo>
                    <a:pt x="698753" y="553212"/>
                  </a:lnTo>
                  <a:lnTo>
                    <a:pt x="92201" y="553212"/>
                  </a:lnTo>
                  <a:lnTo>
                    <a:pt x="56310" y="545967"/>
                  </a:lnTo>
                  <a:lnTo>
                    <a:pt x="27003" y="526208"/>
                  </a:lnTo>
                  <a:lnTo>
                    <a:pt x="7244" y="496901"/>
                  </a:lnTo>
                  <a:lnTo>
                    <a:pt x="0" y="461010"/>
                  </a:lnTo>
                  <a:lnTo>
                    <a:pt x="0" y="92202"/>
                  </a:lnTo>
                  <a:close/>
                </a:path>
              </a:pathLst>
            </a:custGeom>
            <a:ln w="9143">
              <a:solidFill>
                <a:srgbClr val="000000"/>
              </a:solidFill>
            </a:ln>
          </p:spPr>
          <p:txBody>
            <a:bodyPr wrap="square" lIns="0" tIns="0" rIns="0" bIns="0" rtlCol="0"/>
            <a:lstStyle/>
            <a:p>
              <a:endParaRPr/>
            </a:p>
          </p:txBody>
        </p:sp>
        <p:sp>
          <p:nvSpPr>
            <p:cNvPr id="33" name="object 33"/>
            <p:cNvSpPr/>
            <p:nvPr/>
          </p:nvSpPr>
          <p:spPr>
            <a:xfrm>
              <a:off x="5600954" y="2169922"/>
              <a:ext cx="488950" cy="394335"/>
            </a:xfrm>
            <a:custGeom>
              <a:avLst/>
              <a:gdLst/>
              <a:ahLst/>
              <a:cxnLst/>
              <a:rect l="l" t="t" r="r" b="b"/>
              <a:pathLst>
                <a:path w="488950" h="394335">
                  <a:moveTo>
                    <a:pt x="374269" y="351281"/>
                  </a:moveTo>
                  <a:lnTo>
                    <a:pt x="367665" y="356107"/>
                  </a:lnTo>
                  <a:lnTo>
                    <a:pt x="366649" y="363219"/>
                  </a:lnTo>
                  <a:lnTo>
                    <a:pt x="365506" y="370331"/>
                  </a:lnTo>
                  <a:lnTo>
                    <a:pt x="370459" y="376936"/>
                  </a:lnTo>
                  <a:lnTo>
                    <a:pt x="488442" y="394335"/>
                  </a:lnTo>
                  <a:lnTo>
                    <a:pt x="486145" y="388365"/>
                  </a:lnTo>
                  <a:lnTo>
                    <a:pt x="460375" y="388365"/>
                  </a:lnTo>
                  <a:lnTo>
                    <a:pt x="422923" y="358425"/>
                  </a:lnTo>
                  <a:lnTo>
                    <a:pt x="374269" y="351281"/>
                  </a:lnTo>
                  <a:close/>
                </a:path>
                <a:path w="488950" h="394335">
                  <a:moveTo>
                    <a:pt x="422923" y="358425"/>
                  </a:moveTo>
                  <a:lnTo>
                    <a:pt x="460375" y="388365"/>
                  </a:lnTo>
                  <a:lnTo>
                    <a:pt x="464736" y="382904"/>
                  </a:lnTo>
                  <a:lnTo>
                    <a:pt x="456311" y="382904"/>
                  </a:lnTo>
                  <a:lnTo>
                    <a:pt x="448305" y="362152"/>
                  </a:lnTo>
                  <a:lnTo>
                    <a:pt x="422923" y="358425"/>
                  </a:lnTo>
                  <a:close/>
                </a:path>
                <a:path w="488950" h="394335">
                  <a:moveTo>
                    <a:pt x="438023" y="279653"/>
                  </a:moveTo>
                  <a:lnTo>
                    <a:pt x="424688" y="284733"/>
                  </a:lnTo>
                  <a:lnTo>
                    <a:pt x="421386" y="292226"/>
                  </a:lnTo>
                  <a:lnTo>
                    <a:pt x="423925" y="298957"/>
                  </a:lnTo>
                  <a:lnTo>
                    <a:pt x="439077" y="338234"/>
                  </a:lnTo>
                  <a:lnTo>
                    <a:pt x="476504" y="368173"/>
                  </a:lnTo>
                  <a:lnTo>
                    <a:pt x="460375" y="388365"/>
                  </a:lnTo>
                  <a:lnTo>
                    <a:pt x="486145" y="388365"/>
                  </a:lnTo>
                  <a:lnTo>
                    <a:pt x="448183" y="289687"/>
                  </a:lnTo>
                  <a:lnTo>
                    <a:pt x="445516" y="282955"/>
                  </a:lnTo>
                  <a:lnTo>
                    <a:pt x="438023" y="279653"/>
                  </a:lnTo>
                  <a:close/>
                </a:path>
                <a:path w="488950" h="394335">
                  <a:moveTo>
                    <a:pt x="448305" y="362152"/>
                  </a:moveTo>
                  <a:lnTo>
                    <a:pt x="456311" y="382904"/>
                  </a:lnTo>
                  <a:lnTo>
                    <a:pt x="470281" y="365378"/>
                  </a:lnTo>
                  <a:lnTo>
                    <a:pt x="448305" y="362152"/>
                  </a:lnTo>
                  <a:close/>
                </a:path>
                <a:path w="488950" h="394335">
                  <a:moveTo>
                    <a:pt x="439077" y="338234"/>
                  </a:moveTo>
                  <a:lnTo>
                    <a:pt x="448305" y="362152"/>
                  </a:lnTo>
                  <a:lnTo>
                    <a:pt x="470281" y="365378"/>
                  </a:lnTo>
                  <a:lnTo>
                    <a:pt x="456311" y="382904"/>
                  </a:lnTo>
                  <a:lnTo>
                    <a:pt x="464736" y="382904"/>
                  </a:lnTo>
                  <a:lnTo>
                    <a:pt x="476504" y="368173"/>
                  </a:lnTo>
                  <a:lnTo>
                    <a:pt x="439077" y="338234"/>
                  </a:lnTo>
                  <a:close/>
                </a:path>
                <a:path w="488950" h="394335">
                  <a:moveTo>
                    <a:pt x="16256" y="0"/>
                  </a:moveTo>
                  <a:lnTo>
                    <a:pt x="0" y="20319"/>
                  </a:lnTo>
                  <a:lnTo>
                    <a:pt x="422923" y="358425"/>
                  </a:lnTo>
                  <a:lnTo>
                    <a:pt x="448305" y="362152"/>
                  </a:lnTo>
                  <a:lnTo>
                    <a:pt x="439077" y="338234"/>
                  </a:lnTo>
                  <a:lnTo>
                    <a:pt x="16256" y="0"/>
                  </a:lnTo>
                  <a:close/>
                </a:path>
              </a:pathLst>
            </a:custGeom>
            <a:solidFill>
              <a:srgbClr val="000000"/>
            </a:solidFill>
          </p:spPr>
          <p:txBody>
            <a:bodyPr wrap="square" lIns="0" tIns="0" rIns="0" bIns="0" rtlCol="0"/>
            <a:lstStyle/>
            <a:p>
              <a:endParaRPr/>
            </a:p>
          </p:txBody>
        </p:sp>
      </p:grpSp>
      <p:grpSp>
        <p:nvGrpSpPr>
          <p:cNvPr id="34" name="object 34"/>
          <p:cNvGrpSpPr/>
          <p:nvPr/>
        </p:nvGrpSpPr>
        <p:grpSpPr>
          <a:xfrm>
            <a:off x="2640076" y="1498091"/>
            <a:ext cx="1867535" cy="504825"/>
            <a:chOff x="2640076" y="1498091"/>
            <a:chExt cx="1867535" cy="504825"/>
          </a:xfrm>
        </p:grpSpPr>
        <p:sp>
          <p:nvSpPr>
            <p:cNvPr id="35" name="object 35"/>
            <p:cNvSpPr/>
            <p:nvPr/>
          </p:nvSpPr>
          <p:spPr>
            <a:xfrm>
              <a:off x="2640076" y="1882647"/>
              <a:ext cx="1867535" cy="120650"/>
            </a:xfrm>
            <a:custGeom>
              <a:avLst/>
              <a:gdLst/>
              <a:ahLst/>
              <a:cxnLst/>
              <a:rect l="l" t="t" r="r" b="b"/>
              <a:pathLst>
                <a:path w="1867535" h="120650">
                  <a:moveTo>
                    <a:pt x="1844838" y="45719"/>
                  </a:moveTo>
                  <a:lnTo>
                    <a:pt x="1841246" y="45719"/>
                  </a:lnTo>
                  <a:lnTo>
                    <a:pt x="1841753" y="71627"/>
                  </a:lnTo>
                  <a:lnTo>
                    <a:pt x="1793887" y="72559"/>
                  </a:lnTo>
                  <a:lnTo>
                    <a:pt x="1751838" y="98171"/>
                  </a:lnTo>
                  <a:lnTo>
                    <a:pt x="1749933" y="106172"/>
                  </a:lnTo>
                  <a:lnTo>
                    <a:pt x="1757299" y="118363"/>
                  </a:lnTo>
                  <a:lnTo>
                    <a:pt x="1765300" y="120268"/>
                  </a:lnTo>
                  <a:lnTo>
                    <a:pt x="1867153" y="58165"/>
                  </a:lnTo>
                  <a:lnTo>
                    <a:pt x="1844838" y="45719"/>
                  </a:lnTo>
                  <a:close/>
                </a:path>
                <a:path w="1867535" h="120650">
                  <a:moveTo>
                    <a:pt x="1793366" y="46651"/>
                  </a:moveTo>
                  <a:lnTo>
                    <a:pt x="0" y="81534"/>
                  </a:lnTo>
                  <a:lnTo>
                    <a:pt x="507" y="107441"/>
                  </a:lnTo>
                  <a:lnTo>
                    <a:pt x="1793887" y="72559"/>
                  </a:lnTo>
                  <a:lnTo>
                    <a:pt x="1815816" y="59184"/>
                  </a:lnTo>
                  <a:lnTo>
                    <a:pt x="1793366" y="46651"/>
                  </a:lnTo>
                  <a:close/>
                </a:path>
                <a:path w="1867535" h="120650">
                  <a:moveTo>
                    <a:pt x="1815816" y="59184"/>
                  </a:moveTo>
                  <a:lnTo>
                    <a:pt x="1793887" y="72559"/>
                  </a:lnTo>
                  <a:lnTo>
                    <a:pt x="1841753" y="71627"/>
                  </a:lnTo>
                  <a:lnTo>
                    <a:pt x="1841721" y="69976"/>
                  </a:lnTo>
                  <a:lnTo>
                    <a:pt x="1835150" y="69976"/>
                  </a:lnTo>
                  <a:lnTo>
                    <a:pt x="1815816" y="59184"/>
                  </a:lnTo>
                  <a:close/>
                </a:path>
                <a:path w="1867535" h="120650">
                  <a:moveTo>
                    <a:pt x="1834769" y="47625"/>
                  </a:moveTo>
                  <a:lnTo>
                    <a:pt x="1815816" y="59184"/>
                  </a:lnTo>
                  <a:lnTo>
                    <a:pt x="1835150" y="69976"/>
                  </a:lnTo>
                  <a:lnTo>
                    <a:pt x="1834769" y="47625"/>
                  </a:lnTo>
                  <a:close/>
                </a:path>
                <a:path w="1867535" h="120650">
                  <a:moveTo>
                    <a:pt x="1841283" y="47625"/>
                  </a:moveTo>
                  <a:lnTo>
                    <a:pt x="1834769" y="47625"/>
                  </a:lnTo>
                  <a:lnTo>
                    <a:pt x="1835150" y="69976"/>
                  </a:lnTo>
                  <a:lnTo>
                    <a:pt x="1841721" y="69976"/>
                  </a:lnTo>
                  <a:lnTo>
                    <a:pt x="1841283" y="47625"/>
                  </a:lnTo>
                  <a:close/>
                </a:path>
                <a:path w="1867535" h="120650">
                  <a:moveTo>
                    <a:pt x="1841246" y="45719"/>
                  </a:moveTo>
                  <a:lnTo>
                    <a:pt x="1793366" y="46651"/>
                  </a:lnTo>
                  <a:lnTo>
                    <a:pt x="1815816" y="59184"/>
                  </a:lnTo>
                  <a:lnTo>
                    <a:pt x="1834769" y="47625"/>
                  </a:lnTo>
                  <a:lnTo>
                    <a:pt x="1841283" y="47625"/>
                  </a:lnTo>
                  <a:lnTo>
                    <a:pt x="1841246" y="45719"/>
                  </a:lnTo>
                  <a:close/>
                </a:path>
                <a:path w="1867535" h="120650">
                  <a:moveTo>
                    <a:pt x="1763014" y="0"/>
                  </a:moveTo>
                  <a:lnTo>
                    <a:pt x="1755139" y="2286"/>
                  </a:lnTo>
                  <a:lnTo>
                    <a:pt x="1751584" y="8509"/>
                  </a:lnTo>
                  <a:lnTo>
                    <a:pt x="1748154" y="14731"/>
                  </a:lnTo>
                  <a:lnTo>
                    <a:pt x="1750314" y="22732"/>
                  </a:lnTo>
                  <a:lnTo>
                    <a:pt x="1756664" y="26162"/>
                  </a:lnTo>
                  <a:lnTo>
                    <a:pt x="1793366" y="46651"/>
                  </a:lnTo>
                  <a:lnTo>
                    <a:pt x="1841246" y="45719"/>
                  </a:lnTo>
                  <a:lnTo>
                    <a:pt x="1844838" y="45719"/>
                  </a:lnTo>
                  <a:lnTo>
                    <a:pt x="1769237" y="3555"/>
                  </a:lnTo>
                  <a:lnTo>
                    <a:pt x="1763014" y="0"/>
                  </a:lnTo>
                  <a:close/>
                </a:path>
              </a:pathLst>
            </a:custGeom>
            <a:solidFill>
              <a:srgbClr val="000000"/>
            </a:solidFill>
          </p:spPr>
          <p:txBody>
            <a:bodyPr wrap="square" lIns="0" tIns="0" rIns="0" bIns="0" rtlCol="0"/>
            <a:lstStyle/>
            <a:p>
              <a:endParaRPr/>
            </a:p>
          </p:txBody>
        </p:sp>
        <p:sp>
          <p:nvSpPr>
            <p:cNvPr id="36" name="object 36"/>
            <p:cNvSpPr/>
            <p:nvPr/>
          </p:nvSpPr>
          <p:spPr>
            <a:xfrm>
              <a:off x="3171444" y="1498091"/>
              <a:ext cx="928369" cy="346075"/>
            </a:xfrm>
            <a:custGeom>
              <a:avLst/>
              <a:gdLst/>
              <a:ahLst/>
              <a:cxnLst/>
              <a:rect l="l" t="t" r="r" b="b"/>
              <a:pathLst>
                <a:path w="928370" h="346075">
                  <a:moveTo>
                    <a:pt x="870457" y="0"/>
                  </a:moveTo>
                  <a:lnTo>
                    <a:pt x="57657" y="0"/>
                  </a:lnTo>
                  <a:lnTo>
                    <a:pt x="35200" y="4526"/>
                  </a:lnTo>
                  <a:lnTo>
                    <a:pt x="16875" y="16875"/>
                  </a:lnTo>
                  <a:lnTo>
                    <a:pt x="4526" y="35200"/>
                  </a:lnTo>
                  <a:lnTo>
                    <a:pt x="0" y="57658"/>
                  </a:lnTo>
                  <a:lnTo>
                    <a:pt x="0" y="288290"/>
                  </a:lnTo>
                  <a:lnTo>
                    <a:pt x="4526" y="310747"/>
                  </a:lnTo>
                  <a:lnTo>
                    <a:pt x="16875" y="329072"/>
                  </a:lnTo>
                  <a:lnTo>
                    <a:pt x="35200" y="341421"/>
                  </a:lnTo>
                  <a:lnTo>
                    <a:pt x="57657" y="345948"/>
                  </a:lnTo>
                  <a:lnTo>
                    <a:pt x="870457" y="345948"/>
                  </a:lnTo>
                  <a:lnTo>
                    <a:pt x="892915" y="341421"/>
                  </a:lnTo>
                  <a:lnTo>
                    <a:pt x="911240" y="329072"/>
                  </a:lnTo>
                  <a:lnTo>
                    <a:pt x="923589" y="310747"/>
                  </a:lnTo>
                  <a:lnTo>
                    <a:pt x="928116" y="288290"/>
                  </a:lnTo>
                  <a:lnTo>
                    <a:pt x="928116" y="57658"/>
                  </a:lnTo>
                  <a:lnTo>
                    <a:pt x="923589" y="35200"/>
                  </a:lnTo>
                  <a:lnTo>
                    <a:pt x="911240" y="16875"/>
                  </a:lnTo>
                  <a:lnTo>
                    <a:pt x="892915" y="4526"/>
                  </a:lnTo>
                  <a:lnTo>
                    <a:pt x="870457" y="0"/>
                  </a:lnTo>
                  <a:close/>
                </a:path>
              </a:pathLst>
            </a:custGeom>
            <a:solidFill>
              <a:srgbClr val="F8F8F8"/>
            </a:solidFill>
          </p:spPr>
          <p:txBody>
            <a:bodyPr wrap="square" lIns="0" tIns="0" rIns="0" bIns="0" rtlCol="0"/>
            <a:lstStyle/>
            <a:p>
              <a:endParaRPr/>
            </a:p>
          </p:txBody>
        </p:sp>
      </p:grpSp>
      <p:sp>
        <p:nvSpPr>
          <p:cNvPr id="37" name="object 37"/>
          <p:cNvSpPr txBox="1"/>
          <p:nvPr/>
        </p:nvSpPr>
        <p:spPr>
          <a:xfrm>
            <a:off x="2167127" y="3747515"/>
            <a:ext cx="7842884" cy="829310"/>
          </a:xfrm>
          <a:prstGeom prst="rect">
            <a:avLst/>
          </a:prstGeom>
          <a:ln w="9144">
            <a:solidFill>
              <a:srgbClr val="E7E6E6"/>
            </a:solidFill>
          </a:ln>
        </p:spPr>
        <p:txBody>
          <a:bodyPr vert="horz" wrap="square" lIns="0" tIns="1270" rIns="0" bIns="0" rtlCol="0">
            <a:spAutoFit/>
          </a:bodyPr>
          <a:lstStyle/>
          <a:p>
            <a:pPr>
              <a:lnSpc>
                <a:spcPct val="100000"/>
              </a:lnSpc>
              <a:spcBef>
                <a:spcPts val="10"/>
              </a:spcBef>
            </a:pPr>
            <a:endParaRPr sz="1800">
              <a:latin typeface="Times New Roman"/>
              <a:cs typeface="Times New Roman"/>
            </a:endParaRPr>
          </a:p>
          <a:p>
            <a:pPr marL="2683510">
              <a:lnSpc>
                <a:spcPct val="100000"/>
              </a:lnSpc>
              <a:tabLst>
                <a:tab pos="5789295" algn="l"/>
                <a:tab pos="6671309" algn="l"/>
              </a:tabLst>
            </a:pPr>
            <a:r>
              <a:rPr sz="1600" spc="5" dirty="0">
                <a:latin typeface="Trebuchet MS"/>
                <a:cs typeface="Trebuchet MS"/>
              </a:rPr>
              <a:t>HFile	HFile	HFile</a:t>
            </a:r>
            <a:endParaRPr sz="1600">
              <a:latin typeface="Trebuchet MS"/>
              <a:cs typeface="Trebuchet MS"/>
            </a:endParaRPr>
          </a:p>
        </p:txBody>
      </p:sp>
      <p:grpSp>
        <p:nvGrpSpPr>
          <p:cNvPr id="38" name="object 38"/>
          <p:cNvGrpSpPr/>
          <p:nvPr/>
        </p:nvGrpSpPr>
        <p:grpSpPr>
          <a:xfrm>
            <a:off x="2400109" y="5012245"/>
            <a:ext cx="7198359" cy="561340"/>
            <a:chOff x="2400109" y="5012245"/>
            <a:chExt cx="7198359" cy="561340"/>
          </a:xfrm>
        </p:grpSpPr>
        <p:sp>
          <p:nvSpPr>
            <p:cNvPr id="39" name="object 39"/>
            <p:cNvSpPr/>
            <p:nvPr/>
          </p:nvSpPr>
          <p:spPr>
            <a:xfrm>
              <a:off x="2404872" y="5017008"/>
              <a:ext cx="7188834" cy="551815"/>
            </a:xfrm>
            <a:custGeom>
              <a:avLst/>
              <a:gdLst/>
              <a:ahLst/>
              <a:cxnLst/>
              <a:rect l="l" t="t" r="r" b="b"/>
              <a:pathLst>
                <a:path w="7188834" h="551814">
                  <a:moveTo>
                    <a:pt x="7096759" y="0"/>
                  </a:moveTo>
                  <a:lnTo>
                    <a:pt x="91947" y="0"/>
                  </a:lnTo>
                  <a:lnTo>
                    <a:pt x="56149" y="7223"/>
                  </a:lnTo>
                  <a:lnTo>
                    <a:pt x="26923" y="26924"/>
                  </a:lnTo>
                  <a:lnTo>
                    <a:pt x="7223" y="56149"/>
                  </a:lnTo>
                  <a:lnTo>
                    <a:pt x="0" y="91948"/>
                  </a:lnTo>
                  <a:lnTo>
                    <a:pt x="0" y="459740"/>
                  </a:lnTo>
                  <a:lnTo>
                    <a:pt x="7223" y="495538"/>
                  </a:lnTo>
                  <a:lnTo>
                    <a:pt x="26924" y="524764"/>
                  </a:lnTo>
                  <a:lnTo>
                    <a:pt x="56149" y="544464"/>
                  </a:lnTo>
                  <a:lnTo>
                    <a:pt x="91947" y="551688"/>
                  </a:lnTo>
                  <a:lnTo>
                    <a:pt x="7096759" y="551688"/>
                  </a:lnTo>
                  <a:lnTo>
                    <a:pt x="7132558" y="544464"/>
                  </a:lnTo>
                  <a:lnTo>
                    <a:pt x="7161783" y="524764"/>
                  </a:lnTo>
                  <a:lnTo>
                    <a:pt x="7181484" y="495538"/>
                  </a:lnTo>
                  <a:lnTo>
                    <a:pt x="7188708" y="459740"/>
                  </a:lnTo>
                  <a:lnTo>
                    <a:pt x="7188708" y="91948"/>
                  </a:lnTo>
                  <a:lnTo>
                    <a:pt x="7181484" y="56149"/>
                  </a:lnTo>
                  <a:lnTo>
                    <a:pt x="7161783" y="26924"/>
                  </a:lnTo>
                  <a:lnTo>
                    <a:pt x="7132558" y="7223"/>
                  </a:lnTo>
                  <a:lnTo>
                    <a:pt x="7096759" y="0"/>
                  </a:lnTo>
                  <a:close/>
                </a:path>
              </a:pathLst>
            </a:custGeom>
            <a:solidFill>
              <a:srgbClr val="D9D9D9"/>
            </a:solidFill>
          </p:spPr>
          <p:txBody>
            <a:bodyPr wrap="square" lIns="0" tIns="0" rIns="0" bIns="0" rtlCol="0"/>
            <a:lstStyle/>
            <a:p>
              <a:endParaRPr/>
            </a:p>
          </p:txBody>
        </p:sp>
        <p:sp>
          <p:nvSpPr>
            <p:cNvPr id="40" name="object 40"/>
            <p:cNvSpPr/>
            <p:nvPr/>
          </p:nvSpPr>
          <p:spPr>
            <a:xfrm>
              <a:off x="2404872" y="5017008"/>
              <a:ext cx="7188834" cy="551815"/>
            </a:xfrm>
            <a:custGeom>
              <a:avLst/>
              <a:gdLst/>
              <a:ahLst/>
              <a:cxnLst/>
              <a:rect l="l" t="t" r="r" b="b"/>
              <a:pathLst>
                <a:path w="7188834" h="551814">
                  <a:moveTo>
                    <a:pt x="0" y="91948"/>
                  </a:moveTo>
                  <a:lnTo>
                    <a:pt x="7223" y="56149"/>
                  </a:lnTo>
                  <a:lnTo>
                    <a:pt x="26923" y="26924"/>
                  </a:lnTo>
                  <a:lnTo>
                    <a:pt x="56149" y="7223"/>
                  </a:lnTo>
                  <a:lnTo>
                    <a:pt x="91947" y="0"/>
                  </a:lnTo>
                  <a:lnTo>
                    <a:pt x="7096759" y="0"/>
                  </a:lnTo>
                  <a:lnTo>
                    <a:pt x="7132558" y="7223"/>
                  </a:lnTo>
                  <a:lnTo>
                    <a:pt x="7161783" y="26924"/>
                  </a:lnTo>
                  <a:lnTo>
                    <a:pt x="7181484" y="56149"/>
                  </a:lnTo>
                  <a:lnTo>
                    <a:pt x="7188708" y="91948"/>
                  </a:lnTo>
                  <a:lnTo>
                    <a:pt x="7188708" y="459740"/>
                  </a:lnTo>
                  <a:lnTo>
                    <a:pt x="7181484" y="495538"/>
                  </a:lnTo>
                  <a:lnTo>
                    <a:pt x="7161783" y="524764"/>
                  </a:lnTo>
                  <a:lnTo>
                    <a:pt x="7132558" y="544464"/>
                  </a:lnTo>
                  <a:lnTo>
                    <a:pt x="7096759" y="551688"/>
                  </a:lnTo>
                  <a:lnTo>
                    <a:pt x="91947" y="551688"/>
                  </a:lnTo>
                  <a:lnTo>
                    <a:pt x="56149" y="544464"/>
                  </a:lnTo>
                  <a:lnTo>
                    <a:pt x="26924" y="524764"/>
                  </a:lnTo>
                  <a:lnTo>
                    <a:pt x="7223" y="495538"/>
                  </a:lnTo>
                  <a:lnTo>
                    <a:pt x="0" y="459740"/>
                  </a:lnTo>
                  <a:lnTo>
                    <a:pt x="0" y="91948"/>
                  </a:lnTo>
                  <a:close/>
                </a:path>
              </a:pathLst>
            </a:custGeom>
            <a:ln w="9143">
              <a:solidFill>
                <a:srgbClr val="000000"/>
              </a:solidFill>
            </a:ln>
          </p:spPr>
          <p:txBody>
            <a:bodyPr wrap="square" lIns="0" tIns="0" rIns="0" bIns="0" rtlCol="0"/>
            <a:lstStyle/>
            <a:p>
              <a:endParaRPr/>
            </a:p>
          </p:txBody>
        </p:sp>
      </p:grpSp>
      <p:sp>
        <p:nvSpPr>
          <p:cNvPr id="41" name="object 41"/>
          <p:cNvSpPr txBox="1"/>
          <p:nvPr/>
        </p:nvSpPr>
        <p:spPr>
          <a:xfrm>
            <a:off x="2167127" y="4867655"/>
            <a:ext cx="7842884" cy="829310"/>
          </a:xfrm>
          <a:prstGeom prst="rect">
            <a:avLst/>
          </a:prstGeom>
          <a:ln w="9144">
            <a:solidFill>
              <a:srgbClr val="E7E6E6"/>
            </a:solidFill>
          </a:ln>
        </p:spPr>
        <p:txBody>
          <a:bodyPr vert="horz" wrap="square" lIns="0" tIns="0" rIns="0" bIns="0" rtlCol="0">
            <a:spAutoFit/>
          </a:bodyPr>
          <a:lstStyle/>
          <a:p>
            <a:pPr>
              <a:lnSpc>
                <a:spcPct val="100000"/>
              </a:lnSpc>
            </a:pPr>
            <a:endParaRPr sz="1950">
              <a:latin typeface="Times New Roman"/>
              <a:cs typeface="Times New Roman"/>
            </a:endParaRPr>
          </a:p>
          <a:p>
            <a:pPr marR="170180" algn="ctr">
              <a:lnSpc>
                <a:spcPct val="100000"/>
              </a:lnSpc>
            </a:pPr>
            <a:r>
              <a:rPr sz="1600" spc="5" dirty="0">
                <a:latin typeface="Trebuchet MS"/>
                <a:cs typeface="Trebuchet MS"/>
              </a:rPr>
              <a:t>HFile</a:t>
            </a:r>
            <a:endParaRPr sz="1600">
              <a:latin typeface="Trebuchet MS"/>
              <a:cs typeface="Trebuchet MS"/>
            </a:endParaRPr>
          </a:p>
        </p:txBody>
      </p:sp>
      <p:grpSp>
        <p:nvGrpSpPr>
          <p:cNvPr id="42" name="object 42"/>
          <p:cNvGrpSpPr/>
          <p:nvPr/>
        </p:nvGrpSpPr>
        <p:grpSpPr>
          <a:xfrm>
            <a:off x="6029071" y="3393185"/>
            <a:ext cx="2239010" cy="1475740"/>
            <a:chOff x="6029071" y="3393185"/>
            <a:chExt cx="2239010" cy="1475740"/>
          </a:xfrm>
        </p:grpSpPr>
        <p:sp>
          <p:nvSpPr>
            <p:cNvPr id="43" name="object 43"/>
            <p:cNvSpPr/>
            <p:nvPr/>
          </p:nvSpPr>
          <p:spPr>
            <a:xfrm>
              <a:off x="6029071" y="3393185"/>
              <a:ext cx="120650" cy="1475740"/>
            </a:xfrm>
            <a:custGeom>
              <a:avLst/>
              <a:gdLst/>
              <a:ahLst/>
              <a:cxnLst/>
              <a:rect l="l" t="t" r="r" b="b"/>
              <a:pathLst>
                <a:path w="120650" h="1475739">
                  <a:moveTo>
                    <a:pt x="120142" y="1372362"/>
                  </a:moveTo>
                  <a:lnTo>
                    <a:pt x="118110" y="1364361"/>
                  </a:lnTo>
                  <a:lnTo>
                    <a:pt x="111887" y="1360805"/>
                  </a:lnTo>
                  <a:lnTo>
                    <a:pt x="105791" y="1357122"/>
                  </a:lnTo>
                  <a:lnTo>
                    <a:pt x="97790" y="1359281"/>
                  </a:lnTo>
                  <a:lnTo>
                    <a:pt x="73025" y="1401737"/>
                  </a:lnTo>
                  <a:lnTo>
                    <a:pt x="60071" y="1423949"/>
                  </a:lnTo>
                  <a:lnTo>
                    <a:pt x="73012" y="1401737"/>
                  </a:lnTo>
                  <a:lnTo>
                    <a:pt x="73025" y="1184148"/>
                  </a:lnTo>
                  <a:lnTo>
                    <a:pt x="47117" y="1184148"/>
                  </a:lnTo>
                  <a:lnTo>
                    <a:pt x="47117" y="1401737"/>
                  </a:lnTo>
                  <a:lnTo>
                    <a:pt x="22352" y="1359281"/>
                  </a:lnTo>
                  <a:lnTo>
                    <a:pt x="14351" y="1357122"/>
                  </a:lnTo>
                  <a:lnTo>
                    <a:pt x="8255" y="1360805"/>
                  </a:lnTo>
                  <a:lnTo>
                    <a:pt x="2032" y="1364361"/>
                  </a:lnTo>
                  <a:lnTo>
                    <a:pt x="0" y="1372362"/>
                  </a:lnTo>
                  <a:lnTo>
                    <a:pt x="60071" y="1475359"/>
                  </a:lnTo>
                  <a:lnTo>
                    <a:pt x="75031" y="1449705"/>
                  </a:lnTo>
                  <a:lnTo>
                    <a:pt x="120142" y="1372362"/>
                  </a:lnTo>
                  <a:close/>
                </a:path>
                <a:path w="120650" h="1475739">
                  <a:moveTo>
                    <a:pt x="120142" y="252222"/>
                  </a:moveTo>
                  <a:lnTo>
                    <a:pt x="118110" y="244221"/>
                  </a:lnTo>
                  <a:lnTo>
                    <a:pt x="111887" y="240665"/>
                  </a:lnTo>
                  <a:lnTo>
                    <a:pt x="105791" y="236982"/>
                  </a:lnTo>
                  <a:lnTo>
                    <a:pt x="97790" y="239141"/>
                  </a:lnTo>
                  <a:lnTo>
                    <a:pt x="73025" y="281597"/>
                  </a:lnTo>
                  <a:lnTo>
                    <a:pt x="73025" y="0"/>
                  </a:lnTo>
                  <a:lnTo>
                    <a:pt x="47117" y="0"/>
                  </a:lnTo>
                  <a:lnTo>
                    <a:pt x="47117" y="281597"/>
                  </a:lnTo>
                  <a:lnTo>
                    <a:pt x="22352" y="239141"/>
                  </a:lnTo>
                  <a:lnTo>
                    <a:pt x="14351" y="236982"/>
                  </a:lnTo>
                  <a:lnTo>
                    <a:pt x="8255" y="240665"/>
                  </a:lnTo>
                  <a:lnTo>
                    <a:pt x="2032" y="244221"/>
                  </a:lnTo>
                  <a:lnTo>
                    <a:pt x="0" y="252222"/>
                  </a:lnTo>
                  <a:lnTo>
                    <a:pt x="60071" y="355219"/>
                  </a:lnTo>
                  <a:lnTo>
                    <a:pt x="75031" y="329565"/>
                  </a:lnTo>
                  <a:lnTo>
                    <a:pt x="120142" y="252222"/>
                  </a:lnTo>
                  <a:close/>
                </a:path>
              </a:pathLst>
            </a:custGeom>
            <a:solidFill>
              <a:srgbClr val="000000"/>
            </a:solidFill>
          </p:spPr>
          <p:txBody>
            <a:bodyPr wrap="square" lIns="0" tIns="0" rIns="0" bIns="0" rtlCol="0"/>
            <a:lstStyle/>
            <a:p>
              <a:endParaRPr/>
            </a:p>
          </p:txBody>
        </p:sp>
        <p:sp>
          <p:nvSpPr>
            <p:cNvPr id="44" name="object 44"/>
            <p:cNvSpPr/>
            <p:nvPr/>
          </p:nvSpPr>
          <p:spPr>
            <a:xfrm>
              <a:off x="6135624" y="3459479"/>
              <a:ext cx="2132330" cy="207645"/>
            </a:xfrm>
            <a:custGeom>
              <a:avLst/>
              <a:gdLst/>
              <a:ahLst/>
              <a:cxnLst/>
              <a:rect l="l" t="t" r="r" b="b"/>
              <a:pathLst>
                <a:path w="2132329" h="207645">
                  <a:moveTo>
                    <a:pt x="2097531" y="0"/>
                  </a:moveTo>
                  <a:lnTo>
                    <a:pt x="34543" y="0"/>
                  </a:lnTo>
                  <a:lnTo>
                    <a:pt x="21109" y="2718"/>
                  </a:lnTo>
                  <a:lnTo>
                    <a:pt x="10128" y="10128"/>
                  </a:lnTo>
                  <a:lnTo>
                    <a:pt x="2718" y="21109"/>
                  </a:lnTo>
                  <a:lnTo>
                    <a:pt x="0" y="34544"/>
                  </a:lnTo>
                  <a:lnTo>
                    <a:pt x="0" y="172720"/>
                  </a:lnTo>
                  <a:lnTo>
                    <a:pt x="2718" y="186154"/>
                  </a:lnTo>
                  <a:lnTo>
                    <a:pt x="10128" y="197135"/>
                  </a:lnTo>
                  <a:lnTo>
                    <a:pt x="21109" y="204545"/>
                  </a:lnTo>
                  <a:lnTo>
                    <a:pt x="34543" y="207264"/>
                  </a:lnTo>
                  <a:lnTo>
                    <a:pt x="2097531" y="207264"/>
                  </a:lnTo>
                  <a:lnTo>
                    <a:pt x="2110966" y="204545"/>
                  </a:lnTo>
                  <a:lnTo>
                    <a:pt x="2121947" y="197135"/>
                  </a:lnTo>
                  <a:lnTo>
                    <a:pt x="2129357" y="186154"/>
                  </a:lnTo>
                  <a:lnTo>
                    <a:pt x="2132076" y="172720"/>
                  </a:lnTo>
                  <a:lnTo>
                    <a:pt x="2132076" y="34544"/>
                  </a:lnTo>
                  <a:lnTo>
                    <a:pt x="2129357" y="21109"/>
                  </a:lnTo>
                  <a:lnTo>
                    <a:pt x="2121947" y="10128"/>
                  </a:lnTo>
                  <a:lnTo>
                    <a:pt x="2110966" y="2718"/>
                  </a:lnTo>
                  <a:lnTo>
                    <a:pt x="2097531" y="0"/>
                  </a:lnTo>
                  <a:close/>
                </a:path>
              </a:pathLst>
            </a:custGeom>
            <a:solidFill>
              <a:srgbClr val="F8F8F8"/>
            </a:solidFill>
          </p:spPr>
          <p:txBody>
            <a:bodyPr wrap="square" lIns="0" tIns="0" rIns="0" bIns="0" rtlCol="0"/>
            <a:lstStyle/>
            <a:p>
              <a:endParaRPr/>
            </a:p>
          </p:txBody>
        </p:sp>
      </p:grpSp>
      <p:sp>
        <p:nvSpPr>
          <p:cNvPr id="45" name="object 45"/>
          <p:cNvSpPr txBox="1"/>
          <p:nvPr/>
        </p:nvSpPr>
        <p:spPr>
          <a:xfrm>
            <a:off x="6327775" y="3410458"/>
            <a:ext cx="1747520" cy="269240"/>
          </a:xfrm>
          <a:prstGeom prst="rect">
            <a:avLst/>
          </a:prstGeom>
        </p:spPr>
        <p:txBody>
          <a:bodyPr vert="horz" wrap="square" lIns="0" tIns="12065" rIns="0" bIns="0" rtlCol="0">
            <a:spAutoFit/>
          </a:bodyPr>
          <a:lstStyle/>
          <a:p>
            <a:pPr marL="12700">
              <a:lnSpc>
                <a:spcPct val="100000"/>
              </a:lnSpc>
              <a:spcBef>
                <a:spcPts val="95"/>
              </a:spcBef>
            </a:pPr>
            <a:r>
              <a:rPr sz="1600" spc="75" dirty="0">
                <a:latin typeface="Trebuchet MS"/>
                <a:cs typeface="Trebuchet MS"/>
              </a:rPr>
              <a:t>Minor</a:t>
            </a:r>
            <a:r>
              <a:rPr sz="1600" spc="-25" dirty="0">
                <a:latin typeface="Trebuchet MS"/>
                <a:cs typeface="Trebuchet MS"/>
              </a:rPr>
              <a:t> </a:t>
            </a:r>
            <a:r>
              <a:rPr sz="1600" spc="15" dirty="0">
                <a:latin typeface="Trebuchet MS"/>
                <a:cs typeface="Trebuchet MS"/>
              </a:rPr>
              <a:t>Compaction</a:t>
            </a:r>
            <a:endParaRPr sz="1600">
              <a:latin typeface="Trebuchet MS"/>
              <a:cs typeface="Trebuchet MS"/>
            </a:endParaRPr>
          </a:p>
        </p:txBody>
      </p:sp>
      <p:sp>
        <p:nvSpPr>
          <p:cNvPr id="46" name="object 46"/>
          <p:cNvSpPr/>
          <p:nvPr/>
        </p:nvSpPr>
        <p:spPr>
          <a:xfrm>
            <a:off x="6222491" y="4619244"/>
            <a:ext cx="2133600" cy="207645"/>
          </a:xfrm>
          <a:custGeom>
            <a:avLst/>
            <a:gdLst/>
            <a:ahLst/>
            <a:cxnLst/>
            <a:rect l="l" t="t" r="r" b="b"/>
            <a:pathLst>
              <a:path w="2133600" h="207645">
                <a:moveTo>
                  <a:pt x="2099056" y="0"/>
                </a:moveTo>
                <a:lnTo>
                  <a:pt x="34544" y="0"/>
                </a:lnTo>
                <a:lnTo>
                  <a:pt x="21109" y="2718"/>
                </a:lnTo>
                <a:lnTo>
                  <a:pt x="10128" y="10128"/>
                </a:lnTo>
                <a:lnTo>
                  <a:pt x="2718" y="21109"/>
                </a:lnTo>
                <a:lnTo>
                  <a:pt x="0" y="34543"/>
                </a:lnTo>
                <a:lnTo>
                  <a:pt x="0" y="172719"/>
                </a:lnTo>
                <a:lnTo>
                  <a:pt x="2718" y="186154"/>
                </a:lnTo>
                <a:lnTo>
                  <a:pt x="10128" y="197135"/>
                </a:lnTo>
                <a:lnTo>
                  <a:pt x="21109" y="204545"/>
                </a:lnTo>
                <a:lnTo>
                  <a:pt x="34544" y="207263"/>
                </a:lnTo>
                <a:lnTo>
                  <a:pt x="2099056" y="207263"/>
                </a:lnTo>
                <a:lnTo>
                  <a:pt x="2112490" y="204545"/>
                </a:lnTo>
                <a:lnTo>
                  <a:pt x="2123471" y="197135"/>
                </a:lnTo>
                <a:lnTo>
                  <a:pt x="2130881" y="186154"/>
                </a:lnTo>
                <a:lnTo>
                  <a:pt x="2133600" y="172719"/>
                </a:lnTo>
                <a:lnTo>
                  <a:pt x="2133600" y="34543"/>
                </a:lnTo>
                <a:lnTo>
                  <a:pt x="2130881" y="21109"/>
                </a:lnTo>
                <a:lnTo>
                  <a:pt x="2123471" y="10128"/>
                </a:lnTo>
                <a:lnTo>
                  <a:pt x="2112490" y="2718"/>
                </a:lnTo>
                <a:lnTo>
                  <a:pt x="2099056" y="0"/>
                </a:lnTo>
                <a:close/>
              </a:path>
            </a:pathLst>
          </a:custGeom>
          <a:solidFill>
            <a:srgbClr val="F8F8F8"/>
          </a:solidFill>
        </p:spPr>
        <p:txBody>
          <a:bodyPr wrap="square" lIns="0" tIns="0" rIns="0" bIns="0" rtlCol="0"/>
          <a:lstStyle/>
          <a:p>
            <a:endParaRPr/>
          </a:p>
        </p:txBody>
      </p:sp>
      <p:sp>
        <p:nvSpPr>
          <p:cNvPr id="47" name="object 47"/>
          <p:cNvSpPr txBox="1"/>
          <p:nvPr/>
        </p:nvSpPr>
        <p:spPr>
          <a:xfrm>
            <a:off x="6418834" y="4570857"/>
            <a:ext cx="1741805" cy="269240"/>
          </a:xfrm>
          <a:prstGeom prst="rect">
            <a:avLst/>
          </a:prstGeom>
        </p:spPr>
        <p:txBody>
          <a:bodyPr vert="horz" wrap="square" lIns="0" tIns="12065" rIns="0" bIns="0" rtlCol="0">
            <a:spAutoFit/>
          </a:bodyPr>
          <a:lstStyle/>
          <a:p>
            <a:pPr marL="12700">
              <a:lnSpc>
                <a:spcPct val="100000"/>
              </a:lnSpc>
              <a:spcBef>
                <a:spcPts val="95"/>
              </a:spcBef>
            </a:pPr>
            <a:r>
              <a:rPr sz="1600" spc="45" dirty="0">
                <a:latin typeface="Trebuchet MS"/>
                <a:cs typeface="Trebuchet MS"/>
              </a:rPr>
              <a:t>Major</a:t>
            </a:r>
            <a:r>
              <a:rPr sz="1600" spc="-20" dirty="0">
                <a:latin typeface="Trebuchet MS"/>
                <a:cs typeface="Trebuchet MS"/>
              </a:rPr>
              <a:t> </a:t>
            </a:r>
            <a:r>
              <a:rPr sz="1600" spc="15" dirty="0">
                <a:latin typeface="Trebuchet MS"/>
                <a:cs typeface="Trebuchet MS"/>
              </a:rPr>
              <a:t>Compaction</a:t>
            </a:r>
            <a:endParaRPr sz="1600">
              <a:latin typeface="Trebuchet MS"/>
              <a:cs typeface="Trebuchet MS"/>
            </a:endParaRPr>
          </a:p>
        </p:txBody>
      </p:sp>
      <p:sp>
        <p:nvSpPr>
          <p:cNvPr id="48" name="object 48"/>
          <p:cNvSpPr/>
          <p:nvPr/>
        </p:nvSpPr>
        <p:spPr>
          <a:xfrm>
            <a:off x="6096000" y="2218944"/>
            <a:ext cx="928369" cy="309880"/>
          </a:xfrm>
          <a:custGeom>
            <a:avLst/>
            <a:gdLst/>
            <a:ahLst/>
            <a:cxnLst/>
            <a:rect l="l" t="t" r="r" b="b"/>
            <a:pathLst>
              <a:path w="928370" h="309880">
                <a:moveTo>
                  <a:pt x="876553" y="0"/>
                </a:moveTo>
                <a:lnTo>
                  <a:pt x="51562" y="0"/>
                </a:lnTo>
                <a:lnTo>
                  <a:pt x="31503" y="4056"/>
                </a:lnTo>
                <a:lnTo>
                  <a:pt x="15112" y="15112"/>
                </a:lnTo>
                <a:lnTo>
                  <a:pt x="4056" y="31503"/>
                </a:lnTo>
                <a:lnTo>
                  <a:pt x="0" y="51561"/>
                </a:lnTo>
                <a:lnTo>
                  <a:pt x="0" y="257809"/>
                </a:lnTo>
                <a:lnTo>
                  <a:pt x="4056" y="277868"/>
                </a:lnTo>
                <a:lnTo>
                  <a:pt x="15112" y="294258"/>
                </a:lnTo>
                <a:lnTo>
                  <a:pt x="31503" y="305315"/>
                </a:lnTo>
                <a:lnTo>
                  <a:pt x="51562" y="309371"/>
                </a:lnTo>
                <a:lnTo>
                  <a:pt x="876553" y="309371"/>
                </a:lnTo>
                <a:lnTo>
                  <a:pt x="896612" y="305315"/>
                </a:lnTo>
                <a:lnTo>
                  <a:pt x="913002" y="294258"/>
                </a:lnTo>
                <a:lnTo>
                  <a:pt x="924059" y="277868"/>
                </a:lnTo>
                <a:lnTo>
                  <a:pt x="928116" y="257809"/>
                </a:lnTo>
                <a:lnTo>
                  <a:pt x="928116" y="51561"/>
                </a:lnTo>
                <a:lnTo>
                  <a:pt x="924059" y="31503"/>
                </a:lnTo>
                <a:lnTo>
                  <a:pt x="913002" y="15112"/>
                </a:lnTo>
                <a:lnTo>
                  <a:pt x="896612" y="4056"/>
                </a:lnTo>
                <a:lnTo>
                  <a:pt x="876553" y="0"/>
                </a:lnTo>
                <a:close/>
              </a:path>
            </a:pathLst>
          </a:custGeom>
          <a:solidFill>
            <a:srgbClr val="F8F8F8"/>
          </a:solidFill>
        </p:spPr>
        <p:txBody>
          <a:bodyPr wrap="square" lIns="0" tIns="0" rIns="0" bIns="0" rtlCol="0"/>
          <a:lstStyle/>
          <a:p>
            <a:endParaRPr/>
          </a:p>
        </p:txBody>
      </p:sp>
      <p:sp>
        <p:nvSpPr>
          <p:cNvPr id="49" name="object 49"/>
          <p:cNvSpPr txBox="1"/>
          <p:nvPr/>
        </p:nvSpPr>
        <p:spPr>
          <a:xfrm>
            <a:off x="6305169" y="2220594"/>
            <a:ext cx="509905" cy="269240"/>
          </a:xfrm>
          <a:prstGeom prst="rect">
            <a:avLst/>
          </a:prstGeom>
        </p:spPr>
        <p:txBody>
          <a:bodyPr vert="horz" wrap="square" lIns="0" tIns="12065" rIns="0" bIns="0" rtlCol="0">
            <a:spAutoFit/>
          </a:bodyPr>
          <a:lstStyle/>
          <a:p>
            <a:pPr marL="12700">
              <a:lnSpc>
                <a:spcPct val="100000"/>
              </a:lnSpc>
              <a:spcBef>
                <a:spcPts val="95"/>
              </a:spcBef>
            </a:pPr>
            <a:r>
              <a:rPr sz="1600" spc="-30" dirty="0">
                <a:latin typeface="Trebuchet MS"/>
                <a:cs typeface="Trebuchet MS"/>
              </a:rPr>
              <a:t>F</a:t>
            </a:r>
            <a:r>
              <a:rPr sz="1600" spc="-25" dirty="0">
                <a:latin typeface="Trebuchet MS"/>
                <a:cs typeface="Trebuchet MS"/>
              </a:rPr>
              <a:t>l</a:t>
            </a:r>
            <a:r>
              <a:rPr sz="1600" spc="45" dirty="0">
                <a:latin typeface="Trebuchet MS"/>
                <a:cs typeface="Trebuchet MS"/>
              </a:rPr>
              <a:t>ush</a:t>
            </a:r>
            <a:endParaRPr sz="1600">
              <a:latin typeface="Trebuchet MS"/>
              <a:cs typeface="Trebuchet MS"/>
            </a:endParaRPr>
          </a:p>
        </p:txBody>
      </p:sp>
      <p:sp>
        <p:nvSpPr>
          <p:cNvPr id="51" name="object 5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fld id="{81D60167-4931-47E6-BA6A-407CBD079E47}" type="slidenum">
              <a:rPr spc="45" dirty="0"/>
              <a:t>54</a:t>
            </a:fld>
            <a:r>
              <a:rPr spc="45" dirty="0"/>
              <a:t>	</a:t>
            </a:r>
            <a:r>
              <a:rPr spc="30" dirty="0"/>
              <a:t>Huawei</a:t>
            </a:r>
            <a:r>
              <a:rPr spc="-10" dirty="0"/>
              <a:t> </a:t>
            </a:r>
            <a:r>
              <a:rPr spc="5" dirty="0"/>
              <a:t>Confidential</a:t>
            </a:r>
          </a:p>
        </p:txBody>
      </p:sp>
      <p:sp>
        <p:nvSpPr>
          <p:cNvPr id="50" name="object 50"/>
          <p:cNvSpPr txBox="1"/>
          <p:nvPr/>
        </p:nvSpPr>
        <p:spPr>
          <a:xfrm>
            <a:off x="3369945" y="1517396"/>
            <a:ext cx="530225" cy="269240"/>
          </a:xfrm>
          <a:prstGeom prst="rect">
            <a:avLst/>
          </a:prstGeom>
        </p:spPr>
        <p:txBody>
          <a:bodyPr vert="horz" wrap="square" lIns="0" tIns="12065" rIns="0" bIns="0" rtlCol="0">
            <a:spAutoFit/>
          </a:bodyPr>
          <a:lstStyle/>
          <a:p>
            <a:pPr marL="12700">
              <a:lnSpc>
                <a:spcPct val="100000"/>
              </a:lnSpc>
              <a:spcBef>
                <a:spcPts val="95"/>
              </a:spcBef>
            </a:pPr>
            <a:r>
              <a:rPr sz="1600" spc="-5" dirty="0">
                <a:latin typeface="Trebuchet MS"/>
                <a:cs typeface="Trebuchet MS"/>
              </a:rPr>
              <a:t>Write</a:t>
            </a:r>
            <a:endParaRPr sz="1600">
              <a:latin typeface="Trebuchet MS"/>
              <a:cs typeface="Trebuchet MS"/>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2502535" cy="513715"/>
          </a:xfrm>
          <a:prstGeom prst="rect">
            <a:avLst/>
          </a:prstGeom>
        </p:spPr>
        <p:txBody>
          <a:bodyPr vert="horz" wrap="square" lIns="0" tIns="13335" rIns="0" bIns="0" rtlCol="0">
            <a:spAutoFit/>
          </a:bodyPr>
          <a:lstStyle/>
          <a:p>
            <a:pPr marL="12700">
              <a:lnSpc>
                <a:spcPct val="100000"/>
              </a:lnSpc>
              <a:spcBef>
                <a:spcPts val="105"/>
              </a:spcBef>
            </a:pPr>
            <a:r>
              <a:rPr sz="3200" spc="65" dirty="0">
                <a:solidFill>
                  <a:srgbClr val="000000"/>
                </a:solidFill>
              </a:rPr>
              <a:t>OpenScanner</a:t>
            </a:r>
            <a:endParaRPr sz="3200"/>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solidFill>
                  <a:srgbClr val="252525"/>
                </a:solidFill>
                <a:latin typeface="Wingdings"/>
                <a:cs typeface="Wingdings"/>
              </a:rPr>
              <a:t></a:t>
            </a:r>
            <a:endParaRPr sz="1100">
              <a:latin typeface="Wingdings"/>
              <a:cs typeface="Wingdings"/>
            </a:endParaRPr>
          </a:p>
        </p:txBody>
      </p:sp>
      <p:sp>
        <p:nvSpPr>
          <p:cNvPr id="4" name="object 4"/>
          <p:cNvSpPr txBox="1"/>
          <p:nvPr/>
        </p:nvSpPr>
        <p:spPr>
          <a:xfrm>
            <a:off x="1101039" y="1076604"/>
            <a:ext cx="10292715" cy="964565"/>
          </a:xfrm>
          <a:prstGeom prst="rect">
            <a:avLst/>
          </a:prstGeom>
        </p:spPr>
        <p:txBody>
          <a:bodyPr vert="horz" wrap="square" lIns="0" tIns="12700" rIns="0" bIns="0" rtlCol="0">
            <a:spAutoFit/>
          </a:bodyPr>
          <a:lstStyle/>
          <a:p>
            <a:pPr marL="12700" marR="5080">
              <a:lnSpc>
                <a:spcPct val="140000"/>
              </a:lnSpc>
              <a:spcBef>
                <a:spcPts val="100"/>
              </a:spcBef>
              <a:tabLst>
                <a:tab pos="382905" algn="l"/>
                <a:tab pos="922655" algn="l"/>
                <a:tab pos="2752725" algn="l"/>
                <a:tab pos="4491990" algn="l"/>
                <a:tab pos="5713095" algn="l"/>
                <a:tab pos="6938009" algn="l"/>
                <a:tab pos="7471409" algn="l"/>
                <a:tab pos="8543290" algn="l"/>
                <a:tab pos="8931910" algn="l"/>
                <a:tab pos="9626600" algn="l"/>
              </a:tabLst>
            </a:pPr>
            <a:r>
              <a:rPr sz="2200" spc="25" dirty="0">
                <a:solidFill>
                  <a:srgbClr val="252525"/>
                </a:solidFill>
                <a:latin typeface="Trebuchet MS"/>
                <a:cs typeface="Trebuchet MS"/>
              </a:rPr>
              <a:t>I</a:t>
            </a:r>
            <a:r>
              <a:rPr sz="2200" spc="60" dirty="0">
                <a:solidFill>
                  <a:srgbClr val="252525"/>
                </a:solidFill>
                <a:latin typeface="Trebuchet MS"/>
                <a:cs typeface="Trebuchet MS"/>
              </a:rPr>
              <a:t>n</a:t>
            </a:r>
            <a:r>
              <a:rPr sz="2200" dirty="0">
                <a:solidFill>
                  <a:srgbClr val="252525"/>
                </a:solidFill>
                <a:latin typeface="Trebuchet MS"/>
                <a:cs typeface="Trebuchet MS"/>
              </a:rPr>
              <a:t>	</a:t>
            </a:r>
            <a:r>
              <a:rPr sz="2200" spc="-20" dirty="0">
                <a:solidFill>
                  <a:srgbClr val="252525"/>
                </a:solidFill>
                <a:latin typeface="Trebuchet MS"/>
                <a:cs typeface="Trebuchet MS"/>
              </a:rPr>
              <a:t>th</a:t>
            </a:r>
            <a:r>
              <a:rPr sz="2200" spc="-15" dirty="0">
                <a:solidFill>
                  <a:srgbClr val="252525"/>
                </a:solidFill>
                <a:latin typeface="Trebuchet MS"/>
                <a:cs typeface="Trebuchet MS"/>
              </a:rPr>
              <a:t>e</a:t>
            </a:r>
            <a:r>
              <a:rPr sz="2200" dirty="0">
                <a:solidFill>
                  <a:srgbClr val="252525"/>
                </a:solidFill>
                <a:latin typeface="Trebuchet MS"/>
                <a:cs typeface="Trebuchet MS"/>
              </a:rPr>
              <a:t>	</a:t>
            </a:r>
            <a:r>
              <a:rPr sz="2200" spc="75" dirty="0">
                <a:solidFill>
                  <a:srgbClr val="252525"/>
                </a:solidFill>
                <a:latin typeface="Trebuchet MS"/>
                <a:cs typeface="Trebuchet MS"/>
              </a:rPr>
              <a:t>Op</a:t>
            </a:r>
            <a:r>
              <a:rPr sz="2200" spc="85" dirty="0">
                <a:solidFill>
                  <a:srgbClr val="252525"/>
                </a:solidFill>
                <a:latin typeface="Trebuchet MS"/>
                <a:cs typeface="Trebuchet MS"/>
              </a:rPr>
              <a:t>e</a:t>
            </a:r>
            <a:r>
              <a:rPr sz="2200" spc="30" dirty="0">
                <a:solidFill>
                  <a:srgbClr val="252525"/>
                </a:solidFill>
                <a:latin typeface="Trebuchet MS"/>
                <a:cs typeface="Trebuchet MS"/>
              </a:rPr>
              <a:t>nS</a:t>
            </a:r>
            <a:r>
              <a:rPr sz="2200" spc="35" dirty="0">
                <a:solidFill>
                  <a:srgbClr val="252525"/>
                </a:solidFill>
                <a:latin typeface="Trebuchet MS"/>
                <a:cs typeface="Trebuchet MS"/>
              </a:rPr>
              <a:t>cann</a:t>
            </a:r>
            <a:r>
              <a:rPr sz="2200" spc="45" dirty="0">
                <a:solidFill>
                  <a:srgbClr val="252525"/>
                </a:solidFill>
                <a:latin typeface="Trebuchet MS"/>
                <a:cs typeface="Trebuchet MS"/>
              </a:rPr>
              <a:t>e</a:t>
            </a:r>
            <a:r>
              <a:rPr sz="2200" spc="-35" dirty="0">
                <a:solidFill>
                  <a:srgbClr val="252525"/>
                </a:solidFill>
                <a:latin typeface="Trebuchet MS"/>
                <a:cs typeface="Trebuchet MS"/>
              </a:rPr>
              <a:t>r</a:t>
            </a:r>
            <a:r>
              <a:rPr sz="2200" dirty="0">
                <a:solidFill>
                  <a:srgbClr val="252525"/>
                </a:solidFill>
                <a:latin typeface="Trebuchet MS"/>
                <a:cs typeface="Trebuchet MS"/>
              </a:rPr>
              <a:t>	p</a:t>
            </a:r>
            <a:r>
              <a:rPr sz="2200" spc="5" dirty="0">
                <a:solidFill>
                  <a:srgbClr val="252525"/>
                </a:solidFill>
                <a:latin typeface="Trebuchet MS"/>
                <a:cs typeface="Trebuchet MS"/>
              </a:rPr>
              <a:t>r</a:t>
            </a:r>
            <a:r>
              <a:rPr sz="2200" spc="-20" dirty="0">
                <a:solidFill>
                  <a:srgbClr val="252525"/>
                </a:solidFill>
                <a:latin typeface="Trebuchet MS"/>
                <a:cs typeface="Trebuchet MS"/>
              </a:rPr>
              <a:t>oc</a:t>
            </a:r>
            <a:r>
              <a:rPr sz="2200" spc="-10" dirty="0">
                <a:solidFill>
                  <a:srgbClr val="252525"/>
                </a:solidFill>
                <a:latin typeface="Trebuchet MS"/>
                <a:cs typeface="Trebuchet MS"/>
              </a:rPr>
              <a:t>e</a:t>
            </a:r>
            <a:r>
              <a:rPr sz="2200" spc="-70" dirty="0">
                <a:solidFill>
                  <a:srgbClr val="252525"/>
                </a:solidFill>
                <a:latin typeface="Trebuchet MS"/>
                <a:cs typeface="Trebuchet MS"/>
              </a:rPr>
              <a:t>ss,</a:t>
            </a:r>
            <a:r>
              <a:rPr sz="2200" dirty="0">
                <a:solidFill>
                  <a:srgbClr val="252525"/>
                </a:solidFill>
                <a:latin typeface="Trebuchet MS"/>
                <a:cs typeface="Trebuchet MS"/>
              </a:rPr>
              <a:t> </a:t>
            </a:r>
            <a:r>
              <a:rPr sz="2200" spc="-330" dirty="0">
                <a:solidFill>
                  <a:srgbClr val="252525"/>
                </a:solidFill>
                <a:latin typeface="Trebuchet MS"/>
                <a:cs typeface="Trebuchet MS"/>
              </a:rPr>
              <a:t> </a:t>
            </a:r>
            <a:r>
              <a:rPr sz="2200" spc="25" dirty="0">
                <a:solidFill>
                  <a:srgbClr val="252525"/>
                </a:solidFill>
                <a:latin typeface="Trebuchet MS"/>
                <a:cs typeface="Trebuchet MS"/>
              </a:rPr>
              <a:t>tw</a:t>
            </a:r>
            <a:r>
              <a:rPr sz="2200" spc="30" dirty="0">
                <a:solidFill>
                  <a:srgbClr val="252525"/>
                </a:solidFill>
                <a:latin typeface="Trebuchet MS"/>
                <a:cs typeface="Trebuchet MS"/>
              </a:rPr>
              <a:t>o</a:t>
            </a:r>
            <a:r>
              <a:rPr sz="2200" dirty="0">
                <a:solidFill>
                  <a:srgbClr val="252525"/>
                </a:solidFill>
                <a:latin typeface="Trebuchet MS"/>
                <a:cs typeface="Trebuchet MS"/>
              </a:rPr>
              <a:t>	</a:t>
            </a:r>
            <a:r>
              <a:rPr sz="2200" spc="-35" dirty="0">
                <a:solidFill>
                  <a:srgbClr val="252525"/>
                </a:solidFill>
                <a:latin typeface="Trebuchet MS"/>
                <a:cs typeface="Trebuchet MS"/>
              </a:rPr>
              <a:t>diff</a:t>
            </a:r>
            <a:r>
              <a:rPr sz="2200" spc="-40" dirty="0">
                <a:solidFill>
                  <a:srgbClr val="252525"/>
                </a:solidFill>
                <a:latin typeface="Trebuchet MS"/>
                <a:cs typeface="Trebuchet MS"/>
              </a:rPr>
              <a:t>e</a:t>
            </a:r>
            <a:r>
              <a:rPr sz="2200" spc="-35" dirty="0">
                <a:solidFill>
                  <a:srgbClr val="252525"/>
                </a:solidFill>
                <a:latin typeface="Trebuchet MS"/>
                <a:cs typeface="Trebuchet MS"/>
              </a:rPr>
              <a:t>r</a:t>
            </a:r>
            <a:r>
              <a:rPr sz="2200" spc="-40" dirty="0">
                <a:solidFill>
                  <a:srgbClr val="252525"/>
                </a:solidFill>
                <a:latin typeface="Trebuchet MS"/>
                <a:cs typeface="Trebuchet MS"/>
              </a:rPr>
              <a:t>e</a:t>
            </a:r>
            <a:r>
              <a:rPr sz="2200" spc="85" dirty="0">
                <a:solidFill>
                  <a:srgbClr val="252525"/>
                </a:solidFill>
                <a:latin typeface="Trebuchet MS"/>
                <a:cs typeface="Trebuchet MS"/>
              </a:rPr>
              <a:t>n</a:t>
            </a:r>
            <a:r>
              <a:rPr sz="2200" spc="-75" dirty="0">
                <a:solidFill>
                  <a:srgbClr val="252525"/>
                </a:solidFill>
                <a:latin typeface="Trebuchet MS"/>
                <a:cs typeface="Trebuchet MS"/>
              </a:rPr>
              <a:t>t</a:t>
            </a:r>
            <a:r>
              <a:rPr sz="2200" dirty="0">
                <a:solidFill>
                  <a:srgbClr val="252525"/>
                </a:solidFill>
                <a:latin typeface="Trebuchet MS"/>
                <a:cs typeface="Trebuchet MS"/>
              </a:rPr>
              <a:t>	</a:t>
            </a:r>
            <a:r>
              <a:rPr sz="2200" spc="35" dirty="0">
                <a:solidFill>
                  <a:srgbClr val="252525"/>
                </a:solidFill>
                <a:latin typeface="Trebuchet MS"/>
                <a:cs typeface="Trebuchet MS"/>
              </a:rPr>
              <a:t>s</a:t>
            </a:r>
            <a:r>
              <a:rPr sz="2200" spc="15" dirty="0">
                <a:solidFill>
                  <a:srgbClr val="252525"/>
                </a:solidFill>
                <a:latin typeface="Trebuchet MS"/>
                <a:cs typeface="Trebuchet MS"/>
              </a:rPr>
              <a:t>cann</a:t>
            </a:r>
            <a:r>
              <a:rPr sz="2200" spc="20" dirty="0">
                <a:solidFill>
                  <a:srgbClr val="252525"/>
                </a:solidFill>
                <a:latin typeface="Trebuchet MS"/>
                <a:cs typeface="Trebuchet MS"/>
              </a:rPr>
              <a:t>e</a:t>
            </a:r>
            <a:r>
              <a:rPr sz="2200" dirty="0">
                <a:solidFill>
                  <a:srgbClr val="252525"/>
                </a:solidFill>
                <a:latin typeface="Trebuchet MS"/>
                <a:cs typeface="Trebuchet MS"/>
              </a:rPr>
              <a:t>rs	</a:t>
            </a:r>
            <a:r>
              <a:rPr sz="2200" spc="-10" dirty="0">
                <a:solidFill>
                  <a:srgbClr val="252525"/>
                </a:solidFill>
                <a:latin typeface="Trebuchet MS"/>
                <a:cs typeface="Trebuchet MS"/>
              </a:rPr>
              <a:t>are</a:t>
            </a:r>
            <a:r>
              <a:rPr sz="2200" dirty="0">
                <a:solidFill>
                  <a:srgbClr val="252525"/>
                </a:solidFill>
                <a:latin typeface="Trebuchet MS"/>
                <a:cs typeface="Trebuchet MS"/>
              </a:rPr>
              <a:t>	</a:t>
            </a:r>
            <a:r>
              <a:rPr sz="2200" spc="-70" dirty="0">
                <a:solidFill>
                  <a:srgbClr val="252525"/>
                </a:solidFill>
                <a:latin typeface="Trebuchet MS"/>
                <a:cs typeface="Trebuchet MS"/>
              </a:rPr>
              <a:t>c</a:t>
            </a:r>
            <a:r>
              <a:rPr sz="2200" spc="-50" dirty="0">
                <a:solidFill>
                  <a:srgbClr val="252525"/>
                </a:solidFill>
                <a:latin typeface="Trebuchet MS"/>
                <a:cs typeface="Trebuchet MS"/>
              </a:rPr>
              <a:t>r</a:t>
            </a:r>
            <a:r>
              <a:rPr sz="2200" spc="-45" dirty="0">
                <a:solidFill>
                  <a:srgbClr val="252525"/>
                </a:solidFill>
                <a:latin typeface="Trebuchet MS"/>
                <a:cs typeface="Trebuchet MS"/>
              </a:rPr>
              <a:t>e</a:t>
            </a:r>
            <a:r>
              <a:rPr sz="2200" spc="-15" dirty="0">
                <a:solidFill>
                  <a:srgbClr val="252525"/>
                </a:solidFill>
                <a:latin typeface="Trebuchet MS"/>
                <a:cs typeface="Trebuchet MS"/>
              </a:rPr>
              <a:t>a</a:t>
            </a:r>
            <a:r>
              <a:rPr sz="2200" spc="-20" dirty="0">
                <a:solidFill>
                  <a:srgbClr val="252525"/>
                </a:solidFill>
                <a:latin typeface="Trebuchet MS"/>
                <a:cs typeface="Trebuchet MS"/>
              </a:rPr>
              <a:t>t</a:t>
            </a:r>
            <a:r>
              <a:rPr sz="2200" spc="-45" dirty="0">
                <a:solidFill>
                  <a:srgbClr val="252525"/>
                </a:solidFill>
                <a:latin typeface="Trebuchet MS"/>
                <a:cs typeface="Trebuchet MS"/>
              </a:rPr>
              <a:t>e</a:t>
            </a:r>
            <a:r>
              <a:rPr sz="2200" spc="35" dirty="0">
                <a:solidFill>
                  <a:srgbClr val="252525"/>
                </a:solidFill>
                <a:latin typeface="Trebuchet MS"/>
                <a:cs typeface="Trebuchet MS"/>
              </a:rPr>
              <a:t>d</a:t>
            </a:r>
            <a:r>
              <a:rPr sz="2200" dirty="0">
                <a:solidFill>
                  <a:srgbClr val="252525"/>
                </a:solidFill>
                <a:latin typeface="Trebuchet MS"/>
                <a:cs typeface="Trebuchet MS"/>
              </a:rPr>
              <a:t>	</a:t>
            </a:r>
            <a:r>
              <a:rPr sz="2200" spc="-10" dirty="0">
                <a:solidFill>
                  <a:srgbClr val="252525"/>
                </a:solidFill>
                <a:latin typeface="Trebuchet MS"/>
                <a:cs typeface="Trebuchet MS"/>
              </a:rPr>
              <a:t>t</a:t>
            </a:r>
            <a:r>
              <a:rPr sz="2200" spc="5" dirty="0">
                <a:solidFill>
                  <a:srgbClr val="252525"/>
                </a:solidFill>
                <a:latin typeface="Trebuchet MS"/>
                <a:cs typeface="Trebuchet MS"/>
              </a:rPr>
              <a:t>o</a:t>
            </a:r>
            <a:r>
              <a:rPr sz="2200" dirty="0">
                <a:solidFill>
                  <a:srgbClr val="252525"/>
                </a:solidFill>
                <a:latin typeface="Trebuchet MS"/>
                <a:cs typeface="Trebuchet MS"/>
              </a:rPr>
              <a:t>	</a:t>
            </a:r>
            <a:r>
              <a:rPr sz="2200" spc="-35" dirty="0">
                <a:solidFill>
                  <a:srgbClr val="252525"/>
                </a:solidFill>
                <a:latin typeface="Trebuchet MS"/>
                <a:cs typeface="Trebuchet MS"/>
              </a:rPr>
              <a:t>r</a:t>
            </a:r>
            <a:r>
              <a:rPr sz="2200" spc="-40" dirty="0">
                <a:solidFill>
                  <a:srgbClr val="252525"/>
                </a:solidFill>
                <a:latin typeface="Trebuchet MS"/>
                <a:cs typeface="Trebuchet MS"/>
              </a:rPr>
              <a:t>e</a:t>
            </a:r>
            <a:r>
              <a:rPr sz="2200" spc="40" dirty="0">
                <a:solidFill>
                  <a:srgbClr val="252525"/>
                </a:solidFill>
                <a:latin typeface="Trebuchet MS"/>
                <a:cs typeface="Trebuchet MS"/>
              </a:rPr>
              <a:t>a</a:t>
            </a:r>
            <a:r>
              <a:rPr sz="2200" spc="45" dirty="0">
                <a:solidFill>
                  <a:srgbClr val="252525"/>
                </a:solidFill>
                <a:latin typeface="Trebuchet MS"/>
                <a:cs typeface="Trebuchet MS"/>
              </a:rPr>
              <a:t>d</a:t>
            </a:r>
            <a:r>
              <a:rPr sz="2200" dirty="0">
                <a:solidFill>
                  <a:srgbClr val="252525"/>
                </a:solidFill>
                <a:latin typeface="Trebuchet MS"/>
                <a:cs typeface="Trebuchet MS"/>
              </a:rPr>
              <a:t>	</a:t>
            </a:r>
            <a:r>
              <a:rPr sz="2200" spc="5" dirty="0">
                <a:solidFill>
                  <a:srgbClr val="252525"/>
                </a:solidFill>
                <a:latin typeface="Trebuchet MS"/>
                <a:cs typeface="Trebuchet MS"/>
              </a:rPr>
              <a:t>HFile  </a:t>
            </a:r>
            <a:r>
              <a:rPr sz="2200" spc="55" dirty="0">
                <a:solidFill>
                  <a:srgbClr val="252525"/>
                </a:solidFill>
                <a:latin typeface="Trebuchet MS"/>
                <a:cs typeface="Trebuchet MS"/>
              </a:rPr>
              <a:t>and </a:t>
            </a:r>
            <a:r>
              <a:rPr sz="2200" spc="75" dirty="0">
                <a:solidFill>
                  <a:srgbClr val="252525"/>
                </a:solidFill>
                <a:latin typeface="Trebuchet MS"/>
                <a:cs typeface="Trebuchet MS"/>
              </a:rPr>
              <a:t>MemStore</a:t>
            </a:r>
            <a:r>
              <a:rPr sz="2200" spc="10" dirty="0">
                <a:solidFill>
                  <a:srgbClr val="252525"/>
                </a:solidFill>
                <a:latin typeface="Trebuchet MS"/>
                <a:cs typeface="Trebuchet MS"/>
              </a:rPr>
              <a:t> </a:t>
            </a:r>
            <a:r>
              <a:rPr sz="2200" spc="-50" dirty="0">
                <a:solidFill>
                  <a:srgbClr val="252525"/>
                </a:solidFill>
                <a:latin typeface="Trebuchet MS"/>
                <a:cs typeface="Trebuchet MS"/>
              </a:rPr>
              <a:t>data.</a:t>
            </a:r>
            <a:endParaRPr sz="2200" dirty="0">
              <a:latin typeface="Trebuchet MS"/>
              <a:cs typeface="Trebuchet MS"/>
            </a:endParaRPr>
          </a:p>
        </p:txBody>
      </p:sp>
      <p:sp>
        <p:nvSpPr>
          <p:cNvPr id="5" name="object 5"/>
          <p:cNvSpPr txBox="1"/>
          <p:nvPr/>
        </p:nvSpPr>
        <p:spPr>
          <a:xfrm>
            <a:off x="1203147" y="2298318"/>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252525"/>
                </a:solidFill>
                <a:latin typeface="Wingdings"/>
                <a:cs typeface="Wingdings"/>
              </a:rPr>
              <a:t></a:t>
            </a:r>
            <a:endParaRPr sz="1000">
              <a:latin typeface="Wingdings"/>
              <a:cs typeface="Wingdings"/>
            </a:endParaRPr>
          </a:p>
        </p:txBody>
      </p:sp>
      <p:sp>
        <p:nvSpPr>
          <p:cNvPr id="6" name="object 6"/>
          <p:cNvSpPr txBox="1"/>
          <p:nvPr/>
        </p:nvSpPr>
        <p:spPr>
          <a:xfrm>
            <a:off x="1454911" y="2226691"/>
            <a:ext cx="7243445" cy="84645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252525"/>
                </a:solidFill>
                <a:latin typeface="Trebuchet MS"/>
                <a:cs typeface="Trebuchet MS"/>
              </a:rPr>
              <a:t>The </a:t>
            </a:r>
            <a:r>
              <a:rPr sz="2000" spc="15" dirty="0">
                <a:solidFill>
                  <a:srgbClr val="252525"/>
                </a:solidFill>
                <a:latin typeface="Trebuchet MS"/>
                <a:cs typeface="Trebuchet MS"/>
              </a:rPr>
              <a:t>scanner </a:t>
            </a:r>
            <a:r>
              <a:rPr sz="2000" spc="20" dirty="0">
                <a:solidFill>
                  <a:srgbClr val="252525"/>
                </a:solidFill>
                <a:latin typeface="Trebuchet MS"/>
                <a:cs typeface="Trebuchet MS"/>
              </a:rPr>
              <a:t>corresponding </a:t>
            </a:r>
            <a:r>
              <a:rPr sz="2000" spc="5" dirty="0">
                <a:solidFill>
                  <a:srgbClr val="252525"/>
                </a:solidFill>
                <a:latin typeface="Trebuchet MS"/>
                <a:cs typeface="Trebuchet MS"/>
              </a:rPr>
              <a:t>to </a:t>
            </a:r>
            <a:r>
              <a:rPr sz="2000" spc="10" dirty="0">
                <a:solidFill>
                  <a:srgbClr val="252525"/>
                </a:solidFill>
                <a:latin typeface="Trebuchet MS"/>
                <a:cs typeface="Trebuchet MS"/>
              </a:rPr>
              <a:t>HFile </a:t>
            </a:r>
            <a:r>
              <a:rPr sz="2000" spc="-10" dirty="0">
                <a:solidFill>
                  <a:srgbClr val="252525"/>
                </a:solidFill>
                <a:latin typeface="Trebuchet MS"/>
                <a:cs typeface="Trebuchet MS"/>
              </a:rPr>
              <a:t>is</a:t>
            </a:r>
            <a:r>
              <a:rPr sz="2000" spc="-30" dirty="0">
                <a:solidFill>
                  <a:srgbClr val="252525"/>
                </a:solidFill>
                <a:latin typeface="Trebuchet MS"/>
                <a:cs typeface="Trebuchet MS"/>
              </a:rPr>
              <a:t> </a:t>
            </a:r>
            <a:r>
              <a:rPr sz="2000" spc="-15" dirty="0">
                <a:solidFill>
                  <a:srgbClr val="252525"/>
                </a:solidFill>
                <a:latin typeface="Trebuchet MS"/>
                <a:cs typeface="Trebuchet MS"/>
              </a:rPr>
              <a:t>StoreFileScanner.</a:t>
            </a:r>
            <a:endParaRPr sz="2000" dirty="0">
              <a:latin typeface="Trebuchet MS"/>
              <a:cs typeface="Trebuchet MS"/>
            </a:endParaRPr>
          </a:p>
          <a:p>
            <a:pPr marL="12700">
              <a:lnSpc>
                <a:spcPct val="100000"/>
              </a:lnSpc>
              <a:spcBef>
                <a:spcPts val="1655"/>
              </a:spcBef>
            </a:pPr>
            <a:r>
              <a:rPr sz="2000" dirty="0">
                <a:solidFill>
                  <a:srgbClr val="252525"/>
                </a:solidFill>
                <a:latin typeface="Trebuchet MS"/>
                <a:cs typeface="Trebuchet MS"/>
              </a:rPr>
              <a:t>The </a:t>
            </a:r>
            <a:r>
              <a:rPr sz="2000" spc="15" dirty="0">
                <a:solidFill>
                  <a:srgbClr val="252525"/>
                </a:solidFill>
                <a:latin typeface="Trebuchet MS"/>
                <a:cs typeface="Trebuchet MS"/>
              </a:rPr>
              <a:t>scanner </a:t>
            </a:r>
            <a:r>
              <a:rPr sz="2000" spc="20" dirty="0">
                <a:solidFill>
                  <a:srgbClr val="252525"/>
                </a:solidFill>
                <a:latin typeface="Trebuchet MS"/>
                <a:cs typeface="Trebuchet MS"/>
              </a:rPr>
              <a:t>corresponding </a:t>
            </a:r>
            <a:r>
              <a:rPr sz="2000" spc="5" dirty="0">
                <a:solidFill>
                  <a:srgbClr val="252525"/>
                </a:solidFill>
                <a:latin typeface="Trebuchet MS"/>
                <a:cs typeface="Trebuchet MS"/>
              </a:rPr>
              <a:t>to </a:t>
            </a:r>
            <a:r>
              <a:rPr sz="2000" spc="70" dirty="0">
                <a:solidFill>
                  <a:srgbClr val="252525"/>
                </a:solidFill>
                <a:latin typeface="Trebuchet MS"/>
                <a:cs typeface="Trebuchet MS"/>
              </a:rPr>
              <a:t>MemStore </a:t>
            </a:r>
            <a:r>
              <a:rPr sz="2000" spc="-10" dirty="0">
                <a:solidFill>
                  <a:srgbClr val="252525"/>
                </a:solidFill>
                <a:latin typeface="Trebuchet MS"/>
                <a:cs typeface="Trebuchet MS"/>
              </a:rPr>
              <a:t>is</a:t>
            </a:r>
            <a:r>
              <a:rPr sz="2000" spc="-60" dirty="0">
                <a:solidFill>
                  <a:srgbClr val="252525"/>
                </a:solidFill>
                <a:latin typeface="Trebuchet MS"/>
                <a:cs typeface="Trebuchet MS"/>
              </a:rPr>
              <a:t> </a:t>
            </a:r>
            <a:r>
              <a:rPr sz="2000" spc="25" dirty="0">
                <a:solidFill>
                  <a:srgbClr val="252525"/>
                </a:solidFill>
                <a:latin typeface="Trebuchet MS"/>
                <a:cs typeface="Trebuchet MS"/>
              </a:rPr>
              <a:t>MemStoreScanner.</a:t>
            </a:r>
            <a:endParaRPr sz="2000" dirty="0">
              <a:latin typeface="Trebuchet MS"/>
              <a:cs typeface="Trebuchet MS"/>
            </a:endParaRPr>
          </a:p>
        </p:txBody>
      </p:sp>
      <p:sp>
        <p:nvSpPr>
          <p:cNvPr id="7" name="object 7"/>
          <p:cNvSpPr txBox="1"/>
          <p:nvPr/>
        </p:nvSpPr>
        <p:spPr>
          <a:xfrm>
            <a:off x="1203147" y="2813430"/>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solidFill>
                  <a:srgbClr val="252525"/>
                </a:solidFill>
                <a:latin typeface="Wingdings"/>
                <a:cs typeface="Wingdings"/>
              </a:rPr>
              <a:t></a:t>
            </a:r>
            <a:endParaRPr sz="1000">
              <a:latin typeface="Wingdings"/>
              <a:cs typeface="Wingdings"/>
            </a:endParaRPr>
          </a:p>
        </p:txBody>
      </p:sp>
      <p:sp>
        <p:nvSpPr>
          <p:cNvPr id="8" name="object 8"/>
          <p:cNvSpPr/>
          <p:nvPr/>
        </p:nvSpPr>
        <p:spPr>
          <a:xfrm>
            <a:off x="3457955" y="4008120"/>
            <a:ext cx="1691639" cy="1586484"/>
          </a:xfrm>
          <a:prstGeom prst="rect">
            <a:avLst/>
          </a:prstGeom>
          <a:blipFill>
            <a:blip r:embed="rId2" cstate="print"/>
            <a:stretch>
              <a:fillRect/>
            </a:stretch>
          </a:blipFill>
        </p:spPr>
        <p:txBody>
          <a:bodyPr wrap="square" lIns="0" tIns="0" rIns="0" bIns="0" rtlCol="0"/>
          <a:lstStyle/>
          <a:p>
            <a:endParaRPr/>
          </a:p>
        </p:txBody>
      </p:sp>
      <p:sp>
        <p:nvSpPr>
          <p:cNvPr id="9" name="object 9"/>
          <p:cNvSpPr txBox="1"/>
          <p:nvPr/>
        </p:nvSpPr>
        <p:spPr>
          <a:xfrm>
            <a:off x="4031360" y="4678502"/>
            <a:ext cx="699770" cy="269240"/>
          </a:xfrm>
          <a:prstGeom prst="rect">
            <a:avLst/>
          </a:prstGeom>
        </p:spPr>
        <p:txBody>
          <a:bodyPr vert="horz" wrap="square" lIns="0" tIns="12065" rIns="0" bIns="0" rtlCol="0">
            <a:spAutoFit/>
          </a:bodyPr>
          <a:lstStyle/>
          <a:p>
            <a:pPr marL="12700">
              <a:lnSpc>
                <a:spcPct val="100000"/>
              </a:lnSpc>
              <a:spcBef>
                <a:spcPts val="95"/>
              </a:spcBef>
            </a:pPr>
            <a:r>
              <a:rPr sz="1600" b="1" spc="-120" dirty="0">
                <a:solidFill>
                  <a:srgbClr val="C00000"/>
                </a:solidFill>
                <a:latin typeface="Arial"/>
                <a:cs typeface="Arial"/>
              </a:rPr>
              <a:t>R</a:t>
            </a:r>
            <a:r>
              <a:rPr sz="1600" b="1" spc="-5" dirty="0">
                <a:solidFill>
                  <a:srgbClr val="C00000"/>
                </a:solidFill>
                <a:latin typeface="Arial"/>
                <a:cs typeface="Arial"/>
              </a:rPr>
              <a:t>egion</a:t>
            </a:r>
            <a:endParaRPr sz="1600">
              <a:latin typeface="Arial"/>
              <a:cs typeface="Arial"/>
            </a:endParaRPr>
          </a:p>
        </p:txBody>
      </p:sp>
      <p:sp>
        <p:nvSpPr>
          <p:cNvPr id="10" name="object 10"/>
          <p:cNvSpPr/>
          <p:nvPr/>
        </p:nvSpPr>
        <p:spPr>
          <a:xfrm>
            <a:off x="6004559" y="3654552"/>
            <a:ext cx="2190115" cy="952500"/>
          </a:xfrm>
          <a:custGeom>
            <a:avLst/>
            <a:gdLst/>
            <a:ahLst/>
            <a:cxnLst/>
            <a:rect l="l" t="t" r="r" b="b"/>
            <a:pathLst>
              <a:path w="2190115" h="952500">
                <a:moveTo>
                  <a:pt x="2031238" y="0"/>
                </a:moveTo>
                <a:lnTo>
                  <a:pt x="158750" y="0"/>
                </a:lnTo>
                <a:lnTo>
                  <a:pt x="108590" y="8097"/>
                </a:lnTo>
                <a:lnTo>
                  <a:pt x="65013" y="30642"/>
                </a:lnTo>
                <a:lnTo>
                  <a:pt x="30642" y="65013"/>
                </a:lnTo>
                <a:lnTo>
                  <a:pt x="8097" y="108590"/>
                </a:lnTo>
                <a:lnTo>
                  <a:pt x="0" y="158750"/>
                </a:lnTo>
                <a:lnTo>
                  <a:pt x="0" y="793750"/>
                </a:lnTo>
                <a:lnTo>
                  <a:pt x="8097" y="843909"/>
                </a:lnTo>
                <a:lnTo>
                  <a:pt x="30642" y="887486"/>
                </a:lnTo>
                <a:lnTo>
                  <a:pt x="65013" y="921857"/>
                </a:lnTo>
                <a:lnTo>
                  <a:pt x="108590" y="944402"/>
                </a:lnTo>
                <a:lnTo>
                  <a:pt x="158750" y="952500"/>
                </a:lnTo>
                <a:lnTo>
                  <a:pt x="2031238" y="952500"/>
                </a:lnTo>
                <a:lnTo>
                  <a:pt x="2081397" y="944402"/>
                </a:lnTo>
                <a:lnTo>
                  <a:pt x="2124974" y="921857"/>
                </a:lnTo>
                <a:lnTo>
                  <a:pt x="2159345" y="887486"/>
                </a:lnTo>
                <a:lnTo>
                  <a:pt x="2181890" y="843909"/>
                </a:lnTo>
                <a:lnTo>
                  <a:pt x="2189988" y="793750"/>
                </a:lnTo>
                <a:lnTo>
                  <a:pt x="2189988" y="158750"/>
                </a:lnTo>
                <a:lnTo>
                  <a:pt x="2181890" y="108590"/>
                </a:lnTo>
                <a:lnTo>
                  <a:pt x="2159345" y="65013"/>
                </a:lnTo>
                <a:lnTo>
                  <a:pt x="2124974" y="30642"/>
                </a:lnTo>
                <a:lnTo>
                  <a:pt x="2081397" y="8097"/>
                </a:lnTo>
                <a:lnTo>
                  <a:pt x="2031238" y="0"/>
                </a:lnTo>
                <a:close/>
              </a:path>
            </a:pathLst>
          </a:custGeom>
          <a:solidFill>
            <a:srgbClr val="669900"/>
          </a:solidFill>
        </p:spPr>
        <p:txBody>
          <a:bodyPr wrap="square" lIns="0" tIns="0" rIns="0" bIns="0" rtlCol="0"/>
          <a:lstStyle/>
          <a:p>
            <a:endParaRPr/>
          </a:p>
        </p:txBody>
      </p:sp>
      <p:sp>
        <p:nvSpPr>
          <p:cNvPr id="11" name="object 11"/>
          <p:cNvSpPr txBox="1"/>
          <p:nvPr/>
        </p:nvSpPr>
        <p:spPr>
          <a:xfrm>
            <a:off x="6129909" y="3732021"/>
            <a:ext cx="1472565" cy="880110"/>
          </a:xfrm>
          <a:prstGeom prst="rect">
            <a:avLst/>
          </a:prstGeom>
        </p:spPr>
        <p:txBody>
          <a:bodyPr vert="horz" wrap="square" lIns="0" tIns="12700" rIns="0" bIns="0" rtlCol="0">
            <a:spAutoFit/>
          </a:bodyPr>
          <a:lstStyle/>
          <a:p>
            <a:pPr marL="12700" marR="5080" indent="111125">
              <a:lnSpc>
                <a:spcPct val="100000"/>
              </a:lnSpc>
              <a:spcBef>
                <a:spcPts val="100"/>
              </a:spcBef>
            </a:pPr>
            <a:r>
              <a:rPr sz="1400" spc="10" dirty="0">
                <a:solidFill>
                  <a:srgbClr val="C00000"/>
                </a:solidFill>
                <a:latin typeface="Trebuchet MS"/>
                <a:cs typeface="Trebuchet MS"/>
              </a:rPr>
              <a:t>C</a:t>
            </a:r>
            <a:r>
              <a:rPr sz="1400" spc="50" dirty="0">
                <a:solidFill>
                  <a:srgbClr val="C00000"/>
                </a:solidFill>
                <a:latin typeface="Trebuchet MS"/>
                <a:cs typeface="Trebuchet MS"/>
              </a:rPr>
              <a:t>o</a:t>
            </a:r>
            <a:r>
              <a:rPr sz="1400" spc="5" dirty="0">
                <a:solidFill>
                  <a:srgbClr val="C00000"/>
                </a:solidFill>
                <a:latin typeface="Trebuchet MS"/>
                <a:cs typeface="Trebuchet MS"/>
              </a:rPr>
              <a:t>lu</a:t>
            </a:r>
            <a:r>
              <a:rPr sz="1400" spc="50" dirty="0">
                <a:solidFill>
                  <a:srgbClr val="C00000"/>
                </a:solidFill>
                <a:latin typeface="Trebuchet MS"/>
                <a:cs typeface="Trebuchet MS"/>
              </a:rPr>
              <a:t>mnF</a:t>
            </a:r>
            <a:r>
              <a:rPr sz="1400" spc="45" dirty="0">
                <a:solidFill>
                  <a:srgbClr val="C00000"/>
                </a:solidFill>
                <a:latin typeface="Trebuchet MS"/>
                <a:cs typeface="Trebuchet MS"/>
              </a:rPr>
              <a:t>a</a:t>
            </a:r>
            <a:r>
              <a:rPr sz="1400" spc="40" dirty="0">
                <a:solidFill>
                  <a:srgbClr val="C00000"/>
                </a:solidFill>
                <a:latin typeface="Trebuchet MS"/>
                <a:cs typeface="Trebuchet MS"/>
              </a:rPr>
              <a:t>m</a:t>
            </a:r>
            <a:r>
              <a:rPr sz="1400" spc="15" dirty="0">
                <a:solidFill>
                  <a:srgbClr val="C00000"/>
                </a:solidFill>
                <a:latin typeface="Trebuchet MS"/>
                <a:cs typeface="Trebuchet MS"/>
              </a:rPr>
              <a:t>i</a:t>
            </a:r>
            <a:r>
              <a:rPr sz="1400" spc="-15" dirty="0">
                <a:solidFill>
                  <a:srgbClr val="C00000"/>
                </a:solidFill>
                <a:latin typeface="Trebuchet MS"/>
                <a:cs typeface="Trebuchet MS"/>
              </a:rPr>
              <a:t>ly</a:t>
            </a:r>
            <a:r>
              <a:rPr sz="1400" spc="35" dirty="0">
                <a:solidFill>
                  <a:srgbClr val="C00000"/>
                </a:solidFill>
                <a:latin typeface="Trebuchet MS"/>
                <a:cs typeface="Trebuchet MS"/>
              </a:rPr>
              <a:t>-1  </a:t>
            </a:r>
            <a:r>
              <a:rPr sz="1400" spc="50" dirty="0">
                <a:latin typeface="Trebuchet MS"/>
                <a:cs typeface="Trebuchet MS"/>
              </a:rPr>
              <a:t>MemStore</a:t>
            </a:r>
            <a:endParaRPr sz="1400">
              <a:latin typeface="Trebuchet MS"/>
              <a:cs typeface="Trebuchet MS"/>
            </a:endParaRPr>
          </a:p>
          <a:p>
            <a:pPr marL="469265">
              <a:lnSpc>
                <a:spcPct val="100000"/>
              </a:lnSpc>
              <a:spcBef>
                <a:spcPts val="5"/>
              </a:spcBef>
            </a:pPr>
            <a:r>
              <a:rPr sz="1400" spc="20" dirty="0">
                <a:latin typeface="Trebuchet MS"/>
                <a:cs typeface="Trebuchet MS"/>
              </a:rPr>
              <a:t>HFile-11</a:t>
            </a:r>
            <a:endParaRPr sz="1400">
              <a:latin typeface="Trebuchet MS"/>
              <a:cs typeface="Trebuchet MS"/>
            </a:endParaRPr>
          </a:p>
          <a:p>
            <a:pPr marL="469265">
              <a:lnSpc>
                <a:spcPct val="100000"/>
              </a:lnSpc>
            </a:pPr>
            <a:r>
              <a:rPr sz="1400" spc="15" dirty="0">
                <a:latin typeface="Trebuchet MS"/>
                <a:cs typeface="Trebuchet MS"/>
              </a:rPr>
              <a:t>HFile-12</a:t>
            </a:r>
            <a:endParaRPr sz="1400">
              <a:latin typeface="Trebuchet MS"/>
              <a:cs typeface="Trebuchet MS"/>
            </a:endParaRPr>
          </a:p>
        </p:txBody>
      </p:sp>
      <p:sp>
        <p:nvSpPr>
          <p:cNvPr id="12" name="object 12"/>
          <p:cNvSpPr/>
          <p:nvPr/>
        </p:nvSpPr>
        <p:spPr>
          <a:xfrm>
            <a:off x="7082028" y="4846320"/>
            <a:ext cx="2016760" cy="1069975"/>
          </a:xfrm>
          <a:custGeom>
            <a:avLst/>
            <a:gdLst/>
            <a:ahLst/>
            <a:cxnLst/>
            <a:rect l="l" t="t" r="r" b="b"/>
            <a:pathLst>
              <a:path w="2016759" h="1069975">
                <a:moveTo>
                  <a:pt x="1837944" y="0"/>
                </a:moveTo>
                <a:lnTo>
                  <a:pt x="178307" y="0"/>
                </a:lnTo>
                <a:lnTo>
                  <a:pt x="130924" y="6372"/>
                </a:lnTo>
                <a:lnTo>
                  <a:pt x="88335" y="24355"/>
                </a:lnTo>
                <a:lnTo>
                  <a:pt x="52244" y="52244"/>
                </a:lnTo>
                <a:lnTo>
                  <a:pt x="24355" y="88335"/>
                </a:lnTo>
                <a:lnTo>
                  <a:pt x="6372" y="130924"/>
                </a:lnTo>
                <a:lnTo>
                  <a:pt x="0" y="178307"/>
                </a:lnTo>
                <a:lnTo>
                  <a:pt x="0" y="891539"/>
                </a:lnTo>
                <a:lnTo>
                  <a:pt x="6372" y="938940"/>
                </a:lnTo>
                <a:lnTo>
                  <a:pt x="24355" y="981535"/>
                </a:lnTo>
                <a:lnTo>
                  <a:pt x="52244" y="1017622"/>
                </a:lnTo>
                <a:lnTo>
                  <a:pt x="88335" y="1045503"/>
                </a:lnTo>
                <a:lnTo>
                  <a:pt x="130924" y="1063478"/>
                </a:lnTo>
                <a:lnTo>
                  <a:pt x="178307" y="1069847"/>
                </a:lnTo>
                <a:lnTo>
                  <a:pt x="1837944" y="1069847"/>
                </a:lnTo>
                <a:lnTo>
                  <a:pt x="1885327" y="1063478"/>
                </a:lnTo>
                <a:lnTo>
                  <a:pt x="1927916" y="1045503"/>
                </a:lnTo>
                <a:lnTo>
                  <a:pt x="1964007" y="1017622"/>
                </a:lnTo>
                <a:lnTo>
                  <a:pt x="1991896" y="981535"/>
                </a:lnTo>
                <a:lnTo>
                  <a:pt x="2009879" y="938940"/>
                </a:lnTo>
                <a:lnTo>
                  <a:pt x="2016252" y="891539"/>
                </a:lnTo>
                <a:lnTo>
                  <a:pt x="2016252" y="178307"/>
                </a:lnTo>
                <a:lnTo>
                  <a:pt x="2009879" y="130924"/>
                </a:lnTo>
                <a:lnTo>
                  <a:pt x="1991896" y="88335"/>
                </a:lnTo>
                <a:lnTo>
                  <a:pt x="1964007" y="52244"/>
                </a:lnTo>
                <a:lnTo>
                  <a:pt x="1927916" y="24355"/>
                </a:lnTo>
                <a:lnTo>
                  <a:pt x="1885327" y="6372"/>
                </a:lnTo>
                <a:lnTo>
                  <a:pt x="1837944" y="0"/>
                </a:lnTo>
                <a:close/>
              </a:path>
            </a:pathLst>
          </a:custGeom>
          <a:solidFill>
            <a:srgbClr val="669900"/>
          </a:solidFill>
        </p:spPr>
        <p:txBody>
          <a:bodyPr wrap="square" lIns="0" tIns="0" rIns="0" bIns="0" rtlCol="0"/>
          <a:lstStyle/>
          <a:p>
            <a:endParaRPr/>
          </a:p>
        </p:txBody>
      </p:sp>
      <p:sp>
        <p:nvSpPr>
          <p:cNvPr id="13" name="object 13"/>
          <p:cNvSpPr txBox="1"/>
          <p:nvPr/>
        </p:nvSpPr>
        <p:spPr>
          <a:xfrm>
            <a:off x="7213472" y="4929632"/>
            <a:ext cx="1473200" cy="880110"/>
          </a:xfrm>
          <a:prstGeom prst="rect">
            <a:avLst/>
          </a:prstGeom>
        </p:spPr>
        <p:txBody>
          <a:bodyPr vert="horz" wrap="square" lIns="0" tIns="12700" rIns="0" bIns="0" rtlCol="0">
            <a:spAutoFit/>
          </a:bodyPr>
          <a:lstStyle/>
          <a:p>
            <a:pPr marL="123825">
              <a:lnSpc>
                <a:spcPct val="100000"/>
              </a:lnSpc>
              <a:spcBef>
                <a:spcPts val="100"/>
              </a:spcBef>
            </a:pPr>
            <a:r>
              <a:rPr sz="1400" spc="25" dirty="0">
                <a:solidFill>
                  <a:srgbClr val="C00000"/>
                </a:solidFill>
                <a:latin typeface="Trebuchet MS"/>
                <a:cs typeface="Trebuchet MS"/>
              </a:rPr>
              <a:t>ColumnFamily-2</a:t>
            </a:r>
            <a:endParaRPr sz="1400">
              <a:latin typeface="Trebuchet MS"/>
              <a:cs typeface="Trebuchet MS"/>
            </a:endParaRPr>
          </a:p>
          <a:p>
            <a:pPr marL="12700">
              <a:lnSpc>
                <a:spcPct val="100000"/>
              </a:lnSpc>
              <a:spcBef>
                <a:spcPts val="5"/>
              </a:spcBef>
            </a:pPr>
            <a:r>
              <a:rPr sz="1400" spc="50" dirty="0">
                <a:latin typeface="Trebuchet MS"/>
                <a:cs typeface="Trebuchet MS"/>
              </a:rPr>
              <a:t>MemStore</a:t>
            </a:r>
            <a:endParaRPr sz="1400">
              <a:latin typeface="Trebuchet MS"/>
              <a:cs typeface="Trebuchet MS"/>
            </a:endParaRPr>
          </a:p>
          <a:p>
            <a:pPr marL="469900" marR="309245">
              <a:lnSpc>
                <a:spcPct val="100000"/>
              </a:lnSpc>
            </a:pPr>
            <a:r>
              <a:rPr sz="1400" spc="135" dirty="0">
                <a:latin typeface="Trebuchet MS"/>
                <a:cs typeface="Trebuchet MS"/>
              </a:rPr>
              <a:t>H</a:t>
            </a:r>
            <a:r>
              <a:rPr sz="1400" spc="-30" dirty="0">
                <a:latin typeface="Trebuchet MS"/>
                <a:cs typeface="Trebuchet MS"/>
              </a:rPr>
              <a:t>F</a:t>
            </a:r>
            <a:r>
              <a:rPr sz="1400" spc="-15" dirty="0">
                <a:latin typeface="Trebuchet MS"/>
                <a:cs typeface="Trebuchet MS"/>
              </a:rPr>
              <a:t>i</a:t>
            </a:r>
            <a:r>
              <a:rPr sz="1400" spc="-20" dirty="0">
                <a:latin typeface="Trebuchet MS"/>
                <a:cs typeface="Trebuchet MS"/>
              </a:rPr>
              <a:t>l</a:t>
            </a:r>
            <a:r>
              <a:rPr sz="1400" spc="-30" dirty="0">
                <a:latin typeface="Trebuchet MS"/>
                <a:cs typeface="Trebuchet MS"/>
              </a:rPr>
              <a:t>e</a:t>
            </a:r>
            <a:r>
              <a:rPr sz="1400" spc="35" dirty="0">
                <a:latin typeface="Trebuchet MS"/>
                <a:cs typeface="Trebuchet MS"/>
              </a:rPr>
              <a:t>-21  </a:t>
            </a:r>
            <a:r>
              <a:rPr sz="1400" spc="135" dirty="0">
                <a:latin typeface="Trebuchet MS"/>
                <a:cs typeface="Trebuchet MS"/>
              </a:rPr>
              <a:t>H</a:t>
            </a:r>
            <a:r>
              <a:rPr sz="1400" spc="-30" dirty="0">
                <a:latin typeface="Trebuchet MS"/>
                <a:cs typeface="Trebuchet MS"/>
              </a:rPr>
              <a:t>F</a:t>
            </a:r>
            <a:r>
              <a:rPr sz="1400" spc="-15" dirty="0">
                <a:latin typeface="Trebuchet MS"/>
                <a:cs typeface="Trebuchet MS"/>
              </a:rPr>
              <a:t>i</a:t>
            </a:r>
            <a:r>
              <a:rPr sz="1400" spc="-20" dirty="0">
                <a:latin typeface="Trebuchet MS"/>
                <a:cs typeface="Trebuchet MS"/>
              </a:rPr>
              <a:t>l</a:t>
            </a:r>
            <a:r>
              <a:rPr sz="1400" spc="-30" dirty="0">
                <a:latin typeface="Trebuchet MS"/>
                <a:cs typeface="Trebuchet MS"/>
              </a:rPr>
              <a:t>e</a:t>
            </a:r>
            <a:r>
              <a:rPr sz="1400" spc="35" dirty="0">
                <a:latin typeface="Trebuchet MS"/>
                <a:cs typeface="Trebuchet MS"/>
              </a:rPr>
              <a:t>-</a:t>
            </a:r>
            <a:r>
              <a:rPr sz="1400" spc="45" dirty="0">
                <a:latin typeface="Trebuchet MS"/>
                <a:cs typeface="Trebuchet MS"/>
              </a:rPr>
              <a:t>22</a:t>
            </a:r>
            <a:endParaRPr sz="1400">
              <a:latin typeface="Trebuchet MS"/>
              <a:cs typeface="Trebuchet MS"/>
            </a:endParaRPr>
          </a:p>
        </p:txBody>
      </p:sp>
      <p:sp>
        <p:nvSpPr>
          <p:cNvPr id="14" name="object 14"/>
          <p:cNvSpPr/>
          <p:nvPr/>
        </p:nvSpPr>
        <p:spPr>
          <a:xfrm>
            <a:off x="5144261" y="4130802"/>
            <a:ext cx="1937765" cy="1275715"/>
          </a:xfrm>
          <a:prstGeom prst="rect">
            <a:avLst/>
          </a:prstGeom>
          <a:blipFill>
            <a:blip r:embed="rId3" cstate="print"/>
            <a:stretch>
              <a:fillRect/>
            </a:stretch>
          </a:blipFill>
        </p:spPr>
        <p:txBody>
          <a:bodyPr wrap="square" lIns="0" tIns="0" rIns="0" bIns="0" rtlCol="0"/>
          <a:lstStyle/>
          <a:p>
            <a:endParaRPr/>
          </a:p>
        </p:txBody>
      </p:sp>
      <p:sp>
        <p:nvSpPr>
          <p:cNvPr id="15" name="object 15"/>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fld id="{81D60167-4931-47E6-BA6A-407CBD079E47}" type="slidenum">
              <a:rPr spc="45" dirty="0"/>
              <a:t>55</a:t>
            </a:fld>
            <a:r>
              <a:rPr spc="45" dirty="0"/>
              <a:t>	</a:t>
            </a:r>
            <a:r>
              <a:rPr spc="30" dirty="0"/>
              <a:t>Huawei</a:t>
            </a:r>
            <a:r>
              <a:rPr spc="-10" dirty="0"/>
              <a:t> </a:t>
            </a:r>
            <a:r>
              <a:rPr spc="5" dirty="0"/>
              <a:t>Confidential</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2163445" cy="513715"/>
          </a:xfrm>
          <a:prstGeom prst="rect">
            <a:avLst/>
          </a:prstGeom>
        </p:spPr>
        <p:txBody>
          <a:bodyPr vert="horz" wrap="square" lIns="0" tIns="13335" rIns="0" bIns="0" rtlCol="0">
            <a:spAutoFit/>
          </a:bodyPr>
          <a:lstStyle/>
          <a:p>
            <a:pPr marL="12700">
              <a:lnSpc>
                <a:spcPct val="100000"/>
              </a:lnSpc>
              <a:spcBef>
                <a:spcPts val="105"/>
              </a:spcBef>
            </a:pPr>
            <a:r>
              <a:rPr sz="3200" spc="10" dirty="0">
                <a:solidFill>
                  <a:srgbClr val="000000"/>
                </a:solidFill>
              </a:rPr>
              <a:t>BloomFilter</a:t>
            </a:r>
            <a:endParaRPr sz="320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fld id="{81D60167-4931-47E6-BA6A-407CBD079E47}" type="slidenum">
              <a:rPr spc="45" dirty="0"/>
              <a:t>56</a:t>
            </a:fld>
            <a:r>
              <a:rPr spc="45" dirty="0"/>
              <a:t>	</a:t>
            </a:r>
            <a:r>
              <a:rPr spc="30" dirty="0"/>
              <a:t>Huawei</a:t>
            </a:r>
            <a:r>
              <a:rPr spc="-10" dirty="0"/>
              <a:t> </a:t>
            </a:r>
            <a:r>
              <a:rPr spc="5" dirty="0"/>
              <a:t>Confidential</a:t>
            </a:r>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101039" y="1076604"/>
            <a:ext cx="10290810" cy="1434465"/>
          </a:xfrm>
          <a:prstGeom prst="rect">
            <a:avLst/>
          </a:prstGeom>
        </p:spPr>
        <p:txBody>
          <a:bodyPr vert="horz" wrap="square" lIns="0" tIns="12065" rIns="0" bIns="0" rtlCol="0">
            <a:spAutoFit/>
          </a:bodyPr>
          <a:lstStyle/>
          <a:p>
            <a:pPr marL="12700" marR="5080" algn="just">
              <a:lnSpc>
                <a:spcPct val="140100"/>
              </a:lnSpc>
              <a:spcBef>
                <a:spcPts val="95"/>
              </a:spcBef>
            </a:pPr>
            <a:r>
              <a:rPr sz="2200" dirty="0">
                <a:latin typeface="Trebuchet MS"/>
                <a:cs typeface="Trebuchet MS"/>
              </a:rPr>
              <a:t>BloomFilter </a:t>
            </a:r>
            <a:r>
              <a:rPr sz="2200" spc="-15" dirty="0">
                <a:latin typeface="Trebuchet MS"/>
                <a:cs typeface="Trebuchet MS"/>
              </a:rPr>
              <a:t>is </a:t>
            </a:r>
            <a:r>
              <a:rPr sz="2200" spc="30" dirty="0">
                <a:latin typeface="Trebuchet MS"/>
                <a:cs typeface="Trebuchet MS"/>
              </a:rPr>
              <a:t>used </a:t>
            </a:r>
            <a:r>
              <a:rPr sz="2200" dirty="0">
                <a:latin typeface="Trebuchet MS"/>
                <a:cs typeface="Trebuchet MS"/>
              </a:rPr>
              <a:t>to </a:t>
            </a:r>
            <a:r>
              <a:rPr sz="2200" spc="-5" dirty="0">
                <a:latin typeface="Trebuchet MS"/>
                <a:cs typeface="Trebuchet MS"/>
              </a:rPr>
              <a:t>optimize </a:t>
            </a:r>
            <a:r>
              <a:rPr sz="2200" spc="55" dirty="0">
                <a:latin typeface="Trebuchet MS"/>
                <a:cs typeface="Trebuchet MS"/>
              </a:rPr>
              <a:t>some </a:t>
            </a:r>
            <a:r>
              <a:rPr sz="2200" spc="65" dirty="0">
                <a:latin typeface="Trebuchet MS"/>
                <a:cs typeface="Trebuchet MS"/>
              </a:rPr>
              <a:t>random </a:t>
            </a:r>
            <a:r>
              <a:rPr sz="2200" spc="5" dirty="0">
                <a:latin typeface="Trebuchet MS"/>
                <a:cs typeface="Trebuchet MS"/>
              </a:rPr>
              <a:t>read </a:t>
            </a:r>
            <a:r>
              <a:rPr sz="2200" spc="-25" dirty="0">
                <a:latin typeface="Trebuchet MS"/>
                <a:cs typeface="Trebuchet MS"/>
              </a:rPr>
              <a:t>scenarios, </a:t>
            </a:r>
            <a:r>
              <a:rPr sz="2200" spc="-10" dirty="0">
                <a:latin typeface="Trebuchet MS"/>
                <a:cs typeface="Trebuchet MS"/>
              </a:rPr>
              <a:t>that </a:t>
            </a:r>
            <a:r>
              <a:rPr sz="2200" spc="-105" dirty="0">
                <a:latin typeface="Trebuchet MS"/>
                <a:cs typeface="Trebuchet MS"/>
              </a:rPr>
              <a:t>is, </a:t>
            </a:r>
            <a:r>
              <a:rPr sz="2200" spc="-15" dirty="0">
                <a:latin typeface="Trebuchet MS"/>
                <a:cs typeface="Trebuchet MS"/>
              </a:rPr>
              <a:t>the </a:t>
            </a:r>
            <a:r>
              <a:rPr sz="2200" b="1" spc="15" dirty="0">
                <a:latin typeface="Arial"/>
                <a:cs typeface="Arial"/>
              </a:rPr>
              <a:t>Get  </a:t>
            </a:r>
            <a:r>
              <a:rPr sz="2200" spc="-30" dirty="0">
                <a:latin typeface="Trebuchet MS"/>
                <a:cs typeface="Trebuchet MS"/>
              </a:rPr>
              <a:t>scenario. </a:t>
            </a:r>
            <a:r>
              <a:rPr sz="2200" spc="-35" dirty="0">
                <a:latin typeface="Trebuchet MS"/>
                <a:cs typeface="Trebuchet MS"/>
              </a:rPr>
              <a:t>It </a:t>
            </a:r>
            <a:r>
              <a:rPr sz="2200" spc="15" dirty="0">
                <a:latin typeface="Trebuchet MS"/>
                <a:cs typeface="Trebuchet MS"/>
              </a:rPr>
              <a:t>can </a:t>
            </a:r>
            <a:r>
              <a:rPr sz="2200" spc="-10" dirty="0">
                <a:latin typeface="Trebuchet MS"/>
                <a:cs typeface="Trebuchet MS"/>
              </a:rPr>
              <a:t>be </a:t>
            </a:r>
            <a:r>
              <a:rPr sz="2200" spc="25" dirty="0">
                <a:latin typeface="Trebuchet MS"/>
                <a:cs typeface="Trebuchet MS"/>
              </a:rPr>
              <a:t>used </a:t>
            </a:r>
            <a:r>
              <a:rPr sz="2200" dirty="0">
                <a:latin typeface="Trebuchet MS"/>
                <a:cs typeface="Trebuchet MS"/>
              </a:rPr>
              <a:t>to </a:t>
            </a:r>
            <a:r>
              <a:rPr sz="2200" spc="-10" dirty="0">
                <a:latin typeface="Trebuchet MS"/>
                <a:cs typeface="Trebuchet MS"/>
              </a:rPr>
              <a:t>quickly </a:t>
            </a:r>
            <a:r>
              <a:rPr sz="2200" spc="-5" dirty="0">
                <a:latin typeface="Trebuchet MS"/>
                <a:cs typeface="Trebuchet MS"/>
              </a:rPr>
              <a:t>determine </a:t>
            </a:r>
            <a:r>
              <a:rPr sz="2200" spc="5" dirty="0">
                <a:latin typeface="Trebuchet MS"/>
                <a:cs typeface="Trebuchet MS"/>
              </a:rPr>
              <a:t>whether </a:t>
            </a:r>
            <a:r>
              <a:rPr sz="2200" spc="55" dirty="0">
                <a:latin typeface="Trebuchet MS"/>
                <a:cs typeface="Trebuchet MS"/>
              </a:rPr>
              <a:t>a </a:t>
            </a:r>
            <a:r>
              <a:rPr sz="2200" spc="-40" dirty="0">
                <a:latin typeface="Trebuchet MS"/>
                <a:cs typeface="Trebuchet MS"/>
              </a:rPr>
              <a:t>piece </a:t>
            </a:r>
            <a:r>
              <a:rPr sz="2200" spc="15" dirty="0">
                <a:latin typeface="Trebuchet MS"/>
                <a:cs typeface="Trebuchet MS"/>
              </a:rPr>
              <a:t>of </a:t>
            </a:r>
            <a:r>
              <a:rPr sz="2200" spc="10" dirty="0">
                <a:latin typeface="Trebuchet MS"/>
                <a:cs typeface="Trebuchet MS"/>
              </a:rPr>
              <a:t>user </a:t>
            </a:r>
            <a:r>
              <a:rPr sz="2200" spc="15" dirty="0">
                <a:latin typeface="Trebuchet MS"/>
                <a:cs typeface="Trebuchet MS"/>
              </a:rPr>
              <a:t>data </a:t>
            </a:r>
            <a:r>
              <a:rPr sz="2200" spc="-30" dirty="0">
                <a:latin typeface="Trebuchet MS"/>
                <a:cs typeface="Trebuchet MS"/>
              </a:rPr>
              <a:t>exists  </a:t>
            </a:r>
            <a:r>
              <a:rPr sz="2200" spc="5" dirty="0">
                <a:latin typeface="Trebuchet MS"/>
                <a:cs typeface="Trebuchet MS"/>
              </a:rPr>
              <a:t>in </a:t>
            </a:r>
            <a:r>
              <a:rPr sz="2200" spc="55" dirty="0">
                <a:latin typeface="Trebuchet MS"/>
                <a:cs typeface="Trebuchet MS"/>
              </a:rPr>
              <a:t>a </a:t>
            </a:r>
            <a:r>
              <a:rPr sz="2200" spc="15" dirty="0">
                <a:latin typeface="Trebuchet MS"/>
                <a:cs typeface="Trebuchet MS"/>
              </a:rPr>
              <a:t>large data </a:t>
            </a:r>
            <a:r>
              <a:rPr sz="2200" spc="-30" dirty="0">
                <a:latin typeface="Trebuchet MS"/>
                <a:cs typeface="Trebuchet MS"/>
              </a:rPr>
              <a:t>set </a:t>
            </a:r>
            <a:r>
              <a:rPr sz="2200" spc="55" dirty="0">
                <a:latin typeface="Trebuchet MS"/>
                <a:cs typeface="Trebuchet MS"/>
              </a:rPr>
              <a:t>(most </a:t>
            </a:r>
            <a:r>
              <a:rPr sz="2200" spc="15" dirty="0">
                <a:latin typeface="Trebuchet MS"/>
                <a:cs typeface="Trebuchet MS"/>
              </a:rPr>
              <a:t>data </a:t>
            </a:r>
            <a:r>
              <a:rPr sz="2200" spc="5" dirty="0">
                <a:latin typeface="Trebuchet MS"/>
                <a:cs typeface="Trebuchet MS"/>
              </a:rPr>
              <a:t>in </a:t>
            </a:r>
            <a:r>
              <a:rPr sz="2200" spc="-15" dirty="0">
                <a:latin typeface="Trebuchet MS"/>
                <a:cs typeface="Trebuchet MS"/>
              </a:rPr>
              <a:t>the </a:t>
            </a:r>
            <a:r>
              <a:rPr sz="2200" spc="15" dirty="0">
                <a:latin typeface="Trebuchet MS"/>
                <a:cs typeface="Trebuchet MS"/>
              </a:rPr>
              <a:t>data </a:t>
            </a:r>
            <a:r>
              <a:rPr sz="2200" spc="-30" dirty="0">
                <a:latin typeface="Trebuchet MS"/>
                <a:cs typeface="Trebuchet MS"/>
              </a:rPr>
              <a:t>set </a:t>
            </a:r>
            <a:r>
              <a:rPr sz="2200" spc="20" dirty="0">
                <a:latin typeface="Trebuchet MS"/>
                <a:cs typeface="Trebuchet MS"/>
              </a:rPr>
              <a:t>cannot </a:t>
            </a:r>
            <a:r>
              <a:rPr sz="2200" spc="-10" dirty="0">
                <a:latin typeface="Trebuchet MS"/>
                <a:cs typeface="Trebuchet MS"/>
              </a:rPr>
              <a:t>be </a:t>
            </a:r>
            <a:r>
              <a:rPr sz="2200" spc="15" dirty="0">
                <a:latin typeface="Trebuchet MS"/>
                <a:cs typeface="Trebuchet MS"/>
              </a:rPr>
              <a:t>loaded </a:t>
            </a:r>
            <a:r>
              <a:rPr sz="2200" dirty="0">
                <a:latin typeface="Trebuchet MS"/>
                <a:cs typeface="Trebuchet MS"/>
              </a:rPr>
              <a:t>to </a:t>
            </a:r>
            <a:r>
              <a:rPr sz="2200" spc="-15" dirty="0">
                <a:latin typeface="Trebuchet MS"/>
                <a:cs typeface="Trebuchet MS"/>
              </a:rPr>
              <a:t>the</a:t>
            </a:r>
            <a:r>
              <a:rPr sz="2200" spc="345" dirty="0">
                <a:latin typeface="Trebuchet MS"/>
                <a:cs typeface="Trebuchet MS"/>
              </a:rPr>
              <a:t> </a:t>
            </a:r>
            <a:r>
              <a:rPr sz="2200" spc="10" dirty="0">
                <a:latin typeface="Trebuchet MS"/>
                <a:cs typeface="Trebuchet MS"/>
              </a:rPr>
              <a:t>memory).</a:t>
            </a:r>
            <a:endParaRPr sz="2200" dirty="0">
              <a:latin typeface="Trebuchet MS"/>
              <a:cs typeface="Trebuchet MS"/>
            </a:endParaRPr>
          </a:p>
        </p:txBody>
      </p:sp>
      <p:sp>
        <p:nvSpPr>
          <p:cNvPr id="5" name="object 5"/>
          <p:cNvSpPr txBox="1"/>
          <p:nvPr/>
        </p:nvSpPr>
        <p:spPr>
          <a:xfrm>
            <a:off x="799287" y="279971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6" name="object 6"/>
          <p:cNvSpPr txBox="1"/>
          <p:nvPr/>
        </p:nvSpPr>
        <p:spPr>
          <a:xfrm>
            <a:off x="1101039" y="2586197"/>
            <a:ext cx="10292080" cy="1433830"/>
          </a:xfrm>
          <a:prstGeom prst="rect">
            <a:avLst/>
          </a:prstGeom>
        </p:spPr>
        <p:txBody>
          <a:bodyPr vert="horz" wrap="square" lIns="0" tIns="12065" rIns="0" bIns="0" rtlCol="0">
            <a:spAutoFit/>
          </a:bodyPr>
          <a:lstStyle/>
          <a:p>
            <a:pPr marL="12700" marR="5080" algn="just">
              <a:lnSpc>
                <a:spcPct val="140000"/>
              </a:lnSpc>
              <a:spcBef>
                <a:spcPts val="95"/>
              </a:spcBef>
            </a:pPr>
            <a:r>
              <a:rPr sz="2200" dirty="0">
                <a:latin typeface="Trebuchet MS"/>
                <a:cs typeface="Trebuchet MS"/>
              </a:rPr>
              <a:t>BloomFilter </a:t>
            </a:r>
            <a:r>
              <a:rPr sz="2200" spc="55" dirty="0">
                <a:latin typeface="Trebuchet MS"/>
                <a:cs typeface="Trebuchet MS"/>
              </a:rPr>
              <a:t>has </a:t>
            </a:r>
            <a:r>
              <a:rPr sz="2200" spc="-10" dirty="0">
                <a:latin typeface="Trebuchet MS"/>
                <a:cs typeface="Trebuchet MS"/>
              </a:rPr>
              <a:t>possibility </a:t>
            </a:r>
            <a:r>
              <a:rPr sz="2200" spc="15" dirty="0">
                <a:latin typeface="Trebuchet MS"/>
                <a:cs typeface="Trebuchet MS"/>
              </a:rPr>
              <a:t>of </a:t>
            </a:r>
            <a:r>
              <a:rPr sz="2200" spc="20" dirty="0">
                <a:latin typeface="Trebuchet MS"/>
                <a:cs typeface="Trebuchet MS"/>
              </a:rPr>
              <a:t>misjudgment </a:t>
            </a:r>
            <a:r>
              <a:rPr sz="2200" spc="50" dirty="0">
                <a:latin typeface="Trebuchet MS"/>
                <a:cs typeface="Trebuchet MS"/>
              </a:rPr>
              <a:t>when </a:t>
            </a:r>
            <a:r>
              <a:rPr sz="2200" spc="15" dirty="0">
                <a:latin typeface="Trebuchet MS"/>
                <a:cs typeface="Trebuchet MS"/>
              </a:rPr>
              <a:t>determining </a:t>
            </a:r>
            <a:r>
              <a:rPr sz="2200" spc="10" dirty="0">
                <a:latin typeface="Trebuchet MS"/>
                <a:cs typeface="Trebuchet MS"/>
              </a:rPr>
              <a:t>whether </a:t>
            </a:r>
            <a:r>
              <a:rPr sz="2200" spc="55" dirty="0">
                <a:latin typeface="Trebuchet MS"/>
                <a:cs typeface="Trebuchet MS"/>
              </a:rPr>
              <a:t>a </a:t>
            </a:r>
            <a:r>
              <a:rPr sz="2200" spc="-40" dirty="0">
                <a:latin typeface="Trebuchet MS"/>
                <a:cs typeface="Trebuchet MS"/>
              </a:rPr>
              <a:t>piece  </a:t>
            </a:r>
            <a:r>
              <a:rPr sz="2200" spc="15" dirty="0">
                <a:latin typeface="Trebuchet MS"/>
                <a:cs typeface="Trebuchet MS"/>
              </a:rPr>
              <a:t>of </a:t>
            </a:r>
            <a:r>
              <a:rPr sz="2200" spc="20" dirty="0">
                <a:latin typeface="Trebuchet MS"/>
                <a:cs typeface="Trebuchet MS"/>
              </a:rPr>
              <a:t>data </a:t>
            </a:r>
            <a:r>
              <a:rPr sz="2200" spc="-65" dirty="0">
                <a:latin typeface="Trebuchet MS"/>
                <a:cs typeface="Trebuchet MS"/>
              </a:rPr>
              <a:t>exists. </a:t>
            </a:r>
            <a:r>
              <a:rPr sz="2200" spc="-5" dirty="0">
                <a:latin typeface="Trebuchet MS"/>
                <a:cs typeface="Trebuchet MS"/>
              </a:rPr>
              <a:t>However, </a:t>
            </a:r>
            <a:r>
              <a:rPr sz="2200" spc="-15" dirty="0">
                <a:latin typeface="Trebuchet MS"/>
                <a:cs typeface="Trebuchet MS"/>
              </a:rPr>
              <a:t>the </a:t>
            </a:r>
            <a:r>
              <a:rPr sz="2200" spc="15" dirty="0">
                <a:latin typeface="Trebuchet MS"/>
                <a:cs typeface="Trebuchet MS"/>
              </a:rPr>
              <a:t>judgment </a:t>
            </a:r>
            <a:r>
              <a:rPr sz="2200" spc="-15" dirty="0">
                <a:latin typeface="Trebuchet MS"/>
                <a:cs typeface="Trebuchet MS"/>
              </a:rPr>
              <a:t>result </a:t>
            </a:r>
            <a:r>
              <a:rPr sz="2200" spc="20" dirty="0">
                <a:latin typeface="Trebuchet MS"/>
                <a:cs typeface="Trebuchet MS"/>
              </a:rPr>
              <a:t>of </a:t>
            </a:r>
            <a:r>
              <a:rPr sz="2200" spc="65" dirty="0">
                <a:latin typeface="Trebuchet MS"/>
                <a:cs typeface="Trebuchet MS"/>
              </a:rPr>
              <a:t>"The </a:t>
            </a:r>
            <a:r>
              <a:rPr sz="2200" spc="20" dirty="0">
                <a:latin typeface="Trebuchet MS"/>
                <a:cs typeface="Trebuchet MS"/>
              </a:rPr>
              <a:t>data </a:t>
            </a:r>
            <a:r>
              <a:rPr sz="2200" spc="-40" dirty="0">
                <a:latin typeface="Trebuchet MS"/>
                <a:cs typeface="Trebuchet MS"/>
              </a:rPr>
              <a:t>xxxx </a:t>
            </a:r>
            <a:r>
              <a:rPr sz="2200" spc="25" dirty="0">
                <a:latin typeface="Trebuchet MS"/>
                <a:cs typeface="Trebuchet MS"/>
              </a:rPr>
              <a:t>does not </a:t>
            </a:r>
            <a:r>
              <a:rPr sz="2200" spc="10" dirty="0">
                <a:latin typeface="Trebuchet MS"/>
                <a:cs typeface="Trebuchet MS"/>
              </a:rPr>
              <a:t>exist" </a:t>
            </a:r>
            <a:r>
              <a:rPr sz="2200" spc="-15" dirty="0">
                <a:latin typeface="Trebuchet MS"/>
                <a:cs typeface="Trebuchet MS"/>
              </a:rPr>
              <a:t>is  </a:t>
            </a:r>
            <a:r>
              <a:rPr sz="2200" spc="-55" dirty="0">
                <a:latin typeface="Trebuchet MS"/>
                <a:cs typeface="Trebuchet MS"/>
              </a:rPr>
              <a:t>reliable.</a:t>
            </a:r>
            <a:endParaRPr sz="2200" dirty="0">
              <a:latin typeface="Trebuchet MS"/>
              <a:cs typeface="Trebuchet MS"/>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2016125" cy="0"/>
          </a:xfrm>
          <a:custGeom>
            <a:avLst/>
            <a:gdLst/>
            <a:ahLst/>
            <a:cxnLst/>
            <a:rect l="l" t="t" r="r" b="b"/>
            <a:pathLst>
              <a:path w="2016125">
                <a:moveTo>
                  <a:pt x="2015997"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2072639" cy="635000"/>
          </a:xfrm>
          <a:prstGeom prst="rect">
            <a:avLst/>
          </a:prstGeom>
        </p:spPr>
        <p:txBody>
          <a:bodyPr vert="horz" wrap="square" lIns="0" tIns="12065" rIns="0" bIns="0" rtlCol="0">
            <a:spAutoFit/>
          </a:bodyPr>
          <a:lstStyle/>
          <a:p>
            <a:pPr marL="12700">
              <a:lnSpc>
                <a:spcPct val="100000"/>
              </a:lnSpc>
              <a:spcBef>
                <a:spcPts val="95"/>
              </a:spcBef>
            </a:pPr>
            <a:r>
              <a:rPr sz="4000" spc="40" dirty="0">
                <a:solidFill>
                  <a:srgbClr val="404040"/>
                </a:solidFill>
              </a:rPr>
              <a:t>Conte</a:t>
            </a:r>
            <a:r>
              <a:rPr sz="4000" spc="55" dirty="0">
                <a:solidFill>
                  <a:srgbClr val="404040"/>
                </a:solidFill>
              </a:rPr>
              <a:t>n</a:t>
            </a:r>
            <a:r>
              <a:rPr sz="4000" spc="-40" dirty="0">
                <a:solidFill>
                  <a:srgbClr val="404040"/>
                </a:solidFill>
              </a:rPr>
              <a:t>ts</a:t>
            </a:r>
            <a:endParaRPr sz="4000"/>
          </a:p>
        </p:txBody>
      </p:sp>
      <p:sp>
        <p:nvSpPr>
          <p:cNvPr id="7" name="object 7"/>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fld id="{81D60167-4931-47E6-BA6A-407CBD079E47}" type="slidenum">
              <a:rPr spc="45" dirty="0"/>
              <a:t>57</a:t>
            </a:fld>
            <a:r>
              <a:rPr spc="45" dirty="0"/>
              <a:t>	</a:t>
            </a:r>
            <a:r>
              <a:rPr spc="30" dirty="0"/>
              <a:t>Huawei</a:t>
            </a:r>
            <a:r>
              <a:rPr spc="-10" dirty="0"/>
              <a:t> </a:t>
            </a:r>
            <a:r>
              <a:rPr spc="5" dirty="0"/>
              <a:t>Confidential</a:t>
            </a:r>
          </a:p>
        </p:txBody>
      </p:sp>
      <p:sp>
        <p:nvSpPr>
          <p:cNvPr id="6" name="object 6"/>
          <p:cNvSpPr txBox="1"/>
          <p:nvPr/>
        </p:nvSpPr>
        <p:spPr>
          <a:xfrm>
            <a:off x="1097991" y="2009393"/>
            <a:ext cx="4744720" cy="3779520"/>
          </a:xfrm>
          <a:prstGeom prst="rect">
            <a:avLst/>
          </a:prstGeom>
        </p:spPr>
        <p:txBody>
          <a:bodyPr vert="horz" wrap="square" lIns="0" tIns="12065" rIns="0" bIns="0" rtlCol="0">
            <a:spAutoFit/>
          </a:bodyPr>
          <a:lstStyle/>
          <a:p>
            <a:pPr marL="469900" indent="-457834">
              <a:lnSpc>
                <a:spcPct val="100000"/>
              </a:lnSpc>
              <a:spcBef>
                <a:spcPts val="95"/>
              </a:spcBef>
              <a:buAutoNum type="arabicPeriod"/>
              <a:tabLst>
                <a:tab pos="469265" algn="l"/>
                <a:tab pos="470534" algn="l"/>
              </a:tabLst>
            </a:pPr>
            <a:r>
              <a:rPr sz="2200" spc="10" dirty="0">
                <a:solidFill>
                  <a:srgbClr val="7E7E7E"/>
                </a:solidFill>
                <a:latin typeface="Trebuchet MS"/>
                <a:cs typeface="Trebuchet MS"/>
              </a:rPr>
              <a:t>Introduction </a:t>
            </a:r>
            <a:r>
              <a:rPr sz="2200" dirty="0">
                <a:solidFill>
                  <a:srgbClr val="7E7E7E"/>
                </a:solidFill>
                <a:latin typeface="Trebuchet MS"/>
                <a:cs typeface="Trebuchet MS"/>
              </a:rPr>
              <a:t>to</a:t>
            </a:r>
            <a:r>
              <a:rPr sz="2200" spc="40" dirty="0">
                <a:solidFill>
                  <a:srgbClr val="7E7E7E"/>
                </a:solidFill>
                <a:latin typeface="Trebuchet MS"/>
                <a:cs typeface="Trebuchet MS"/>
              </a:rPr>
              <a:t> </a:t>
            </a:r>
            <a:r>
              <a:rPr sz="2200" spc="60" dirty="0">
                <a:solidFill>
                  <a:srgbClr val="7E7E7E"/>
                </a:solidFill>
                <a:latin typeface="Trebuchet MS"/>
                <a:cs typeface="Trebuchet MS"/>
              </a:rPr>
              <a:t>HBase</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spc="65" dirty="0">
                <a:solidFill>
                  <a:srgbClr val="7E7E7E"/>
                </a:solidFill>
                <a:latin typeface="Trebuchet MS"/>
                <a:cs typeface="Trebuchet MS"/>
              </a:rPr>
              <a:t>HBase </a:t>
            </a:r>
            <a:r>
              <a:rPr sz="2200" spc="-10" dirty="0">
                <a:solidFill>
                  <a:srgbClr val="7E7E7E"/>
                </a:solidFill>
                <a:latin typeface="Trebuchet MS"/>
                <a:cs typeface="Trebuchet MS"/>
              </a:rPr>
              <a:t>Related</a:t>
            </a:r>
            <a:r>
              <a:rPr sz="2200" spc="-5" dirty="0">
                <a:solidFill>
                  <a:srgbClr val="7E7E7E"/>
                </a:solidFill>
                <a:latin typeface="Trebuchet MS"/>
                <a:cs typeface="Trebuchet MS"/>
              </a:rPr>
              <a:t> </a:t>
            </a:r>
            <a:r>
              <a:rPr sz="2200" dirty="0">
                <a:solidFill>
                  <a:srgbClr val="7E7E7E"/>
                </a:solidFill>
                <a:latin typeface="Trebuchet MS"/>
                <a:cs typeface="Trebuchet MS"/>
              </a:rPr>
              <a:t>Concepts</a:t>
            </a:r>
            <a:endParaRPr sz="2200">
              <a:latin typeface="Trebuchet MS"/>
              <a:cs typeface="Trebuchet MS"/>
            </a:endParaRPr>
          </a:p>
          <a:p>
            <a:pPr marL="469900" indent="-457834">
              <a:lnSpc>
                <a:spcPct val="100000"/>
              </a:lnSpc>
              <a:spcBef>
                <a:spcPts val="1845"/>
              </a:spcBef>
              <a:buAutoNum type="arabicPeriod"/>
              <a:tabLst>
                <a:tab pos="469265" algn="l"/>
                <a:tab pos="470534" algn="l"/>
              </a:tabLst>
            </a:pPr>
            <a:r>
              <a:rPr sz="2200" spc="60" dirty="0">
                <a:solidFill>
                  <a:srgbClr val="7E7E7E"/>
                </a:solidFill>
                <a:latin typeface="Trebuchet MS"/>
                <a:cs typeface="Trebuchet MS"/>
              </a:rPr>
              <a:t>HBase</a:t>
            </a:r>
            <a:r>
              <a:rPr sz="2200" spc="35" dirty="0">
                <a:solidFill>
                  <a:srgbClr val="7E7E7E"/>
                </a:solidFill>
                <a:latin typeface="Trebuchet MS"/>
                <a:cs typeface="Trebuchet MS"/>
              </a:rPr>
              <a:t> </a:t>
            </a:r>
            <a:r>
              <a:rPr sz="2200" spc="-25" dirty="0">
                <a:solidFill>
                  <a:srgbClr val="7E7E7E"/>
                </a:solidFill>
                <a:latin typeface="Trebuchet MS"/>
                <a:cs typeface="Trebuchet MS"/>
              </a:rPr>
              <a:t>Architecture</a:t>
            </a:r>
            <a:endParaRPr sz="2200">
              <a:latin typeface="Trebuchet MS"/>
              <a:cs typeface="Trebuchet MS"/>
            </a:endParaRPr>
          </a:p>
          <a:p>
            <a:pPr marL="469900" indent="-457834">
              <a:lnSpc>
                <a:spcPct val="100000"/>
              </a:lnSpc>
              <a:spcBef>
                <a:spcPts val="1839"/>
              </a:spcBef>
              <a:buAutoNum type="arabicPeriod"/>
              <a:tabLst>
                <a:tab pos="469265" algn="l"/>
                <a:tab pos="470534" algn="l"/>
              </a:tabLst>
            </a:pPr>
            <a:r>
              <a:rPr sz="2200" spc="65" dirty="0">
                <a:solidFill>
                  <a:srgbClr val="7E7E7E"/>
                </a:solidFill>
                <a:latin typeface="Trebuchet MS"/>
                <a:cs typeface="Trebuchet MS"/>
              </a:rPr>
              <a:t>HBase </a:t>
            </a:r>
            <a:r>
              <a:rPr sz="2200" spc="5" dirty="0">
                <a:solidFill>
                  <a:srgbClr val="7E7E7E"/>
                </a:solidFill>
                <a:latin typeface="Trebuchet MS"/>
                <a:cs typeface="Trebuchet MS"/>
              </a:rPr>
              <a:t>Key </a:t>
            </a:r>
            <a:r>
              <a:rPr sz="2200" spc="-5" dirty="0">
                <a:solidFill>
                  <a:srgbClr val="7E7E7E"/>
                </a:solidFill>
                <a:latin typeface="Trebuchet MS"/>
                <a:cs typeface="Trebuchet MS"/>
              </a:rPr>
              <a:t>Processes</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spc="60" dirty="0">
                <a:solidFill>
                  <a:srgbClr val="7E7E7E"/>
                </a:solidFill>
                <a:latin typeface="Trebuchet MS"/>
                <a:cs typeface="Trebuchet MS"/>
              </a:rPr>
              <a:t>HBase</a:t>
            </a:r>
            <a:r>
              <a:rPr sz="2200" spc="35" dirty="0">
                <a:solidFill>
                  <a:srgbClr val="7E7E7E"/>
                </a:solidFill>
                <a:latin typeface="Trebuchet MS"/>
                <a:cs typeface="Trebuchet MS"/>
              </a:rPr>
              <a:t> </a:t>
            </a:r>
            <a:r>
              <a:rPr sz="2200" spc="40" dirty="0">
                <a:solidFill>
                  <a:srgbClr val="7E7E7E"/>
                </a:solidFill>
                <a:latin typeface="Trebuchet MS"/>
                <a:cs typeface="Trebuchet MS"/>
              </a:rPr>
              <a:t>Highlights</a:t>
            </a:r>
            <a:endParaRPr sz="2200">
              <a:latin typeface="Trebuchet MS"/>
              <a:cs typeface="Trebuchet MS"/>
            </a:endParaRPr>
          </a:p>
          <a:p>
            <a:pPr marL="469900" indent="-457834">
              <a:lnSpc>
                <a:spcPct val="100000"/>
              </a:lnSpc>
              <a:spcBef>
                <a:spcPts val="1845"/>
              </a:spcBef>
              <a:buAutoNum type="arabicPeriod"/>
              <a:tabLst>
                <a:tab pos="469265" algn="l"/>
                <a:tab pos="470534" algn="l"/>
              </a:tabLst>
            </a:pPr>
            <a:r>
              <a:rPr sz="2200" b="1" spc="-60" dirty="0">
                <a:latin typeface="Arial"/>
                <a:cs typeface="Arial"/>
              </a:rPr>
              <a:t>HBase </a:t>
            </a:r>
            <a:r>
              <a:rPr sz="2200" b="1" dirty="0">
                <a:latin typeface="Arial"/>
                <a:cs typeface="Arial"/>
              </a:rPr>
              <a:t>Performance</a:t>
            </a:r>
            <a:r>
              <a:rPr sz="2200" b="1" spc="245" dirty="0">
                <a:latin typeface="Arial"/>
                <a:cs typeface="Arial"/>
              </a:rPr>
              <a:t> </a:t>
            </a:r>
            <a:r>
              <a:rPr sz="2200" b="1" spc="10" dirty="0">
                <a:latin typeface="Arial"/>
                <a:cs typeface="Arial"/>
              </a:rPr>
              <a:t>Tuning</a:t>
            </a:r>
            <a:endParaRPr sz="2200">
              <a:latin typeface="Arial"/>
              <a:cs typeface="Arial"/>
            </a:endParaRPr>
          </a:p>
          <a:p>
            <a:pPr marL="469900" indent="-457834">
              <a:lnSpc>
                <a:spcPct val="100000"/>
              </a:lnSpc>
              <a:spcBef>
                <a:spcPts val="1850"/>
              </a:spcBef>
              <a:buAutoNum type="arabicPeriod"/>
              <a:tabLst>
                <a:tab pos="469265" algn="l"/>
                <a:tab pos="470534" algn="l"/>
              </a:tabLst>
            </a:pPr>
            <a:r>
              <a:rPr sz="2200" spc="90" dirty="0">
                <a:solidFill>
                  <a:srgbClr val="7E7E7E"/>
                </a:solidFill>
                <a:latin typeface="Trebuchet MS"/>
                <a:cs typeface="Trebuchet MS"/>
              </a:rPr>
              <a:t>Common </a:t>
            </a:r>
            <a:r>
              <a:rPr sz="2200" spc="60" dirty="0">
                <a:solidFill>
                  <a:srgbClr val="7E7E7E"/>
                </a:solidFill>
                <a:latin typeface="Trebuchet MS"/>
                <a:cs typeface="Trebuchet MS"/>
              </a:rPr>
              <a:t>HBase </a:t>
            </a:r>
            <a:r>
              <a:rPr sz="2200" spc="10" dirty="0">
                <a:solidFill>
                  <a:srgbClr val="7E7E7E"/>
                </a:solidFill>
                <a:latin typeface="Trebuchet MS"/>
                <a:cs typeface="Trebuchet MS"/>
              </a:rPr>
              <a:t>Shell</a:t>
            </a:r>
            <a:r>
              <a:rPr sz="2200" spc="-100" dirty="0">
                <a:solidFill>
                  <a:srgbClr val="7E7E7E"/>
                </a:solidFill>
                <a:latin typeface="Trebuchet MS"/>
                <a:cs typeface="Trebuchet MS"/>
              </a:rPr>
              <a:t> </a:t>
            </a:r>
            <a:r>
              <a:rPr sz="2200" spc="75" dirty="0">
                <a:solidFill>
                  <a:srgbClr val="7E7E7E"/>
                </a:solidFill>
                <a:latin typeface="Trebuchet MS"/>
                <a:cs typeface="Trebuchet MS"/>
              </a:rPr>
              <a:t>Commands</a:t>
            </a:r>
            <a:endParaRPr sz="2200">
              <a:latin typeface="Trebuchet MS"/>
              <a:cs typeface="Trebuchet MS"/>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1616710" cy="513715"/>
          </a:xfrm>
          <a:prstGeom prst="rect">
            <a:avLst/>
          </a:prstGeom>
        </p:spPr>
        <p:txBody>
          <a:bodyPr vert="horz" wrap="square" lIns="0" tIns="13335" rIns="0" bIns="0" rtlCol="0">
            <a:spAutoFit/>
          </a:bodyPr>
          <a:lstStyle/>
          <a:p>
            <a:pPr marL="12700">
              <a:lnSpc>
                <a:spcPct val="100000"/>
              </a:lnSpc>
              <a:spcBef>
                <a:spcPts val="105"/>
              </a:spcBef>
            </a:pPr>
            <a:r>
              <a:rPr sz="3200" spc="114" dirty="0">
                <a:solidFill>
                  <a:srgbClr val="000000"/>
                </a:solidFill>
              </a:rPr>
              <a:t>Row</a:t>
            </a:r>
            <a:r>
              <a:rPr sz="3200" spc="-65" dirty="0">
                <a:solidFill>
                  <a:srgbClr val="000000"/>
                </a:solidFill>
              </a:rPr>
              <a:t> </a:t>
            </a:r>
            <a:r>
              <a:rPr sz="3200" spc="15" dirty="0">
                <a:solidFill>
                  <a:srgbClr val="000000"/>
                </a:solidFill>
              </a:rPr>
              <a:t>Key</a:t>
            </a:r>
            <a:endParaRPr sz="3200"/>
          </a:p>
        </p:txBody>
      </p:sp>
      <p:sp>
        <p:nvSpPr>
          <p:cNvPr id="7" name="object 7"/>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fld id="{81D60167-4931-47E6-BA6A-407CBD079E47}" type="slidenum">
              <a:rPr spc="45" dirty="0"/>
              <a:t>58</a:t>
            </a:fld>
            <a:r>
              <a:rPr spc="45" dirty="0"/>
              <a:t>	</a:t>
            </a:r>
            <a:r>
              <a:rPr spc="30" dirty="0"/>
              <a:t>Huawei</a:t>
            </a:r>
            <a:r>
              <a:rPr spc="-10" dirty="0"/>
              <a:t> </a:t>
            </a:r>
            <a:r>
              <a:rPr spc="5" dirty="0"/>
              <a:t>Confidential</a:t>
            </a:r>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101039" y="1076604"/>
            <a:ext cx="10292080" cy="1434465"/>
          </a:xfrm>
          <a:prstGeom prst="rect">
            <a:avLst/>
          </a:prstGeom>
        </p:spPr>
        <p:txBody>
          <a:bodyPr vert="horz" wrap="square" lIns="0" tIns="12065" rIns="0" bIns="0" rtlCol="0">
            <a:spAutoFit/>
          </a:bodyPr>
          <a:lstStyle/>
          <a:p>
            <a:pPr marL="12700" marR="5080" algn="just">
              <a:lnSpc>
                <a:spcPct val="140100"/>
              </a:lnSpc>
              <a:spcBef>
                <a:spcPts val="95"/>
              </a:spcBef>
            </a:pPr>
            <a:r>
              <a:rPr sz="2200" spc="70" dirty="0">
                <a:latin typeface="Trebuchet MS"/>
                <a:cs typeface="Trebuchet MS"/>
              </a:rPr>
              <a:t>Row </a:t>
            </a:r>
            <a:r>
              <a:rPr sz="2200" spc="10" dirty="0">
                <a:latin typeface="Trebuchet MS"/>
                <a:cs typeface="Trebuchet MS"/>
              </a:rPr>
              <a:t>keys </a:t>
            </a:r>
            <a:r>
              <a:rPr sz="2200" spc="-5" dirty="0">
                <a:latin typeface="Trebuchet MS"/>
                <a:cs typeface="Trebuchet MS"/>
              </a:rPr>
              <a:t>are stored </a:t>
            </a:r>
            <a:r>
              <a:rPr sz="2200" spc="5" dirty="0">
                <a:latin typeface="Trebuchet MS"/>
                <a:cs typeface="Trebuchet MS"/>
              </a:rPr>
              <a:t>in </a:t>
            </a:r>
            <a:r>
              <a:rPr sz="2200" b="1" spc="25" dirty="0">
                <a:latin typeface="Arial"/>
                <a:cs typeface="Arial"/>
              </a:rPr>
              <a:t>alphabetical </a:t>
            </a:r>
            <a:r>
              <a:rPr sz="2200" spc="-50" dirty="0">
                <a:latin typeface="Trebuchet MS"/>
                <a:cs typeface="Trebuchet MS"/>
              </a:rPr>
              <a:t>order. </a:t>
            </a:r>
            <a:r>
              <a:rPr sz="2200" spc="-45" dirty="0">
                <a:latin typeface="Trebuchet MS"/>
                <a:cs typeface="Trebuchet MS"/>
              </a:rPr>
              <a:t>Therefore, </a:t>
            </a:r>
            <a:r>
              <a:rPr sz="2200" spc="50" dirty="0">
                <a:latin typeface="Trebuchet MS"/>
                <a:cs typeface="Trebuchet MS"/>
              </a:rPr>
              <a:t>when </a:t>
            </a:r>
            <a:r>
              <a:rPr sz="2200" spc="40" dirty="0">
                <a:latin typeface="Trebuchet MS"/>
                <a:cs typeface="Trebuchet MS"/>
              </a:rPr>
              <a:t>designing </a:t>
            </a:r>
            <a:r>
              <a:rPr sz="2200" spc="45" dirty="0">
                <a:latin typeface="Trebuchet MS"/>
                <a:cs typeface="Trebuchet MS"/>
              </a:rPr>
              <a:t>row </a:t>
            </a:r>
            <a:r>
              <a:rPr sz="2200" spc="-50" dirty="0">
                <a:latin typeface="Trebuchet MS"/>
                <a:cs typeface="Trebuchet MS"/>
              </a:rPr>
              <a:t>keys,  </a:t>
            </a:r>
            <a:r>
              <a:rPr sz="2200" spc="50" dirty="0">
                <a:latin typeface="Trebuchet MS"/>
                <a:cs typeface="Trebuchet MS"/>
              </a:rPr>
              <a:t>you </a:t>
            </a:r>
            <a:r>
              <a:rPr sz="2200" spc="5" dirty="0">
                <a:latin typeface="Trebuchet MS"/>
                <a:cs typeface="Trebuchet MS"/>
              </a:rPr>
              <a:t>need to </a:t>
            </a:r>
            <a:r>
              <a:rPr sz="2200" spc="-15" dirty="0">
                <a:latin typeface="Trebuchet MS"/>
                <a:cs typeface="Trebuchet MS"/>
              </a:rPr>
              <a:t>fully </a:t>
            </a:r>
            <a:r>
              <a:rPr sz="2200" spc="25" dirty="0">
                <a:latin typeface="Trebuchet MS"/>
                <a:cs typeface="Trebuchet MS"/>
              </a:rPr>
              <a:t>use </a:t>
            </a:r>
            <a:r>
              <a:rPr sz="2200" spc="-15" dirty="0">
                <a:latin typeface="Trebuchet MS"/>
                <a:cs typeface="Trebuchet MS"/>
              </a:rPr>
              <a:t>the </a:t>
            </a:r>
            <a:r>
              <a:rPr sz="2200" spc="20" dirty="0">
                <a:latin typeface="Trebuchet MS"/>
                <a:cs typeface="Trebuchet MS"/>
              </a:rPr>
              <a:t>sorting </a:t>
            </a:r>
            <a:r>
              <a:rPr sz="2200" spc="-20" dirty="0">
                <a:latin typeface="Trebuchet MS"/>
                <a:cs typeface="Trebuchet MS"/>
              </a:rPr>
              <a:t>feature </a:t>
            </a:r>
            <a:r>
              <a:rPr sz="2200" dirty="0">
                <a:latin typeface="Trebuchet MS"/>
                <a:cs typeface="Trebuchet MS"/>
              </a:rPr>
              <a:t>to </a:t>
            </a:r>
            <a:r>
              <a:rPr sz="2200" spc="-15" dirty="0">
                <a:latin typeface="Trebuchet MS"/>
                <a:cs typeface="Trebuchet MS"/>
              </a:rPr>
              <a:t>store the </a:t>
            </a:r>
            <a:r>
              <a:rPr sz="2200" spc="15" dirty="0">
                <a:latin typeface="Trebuchet MS"/>
                <a:cs typeface="Trebuchet MS"/>
              </a:rPr>
              <a:t>data </a:t>
            </a:r>
            <a:r>
              <a:rPr sz="2200" spc="-5" dirty="0">
                <a:latin typeface="Trebuchet MS"/>
                <a:cs typeface="Trebuchet MS"/>
              </a:rPr>
              <a:t>that </a:t>
            </a:r>
            <a:r>
              <a:rPr sz="2200" spc="-15" dirty="0">
                <a:latin typeface="Trebuchet MS"/>
                <a:cs typeface="Trebuchet MS"/>
              </a:rPr>
              <a:t>is frequently </a:t>
            </a:r>
            <a:r>
              <a:rPr sz="2200" spc="630" dirty="0">
                <a:latin typeface="Trebuchet MS"/>
                <a:cs typeface="Trebuchet MS"/>
              </a:rPr>
              <a:t> </a:t>
            </a:r>
            <a:r>
              <a:rPr sz="2200" spc="5" dirty="0">
                <a:latin typeface="Trebuchet MS"/>
                <a:cs typeface="Trebuchet MS"/>
              </a:rPr>
              <a:t>read </a:t>
            </a:r>
            <a:r>
              <a:rPr sz="2200" dirty="0">
                <a:latin typeface="Trebuchet MS"/>
                <a:cs typeface="Trebuchet MS"/>
              </a:rPr>
              <a:t>together </a:t>
            </a:r>
            <a:r>
              <a:rPr sz="2200" spc="55" dirty="0">
                <a:latin typeface="Trebuchet MS"/>
                <a:cs typeface="Trebuchet MS"/>
              </a:rPr>
              <a:t>and </a:t>
            </a:r>
            <a:r>
              <a:rPr sz="2200" spc="-15" dirty="0">
                <a:latin typeface="Trebuchet MS"/>
                <a:cs typeface="Trebuchet MS"/>
              </a:rPr>
              <a:t>the </a:t>
            </a:r>
            <a:r>
              <a:rPr sz="2200" spc="15" dirty="0">
                <a:latin typeface="Trebuchet MS"/>
                <a:cs typeface="Trebuchet MS"/>
              </a:rPr>
              <a:t>data </a:t>
            </a:r>
            <a:r>
              <a:rPr sz="2200" spc="-10" dirty="0">
                <a:latin typeface="Trebuchet MS"/>
                <a:cs typeface="Trebuchet MS"/>
              </a:rPr>
              <a:t>that </a:t>
            </a:r>
            <a:r>
              <a:rPr sz="2200" spc="65" dirty="0">
                <a:latin typeface="Trebuchet MS"/>
                <a:cs typeface="Trebuchet MS"/>
              </a:rPr>
              <a:t>may </a:t>
            </a:r>
            <a:r>
              <a:rPr sz="2200" spc="-10" dirty="0">
                <a:latin typeface="Trebuchet MS"/>
                <a:cs typeface="Trebuchet MS"/>
              </a:rPr>
              <a:t>be </a:t>
            </a:r>
            <a:r>
              <a:rPr sz="2200" spc="-15" dirty="0">
                <a:latin typeface="Trebuchet MS"/>
                <a:cs typeface="Trebuchet MS"/>
              </a:rPr>
              <a:t>accessed</a:t>
            </a:r>
            <a:r>
              <a:rPr sz="2200" spc="165" dirty="0">
                <a:latin typeface="Trebuchet MS"/>
                <a:cs typeface="Trebuchet MS"/>
              </a:rPr>
              <a:t> </a:t>
            </a:r>
            <a:r>
              <a:rPr sz="2200" spc="-65" dirty="0">
                <a:latin typeface="Trebuchet MS"/>
                <a:cs typeface="Trebuchet MS"/>
              </a:rPr>
              <a:t>recently.</a:t>
            </a:r>
            <a:endParaRPr sz="2200" dirty="0">
              <a:latin typeface="Trebuchet MS"/>
              <a:cs typeface="Trebuchet MS"/>
            </a:endParaRPr>
          </a:p>
        </p:txBody>
      </p:sp>
      <p:sp>
        <p:nvSpPr>
          <p:cNvPr id="5" name="object 5"/>
          <p:cNvSpPr txBox="1"/>
          <p:nvPr/>
        </p:nvSpPr>
        <p:spPr>
          <a:xfrm>
            <a:off x="799287" y="279971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6" name="object 6"/>
          <p:cNvSpPr txBox="1"/>
          <p:nvPr/>
        </p:nvSpPr>
        <p:spPr>
          <a:xfrm>
            <a:off x="1101039" y="2586197"/>
            <a:ext cx="10292715" cy="2372995"/>
          </a:xfrm>
          <a:prstGeom prst="rect">
            <a:avLst/>
          </a:prstGeom>
        </p:spPr>
        <p:txBody>
          <a:bodyPr vert="horz" wrap="square" lIns="0" tIns="12065" rIns="0" bIns="0" rtlCol="0">
            <a:spAutoFit/>
          </a:bodyPr>
          <a:lstStyle/>
          <a:p>
            <a:pPr marL="12700" marR="5080" algn="just">
              <a:lnSpc>
                <a:spcPct val="140000"/>
              </a:lnSpc>
              <a:spcBef>
                <a:spcPts val="95"/>
              </a:spcBef>
            </a:pPr>
            <a:r>
              <a:rPr sz="2200" spc="15" dirty="0">
                <a:latin typeface="Trebuchet MS"/>
                <a:cs typeface="Trebuchet MS"/>
              </a:rPr>
              <a:t>For </a:t>
            </a:r>
            <a:r>
              <a:rPr sz="2200" spc="-30" dirty="0">
                <a:latin typeface="Trebuchet MS"/>
                <a:cs typeface="Trebuchet MS"/>
              </a:rPr>
              <a:t>example, </a:t>
            </a:r>
            <a:r>
              <a:rPr sz="2200" spc="-60" dirty="0">
                <a:latin typeface="Trebuchet MS"/>
                <a:cs typeface="Trebuchet MS"/>
              </a:rPr>
              <a:t>if </a:t>
            </a:r>
            <a:r>
              <a:rPr sz="2200" spc="-15" dirty="0">
                <a:latin typeface="Trebuchet MS"/>
                <a:cs typeface="Trebuchet MS"/>
              </a:rPr>
              <a:t>the </a:t>
            </a:r>
            <a:r>
              <a:rPr sz="2200" spc="15" dirty="0">
                <a:latin typeface="Trebuchet MS"/>
                <a:cs typeface="Trebuchet MS"/>
              </a:rPr>
              <a:t>data </a:t>
            </a:r>
            <a:r>
              <a:rPr sz="2200" spc="-5" dirty="0">
                <a:latin typeface="Trebuchet MS"/>
                <a:cs typeface="Trebuchet MS"/>
              </a:rPr>
              <a:t>that </a:t>
            </a:r>
            <a:r>
              <a:rPr sz="2200" spc="-15" dirty="0">
                <a:latin typeface="Trebuchet MS"/>
                <a:cs typeface="Trebuchet MS"/>
              </a:rPr>
              <a:t>is </a:t>
            </a:r>
            <a:r>
              <a:rPr sz="2200" spc="-35" dirty="0">
                <a:latin typeface="Trebuchet MS"/>
                <a:cs typeface="Trebuchet MS"/>
              </a:rPr>
              <a:t>recently </a:t>
            </a:r>
            <a:r>
              <a:rPr sz="2200" spc="-20" dirty="0">
                <a:latin typeface="Trebuchet MS"/>
                <a:cs typeface="Trebuchet MS"/>
              </a:rPr>
              <a:t>written </a:t>
            </a:r>
            <a:r>
              <a:rPr sz="2200" dirty="0">
                <a:latin typeface="Trebuchet MS"/>
                <a:cs typeface="Trebuchet MS"/>
              </a:rPr>
              <a:t>to </a:t>
            </a:r>
            <a:r>
              <a:rPr sz="2200" spc="-15" dirty="0">
                <a:latin typeface="Trebuchet MS"/>
                <a:cs typeface="Trebuchet MS"/>
              </a:rPr>
              <a:t>the </a:t>
            </a:r>
            <a:r>
              <a:rPr sz="2200" spc="65" dirty="0">
                <a:latin typeface="Trebuchet MS"/>
                <a:cs typeface="Trebuchet MS"/>
              </a:rPr>
              <a:t>HBase </a:t>
            </a:r>
            <a:r>
              <a:rPr sz="2200" spc="-20" dirty="0">
                <a:latin typeface="Trebuchet MS"/>
                <a:cs typeface="Trebuchet MS"/>
              </a:rPr>
              <a:t>table </a:t>
            </a:r>
            <a:r>
              <a:rPr sz="2200" spc="-15" dirty="0">
                <a:latin typeface="Trebuchet MS"/>
                <a:cs typeface="Trebuchet MS"/>
              </a:rPr>
              <a:t>is </a:t>
            </a:r>
            <a:r>
              <a:rPr sz="2200" spc="45" dirty="0">
                <a:latin typeface="Trebuchet MS"/>
                <a:cs typeface="Trebuchet MS"/>
              </a:rPr>
              <a:t>most </a:t>
            </a:r>
            <a:r>
              <a:rPr sz="2200" spc="-25" dirty="0">
                <a:latin typeface="Trebuchet MS"/>
                <a:cs typeface="Trebuchet MS"/>
              </a:rPr>
              <a:t>likely  </a:t>
            </a:r>
            <a:r>
              <a:rPr sz="2200" dirty="0">
                <a:latin typeface="Trebuchet MS"/>
                <a:cs typeface="Trebuchet MS"/>
              </a:rPr>
              <a:t>to </a:t>
            </a:r>
            <a:r>
              <a:rPr sz="2200" spc="-5" dirty="0">
                <a:latin typeface="Trebuchet MS"/>
                <a:cs typeface="Trebuchet MS"/>
              </a:rPr>
              <a:t>be </a:t>
            </a:r>
            <a:r>
              <a:rPr sz="2200" spc="-45" dirty="0">
                <a:latin typeface="Trebuchet MS"/>
                <a:cs typeface="Trebuchet MS"/>
              </a:rPr>
              <a:t>accessed, </a:t>
            </a:r>
            <a:r>
              <a:rPr sz="2200" spc="55" dirty="0">
                <a:latin typeface="Trebuchet MS"/>
                <a:cs typeface="Trebuchet MS"/>
              </a:rPr>
              <a:t>you </a:t>
            </a:r>
            <a:r>
              <a:rPr sz="2200" spc="20" dirty="0">
                <a:latin typeface="Trebuchet MS"/>
                <a:cs typeface="Trebuchet MS"/>
              </a:rPr>
              <a:t>can use </a:t>
            </a:r>
            <a:r>
              <a:rPr sz="2200" spc="-15" dirty="0">
                <a:latin typeface="Trebuchet MS"/>
                <a:cs typeface="Trebuchet MS"/>
              </a:rPr>
              <a:t>the </a:t>
            </a:r>
            <a:r>
              <a:rPr sz="2200" spc="15" dirty="0">
                <a:latin typeface="Trebuchet MS"/>
                <a:cs typeface="Trebuchet MS"/>
              </a:rPr>
              <a:t>timestamp </a:t>
            </a:r>
            <a:r>
              <a:rPr sz="2200" spc="50" dirty="0">
                <a:latin typeface="Trebuchet MS"/>
                <a:cs typeface="Trebuchet MS"/>
              </a:rPr>
              <a:t>as </a:t>
            </a:r>
            <a:r>
              <a:rPr sz="2200" spc="60" dirty="0">
                <a:latin typeface="Trebuchet MS"/>
                <a:cs typeface="Trebuchet MS"/>
              </a:rPr>
              <a:t>a </a:t>
            </a:r>
            <a:r>
              <a:rPr sz="2200" spc="-5" dirty="0">
                <a:latin typeface="Trebuchet MS"/>
                <a:cs typeface="Trebuchet MS"/>
              </a:rPr>
              <a:t>part </a:t>
            </a:r>
            <a:r>
              <a:rPr sz="2200" spc="20" dirty="0">
                <a:latin typeface="Trebuchet MS"/>
                <a:cs typeface="Trebuchet MS"/>
              </a:rPr>
              <a:t>of </a:t>
            </a:r>
            <a:r>
              <a:rPr sz="2200" spc="-15" dirty="0">
                <a:latin typeface="Trebuchet MS"/>
                <a:cs typeface="Trebuchet MS"/>
              </a:rPr>
              <a:t>the </a:t>
            </a:r>
            <a:r>
              <a:rPr sz="2200" spc="45" dirty="0">
                <a:latin typeface="Trebuchet MS"/>
                <a:cs typeface="Trebuchet MS"/>
              </a:rPr>
              <a:t>row </a:t>
            </a:r>
            <a:r>
              <a:rPr sz="2200" spc="-75" dirty="0">
                <a:latin typeface="Trebuchet MS"/>
                <a:cs typeface="Trebuchet MS"/>
              </a:rPr>
              <a:t>key. </a:t>
            </a:r>
            <a:r>
              <a:rPr sz="2200" spc="5" dirty="0">
                <a:latin typeface="Trebuchet MS"/>
                <a:cs typeface="Trebuchet MS"/>
              </a:rPr>
              <a:t>Because  </a:t>
            </a:r>
            <a:r>
              <a:rPr sz="2200" spc="-15" dirty="0">
                <a:latin typeface="Trebuchet MS"/>
                <a:cs typeface="Trebuchet MS"/>
              </a:rPr>
              <a:t>the </a:t>
            </a:r>
            <a:r>
              <a:rPr sz="2200" spc="15" dirty="0">
                <a:latin typeface="Trebuchet MS"/>
                <a:cs typeface="Trebuchet MS"/>
              </a:rPr>
              <a:t>data </a:t>
            </a:r>
            <a:r>
              <a:rPr sz="2200" spc="-15" dirty="0">
                <a:latin typeface="Trebuchet MS"/>
                <a:cs typeface="Trebuchet MS"/>
              </a:rPr>
              <a:t>is </a:t>
            </a:r>
            <a:r>
              <a:rPr sz="2200" dirty="0">
                <a:latin typeface="Trebuchet MS"/>
                <a:cs typeface="Trebuchet MS"/>
              </a:rPr>
              <a:t>sorted </a:t>
            </a:r>
            <a:r>
              <a:rPr sz="2200" spc="5" dirty="0">
                <a:latin typeface="Trebuchet MS"/>
                <a:cs typeface="Trebuchet MS"/>
              </a:rPr>
              <a:t>in </a:t>
            </a:r>
            <a:r>
              <a:rPr sz="2200" spc="-10" dirty="0">
                <a:latin typeface="Trebuchet MS"/>
                <a:cs typeface="Trebuchet MS"/>
              </a:rPr>
              <a:t>alphabetical </a:t>
            </a:r>
            <a:r>
              <a:rPr sz="2200" spc="-50" dirty="0">
                <a:latin typeface="Trebuchet MS"/>
                <a:cs typeface="Trebuchet MS"/>
              </a:rPr>
              <a:t>order, </a:t>
            </a:r>
            <a:r>
              <a:rPr sz="2200" spc="50" dirty="0">
                <a:latin typeface="Trebuchet MS"/>
                <a:cs typeface="Trebuchet MS"/>
              </a:rPr>
              <a:t>you </a:t>
            </a:r>
            <a:r>
              <a:rPr sz="2200" spc="15" dirty="0">
                <a:latin typeface="Trebuchet MS"/>
                <a:cs typeface="Trebuchet MS"/>
              </a:rPr>
              <a:t>can </a:t>
            </a:r>
            <a:r>
              <a:rPr sz="2200" spc="25" dirty="0">
                <a:latin typeface="Trebuchet MS"/>
                <a:cs typeface="Trebuchet MS"/>
              </a:rPr>
              <a:t>use </a:t>
            </a:r>
            <a:r>
              <a:rPr sz="2200" b="1" spc="-55" dirty="0">
                <a:latin typeface="Arial"/>
                <a:cs typeface="Arial"/>
              </a:rPr>
              <a:t>Long.MAX_VALUE </a:t>
            </a:r>
            <a:r>
              <a:rPr sz="2200" b="1" spc="130" dirty="0">
                <a:latin typeface="Arial"/>
                <a:cs typeface="Arial"/>
              </a:rPr>
              <a:t>-  </a:t>
            </a:r>
            <a:r>
              <a:rPr sz="2200" b="1" spc="40" dirty="0">
                <a:latin typeface="Arial"/>
                <a:cs typeface="Arial"/>
              </a:rPr>
              <a:t>timestamp </a:t>
            </a:r>
            <a:r>
              <a:rPr sz="2200" spc="45" dirty="0">
                <a:latin typeface="Trebuchet MS"/>
                <a:cs typeface="Trebuchet MS"/>
              </a:rPr>
              <a:t>as </a:t>
            </a:r>
            <a:r>
              <a:rPr sz="2200" spc="-15" dirty="0">
                <a:latin typeface="Trebuchet MS"/>
                <a:cs typeface="Trebuchet MS"/>
              </a:rPr>
              <a:t>the </a:t>
            </a:r>
            <a:r>
              <a:rPr sz="2200" spc="45" dirty="0">
                <a:latin typeface="Trebuchet MS"/>
                <a:cs typeface="Trebuchet MS"/>
              </a:rPr>
              <a:t>row </a:t>
            </a:r>
            <a:r>
              <a:rPr sz="2200" spc="-70" dirty="0">
                <a:latin typeface="Trebuchet MS"/>
                <a:cs typeface="Trebuchet MS"/>
              </a:rPr>
              <a:t>key, </a:t>
            </a:r>
            <a:r>
              <a:rPr sz="2200" spc="5" dirty="0">
                <a:latin typeface="Trebuchet MS"/>
                <a:cs typeface="Trebuchet MS"/>
              </a:rPr>
              <a:t>in </a:t>
            </a:r>
            <a:r>
              <a:rPr sz="2200" spc="-10" dirty="0">
                <a:latin typeface="Trebuchet MS"/>
                <a:cs typeface="Trebuchet MS"/>
              </a:rPr>
              <a:t>this </a:t>
            </a:r>
            <a:r>
              <a:rPr sz="2200" spc="-40" dirty="0">
                <a:latin typeface="Trebuchet MS"/>
                <a:cs typeface="Trebuchet MS"/>
              </a:rPr>
              <a:t>way, </a:t>
            </a:r>
            <a:r>
              <a:rPr sz="2200" spc="15" dirty="0">
                <a:latin typeface="Trebuchet MS"/>
                <a:cs typeface="Trebuchet MS"/>
              </a:rPr>
              <a:t>newly </a:t>
            </a:r>
            <a:r>
              <a:rPr sz="2200" spc="-20" dirty="0">
                <a:latin typeface="Trebuchet MS"/>
                <a:cs typeface="Trebuchet MS"/>
              </a:rPr>
              <a:t>written </a:t>
            </a:r>
            <a:r>
              <a:rPr sz="2200" spc="15" dirty="0">
                <a:latin typeface="Trebuchet MS"/>
                <a:cs typeface="Trebuchet MS"/>
              </a:rPr>
              <a:t>data can </a:t>
            </a:r>
            <a:r>
              <a:rPr sz="2200" spc="-10" dirty="0">
                <a:latin typeface="Trebuchet MS"/>
                <a:cs typeface="Trebuchet MS"/>
              </a:rPr>
              <a:t>be quickly </a:t>
            </a:r>
            <a:r>
              <a:rPr sz="2200" spc="-25" dirty="0">
                <a:latin typeface="Trebuchet MS"/>
                <a:cs typeface="Trebuchet MS"/>
              </a:rPr>
              <a:t>hit  </a:t>
            </a:r>
            <a:r>
              <a:rPr sz="2200" spc="50" dirty="0">
                <a:latin typeface="Trebuchet MS"/>
                <a:cs typeface="Trebuchet MS"/>
              </a:rPr>
              <a:t>when </a:t>
            </a:r>
            <a:r>
              <a:rPr sz="2200" spc="30" dirty="0">
                <a:latin typeface="Trebuchet MS"/>
                <a:cs typeface="Trebuchet MS"/>
              </a:rPr>
              <a:t>being</a:t>
            </a:r>
            <a:r>
              <a:rPr sz="2200" spc="-5" dirty="0">
                <a:latin typeface="Trebuchet MS"/>
                <a:cs typeface="Trebuchet MS"/>
              </a:rPr>
              <a:t> </a:t>
            </a:r>
            <a:r>
              <a:rPr sz="2200" spc="-60" dirty="0">
                <a:latin typeface="Trebuchet MS"/>
                <a:cs typeface="Trebuchet MS"/>
              </a:rPr>
              <a:t>read.</a:t>
            </a:r>
            <a:endParaRPr sz="2200" dirty="0">
              <a:latin typeface="Trebuchet MS"/>
              <a:cs typeface="Trebuchet MS"/>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6730365" cy="513715"/>
          </a:xfrm>
          <a:prstGeom prst="rect">
            <a:avLst/>
          </a:prstGeom>
        </p:spPr>
        <p:txBody>
          <a:bodyPr vert="horz" wrap="square" lIns="0" tIns="13335" rIns="0" bIns="0" rtlCol="0">
            <a:spAutoFit/>
          </a:bodyPr>
          <a:lstStyle/>
          <a:p>
            <a:pPr marL="12700">
              <a:lnSpc>
                <a:spcPct val="100000"/>
              </a:lnSpc>
              <a:spcBef>
                <a:spcPts val="105"/>
              </a:spcBef>
            </a:pPr>
            <a:r>
              <a:rPr sz="3200" spc="15" dirty="0">
                <a:solidFill>
                  <a:srgbClr val="000000"/>
                </a:solidFill>
              </a:rPr>
              <a:t>Creating </a:t>
            </a:r>
            <a:r>
              <a:rPr sz="3200" spc="100" dirty="0">
                <a:solidFill>
                  <a:srgbClr val="000000"/>
                </a:solidFill>
              </a:rPr>
              <a:t>HBase </a:t>
            </a:r>
            <a:r>
              <a:rPr sz="3200" spc="40" dirty="0">
                <a:solidFill>
                  <a:srgbClr val="000000"/>
                </a:solidFill>
              </a:rPr>
              <a:t>Secondary </a:t>
            </a:r>
            <a:r>
              <a:rPr sz="3200" spc="15" dirty="0">
                <a:solidFill>
                  <a:srgbClr val="000000"/>
                </a:solidFill>
              </a:rPr>
              <a:t>Index</a:t>
            </a:r>
            <a:r>
              <a:rPr sz="3200" spc="-30" dirty="0">
                <a:solidFill>
                  <a:srgbClr val="000000"/>
                </a:solidFill>
              </a:rPr>
              <a:t> </a:t>
            </a:r>
            <a:r>
              <a:rPr sz="3200" spc="130" dirty="0">
                <a:solidFill>
                  <a:srgbClr val="000000"/>
                </a:solidFill>
              </a:rPr>
              <a:t>(1)</a:t>
            </a:r>
            <a:endParaRPr sz="3200"/>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fld id="{81D60167-4931-47E6-BA6A-407CBD079E47}" type="slidenum">
              <a:rPr spc="45" dirty="0"/>
              <a:t>59</a:t>
            </a:fld>
            <a:r>
              <a:rPr spc="45" dirty="0"/>
              <a:t>	</a:t>
            </a:r>
            <a:r>
              <a:rPr spc="30" dirty="0"/>
              <a:t>Huawei</a:t>
            </a:r>
            <a:r>
              <a:rPr spc="-10" dirty="0"/>
              <a:t> </a:t>
            </a:r>
            <a:r>
              <a:rPr spc="5" dirty="0"/>
              <a:t>Confidential</a:t>
            </a:r>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101039" y="1211325"/>
            <a:ext cx="8094980" cy="930275"/>
          </a:xfrm>
          <a:prstGeom prst="rect">
            <a:avLst/>
          </a:prstGeom>
        </p:spPr>
        <p:txBody>
          <a:bodyPr vert="horz" wrap="square" lIns="0" tIns="12065" rIns="0" bIns="0" rtlCol="0">
            <a:spAutoFit/>
          </a:bodyPr>
          <a:lstStyle/>
          <a:p>
            <a:pPr marL="12700">
              <a:lnSpc>
                <a:spcPct val="100000"/>
              </a:lnSpc>
              <a:spcBef>
                <a:spcPts val="95"/>
              </a:spcBef>
            </a:pPr>
            <a:r>
              <a:rPr sz="2200" spc="60" dirty="0">
                <a:latin typeface="Trebuchet MS"/>
                <a:cs typeface="Trebuchet MS"/>
              </a:rPr>
              <a:t>HBase </a:t>
            </a:r>
            <a:r>
              <a:rPr sz="2200" spc="55" dirty="0">
                <a:latin typeface="Trebuchet MS"/>
                <a:cs typeface="Trebuchet MS"/>
              </a:rPr>
              <a:t>has </a:t>
            </a:r>
            <a:r>
              <a:rPr sz="2200" spc="25" dirty="0">
                <a:latin typeface="Trebuchet MS"/>
                <a:cs typeface="Trebuchet MS"/>
              </a:rPr>
              <a:t>only </a:t>
            </a:r>
            <a:r>
              <a:rPr sz="2200" spc="35" dirty="0">
                <a:latin typeface="Trebuchet MS"/>
                <a:cs typeface="Trebuchet MS"/>
              </a:rPr>
              <a:t>one </a:t>
            </a:r>
            <a:r>
              <a:rPr sz="2200" spc="-5" dirty="0">
                <a:latin typeface="Trebuchet MS"/>
                <a:cs typeface="Trebuchet MS"/>
              </a:rPr>
              <a:t>index for </a:t>
            </a:r>
            <a:r>
              <a:rPr sz="2200" spc="45" dirty="0">
                <a:latin typeface="Trebuchet MS"/>
                <a:cs typeface="Trebuchet MS"/>
              </a:rPr>
              <a:t>row</a:t>
            </a:r>
            <a:r>
              <a:rPr sz="2200" spc="25" dirty="0">
                <a:latin typeface="Trebuchet MS"/>
                <a:cs typeface="Trebuchet MS"/>
              </a:rPr>
              <a:t> </a:t>
            </a:r>
            <a:r>
              <a:rPr sz="2200" spc="-55" dirty="0">
                <a:latin typeface="Trebuchet MS"/>
                <a:cs typeface="Trebuchet MS"/>
              </a:rPr>
              <a:t>keys.</a:t>
            </a:r>
            <a:endParaRPr sz="2200">
              <a:latin typeface="Trebuchet MS"/>
              <a:cs typeface="Trebuchet MS"/>
            </a:endParaRPr>
          </a:p>
          <a:p>
            <a:pPr marL="12700">
              <a:lnSpc>
                <a:spcPct val="100000"/>
              </a:lnSpc>
              <a:spcBef>
                <a:spcPts val="1850"/>
              </a:spcBef>
            </a:pPr>
            <a:r>
              <a:rPr sz="2200" spc="-20" dirty="0">
                <a:latin typeface="Trebuchet MS"/>
                <a:cs typeface="Trebuchet MS"/>
              </a:rPr>
              <a:t>There </a:t>
            </a:r>
            <a:r>
              <a:rPr sz="2200" spc="-10" dirty="0">
                <a:latin typeface="Trebuchet MS"/>
                <a:cs typeface="Trebuchet MS"/>
              </a:rPr>
              <a:t>are </a:t>
            </a:r>
            <a:r>
              <a:rPr sz="2200" spc="-25" dirty="0">
                <a:latin typeface="Trebuchet MS"/>
                <a:cs typeface="Trebuchet MS"/>
              </a:rPr>
              <a:t>three </a:t>
            </a:r>
            <a:r>
              <a:rPr sz="2200" spc="35" dirty="0">
                <a:latin typeface="Trebuchet MS"/>
                <a:cs typeface="Trebuchet MS"/>
              </a:rPr>
              <a:t>methods </a:t>
            </a:r>
            <a:r>
              <a:rPr sz="2200" spc="-5" dirty="0">
                <a:latin typeface="Trebuchet MS"/>
                <a:cs typeface="Trebuchet MS"/>
              </a:rPr>
              <a:t>for </a:t>
            </a:r>
            <a:r>
              <a:rPr sz="2200" spc="5" dirty="0">
                <a:latin typeface="Trebuchet MS"/>
                <a:cs typeface="Trebuchet MS"/>
              </a:rPr>
              <a:t>accessing </a:t>
            </a:r>
            <a:r>
              <a:rPr sz="2200" spc="45" dirty="0">
                <a:latin typeface="Trebuchet MS"/>
                <a:cs typeface="Trebuchet MS"/>
              </a:rPr>
              <a:t>rows </a:t>
            </a:r>
            <a:r>
              <a:rPr sz="2200" spc="5" dirty="0">
                <a:latin typeface="Trebuchet MS"/>
                <a:cs typeface="Trebuchet MS"/>
              </a:rPr>
              <a:t>in </a:t>
            </a:r>
            <a:r>
              <a:rPr sz="2200" spc="-15" dirty="0">
                <a:latin typeface="Trebuchet MS"/>
                <a:cs typeface="Trebuchet MS"/>
              </a:rPr>
              <a:t>the </a:t>
            </a:r>
            <a:r>
              <a:rPr sz="2200" spc="65" dirty="0">
                <a:latin typeface="Trebuchet MS"/>
                <a:cs typeface="Trebuchet MS"/>
              </a:rPr>
              <a:t>HBase</a:t>
            </a:r>
            <a:r>
              <a:rPr sz="2200" spc="275" dirty="0">
                <a:latin typeface="Trebuchet MS"/>
                <a:cs typeface="Trebuchet MS"/>
              </a:rPr>
              <a:t> </a:t>
            </a:r>
            <a:r>
              <a:rPr sz="2200" spc="-65" dirty="0">
                <a:latin typeface="Trebuchet MS"/>
                <a:cs typeface="Trebuchet MS"/>
              </a:rPr>
              <a:t>table:</a:t>
            </a:r>
            <a:endParaRPr sz="2200">
              <a:latin typeface="Trebuchet MS"/>
              <a:cs typeface="Trebuchet MS"/>
            </a:endParaRPr>
          </a:p>
        </p:txBody>
      </p:sp>
      <p:sp>
        <p:nvSpPr>
          <p:cNvPr id="5" name="object 5"/>
          <p:cNvSpPr txBox="1"/>
          <p:nvPr/>
        </p:nvSpPr>
        <p:spPr>
          <a:xfrm>
            <a:off x="799287" y="1860550"/>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6" name="object 6"/>
          <p:cNvSpPr txBox="1"/>
          <p:nvPr/>
        </p:nvSpPr>
        <p:spPr>
          <a:xfrm>
            <a:off x="1203147" y="2400426"/>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7" name="object 7"/>
          <p:cNvSpPr txBox="1"/>
          <p:nvPr/>
        </p:nvSpPr>
        <p:spPr>
          <a:xfrm>
            <a:off x="1454911" y="2328799"/>
            <a:ext cx="3946525" cy="1361440"/>
          </a:xfrm>
          <a:prstGeom prst="rect">
            <a:avLst/>
          </a:prstGeom>
        </p:spPr>
        <p:txBody>
          <a:bodyPr vert="horz" wrap="square" lIns="0" tIns="13335" rIns="0" bIns="0" rtlCol="0">
            <a:spAutoFit/>
          </a:bodyPr>
          <a:lstStyle/>
          <a:p>
            <a:pPr marL="12700">
              <a:lnSpc>
                <a:spcPct val="100000"/>
              </a:lnSpc>
              <a:spcBef>
                <a:spcPts val="105"/>
              </a:spcBef>
            </a:pPr>
            <a:r>
              <a:rPr sz="2000" dirty="0">
                <a:latin typeface="Trebuchet MS"/>
                <a:cs typeface="Trebuchet MS"/>
              </a:rPr>
              <a:t>Access </a:t>
            </a:r>
            <a:r>
              <a:rPr sz="2000" spc="50" dirty="0">
                <a:latin typeface="Trebuchet MS"/>
                <a:cs typeface="Trebuchet MS"/>
              </a:rPr>
              <a:t>through </a:t>
            </a:r>
            <a:r>
              <a:rPr sz="2000" spc="55" dirty="0">
                <a:latin typeface="Trebuchet MS"/>
                <a:cs typeface="Trebuchet MS"/>
              </a:rPr>
              <a:t>a </a:t>
            </a:r>
            <a:r>
              <a:rPr sz="2000" spc="20" dirty="0">
                <a:latin typeface="Trebuchet MS"/>
                <a:cs typeface="Trebuchet MS"/>
              </a:rPr>
              <a:t>single</a:t>
            </a:r>
            <a:r>
              <a:rPr sz="2000" spc="-90" dirty="0">
                <a:latin typeface="Trebuchet MS"/>
                <a:cs typeface="Trebuchet MS"/>
              </a:rPr>
              <a:t> </a:t>
            </a:r>
            <a:r>
              <a:rPr sz="2000" spc="25" dirty="0">
                <a:latin typeface="Trebuchet MS"/>
                <a:cs typeface="Trebuchet MS"/>
              </a:rPr>
              <a:t>rowkey</a:t>
            </a:r>
            <a:endParaRPr sz="2000">
              <a:latin typeface="Trebuchet MS"/>
              <a:cs typeface="Trebuchet MS"/>
            </a:endParaRPr>
          </a:p>
          <a:p>
            <a:pPr marL="12700" marR="5080">
              <a:lnSpc>
                <a:spcPts val="4060"/>
              </a:lnSpc>
              <a:spcBef>
                <a:spcPts val="405"/>
              </a:spcBef>
            </a:pPr>
            <a:r>
              <a:rPr sz="2000" dirty="0">
                <a:latin typeface="Trebuchet MS"/>
                <a:cs typeface="Trebuchet MS"/>
              </a:rPr>
              <a:t>Access </a:t>
            </a:r>
            <a:r>
              <a:rPr sz="2000" spc="50" dirty="0">
                <a:latin typeface="Trebuchet MS"/>
                <a:cs typeface="Trebuchet MS"/>
              </a:rPr>
              <a:t>through </a:t>
            </a:r>
            <a:r>
              <a:rPr sz="2000" spc="55" dirty="0">
                <a:latin typeface="Trebuchet MS"/>
                <a:cs typeface="Trebuchet MS"/>
              </a:rPr>
              <a:t>a </a:t>
            </a:r>
            <a:r>
              <a:rPr sz="2000" spc="45" dirty="0">
                <a:latin typeface="Trebuchet MS"/>
                <a:cs typeface="Trebuchet MS"/>
              </a:rPr>
              <a:t>row </a:t>
            </a:r>
            <a:r>
              <a:rPr sz="2000" spc="5" dirty="0">
                <a:latin typeface="Trebuchet MS"/>
                <a:cs typeface="Trebuchet MS"/>
              </a:rPr>
              <a:t>key</a:t>
            </a:r>
            <a:r>
              <a:rPr sz="2000" spc="-105" dirty="0">
                <a:latin typeface="Trebuchet MS"/>
                <a:cs typeface="Trebuchet MS"/>
              </a:rPr>
              <a:t> </a:t>
            </a:r>
            <a:r>
              <a:rPr sz="2000" spc="-15" dirty="0">
                <a:latin typeface="Trebuchet MS"/>
                <a:cs typeface="Trebuchet MS"/>
              </a:rPr>
              <a:t>interval  </a:t>
            </a:r>
            <a:r>
              <a:rPr sz="2000" spc="-5" dirty="0">
                <a:latin typeface="Trebuchet MS"/>
                <a:cs typeface="Trebuchet MS"/>
              </a:rPr>
              <a:t>Full </a:t>
            </a:r>
            <a:r>
              <a:rPr sz="2000" spc="-15" dirty="0">
                <a:latin typeface="Trebuchet MS"/>
                <a:cs typeface="Trebuchet MS"/>
              </a:rPr>
              <a:t>table</a:t>
            </a:r>
            <a:r>
              <a:rPr sz="2000" spc="5" dirty="0">
                <a:latin typeface="Trebuchet MS"/>
                <a:cs typeface="Trebuchet MS"/>
              </a:rPr>
              <a:t> </a:t>
            </a:r>
            <a:r>
              <a:rPr sz="2000" spc="25" dirty="0">
                <a:latin typeface="Trebuchet MS"/>
                <a:cs typeface="Trebuchet MS"/>
              </a:rPr>
              <a:t>scan</a:t>
            </a:r>
            <a:endParaRPr sz="2000">
              <a:latin typeface="Trebuchet MS"/>
              <a:cs typeface="Trebuchet MS"/>
            </a:endParaRPr>
          </a:p>
        </p:txBody>
      </p:sp>
      <p:sp>
        <p:nvSpPr>
          <p:cNvPr id="8" name="object 8"/>
          <p:cNvSpPr txBox="1"/>
          <p:nvPr/>
        </p:nvSpPr>
        <p:spPr>
          <a:xfrm>
            <a:off x="1203147" y="2915538"/>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9" name="object 9"/>
          <p:cNvSpPr txBox="1"/>
          <p:nvPr/>
        </p:nvSpPr>
        <p:spPr>
          <a:xfrm>
            <a:off x="1203147" y="3430904"/>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6730365" cy="513715"/>
          </a:xfrm>
          <a:prstGeom prst="rect">
            <a:avLst/>
          </a:prstGeom>
        </p:spPr>
        <p:txBody>
          <a:bodyPr vert="horz" wrap="square" lIns="0" tIns="13335" rIns="0" bIns="0" rtlCol="0">
            <a:spAutoFit/>
          </a:bodyPr>
          <a:lstStyle/>
          <a:p>
            <a:pPr marL="12700">
              <a:lnSpc>
                <a:spcPct val="100000"/>
              </a:lnSpc>
              <a:spcBef>
                <a:spcPts val="105"/>
              </a:spcBef>
            </a:pPr>
            <a:r>
              <a:rPr sz="3200" spc="15" dirty="0">
                <a:solidFill>
                  <a:srgbClr val="000000"/>
                </a:solidFill>
              </a:rPr>
              <a:t>Creating </a:t>
            </a:r>
            <a:r>
              <a:rPr sz="3200" spc="100" dirty="0">
                <a:solidFill>
                  <a:srgbClr val="000000"/>
                </a:solidFill>
              </a:rPr>
              <a:t>HBase </a:t>
            </a:r>
            <a:r>
              <a:rPr sz="3200" spc="40" dirty="0">
                <a:solidFill>
                  <a:srgbClr val="000000"/>
                </a:solidFill>
              </a:rPr>
              <a:t>Secondary </a:t>
            </a:r>
            <a:r>
              <a:rPr sz="3200" spc="15" dirty="0">
                <a:solidFill>
                  <a:srgbClr val="000000"/>
                </a:solidFill>
              </a:rPr>
              <a:t>Index</a:t>
            </a:r>
            <a:r>
              <a:rPr sz="3200" spc="-30" dirty="0">
                <a:solidFill>
                  <a:srgbClr val="000000"/>
                </a:solidFill>
              </a:rPr>
              <a:t> </a:t>
            </a:r>
            <a:r>
              <a:rPr sz="3200" spc="130" dirty="0">
                <a:solidFill>
                  <a:srgbClr val="000000"/>
                </a:solidFill>
              </a:rPr>
              <a:t>(2)</a:t>
            </a:r>
            <a:endParaRPr sz="3200"/>
          </a:p>
        </p:txBody>
      </p:sp>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fld id="{81D60167-4931-47E6-BA6A-407CBD079E47}" type="slidenum">
              <a:rPr spc="45" dirty="0"/>
              <a:t>60</a:t>
            </a:fld>
            <a:r>
              <a:rPr spc="45" dirty="0"/>
              <a:t>	</a:t>
            </a:r>
            <a:r>
              <a:rPr spc="30" dirty="0"/>
              <a:t>Huawei</a:t>
            </a:r>
            <a:r>
              <a:rPr spc="-10" dirty="0"/>
              <a:t> </a:t>
            </a:r>
            <a:r>
              <a:rPr spc="5" dirty="0"/>
              <a:t>Confidential</a:t>
            </a:r>
          </a:p>
        </p:txBody>
      </p:sp>
      <p:sp>
        <p:nvSpPr>
          <p:cNvPr id="3" name="object 3"/>
          <p:cNvSpPr txBox="1"/>
          <p:nvPr/>
        </p:nvSpPr>
        <p:spPr>
          <a:xfrm>
            <a:off x="799287" y="1308861"/>
            <a:ext cx="1397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Wingdings"/>
                <a:cs typeface="Wingdings"/>
              </a:rPr>
              <a:t></a:t>
            </a:r>
            <a:endParaRPr sz="1200">
              <a:latin typeface="Wingdings"/>
              <a:cs typeface="Wingdings"/>
            </a:endParaRPr>
          </a:p>
        </p:txBody>
      </p:sp>
      <p:sp>
        <p:nvSpPr>
          <p:cNvPr id="4" name="object 4"/>
          <p:cNvSpPr txBox="1"/>
          <p:nvPr/>
        </p:nvSpPr>
        <p:spPr>
          <a:xfrm>
            <a:off x="1101039" y="1223517"/>
            <a:ext cx="3359785" cy="391160"/>
          </a:xfrm>
          <a:prstGeom prst="rect">
            <a:avLst/>
          </a:prstGeom>
        </p:spPr>
        <p:txBody>
          <a:bodyPr vert="horz" wrap="square" lIns="0" tIns="12700" rIns="0" bIns="0" rtlCol="0">
            <a:spAutoFit/>
          </a:bodyPr>
          <a:lstStyle/>
          <a:p>
            <a:pPr marL="12700">
              <a:lnSpc>
                <a:spcPct val="100000"/>
              </a:lnSpc>
              <a:spcBef>
                <a:spcPts val="100"/>
              </a:spcBef>
            </a:pPr>
            <a:r>
              <a:rPr sz="2400" spc="30" dirty="0">
                <a:latin typeface="Trebuchet MS"/>
                <a:cs typeface="Trebuchet MS"/>
              </a:rPr>
              <a:t>Hindex </a:t>
            </a:r>
            <a:r>
              <a:rPr sz="2400" spc="20" dirty="0">
                <a:latin typeface="Trebuchet MS"/>
                <a:cs typeface="Trebuchet MS"/>
              </a:rPr>
              <a:t>Secondary</a:t>
            </a:r>
            <a:r>
              <a:rPr sz="2400" spc="-5" dirty="0">
                <a:latin typeface="Trebuchet MS"/>
                <a:cs typeface="Trebuchet MS"/>
              </a:rPr>
              <a:t> </a:t>
            </a:r>
            <a:r>
              <a:rPr sz="2400" spc="10" dirty="0">
                <a:latin typeface="Trebuchet MS"/>
                <a:cs typeface="Trebuchet MS"/>
              </a:rPr>
              <a:t>Index</a:t>
            </a:r>
            <a:endParaRPr sz="2400">
              <a:latin typeface="Trebuchet MS"/>
              <a:cs typeface="Trebuchet MS"/>
            </a:endParaRPr>
          </a:p>
        </p:txBody>
      </p:sp>
      <p:sp>
        <p:nvSpPr>
          <p:cNvPr id="5" name="object 5"/>
          <p:cNvSpPr txBox="1"/>
          <p:nvPr/>
        </p:nvSpPr>
        <p:spPr>
          <a:xfrm>
            <a:off x="1203147" y="1871217"/>
            <a:ext cx="13843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6" name="object 6"/>
          <p:cNvSpPr txBox="1"/>
          <p:nvPr/>
        </p:nvSpPr>
        <p:spPr>
          <a:xfrm>
            <a:off x="1454911" y="1677898"/>
            <a:ext cx="8718550" cy="825803"/>
          </a:xfrm>
          <a:prstGeom prst="rect">
            <a:avLst/>
          </a:prstGeom>
        </p:spPr>
        <p:txBody>
          <a:bodyPr vert="horz" wrap="square" lIns="0" tIns="12700" rIns="0" bIns="0" rtlCol="0">
            <a:spAutoFit/>
          </a:bodyPr>
          <a:lstStyle/>
          <a:p>
            <a:pPr marL="12700" marR="5080">
              <a:lnSpc>
                <a:spcPct val="140100"/>
              </a:lnSpc>
              <a:spcBef>
                <a:spcPts val="100"/>
              </a:spcBef>
            </a:pPr>
            <a:r>
              <a:rPr sz="2000" spc="30" dirty="0">
                <a:latin typeface="Trebuchet MS"/>
                <a:cs typeface="Trebuchet MS"/>
              </a:rPr>
              <a:t>Hindex </a:t>
            </a:r>
            <a:r>
              <a:rPr sz="2000" spc="-15" dirty="0">
                <a:latin typeface="Trebuchet MS"/>
                <a:cs typeface="Trebuchet MS"/>
              </a:rPr>
              <a:t>is </a:t>
            </a:r>
            <a:r>
              <a:rPr sz="2000" spc="55" dirty="0">
                <a:latin typeface="Trebuchet MS"/>
                <a:cs typeface="Trebuchet MS"/>
              </a:rPr>
              <a:t>a </a:t>
            </a:r>
            <a:r>
              <a:rPr sz="2000" dirty="0">
                <a:latin typeface="Trebuchet MS"/>
                <a:cs typeface="Trebuchet MS"/>
              </a:rPr>
              <a:t>Java-based </a:t>
            </a:r>
            <a:r>
              <a:rPr sz="2000" spc="60" dirty="0">
                <a:latin typeface="Trebuchet MS"/>
                <a:cs typeface="Trebuchet MS"/>
              </a:rPr>
              <a:t>HBase </a:t>
            </a:r>
            <a:r>
              <a:rPr sz="2000" spc="15" dirty="0">
                <a:latin typeface="Trebuchet MS"/>
                <a:cs typeface="Trebuchet MS"/>
              </a:rPr>
              <a:t>secondary </a:t>
            </a:r>
            <a:r>
              <a:rPr sz="2000" u="sng" spc="-5" dirty="0">
                <a:latin typeface="Trebuchet MS"/>
                <a:cs typeface="Trebuchet MS"/>
              </a:rPr>
              <a:t>index</a:t>
            </a:r>
            <a:r>
              <a:rPr sz="2000" spc="-5" dirty="0">
                <a:latin typeface="Trebuchet MS"/>
                <a:cs typeface="Trebuchet MS"/>
              </a:rPr>
              <a:t> </a:t>
            </a:r>
            <a:r>
              <a:rPr sz="2000" spc="5" dirty="0">
                <a:latin typeface="Trebuchet MS"/>
                <a:cs typeface="Trebuchet MS"/>
              </a:rPr>
              <a:t>developed </a:t>
            </a:r>
            <a:r>
              <a:rPr sz="2000" spc="15" dirty="0">
                <a:latin typeface="Trebuchet MS"/>
                <a:cs typeface="Trebuchet MS"/>
              </a:rPr>
              <a:t>by </a:t>
            </a:r>
            <a:r>
              <a:rPr sz="2000" u="sng" spc="50" dirty="0">
                <a:latin typeface="Trebuchet MS"/>
                <a:cs typeface="Trebuchet MS"/>
              </a:rPr>
              <a:t>H</a:t>
            </a:r>
            <a:r>
              <a:rPr sz="2000" spc="50" dirty="0">
                <a:latin typeface="Trebuchet MS"/>
                <a:cs typeface="Trebuchet MS"/>
              </a:rPr>
              <a:t>uawei and</a:t>
            </a:r>
            <a:r>
              <a:rPr sz="2000" spc="-105" dirty="0">
                <a:latin typeface="Trebuchet MS"/>
                <a:cs typeface="Trebuchet MS"/>
              </a:rPr>
              <a:t> </a:t>
            </a:r>
            <a:r>
              <a:rPr sz="2000" spc="-15" dirty="0">
                <a:latin typeface="Trebuchet MS"/>
                <a:cs typeface="Trebuchet MS"/>
              </a:rPr>
              <a:t>is  </a:t>
            </a:r>
            <a:r>
              <a:rPr sz="2000" spc="5" dirty="0">
                <a:latin typeface="Trebuchet MS"/>
                <a:cs typeface="Trebuchet MS"/>
              </a:rPr>
              <a:t>compatible </a:t>
            </a:r>
            <a:r>
              <a:rPr sz="2000" spc="10" dirty="0">
                <a:latin typeface="Trebuchet MS"/>
                <a:cs typeface="Trebuchet MS"/>
              </a:rPr>
              <a:t>with </a:t>
            </a:r>
            <a:r>
              <a:rPr sz="2000" spc="30" dirty="0">
                <a:latin typeface="Trebuchet MS"/>
                <a:cs typeface="Trebuchet MS"/>
              </a:rPr>
              <a:t>Apache </a:t>
            </a:r>
            <a:r>
              <a:rPr sz="2000" spc="60" dirty="0">
                <a:latin typeface="Trebuchet MS"/>
                <a:cs typeface="Trebuchet MS"/>
              </a:rPr>
              <a:t>HBase </a:t>
            </a:r>
            <a:r>
              <a:rPr sz="2000" spc="-85" dirty="0">
                <a:latin typeface="Trebuchet MS"/>
                <a:cs typeface="Trebuchet MS"/>
              </a:rPr>
              <a:t>0.94.8. </a:t>
            </a:r>
            <a:r>
              <a:rPr sz="2000" dirty="0">
                <a:latin typeface="Trebuchet MS"/>
                <a:cs typeface="Trebuchet MS"/>
              </a:rPr>
              <a:t>The </a:t>
            </a:r>
            <a:r>
              <a:rPr sz="2000" spc="-15" dirty="0">
                <a:latin typeface="Trebuchet MS"/>
                <a:cs typeface="Trebuchet MS"/>
              </a:rPr>
              <a:t>current </a:t>
            </a:r>
            <a:r>
              <a:rPr sz="2000" spc="-5" dirty="0">
                <a:latin typeface="Trebuchet MS"/>
                <a:cs typeface="Trebuchet MS"/>
              </a:rPr>
              <a:t>features are </a:t>
            </a:r>
            <a:r>
              <a:rPr sz="2000" spc="40" dirty="0">
                <a:latin typeface="Trebuchet MS"/>
                <a:cs typeface="Trebuchet MS"/>
              </a:rPr>
              <a:t>as</a:t>
            </a:r>
            <a:r>
              <a:rPr sz="2000" spc="110" dirty="0">
                <a:latin typeface="Trebuchet MS"/>
                <a:cs typeface="Trebuchet MS"/>
              </a:rPr>
              <a:t> </a:t>
            </a:r>
            <a:r>
              <a:rPr sz="2000" spc="-20" dirty="0">
                <a:latin typeface="Trebuchet MS"/>
                <a:cs typeface="Trebuchet MS"/>
              </a:rPr>
              <a:t>follows:</a:t>
            </a:r>
            <a:endParaRPr sz="2000" dirty="0">
              <a:latin typeface="Trebuchet MS"/>
              <a:cs typeface="Trebuchet MS"/>
            </a:endParaRPr>
          </a:p>
        </p:txBody>
      </p:sp>
      <p:sp>
        <p:nvSpPr>
          <p:cNvPr id="7" name="object 7"/>
          <p:cNvSpPr txBox="1"/>
          <p:nvPr/>
        </p:nvSpPr>
        <p:spPr>
          <a:xfrm>
            <a:off x="1602739" y="2781427"/>
            <a:ext cx="111125"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Wingdings"/>
                <a:cs typeface="Wingdings"/>
              </a:rPr>
              <a:t></a:t>
            </a:r>
            <a:endParaRPr sz="900">
              <a:latin typeface="Wingdings"/>
              <a:cs typeface="Wingdings"/>
            </a:endParaRPr>
          </a:p>
        </p:txBody>
      </p:sp>
      <p:sp>
        <p:nvSpPr>
          <p:cNvPr id="8" name="object 8"/>
          <p:cNvSpPr txBox="1"/>
          <p:nvPr/>
        </p:nvSpPr>
        <p:spPr>
          <a:xfrm>
            <a:off x="1803907" y="2717419"/>
            <a:ext cx="3798570" cy="122047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Trebuchet MS"/>
                <a:cs typeface="Trebuchet MS"/>
              </a:rPr>
              <a:t>Multiple </a:t>
            </a:r>
            <a:r>
              <a:rPr sz="1800" spc="-15" dirty="0">
                <a:latin typeface="Trebuchet MS"/>
                <a:cs typeface="Trebuchet MS"/>
              </a:rPr>
              <a:t>table</a:t>
            </a:r>
            <a:r>
              <a:rPr sz="1800" spc="5" dirty="0">
                <a:latin typeface="Trebuchet MS"/>
                <a:cs typeface="Trebuchet MS"/>
              </a:rPr>
              <a:t> </a:t>
            </a:r>
            <a:r>
              <a:rPr sz="1800" spc="-5" dirty="0">
                <a:latin typeface="Trebuchet MS"/>
                <a:cs typeface="Trebuchet MS"/>
              </a:rPr>
              <a:t>indexes</a:t>
            </a:r>
            <a:endParaRPr sz="1800">
              <a:latin typeface="Trebuchet MS"/>
              <a:cs typeface="Trebuchet MS"/>
            </a:endParaRPr>
          </a:p>
          <a:p>
            <a:pPr marL="12700">
              <a:lnSpc>
                <a:spcPct val="100000"/>
              </a:lnSpc>
              <a:spcBef>
                <a:spcPts val="1460"/>
              </a:spcBef>
            </a:pPr>
            <a:r>
              <a:rPr sz="1800" spc="30" dirty="0">
                <a:latin typeface="Trebuchet MS"/>
                <a:cs typeface="Trebuchet MS"/>
              </a:rPr>
              <a:t>Multiple </a:t>
            </a:r>
            <a:r>
              <a:rPr sz="1800" spc="40" dirty="0">
                <a:latin typeface="Trebuchet MS"/>
                <a:cs typeface="Trebuchet MS"/>
              </a:rPr>
              <a:t>column</a:t>
            </a:r>
            <a:r>
              <a:rPr sz="1800" spc="-25" dirty="0">
                <a:latin typeface="Trebuchet MS"/>
                <a:cs typeface="Trebuchet MS"/>
              </a:rPr>
              <a:t> </a:t>
            </a:r>
            <a:r>
              <a:rPr sz="1800" spc="-5" dirty="0">
                <a:latin typeface="Trebuchet MS"/>
                <a:cs typeface="Trebuchet MS"/>
              </a:rPr>
              <a:t>indexes</a:t>
            </a:r>
            <a:endParaRPr sz="1800">
              <a:latin typeface="Trebuchet MS"/>
              <a:cs typeface="Trebuchet MS"/>
            </a:endParaRPr>
          </a:p>
          <a:p>
            <a:pPr marL="12700">
              <a:lnSpc>
                <a:spcPct val="100000"/>
              </a:lnSpc>
              <a:spcBef>
                <a:spcPts val="1470"/>
              </a:spcBef>
            </a:pPr>
            <a:r>
              <a:rPr sz="1800" spc="10" dirty="0">
                <a:latin typeface="Trebuchet MS"/>
                <a:cs typeface="Trebuchet MS"/>
              </a:rPr>
              <a:t>Index </a:t>
            </a:r>
            <a:r>
              <a:rPr sz="1800" spc="20" dirty="0">
                <a:latin typeface="Trebuchet MS"/>
                <a:cs typeface="Trebuchet MS"/>
              </a:rPr>
              <a:t>based </a:t>
            </a:r>
            <a:r>
              <a:rPr sz="1800" spc="65" dirty="0">
                <a:latin typeface="Trebuchet MS"/>
                <a:cs typeface="Trebuchet MS"/>
              </a:rPr>
              <a:t>on </a:t>
            </a:r>
            <a:r>
              <a:rPr sz="1800" spc="45" dirty="0">
                <a:latin typeface="Trebuchet MS"/>
                <a:cs typeface="Trebuchet MS"/>
              </a:rPr>
              <a:t>some </a:t>
            </a:r>
            <a:r>
              <a:rPr sz="1800" spc="35" dirty="0">
                <a:latin typeface="Trebuchet MS"/>
                <a:cs typeface="Trebuchet MS"/>
              </a:rPr>
              <a:t>column</a:t>
            </a:r>
            <a:r>
              <a:rPr sz="1800" spc="-80" dirty="0">
                <a:latin typeface="Trebuchet MS"/>
                <a:cs typeface="Trebuchet MS"/>
              </a:rPr>
              <a:t> </a:t>
            </a:r>
            <a:r>
              <a:rPr sz="1800" spc="10" dirty="0">
                <a:latin typeface="Trebuchet MS"/>
                <a:cs typeface="Trebuchet MS"/>
              </a:rPr>
              <a:t>values</a:t>
            </a:r>
            <a:endParaRPr sz="1800">
              <a:latin typeface="Trebuchet MS"/>
              <a:cs typeface="Trebuchet MS"/>
            </a:endParaRPr>
          </a:p>
        </p:txBody>
      </p:sp>
      <p:sp>
        <p:nvSpPr>
          <p:cNvPr id="9" name="object 9"/>
          <p:cNvSpPr txBox="1"/>
          <p:nvPr/>
        </p:nvSpPr>
        <p:spPr>
          <a:xfrm>
            <a:off x="1602739" y="3241675"/>
            <a:ext cx="111125"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Wingdings"/>
                <a:cs typeface="Wingdings"/>
              </a:rPr>
              <a:t></a:t>
            </a:r>
            <a:endParaRPr sz="900">
              <a:latin typeface="Wingdings"/>
              <a:cs typeface="Wingdings"/>
            </a:endParaRPr>
          </a:p>
        </p:txBody>
      </p:sp>
      <p:sp>
        <p:nvSpPr>
          <p:cNvPr id="10" name="object 10"/>
          <p:cNvSpPr txBox="1"/>
          <p:nvPr/>
        </p:nvSpPr>
        <p:spPr>
          <a:xfrm>
            <a:off x="1602739" y="3702177"/>
            <a:ext cx="111125" cy="162560"/>
          </a:xfrm>
          <a:prstGeom prst="rect">
            <a:avLst/>
          </a:prstGeom>
        </p:spPr>
        <p:txBody>
          <a:bodyPr vert="horz" wrap="square" lIns="0" tIns="12700" rIns="0" bIns="0" rtlCol="0">
            <a:spAutoFit/>
          </a:bodyPr>
          <a:lstStyle/>
          <a:p>
            <a:pPr marL="12700">
              <a:lnSpc>
                <a:spcPct val="100000"/>
              </a:lnSpc>
              <a:spcBef>
                <a:spcPts val="100"/>
              </a:spcBef>
            </a:pPr>
            <a:r>
              <a:rPr sz="900" dirty="0">
                <a:latin typeface="Wingdings"/>
                <a:cs typeface="Wingdings"/>
              </a:rPr>
              <a:t></a:t>
            </a:r>
            <a:endParaRPr sz="900">
              <a:latin typeface="Wingdings"/>
              <a:cs typeface="Wingdings"/>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2016125" cy="0"/>
          </a:xfrm>
          <a:custGeom>
            <a:avLst/>
            <a:gdLst/>
            <a:ahLst/>
            <a:cxnLst/>
            <a:rect l="l" t="t" r="r" b="b"/>
            <a:pathLst>
              <a:path w="2016125">
                <a:moveTo>
                  <a:pt x="2015997"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2072639" cy="635000"/>
          </a:xfrm>
          <a:prstGeom prst="rect">
            <a:avLst/>
          </a:prstGeom>
        </p:spPr>
        <p:txBody>
          <a:bodyPr vert="horz" wrap="square" lIns="0" tIns="12065" rIns="0" bIns="0" rtlCol="0">
            <a:spAutoFit/>
          </a:bodyPr>
          <a:lstStyle/>
          <a:p>
            <a:pPr marL="12700">
              <a:lnSpc>
                <a:spcPct val="100000"/>
              </a:lnSpc>
              <a:spcBef>
                <a:spcPts val="95"/>
              </a:spcBef>
            </a:pPr>
            <a:r>
              <a:rPr sz="4000" spc="40" dirty="0">
                <a:solidFill>
                  <a:srgbClr val="404040"/>
                </a:solidFill>
              </a:rPr>
              <a:t>Conte</a:t>
            </a:r>
            <a:r>
              <a:rPr sz="4000" spc="55" dirty="0">
                <a:solidFill>
                  <a:srgbClr val="404040"/>
                </a:solidFill>
              </a:rPr>
              <a:t>n</a:t>
            </a:r>
            <a:r>
              <a:rPr sz="4000" spc="-40" dirty="0">
                <a:solidFill>
                  <a:srgbClr val="404040"/>
                </a:solidFill>
              </a:rPr>
              <a:t>ts</a:t>
            </a:r>
            <a:endParaRPr sz="4000"/>
          </a:p>
        </p:txBody>
      </p:sp>
      <p:sp>
        <p:nvSpPr>
          <p:cNvPr id="7" name="object 7"/>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fld id="{81D60167-4931-47E6-BA6A-407CBD079E47}" type="slidenum">
              <a:rPr spc="45" dirty="0"/>
              <a:t>61</a:t>
            </a:fld>
            <a:r>
              <a:rPr spc="45" dirty="0"/>
              <a:t>	</a:t>
            </a:r>
            <a:r>
              <a:rPr spc="30" dirty="0"/>
              <a:t>Huawei</a:t>
            </a:r>
            <a:r>
              <a:rPr spc="-10" dirty="0"/>
              <a:t> </a:t>
            </a:r>
            <a:r>
              <a:rPr spc="5" dirty="0"/>
              <a:t>Confidential</a:t>
            </a:r>
          </a:p>
        </p:txBody>
      </p:sp>
      <p:sp>
        <p:nvSpPr>
          <p:cNvPr id="6" name="object 6"/>
          <p:cNvSpPr txBox="1"/>
          <p:nvPr/>
        </p:nvSpPr>
        <p:spPr>
          <a:xfrm>
            <a:off x="1097991" y="2009393"/>
            <a:ext cx="4946015" cy="3779520"/>
          </a:xfrm>
          <a:prstGeom prst="rect">
            <a:avLst/>
          </a:prstGeom>
        </p:spPr>
        <p:txBody>
          <a:bodyPr vert="horz" wrap="square" lIns="0" tIns="12065" rIns="0" bIns="0" rtlCol="0">
            <a:spAutoFit/>
          </a:bodyPr>
          <a:lstStyle/>
          <a:p>
            <a:pPr marL="469900" indent="-457834">
              <a:lnSpc>
                <a:spcPct val="100000"/>
              </a:lnSpc>
              <a:spcBef>
                <a:spcPts val="95"/>
              </a:spcBef>
              <a:buAutoNum type="arabicPeriod"/>
              <a:tabLst>
                <a:tab pos="469265" algn="l"/>
                <a:tab pos="470534" algn="l"/>
              </a:tabLst>
            </a:pPr>
            <a:r>
              <a:rPr sz="2200" spc="10" dirty="0">
                <a:solidFill>
                  <a:srgbClr val="7E7E7E"/>
                </a:solidFill>
                <a:latin typeface="Trebuchet MS"/>
                <a:cs typeface="Trebuchet MS"/>
              </a:rPr>
              <a:t>Introduction </a:t>
            </a:r>
            <a:r>
              <a:rPr sz="2200" dirty="0">
                <a:solidFill>
                  <a:srgbClr val="7E7E7E"/>
                </a:solidFill>
                <a:latin typeface="Trebuchet MS"/>
                <a:cs typeface="Trebuchet MS"/>
              </a:rPr>
              <a:t>to</a:t>
            </a:r>
            <a:r>
              <a:rPr sz="2200" spc="40" dirty="0">
                <a:solidFill>
                  <a:srgbClr val="7E7E7E"/>
                </a:solidFill>
                <a:latin typeface="Trebuchet MS"/>
                <a:cs typeface="Trebuchet MS"/>
              </a:rPr>
              <a:t> </a:t>
            </a:r>
            <a:r>
              <a:rPr sz="2200" spc="60" dirty="0">
                <a:solidFill>
                  <a:srgbClr val="7E7E7E"/>
                </a:solidFill>
                <a:latin typeface="Trebuchet MS"/>
                <a:cs typeface="Trebuchet MS"/>
              </a:rPr>
              <a:t>HBase</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spc="65" dirty="0">
                <a:solidFill>
                  <a:srgbClr val="7E7E7E"/>
                </a:solidFill>
                <a:latin typeface="Trebuchet MS"/>
                <a:cs typeface="Trebuchet MS"/>
              </a:rPr>
              <a:t>HBase </a:t>
            </a:r>
            <a:r>
              <a:rPr sz="2200" spc="-10" dirty="0">
                <a:solidFill>
                  <a:srgbClr val="7E7E7E"/>
                </a:solidFill>
                <a:latin typeface="Trebuchet MS"/>
                <a:cs typeface="Trebuchet MS"/>
              </a:rPr>
              <a:t>Related</a:t>
            </a:r>
            <a:r>
              <a:rPr sz="2200" spc="-5" dirty="0">
                <a:solidFill>
                  <a:srgbClr val="7E7E7E"/>
                </a:solidFill>
                <a:latin typeface="Trebuchet MS"/>
                <a:cs typeface="Trebuchet MS"/>
              </a:rPr>
              <a:t> </a:t>
            </a:r>
            <a:r>
              <a:rPr sz="2200" dirty="0">
                <a:solidFill>
                  <a:srgbClr val="7E7E7E"/>
                </a:solidFill>
                <a:latin typeface="Trebuchet MS"/>
                <a:cs typeface="Trebuchet MS"/>
              </a:rPr>
              <a:t>Concepts</a:t>
            </a:r>
            <a:endParaRPr sz="2200">
              <a:latin typeface="Trebuchet MS"/>
              <a:cs typeface="Trebuchet MS"/>
            </a:endParaRPr>
          </a:p>
          <a:p>
            <a:pPr marL="469900" indent="-457834">
              <a:lnSpc>
                <a:spcPct val="100000"/>
              </a:lnSpc>
              <a:spcBef>
                <a:spcPts val="1845"/>
              </a:spcBef>
              <a:buAutoNum type="arabicPeriod"/>
              <a:tabLst>
                <a:tab pos="469265" algn="l"/>
                <a:tab pos="470534" algn="l"/>
              </a:tabLst>
            </a:pPr>
            <a:r>
              <a:rPr sz="2200" spc="60" dirty="0">
                <a:solidFill>
                  <a:srgbClr val="7E7E7E"/>
                </a:solidFill>
                <a:latin typeface="Trebuchet MS"/>
                <a:cs typeface="Trebuchet MS"/>
              </a:rPr>
              <a:t>HBase</a:t>
            </a:r>
            <a:r>
              <a:rPr sz="2200" spc="35" dirty="0">
                <a:solidFill>
                  <a:srgbClr val="7E7E7E"/>
                </a:solidFill>
                <a:latin typeface="Trebuchet MS"/>
                <a:cs typeface="Trebuchet MS"/>
              </a:rPr>
              <a:t> </a:t>
            </a:r>
            <a:r>
              <a:rPr sz="2200" spc="-25" dirty="0">
                <a:solidFill>
                  <a:srgbClr val="7E7E7E"/>
                </a:solidFill>
                <a:latin typeface="Trebuchet MS"/>
                <a:cs typeface="Trebuchet MS"/>
              </a:rPr>
              <a:t>Architecture</a:t>
            </a:r>
            <a:endParaRPr sz="2200">
              <a:latin typeface="Trebuchet MS"/>
              <a:cs typeface="Trebuchet MS"/>
            </a:endParaRPr>
          </a:p>
          <a:p>
            <a:pPr marL="469900" indent="-457834">
              <a:lnSpc>
                <a:spcPct val="100000"/>
              </a:lnSpc>
              <a:spcBef>
                <a:spcPts val="1839"/>
              </a:spcBef>
              <a:buAutoNum type="arabicPeriod"/>
              <a:tabLst>
                <a:tab pos="469265" algn="l"/>
                <a:tab pos="470534" algn="l"/>
              </a:tabLst>
            </a:pPr>
            <a:r>
              <a:rPr sz="2200" spc="65" dirty="0">
                <a:solidFill>
                  <a:srgbClr val="7E7E7E"/>
                </a:solidFill>
                <a:latin typeface="Trebuchet MS"/>
                <a:cs typeface="Trebuchet MS"/>
              </a:rPr>
              <a:t>HBase </a:t>
            </a:r>
            <a:r>
              <a:rPr sz="2200" spc="5" dirty="0">
                <a:solidFill>
                  <a:srgbClr val="7E7E7E"/>
                </a:solidFill>
                <a:latin typeface="Trebuchet MS"/>
                <a:cs typeface="Trebuchet MS"/>
              </a:rPr>
              <a:t>Key </a:t>
            </a:r>
            <a:r>
              <a:rPr sz="2200" spc="-5" dirty="0">
                <a:solidFill>
                  <a:srgbClr val="7E7E7E"/>
                </a:solidFill>
                <a:latin typeface="Trebuchet MS"/>
                <a:cs typeface="Trebuchet MS"/>
              </a:rPr>
              <a:t>Processes</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spc="60" dirty="0">
                <a:solidFill>
                  <a:srgbClr val="7E7E7E"/>
                </a:solidFill>
                <a:latin typeface="Trebuchet MS"/>
                <a:cs typeface="Trebuchet MS"/>
              </a:rPr>
              <a:t>HBase</a:t>
            </a:r>
            <a:r>
              <a:rPr sz="2200" spc="35" dirty="0">
                <a:solidFill>
                  <a:srgbClr val="7E7E7E"/>
                </a:solidFill>
                <a:latin typeface="Trebuchet MS"/>
                <a:cs typeface="Trebuchet MS"/>
              </a:rPr>
              <a:t> </a:t>
            </a:r>
            <a:r>
              <a:rPr sz="2200" spc="40" dirty="0">
                <a:solidFill>
                  <a:srgbClr val="7E7E7E"/>
                </a:solidFill>
                <a:latin typeface="Trebuchet MS"/>
                <a:cs typeface="Trebuchet MS"/>
              </a:rPr>
              <a:t>Highlights</a:t>
            </a:r>
            <a:endParaRPr sz="2200">
              <a:latin typeface="Trebuchet MS"/>
              <a:cs typeface="Trebuchet MS"/>
            </a:endParaRPr>
          </a:p>
          <a:p>
            <a:pPr marL="469900" indent="-457834">
              <a:lnSpc>
                <a:spcPct val="100000"/>
              </a:lnSpc>
              <a:spcBef>
                <a:spcPts val="1845"/>
              </a:spcBef>
              <a:buAutoNum type="arabicPeriod"/>
              <a:tabLst>
                <a:tab pos="469265" algn="l"/>
                <a:tab pos="470534" algn="l"/>
              </a:tabLst>
            </a:pPr>
            <a:r>
              <a:rPr sz="2200" spc="65" dirty="0">
                <a:solidFill>
                  <a:srgbClr val="7E7E7E"/>
                </a:solidFill>
                <a:latin typeface="Trebuchet MS"/>
                <a:cs typeface="Trebuchet MS"/>
              </a:rPr>
              <a:t>HBase </a:t>
            </a:r>
            <a:r>
              <a:rPr sz="2200" spc="5" dirty="0">
                <a:solidFill>
                  <a:srgbClr val="7E7E7E"/>
                </a:solidFill>
                <a:latin typeface="Trebuchet MS"/>
                <a:cs typeface="Trebuchet MS"/>
              </a:rPr>
              <a:t>Performance</a:t>
            </a:r>
            <a:r>
              <a:rPr sz="2200" dirty="0">
                <a:solidFill>
                  <a:srgbClr val="7E7E7E"/>
                </a:solidFill>
                <a:latin typeface="Trebuchet MS"/>
                <a:cs typeface="Trebuchet MS"/>
              </a:rPr>
              <a:t> </a:t>
            </a:r>
            <a:r>
              <a:rPr sz="2200" spc="45" dirty="0">
                <a:solidFill>
                  <a:srgbClr val="7E7E7E"/>
                </a:solidFill>
                <a:latin typeface="Trebuchet MS"/>
                <a:cs typeface="Trebuchet MS"/>
              </a:rPr>
              <a:t>Tuning</a:t>
            </a:r>
            <a:endParaRPr sz="2200">
              <a:latin typeface="Trebuchet MS"/>
              <a:cs typeface="Trebuchet MS"/>
            </a:endParaRPr>
          </a:p>
          <a:p>
            <a:pPr marL="469900" indent="-457834">
              <a:lnSpc>
                <a:spcPct val="100000"/>
              </a:lnSpc>
              <a:spcBef>
                <a:spcPts val="1850"/>
              </a:spcBef>
              <a:buAutoNum type="arabicPeriod"/>
              <a:tabLst>
                <a:tab pos="469265" algn="l"/>
                <a:tab pos="470534" algn="l"/>
              </a:tabLst>
            </a:pPr>
            <a:r>
              <a:rPr sz="2200" b="1" spc="-10" dirty="0">
                <a:latin typeface="Arial"/>
                <a:cs typeface="Arial"/>
              </a:rPr>
              <a:t>Common </a:t>
            </a:r>
            <a:r>
              <a:rPr sz="2200" b="1" spc="-65" dirty="0">
                <a:latin typeface="Arial"/>
                <a:cs typeface="Arial"/>
              </a:rPr>
              <a:t>HBase </a:t>
            </a:r>
            <a:r>
              <a:rPr sz="2200" b="1" spc="-15" dirty="0">
                <a:latin typeface="Arial"/>
                <a:cs typeface="Arial"/>
              </a:rPr>
              <a:t>Shell</a:t>
            </a:r>
            <a:r>
              <a:rPr sz="2200" b="1" spc="340" dirty="0">
                <a:latin typeface="Arial"/>
                <a:cs typeface="Arial"/>
              </a:rPr>
              <a:t> </a:t>
            </a:r>
            <a:r>
              <a:rPr sz="2200" b="1" spc="-30" dirty="0">
                <a:latin typeface="Arial"/>
                <a:cs typeface="Arial"/>
              </a:rPr>
              <a:t>Commands</a:t>
            </a:r>
            <a:endParaRPr sz="2200">
              <a:latin typeface="Arial"/>
              <a:cs typeface="Arial"/>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9124" y="366521"/>
            <a:ext cx="6240780" cy="513715"/>
          </a:xfrm>
          <a:prstGeom prst="rect">
            <a:avLst/>
          </a:prstGeom>
        </p:spPr>
        <p:txBody>
          <a:bodyPr vert="horz" wrap="square" lIns="0" tIns="13335" rIns="0" bIns="0" rtlCol="0">
            <a:spAutoFit/>
          </a:bodyPr>
          <a:lstStyle/>
          <a:p>
            <a:pPr marL="12700">
              <a:lnSpc>
                <a:spcPct val="100000"/>
              </a:lnSpc>
              <a:spcBef>
                <a:spcPts val="105"/>
              </a:spcBef>
            </a:pPr>
            <a:r>
              <a:rPr sz="3200" spc="145" dirty="0">
                <a:solidFill>
                  <a:srgbClr val="000000"/>
                </a:solidFill>
              </a:rPr>
              <a:t>Common </a:t>
            </a:r>
            <a:r>
              <a:rPr sz="3200" spc="100" dirty="0">
                <a:solidFill>
                  <a:srgbClr val="000000"/>
                </a:solidFill>
              </a:rPr>
              <a:t>HBase </a:t>
            </a:r>
            <a:r>
              <a:rPr sz="3200" spc="15" dirty="0">
                <a:solidFill>
                  <a:srgbClr val="000000"/>
                </a:solidFill>
              </a:rPr>
              <a:t>Shell</a:t>
            </a:r>
            <a:r>
              <a:rPr sz="3200" spc="-155" dirty="0">
                <a:solidFill>
                  <a:srgbClr val="000000"/>
                </a:solidFill>
              </a:rPr>
              <a:t> </a:t>
            </a:r>
            <a:r>
              <a:rPr sz="3200" spc="114" dirty="0">
                <a:solidFill>
                  <a:srgbClr val="000000"/>
                </a:solidFill>
              </a:rPr>
              <a:t>Commands</a:t>
            </a:r>
            <a:endParaRPr sz="3200"/>
          </a:p>
        </p:txBody>
      </p:sp>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fld id="{81D60167-4931-47E6-BA6A-407CBD079E47}" type="slidenum">
              <a:rPr spc="45" dirty="0"/>
              <a:t>62</a:t>
            </a:fld>
            <a:r>
              <a:rPr spc="45" dirty="0"/>
              <a:t>	</a:t>
            </a:r>
            <a:r>
              <a:rPr spc="30" dirty="0"/>
              <a:t>Huawei</a:t>
            </a:r>
            <a:r>
              <a:rPr spc="-10" dirty="0"/>
              <a:t> </a:t>
            </a:r>
            <a:r>
              <a:rPr spc="5" dirty="0"/>
              <a:t>Confidential</a:t>
            </a:r>
          </a:p>
        </p:txBody>
      </p:sp>
      <p:sp>
        <p:nvSpPr>
          <p:cNvPr id="3" name="object 3"/>
          <p:cNvSpPr txBox="1"/>
          <p:nvPr/>
        </p:nvSpPr>
        <p:spPr>
          <a:xfrm>
            <a:off x="799287" y="1290574"/>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4" name="object 4"/>
          <p:cNvSpPr txBox="1"/>
          <p:nvPr/>
        </p:nvSpPr>
        <p:spPr>
          <a:xfrm>
            <a:off x="1101039" y="1211325"/>
            <a:ext cx="10292080" cy="4312334"/>
          </a:xfrm>
          <a:prstGeom prst="rect">
            <a:avLst/>
          </a:prstGeom>
        </p:spPr>
        <p:txBody>
          <a:bodyPr vert="horz" wrap="square" lIns="0" tIns="12065" rIns="0" bIns="0" rtlCol="0">
            <a:spAutoFit/>
          </a:bodyPr>
          <a:lstStyle/>
          <a:p>
            <a:pPr marL="12700">
              <a:lnSpc>
                <a:spcPct val="100000"/>
              </a:lnSpc>
              <a:spcBef>
                <a:spcPts val="95"/>
              </a:spcBef>
            </a:pPr>
            <a:r>
              <a:rPr sz="2200" b="1" spc="-35" dirty="0">
                <a:latin typeface="Arial"/>
                <a:cs typeface="Arial"/>
              </a:rPr>
              <a:t>create</a:t>
            </a:r>
            <a:r>
              <a:rPr sz="2200" spc="-35" dirty="0">
                <a:latin typeface="Trebuchet MS"/>
                <a:cs typeface="Trebuchet MS"/>
              </a:rPr>
              <a:t>: </a:t>
            </a:r>
            <a:r>
              <a:rPr sz="2200" spc="-5" dirty="0">
                <a:latin typeface="Trebuchet MS"/>
                <a:cs typeface="Trebuchet MS"/>
              </a:rPr>
              <a:t>creating </a:t>
            </a:r>
            <a:r>
              <a:rPr lang="en-US" sz="2200" spc="20" dirty="0" err="1" smtClean="0">
                <a:latin typeface="Trebuchet MS"/>
                <a:cs typeface="Trebuchet MS"/>
              </a:rPr>
              <a:t>Hbase</a:t>
            </a:r>
            <a:r>
              <a:rPr sz="2200" spc="155" dirty="0" smtClean="0">
                <a:latin typeface="Trebuchet MS"/>
                <a:cs typeface="Trebuchet MS"/>
              </a:rPr>
              <a:t> </a:t>
            </a:r>
            <a:r>
              <a:rPr sz="2200" spc="-10" dirty="0">
                <a:latin typeface="Trebuchet MS"/>
                <a:cs typeface="Trebuchet MS"/>
              </a:rPr>
              <a:t>tables</a:t>
            </a:r>
            <a:endParaRPr sz="2200" dirty="0">
              <a:latin typeface="Trebuchet MS"/>
              <a:cs typeface="Trebuchet MS"/>
            </a:endParaRPr>
          </a:p>
          <a:p>
            <a:pPr marL="12700">
              <a:lnSpc>
                <a:spcPct val="100000"/>
              </a:lnSpc>
              <a:spcBef>
                <a:spcPts val="1850"/>
              </a:spcBef>
            </a:pPr>
            <a:r>
              <a:rPr sz="2200" b="1" spc="-60" dirty="0">
                <a:latin typeface="Arial"/>
                <a:cs typeface="Arial"/>
              </a:rPr>
              <a:t>list</a:t>
            </a:r>
            <a:r>
              <a:rPr sz="2200" spc="-60" dirty="0">
                <a:latin typeface="Trebuchet MS"/>
                <a:cs typeface="Trebuchet MS"/>
              </a:rPr>
              <a:t>: </a:t>
            </a:r>
            <a:r>
              <a:rPr sz="2200" dirty="0">
                <a:latin typeface="Trebuchet MS"/>
                <a:cs typeface="Trebuchet MS"/>
              </a:rPr>
              <a:t>listing </a:t>
            </a:r>
            <a:r>
              <a:rPr sz="2200" spc="-15" dirty="0">
                <a:latin typeface="Trebuchet MS"/>
                <a:cs typeface="Trebuchet MS"/>
              </a:rPr>
              <a:t>all </a:t>
            </a:r>
            <a:r>
              <a:rPr sz="2200" spc="-10" dirty="0">
                <a:latin typeface="Trebuchet MS"/>
                <a:cs typeface="Trebuchet MS"/>
              </a:rPr>
              <a:t>tables </a:t>
            </a:r>
            <a:r>
              <a:rPr sz="2200" spc="5" dirty="0">
                <a:latin typeface="Trebuchet MS"/>
                <a:cs typeface="Trebuchet MS"/>
              </a:rPr>
              <a:t>in</a:t>
            </a:r>
            <a:r>
              <a:rPr sz="2200" spc="215" dirty="0">
                <a:latin typeface="Trebuchet MS"/>
                <a:cs typeface="Trebuchet MS"/>
              </a:rPr>
              <a:t> </a:t>
            </a:r>
            <a:r>
              <a:rPr sz="2200" spc="65" dirty="0">
                <a:latin typeface="Trebuchet MS"/>
                <a:cs typeface="Trebuchet MS"/>
              </a:rPr>
              <a:t>HBase</a:t>
            </a:r>
            <a:endParaRPr sz="2200" dirty="0">
              <a:latin typeface="Trebuchet MS"/>
              <a:cs typeface="Trebuchet MS"/>
            </a:endParaRPr>
          </a:p>
          <a:p>
            <a:pPr marL="12700">
              <a:lnSpc>
                <a:spcPct val="100000"/>
              </a:lnSpc>
              <a:spcBef>
                <a:spcPts val="1860"/>
              </a:spcBef>
            </a:pPr>
            <a:r>
              <a:rPr sz="2200" b="1" spc="-35" dirty="0">
                <a:latin typeface="Arial"/>
                <a:cs typeface="Arial"/>
              </a:rPr>
              <a:t>put</a:t>
            </a:r>
            <a:r>
              <a:rPr sz="2200" spc="-35" dirty="0">
                <a:latin typeface="Trebuchet MS"/>
                <a:cs typeface="Trebuchet MS"/>
              </a:rPr>
              <a:t>: </a:t>
            </a:r>
            <a:r>
              <a:rPr sz="2200" spc="45" dirty="0">
                <a:latin typeface="Trebuchet MS"/>
                <a:cs typeface="Trebuchet MS"/>
              </a:rPr>
              <a:t>adding </a:t>
            </a:r>
            <a:r>
              <a:rPr sz="2200" spc="15" dirty="0">
                <a:latin typeface="Trebuchet MS"/>
                <a:cs typeface="Trebuchet MS"/>
              </a:rPr>
              <a:t>data </a:t>
            </a:r>
            <a:r>
              <a:rPr sz="2200" dirty="0">
                <a:latin typeface="Trebuchet MS"/>
                <a:cs typeface="Trebuchet MS"/>
              </a:rPr>
              <a:t>to </a:t>
            </a:r>
            <a:r>
              <a:rPr sz="2200" spc="55" dirty="0">
                <a:latin typeface="Trebuchet MS"/>
                <a:cs typeface="Trebuchet MS"/>
              </a:rPr>
              <a:t>a </a:t>
            </a:r>
            <a:r>
              <a:rPr sz="2200" spc="-30" dirty="0">
                <a:latin typeface="Trebuchet MS"/>
                <a:cs typeface="Trebuchet MS"/>
              </a:rPr>
              <a:t>specified </a:t>
            </a:r>
            <a:r>
              <a:rPr sz="2200" spc="-55" dirty="0">
                <a:latin typeface="Trebuchet MS"/>
                <a:cs typeface="Trebuchet MS"/>
              </a:rPr>
              <a:t>cell </a:t>
            </a:r>
            <a:r>
              <a:rPr sz="2200" spc="5" dirty="0">
                <a:latin typeface="Trebuchet MS"/>
                <a:cs typeface="Trebuchet MS"/>
              </a:rPr>
              <a:t>in </a:t>
            </a:r>
            <a:r>
              <a:rPr sz="2200" spc="55" dirty="0">
                <a:latin typeface="Trebuchet MS"/>
                <a:cs typeface="Trebuchet MS"/>
              </a:rPr>
              <a:t>a </a:t>
            </a:r>
            <a:r>
              <a:rPr sz="2200" spc="-65" dirty="0">
                <a:latin typeface="Trebuchet MS"/>
                <a:cs typeface="Trebuchet MS"/>
              </a:rPr>
              <a:t>table, </a:t>
            </a:r>
            <a:r>
              <a:rPr sz="2200" spc="-40" dirty="0">
                <a:latin typeface="Trebuchet MS"/>
                <a:cs typeface="Trebuchet MS"/>
              </a:rPr>
              <a:t>row, </a:t>
            </a:r>
            <a:r>
              <a:rPr sz="2200" spc="20" dirty="0">
                <a:latin typeface="Trebuchet MS"/>
                <a:cs typeface="Trebuchet MS"/>
              </a:rPr>
              <a:t>or</a:t>
            </a:r>
            <a:r>
              <a:rPr sz="2200" spc="355" dirty="0">
                <a:latin typeface="Trebuchet MS"/>
                <a:cs typeface="Trebuchet MS"/>
              </a:rPr>
              <a:t> </a:t>
            </a:r>
            <a:r>
              <a:rPr sz="2200" spc="40" dirty="0">
                <a:latin typeface="Trebuchet MS"/>
                <a:cs typeface="Trebuchet MS"/>
              </a:rPr>
              <a:t>column</a:t>
            </a:r>
            <a:endParaRPr sz="2200" dirty="0">
              <a:latin typeface="Trebuchet MS"/>
              <a:cs typeface="Trebuchet MS"/>
            </a:endParaRPr>
          </a:p>
          <a:p>
            <a:pPr marL="12700">
              <a:lnSpc>
                <a:spcPct val="100000"/>
              </a:lnSpc>
              <a:spcBef>
                <a:spcPts val="1860"/>
              </a:spcBef>
            </a:pPr>
            <a:r>
              <a:rPr sz="2200" b="1" spc="-135" dirty="0">
                <a:latin typeface="Arial"/>
                <a:cs typeface="Arial"/>
              </a:rPr>
              <a:t>scan</a:t>
            </a:r>
            <a:r>
              <a:rPr sz="2200" spc="-135" dirty="0">
                <a:latin typeface="Trebuchet MS"/>
                <a:cs typeface="Trebuchet MS"/>
              </a:rPr>
              <a:t>: </a:t>
            </a:r>
            <a:r>
              <a:rPr sz="2200" spc="45" dirty="0">
                <a:latin typeface="Trebuchet MS"/>
                <a:cs typeface="Trebuchet MS"/>
              </a:rPr>
              <a:t>browsing </a:t>
            </a:r>
            <a:r>
              <a:rPr sz="2200" spc="20" dirty="0">
                <a:latin typeface="Trebuchet MS"/>
                <a:cs typeface="Trebuchet MS"/>
              </a:rPr>
              <a:t>information </a:t>
            </a:r>
            <a:r>
              <a:rPr sz="2200" spc="30" dirty="0">
                <a:latin typeface="Trebuchet MS"/>
                <a:cs typeface="Trebuchet MS"/>
              </a:rPr>
              <a:t>about </a:t>
            </a:r>
            <a:r>
              <a:rPr sz="2200" spc="55" dirty="0">
                <a:latin typeface="Trebuchet MS"/>
                <a:cs typeface="Trebuchet MS"/>
              </a:rPr>
              <a:t>a</a:t>
            </a:r>
            <a:r>
              <a:rPr sz="2200" spc="185" dirty="0">
                <a:latin typeface="Trebuchet MS"/>
                <a:cs typeface="Trebuchet MS"/>
              </a:rPr>
              <a:t> </a:t>
            </a:r>
            <a:r>
              <a:rPr sz="2200" spc="-20" dirty="0">
                <a:latin typeface="Trebuchet MS"/>
                <a:cs typeface="Trebuchet MS"/>
              </a:rPr>
              <a:t>table</a:t>
            </a:r>
            <a:endParaRPr sz="2200" dirty="0">
              <a:latin typeface="Trebuchet MS"/>
              <a:cs typeface="Trebuchet MS"/>
            </a:endParaRPr>
          </a:p>
          <a:p>
            <a:pPr marL="12700" marR="5080">
              <a:lnSpc>
                <a:spcPct val="140000"/>
              </a:lnSpc>
              <a:spcBef>
                <a:spcPts val="795"/>
              </a:spcBef>
              <a:tabLst>
                <a:tab pos="684530" algn="l"/>
                <a:tab pos="2058035" algn="l"/>
                <a:tab pos="2637155" algn="l"/>
                <a:tab pos="3481704" algn="l"/>
                <a:tab pos="3905250" algn="l"/>
                <a:tab pos="4225290" algn="l"/>
                <a:tab pos="4820920" algn="l"/>
                <a:tab pos="5726430" algn="l"/>
                <a:tab pos="6217285" algn="l"/>
                <a:tab pos="6796405" algn="l"/>
                <a:tab pos="7602855" algn="l"/>
                <a:tab pos="8552180" algn="l"/>
                <a:tab pos="9270365" algn="l"/>
              </a:tabLst>
            </a:pPr>
            <a:r>
              <a:rPr sz="2200" b="1" spc="-5" dirty="0">
                <a:latin typeface="Arial"/>
                <a:cs typeface="Arial"/>
              </a:rPr>
              <a:t>g</a:t>
            </a:r>
            <a:r>
              <a:rPr sz="2200" b="1" spc="80" dirty="0">
                <a:latin typeface="Arial"/>
                <a:cs typeface="Arial"/>
              </a:rPr>
              <a:t>et</a:t>
            </a:r>
            <a:r>
              <a:rPr sz="2200" spc="-305" dirty="0">
                <a:latin typeface="Trebuchet MS"/>
                <a:cs typeface="Trebuchet MS"/>
              </a:rPr>
              <a:t>:</a:t>
            </a:r>
            <a:r>
              <a:rPr sz="2200" dirty="0">
                <a:latin typeface="Trebuchet MS"/>
                <a:cs typeface="Trebuchet MS"/>
              </a:rPr>
              <a:t>	</a:t>
            </a:r>
            <a:r>
              <a:rPr sz="2200" spc="50" dirty="0">
                <a:latin typeface="Trebuchet MS"/>
                <a:cs typeface="Trebuchet MS"/>
              </a:rPr>
              <a:t>ob</a:t>
            </a:r>
            <a:r>
              <a:rPr sz="2200" spc="-75" dirty="0">
                <a:latin typeface="Trebuchet MS"/>
                <a:cs typeface="Trebuchet MS"/>
              </a:rPr>
              <a:t>t</a:t>
            </a:r>
            <a:r>
              <a:rPr sz="2200" spc="-5" dirty="0">
                <a:latin typeface="Trebuchet MS"/>
                <a:cs typeface="Trebuchet MS"/>
              </a:rPr>
              <a:t>ain</a:t>
            </a:r>
            <a:r>
              <a:rPr sz="2200" spc="15" dirty="0">
                <a:latin typeface="Trebuchet MS"/>
                <a:cs typeface="Trebuchet MS"/>
              </a:rPr>
              <a:t>i</a:t>
            </a:r>
            <a:r>
              <a:rPr sz="2200" spc="120" dirty="0">
                <a:latin typeface="Trebuchet MS"/>
                <a:cs typeface="Trebuchet MS"/>
              </a:rPr>
              <a:t>n</a:t>
            </a:r>
            <a:r>
              <a:rPr sz="2200" spc="114" dirty="0">
                <a:latin typeface="Trebuchet MS"/>
                <a:cs typeface="Trebuchet MS"/>
              </a:rPr>
              <a:t>g</a:t>
            </a:r>
            <a:r>
              <a:rPr sz="2200" dirty="0">
                <a:latin typeface="Trebuchet MS"/>
                <a:cs typeface="Trebuchet MS"/>
              </a:rPr>
              <a:t>	</a:t>
            </a:r>
            <a:r>
              <a:rPr sz="2200" spc="-75" dirty="0">
                <a:latin typeface="Trebuchet MS"/>
                <a:cs typeface="Trebuchet MS"/>
              </a:rPr>
              <a:t>t</a:t>
            </a:r>
            <a:r>
              <a:rPr sz="2200" spc="15" dirty="0">
                <a:latin typeface="Trebuchet MS"/>
                <a:cs typeface="Trebuchet MS"/>
              </a:rPr>
              <a:t>h</a:t>
            </a:r>
            <a:r>
              <a:rPr sz="2200" spc="20" dirty="0">
                <a:latin typeface="Trebuchet MS"/>
                <a:cs typeface="Trebuchet MS"/>
              </a:rPr>
              <a:t>e</a:t>
            </a:r>
            <a:r>
              <a:rPr sz="2200" dirty="0">
                <a:latin typeface="Trebuchet MS"/>
                <a:cs typeface="Trebuchet MS"/>
              </a:rPr>
              <a:t>	</a:t>
            </a:r>
            <a:r>
              <a:rPr sz="2200" spc="5" dirty="0">
                <a:latin typeface="Trebuchet MS"/>
                <a:cs typeface="Trebuchet MS"/>
              </a:rPr>
              <a:t>valu</a:t>
            </a:r>
            <a:r>
              <a:rPr sz="2200" spc="10" dirty="0">
                <a:latin typeface="Trebuchet MS"/>
                <a:cs typeface="Trebuchet MS"/>
              </a:rPr>
              <a:t>e</a:t>
            </a:r>
            <a:r>
              <a:rPr sz="2200" dirty="0">
                <a:latin typeface="Trebuchet MS"/>
                <a:cs typeface="Trebuchet MS"/>
              </a:rPr>
              <a:t>	</a:t>
            </a:r>
            <a:r>
              <a:rPr sz="2200" spc="10" dirty="0">
                <a:latin typeface="Trebuchet MS"/>
                <a:cs typeface="Trebuchet MS"/>
              </a:rPr>
              <a:t>o</a:t>
            </a:r>
            <a:r>
              <a:rPr sz="2200" spc="15" dirty="0">
                <a:latin typeface="Trebuchet MS"/>
                <a:cs typeface="Trebuchet MS"/>
              </a:rPr>
              <a:t>f</a:t>
            </a:r>
            <a:r>
              <a:rPr sz="2200" dirty="0">
                <a:latin typeface="Trebuchet MS"/>
                <a:cs typeface="Trebuchet MS"/>
              </a:rPr>
              <a:t>	</a:t>
            </a:r>
            <a:r>
              <a:rPr sz="2200" spc="55" dirty="0">
                <a:latin typeface="Trebuchet MS"/>
                <a:cs typeface="Trebuchet MS"/>
              </a:rPr>
              <a:t>a</a:t>
            </a:r>
            <a:r>
              <a:rPr sz="2200" dirty="0">
                <a:latin typeface="Trebuchet MS"/>
                <a:cs typeface="Trebuchet MS"/>
              </a:rPr>
              <a:t>	</a:t>
            </a:r>
            <a:r>
              <a:rPr sz="2200" spc="-65" dirty="0">
                <a:latin typeface="Trebuchet MS"/>
                <a:cs typeface="Trebuchet MS"/>
              </a:rPr>
              <a:t>c</a:t>
            </a:r>
            <a:r>
              <a:rPr sz="2200" spc="-50" dirty="0">
                <a:latin typeface="Trebuchet MS"/>
                <a:cs typeface="Trebuchet MS"/>
              </a:rPr>
              <a:t>ell</a:t>
            </a:r>
            <a:r>
              <a:rPr sz="2200" dirty="0">
                <a:latin typeface="Trebuchet MS"/>
                <a:cs typeface="Trebuchet MS"/>
              </a:rPr>
              <a:t>	</a:t>
            </a:r>
            <a:r>
              <a:rPr sz="2200" spc="45" dirty="0">
                <a:latin typeface="Trebuchet MS"/>
                <a:cs typeface="Trebuchet MS"/>
              </a:rPr>
              <a:t>ba</a:t>
            </a:r>
            <a:r>
              <a:rPr sz="2200" spc="20" dirty="0">
                <a:latin typeface="Trebuchet MS"/>
                <a:cs typeface="Trebuchet MS"/>
              </a:rPr>
              <a:t>s</a:t>
            </a:r>
            <a:r>
              <a:rPr sz="2200" spc="-45" dirty="0">
                <a:latin typeface="Trebuchet MS"/>
                <a:cs typeface="Trebuchet MS"/>
              </a:rPr>
              <a:t>e</a:t>
            </a:r>
            <a:r>
              <a:rPr sz="2200" spc="35" dirty="0">
                <a:latin typeface="Trebuchet MS"/>
                <a:cs typeface="Trebuchet MS"/>
              </a:rPr>
              <a:t>d</a:t>
            </a:r>
            <a:r>
              <a:rPr sz="2200" dirty="0">
                <a:latin typeface="Trebuchet MS"/>
                <a:cs typeface="Trebuchet MS"/>
              </a:rPr>
              <a:t>	</a:t>
            </a:r>
            <a:r>
              <a:rPr sz="2200" spc="70" dirty="0">
                <a:latin typeface="Trebuchet MS"/>
                <a:cs typeface="Trebuchet MS"/>
              </a:rPr>
              <a:t>o</a:t>
            </a:r>
            <a:r>
              <a:rPr sz="2200" spc="80" dirty="0">
                <a:latin typeface="Trebuchet MS"/>
                <a:cs typeface="Trebuchet MS"/>
              </a:rPr>
              <a:t>n</a:t>
            </a:r>
            <a:r>
              <a:rPr sz="2200" dirty="0">
                <a:latin typeface="Trebuchet MS"/>
                <a:cs typeface="Trebuchet MS"/>
              </a:rPr>
              <a:t>	</a:t>
            </a:r>
            <a:r>
              <a:rPr sz="2200" spc="-20" dirty="0">
                <a:latin typeface="Trebuchet MS"/>
                <a:cs typeface="Trebuchet MS"/>
              </a:rPr>
              <a:t>th</a:t>
            </a:r>
            <a:r>
              <a:rPr sz="2200" spc="-15" dirty="0">
                <a:latin typeface="Trebuchet MS"/>
                <a:cs typeface="Trebuchet MS"/>
              </a:rPr>
              <a:t>e</a:t>
            </a:r>
            <a:r>
              <a:rPr sz="2200" dirty="0">
                <a:latin typeface="Trebuchet MS"/>
                <a:cs typeface="Trebuchet MS"/>
              </a:rPr>
              <a:t>	</a:t>
            </a:r>
            <a:r>
              <a:rPr sz="2200" spc="-15" dirty="0">
                <a:latin typeface="Trebuchet MS"/>
                <a:cs typeface="Trebuchet MS"/>
              </a:rPr>
              <a:t>t</a:t>
            </a:r>
            <a:r>
              <a:rPr sz="2200" spc="-20" dirty="0">
                <a:latin typeface="Trebuchet MS"/>
                <a:cs typeface="Trebuchet MS"/>
              </a:rPr>
              <a:t>able</a:t>
            </a:r>
            <a:r>
              <a:rPr sz="2200" dirty="0">
                <a:latin typeface="Trebuchet MS"/>
                <a:cs typeface="Trebuchet MS"/>
              </a:rPr>
              <a:t>	</a:t>
            </a:r>
            <a:r>
              <a:rPr sz="2200" spc="-15" dirty="0">
                <a:latin typeface="Trebuchet MS"/>
                <a:cs typeface="Trebuchet MS"/>
              </a:rPr>
              <a:t>name</a:t>
            </a:r>
            <a:r>
              <a:rPr sz="2200" spc="-5" dirty="0">
                <a:latin typeface="Trebuchet MS"/>
                <a:cs typeface="Trebuchet MS"/>
              </a:rPr>
              <a:t>,</a:t>
            </a:r>
            <a:r>
              <a:rPr sz="2200" dirty="0">
                <a:latin typeface="Trebuchet MS"/>
                <a:cs typeface="Trebuchet MS"/>
              </a:rPr>
              <a:t>	</a:t>
            </a:r>
            <a:r>
              <a:rPr sz="2200" spc="-40" dirty="0">
                <a:latin typeface="Trebuchet MS"/>
                <a:cs typeface="Trebuchet MS"/>
              </a:rPr>
              <a:t>row,</a:t>
            </a:r>
            <a:r>
              <a:rPr sz="2200" dirty="0">
                <a:latin typeface="Trebuchet MS"/>
                <a:cs typeface="Trebuchet MS"/>
              </a:rPr>
              <a:t>	</a:t>
            </a:r>
            <a:r>
              <a:rPr sz="2200" spc="30" dirty="0">
                <a:latin typeface="Trebuchet MS"/>
                <a:cs typeface="Trebuchet MS"/>
              </a:rPr>
              <a:t>colu</a:t>
            </a:r>
            <a:r>
              <a:rPr sz="2200" spc="45" dirty="0">
                <a:latin typeface="Trebuchet MS"/>
                <a:cs typeface="Trebuchet MS"/>
              </a:rPr>
              <a:t>m</a:t>
            </a:r>
            <a:r>
              <a:rPr sz="2200" spc="-90" dirty="0">
                <a:latin typeface="Trebuchet MS"/>
                <a:cs typeface="Trebuchet MS"/>
              </a:rPr>
              <a:t>n,  </a:t>
            </a:r>
            <a:r>
              <a:rPr sz="2200" spc="-15" dirty="0">
                <a:latin typeface="Trebuchet MS"/>
                <a:cs typeface="Trebuchet MS"/>
              </a:rPr>
              <a:t>timestamp, </a:t>
            </a:r>
            <a:r>
              <a:rPr sz="2200" spc="-10" dirty="0">
                <a:latin typeface="Trebuchet MS"/>
                <a:cs typeface="Trebuchet MS"/>
              </a:rPr>
              <a:t>time range, </a:t>
            </a:r>
            <a:r>
              <a:rPr sz="2200" spc="55" dirty="0">
                <a:latin typeface="Trebuchet MS"/>
                <a:cs typeface="Trebuchet MS"/>
              </a:rPr>
              <a:t>and </a:t>
            </a:r>
            <a:r>
              <a:rPr sz="2200" spc="5" dirty="0">
                <a:latin typeface="Trebuchet MS"/>
                <a:cs typeface="Trebuchet MS"/>
              </a:rPr>
              <a:t>version</a:t>
            </a:r>
            <a:r>
              <a:rPr sz="2200" spc="120" dirty="0">
                <a:latin typeface="Trebuchet MS"/>
                <a:cs typeface="Trebuchet MS"/>
              </a:rPr>
              <a:t> </a:t>
            </a:r>
            <a:r>
              <a:rPr sz="2200" spc="40" dirty="0">
                <a:latin typeface="Trebuchet MS"/>
                <a:cs typeface="Trebuchet MS"/>
              </a:rPr>
              <a:t>number</a:t>
            </a:r>
            <a:endParaRPr sz="2200" dirty="0">
              <a:latin typeface="Trebuchet MS"/>
              <a:cs typeface="Trebuchet MS"/>
            </a:endParaRPr>
          </a:p>
          <a:p>
            <a:pPr marL="12700">
              <a:lnSpc>
                <a:spcPct val="100000"/>
              </a:lnSpc>
              <a:spcBef>
                <a:spcPts val="1860"/>
              </a:spcBef>
            </a:pPr>
            <a:r>
              <a:rPr sz="2200" b="1" dirty="0">
                <a:latin typeface="Arial"/>
                <a:cs typeface="Arial"/>
              </a:rPr>
              <a:t>enable/disable</a:t>
            </a:r>
            <a:r>
              <a:rPr sz="2200" dirty="0">
                <a:latin typeface="Trebuchet MS"/>
                <a:cs typeface="Trebuchet MS"/>
              </a:rPr>
              <a:t>: </a:t>
            </a:r>
            <a:r>
              <a:rPr sz="2200" spc="25" dirty="0">
                <a:latin typeface="Trebuchet MS"/>
                <a:cs typeface="Trebuchet MS"/>
              </a:rPr>
              <a:t>enabling </a:t>
            </a:r>
            <a:r>
              <a:rPr sz="2200" spc="20" dirty="0">
                <a:latin typeface="Trebuchet MS"/>
                <a:cs typeface="Trebuchet MS"/>
              </a:rPr>
              <a:t>or disabling </a:t>
            </a:r>
            <a:r>
              <a:rPr sz="2200" spc="55" dirty="0">
                <a:latin typeface="Trebuchet MS"/>
                <a:cs typeface="Trebuchet MS"/>
              </a:rPr>
              <a:t>a</a:t>
            </a:r>
            <a:r>
              <a:rPr sz="2200" spc="130" dirty="0">
                <a:latin typeface="Trebuchet MS"/>
                <a:cs typeface="Trebuchet MS"/>
              </a:rPr>
              <a:t> </a:t>
            </a:r>
            <a:r>
              <a:rPr sz="2200" spc="-20" dirty="0">
                <a:latin typeface="Trebuchet MS"/>
                <a:cs typeface="Trebuchet MS"/>
              </a:rPr>
              <a:t>table</a:t>
            </a:r>
            <a:endParaRPr sz="2200" dirty="0">
              <a:latin typeface="Trebuchet MS"/>
              <a:cs typeface="Trebuchet MS"/>
            </a:endParaRPr>
          </a:p>
          <a:p>
            <a:pPr marL="12700">
              <a:lnSpc>
                <a:spcPct val="100000"/>
              </a:lnSpc>
              <a:spcBef>
                <a:spcPts val="1850"/>
              </a:spcBef>
            </a:pPr>
            <a:r>
              <a:rPr sz="2200" b="1" spc="-70" dirty="0">
                <a:latin typeface="Arial"/>
                <a:cs typeface="Arial"/>
              </a:rPr>
              <a:t>drop</a:t>
            </a:r>
            <a:r>
              <a:rPr sz="2200" spc="-70" dirty="0">
                <a:latin typeface="Trebuchet MS"/>
                <a:cs typeface="Trebuchet MS"/>
              </a:rPr>
              <a:t>: </a:t>
            </a:r>
            <a:r>
              <a:rPr sz="2200" spc="-5" dirty="0">
                <a:latin typeface="Trebuchet MS"/>
                <a:cs typeface="Trebuchet MS"/>
              </a:rPr>
              <a:t>deleting </a:t>
            </a:r>
            <a:r>
              <a:rPr sz="2200" spc="55" dirty="0">
                <a:latin typeface="Trebuchet MS"/>
                <a:cs typeface="Trebuchet MS"/>
              </a:rPr>
              <a:t>a</a:t>
            </a:r>
            <a:r>
              <a:rPr sz="2200" spc="165" dirty="0">
                <a:latin typeface="Trebuchet MS"/>
                <a:cs typeface="Trebuchet MS"/>
              </a:rPr>
              <a:t> </a:t>
            </a:r>
            <a:r>
              <a:rPr sz="2200" spc="-20" dirty="0">
                <a:latin typeface="Trebuchet MS"/>
                <a:cs typeface="Trebuchet MS"/>
              </a:rPr>
              <a:t>table</a:t>
            </a:r>
            <a:endParaRPr sz="2200" dirty="0">
              <a:latin typeface="Trebuchet MS"/>
              <a:cs typeface="Trebuchet MS"/>
            </a:endParaRPr>
          </a:p>
        </p:txBody>
      </p:sp>
      <p:sp>
        <p:nvSpPr>
          <p:cNvPr id="5" name="object 5"/>
          <p:cNvSpPr txBox="1"/>
          <p:nvPr/>
        </p:nvSpPr>
        <p:spPr>
          <a:xfrm>
            <a:off x="799287" y="1860550"/>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6" name="object 6"/>
          <p:cNvSpPr txBox="1"/>
          <p:nvPr/>
        </p:nvSpPr>
        <p:spPr>
          <a:xfrm>
            <a:off x="799287" y="2432431"/>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7" name="object 7"/>
          <p:cNvSpPr txBox="1"/>
          <p:nvPr/>
        </p:nvSpPr>
        <p:spPr>
          <a:xfrm>
            <a:off x="799287" y="3003931"/>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8" name="object 8"/>
          <p:cNvSpPr txBox="1"/>
          <p:nvPr/>
        </p:nvSpPr>
        <p:spPr>
          <a:xfrm>
            <a:off x="799287" y="3574160"/>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9" name="object 9"/>
          <p:cNvSpPr txBox="1"/>
          <p:nvPr/>
        </p:nvSpPr>
        <p:spPr>
          <a:xfrm>
            <a:off x="799287" y="4614748"/>
            <a:ext cx="130810" cy="194310"/>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10" name="object 10"/>
          <p:cNvSpPr txBox="1"/>
          <p:nvPr/>
        </p:nvSpPr>
        <p:spPr>
          <a:xfrm>
            <a:off x="799287" y="5185409"/>
            <a:ext cx="130175"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Wingdings"/>
                <a:cs typeface="Wingdings"/>
              </a:rPr>
              <a:t></a:t>
            </a:r>
            <a:endParaRPr sz="1100">
              <a:latin typeface="Wingdings"/>
              <a:cs typeface="Wingdings"/>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2196465" cy="0"/>
          </a:xfrm>
          <a:custGeom>
            <a:avLst/>
            <a:gdLst/>
            <a:ahLst/>
            <a:cxnLst/>
            <a:rect l="l" t="t" r="r" b="b"/>
            <a:pathLst>
              <a:path w="2196465">
                <a:moveTo>
                  <a:pt x="2195957"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2233295" cy="635000"/>
          </a:xfrm>
          <a:prstGeom prst="rect">
            <a:avLst/>
          </a:prstGeom>
        </p:spPr>
        <p:txBody>
          <a:bodyPr vert="horz" wrap="square" lIns="0" tIns="12065" rIns="0" bIns="0" rtlCol="0">
            <a:spAutoFit/>
          </a:bodyPr>
          <a:lstStyle/>
          <a:p>
            <a:pPr marL="12700">
              <a:lnSpc>
                <a:spcPct val="100000"/>
              </a:lnSpc>
              <a:spcBef>
                <a:spcPts val="95"/>
              </a:spcBef>
            </a:pPr>
            <a:r>
              <a:rPr sz="4000" spc="135" dirty="0">
                <a:solidFill>
                  <a:srgbClr val="404040"/>
                </a:solidFill>
              </a:rPr>
              <a:t>Summary</a:t>
            </a:r>
            <a:endParaRPr sz="4000"/>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fld id="{81D60167-4931-47E6-BA6A-407CBD079E47}" type="slidenum">
              <a:rPr spc="45" dirty="0"/>
              <a:t>63</a:t>
            </a:fld>
            <a:r>
              <a:rPr spc="45" dirty="0"/>
              <a:t>	</a:t>
            </a:r>
            <a:r>
              <a:rPr spc="30" dirty="0"/>
              <a:t>Huawei</a:t>
            </a:r>
            <a:r>
              <a:rPr spc="-10" dirty="0"/>
              <a:t> </a:t>
            </a:r>
            <a:r>
              <a:rPr spc="5" dirty="0"/>
              <a:t>Confidential</a:t>
            </a:r>
          </a:p>
        </p:txBody>
      </p:sp>
      <p:sp>
        <p:nvSpPr>
          <p:cNvPr id="6" name="object 6"/>
          <p:cNvSpPr txBox="1"/>
          <p:nvPr/>
        </p:nvSpPr>
        <p:spPr>
          <a:xfrm>
            <a:off x="1097991" y="2068829"/>
            <a:ext cx="120014"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7" name="object 7"/>
          <p:cNvSpPr txBox="1"/>
          <p:nvPr/>
        </p:nvSpPr>
        <p:spPr>
          <a:xfrm>
            <a:off x="1399794" y="1875891"/>
            <a:ext cx="9695180" cy="1732914"/>
          </a:xfrm>
          <a:prstGeom prst="rect">
            <a:avLst/>
          </a:prstGeom>
        </p:spPr>
        <p:txBody>
          <a:bodyPr vert="horz" wrap="square" lIns="0" tIns="12700" rIns="0" bIns="0" rtlCol="0">
            <a:spAutoFit/>
          </a:bodyPr>
          <a:lstStyle/>
          <a:p>
            <a:pPr marL="12700" marR="5080" algn="just">
              <a:lnSpc>
                <a:spcPct val="140000"/>
              </a:lnSpc>
              <a:spcBef>
                <a:spcPts val="100"/>
              </a:spcBef>
            </a:pPr>
            <a:r>
              <a:rPr sz="2000" dirty="0">
                <a:latin typeface="Trebuchet MS"/>
                <a:cs typeface="Trebuchet MS"/>
              </a:rPr>
              <a:t>This </a:t>
            </a:r>
            <a:r>
              <a:rPr sz="2000" spc="5" dirty="0">
                <a:latin typeface="Trebuchet MS"/>
                <a:cs typeface="Trebuchet MS"/>
              </a:rPr>
              <a:t>course </a:t>
            </a:r>
            <a:r>
              <a:rPr sz="2000" spc="-15" dirty="0">
                <a:latin typeface="Trebuchet MS"/>
                <a:cs typeface="Trebuchet MS"/>
              </a:rPr>
              <a:t>describes </a:t>
            </a:r>
            <a:r>
              <a:rPr sz="2000" spc="-10" dirty="0">
                <a:latin typeface="Trebuchet MS"/>
                <a:cs typeface="Trebuchet MS"/>
              </a:rPr>
              <a:t>the </a:t>
            </a:r>
            <a:r>
              <a:rPr sz="2000" spc="35" dirty="0">
                <a:latin typeface="Trebuchet MS"/>
                <a:cs typeface="Trebuchet MS"/>
              </a:rPr>
              <a:t>knowledge </a:t>
            </a:r>
            <a:r>
              <a:rPr sz="2000" spc="30" dirty="0">
                <a:latin typeface="Trebuchet MS"/>
                <a:cs typeface="Trebuchet MS"/>
              </a:rPr>
              <a:t>about </a:t>
            </a:r>
            <a:r>
              <a:rPr sz="2000" spc="-10" dirty="0">
                <a:latin typeface="Trebuchet MS"/>
                <a:cs typeface="Trebuchet MS"/>
              </a:rPr>
              <a:t>the </a:t>
            </a:r>
            <a:r>
              <a:rPr sz="2000" spc="60" dirty="0">
                <a:latin typeface="Trebuchet MS"/>
                <a:cs typeface="Trebuchet MS"/>
              </a:rPr>
              <a:t>HBase </a:t>
            </a:r>
            <a:r>
              <a:rPr sz="2000" spc="-10" dirty="0">
                <a:latin typeface="Trebuchet MS"/>
                <a:cs typeface="Trebuchet MS"/>
              </a:rPr>
              <a:t>database. </a:t>
            </a:r>
            <a:r>
              <a:rPr sz="2000" spc="60" dirty="0">
                <a:latin typeface="Trebuchet MS"/>
                <a:cs typeface="Trebuchet MS"/>
              </a:rPr>
              <a:t>HBase </a:t>
            </a:r>
            <a:r>
              <a:rPr sz="2000" spc="-10" dirty="0">
                <a:latin typeface="Trebuchet MS"/>
                <a:cs typeface="Trebuchet MS"/>
              </a:rPr>
              <a:t>is </a:t>
            </a:r>
            <a:r>
              <a:rPr sz="2000" spc="65" dirty="0">
                <a:latin typeface="Trebuchet MS"/>
                <a:cs typeface="Trebuchet MS"/>
              </a:rPr>
              <a:t>an </a:t>
            </a:r>
            <a:r>
              <a:rPr sz="2000" spc="35" dirty="0">
                <a:latin typeface="Trebuchet MS"/>
                <a:cs typeface="Trebuchet MS"/>
              </a:rPr>
              <a:t>open </a:t>
            </a:r>
            <a:r>
              <a:rPr sz="2000" spc="670" dirty="0">
                <a:latin typeface="Trebuchet MS"/>
                <a:cs typeface="Trebuchet MS"/>
              </a:rPr>
              <a:t> </a:t>
            </a:r>
            <a:r>
              <a:rPr sz="2000" spc="10" dirty="0">
                <a:latin typeface="Trebuchet MS"/>
                <a:cs typeface="Trebuchet MS"/>
              </a:rPr>
              <a:t>source </a:t>
            </a:r>
            <a:r>
              <a:rPr sz="2000" spc="15" dirty="0">
                <a:latin typeface="Trebuchet MS"/>
                <a:cs typeface="Trebuchet MS"/>
              </a:rPr>
              <a:t>implementation of </a:t>
            </a:r>
            <a:r>
              <a:rPr sz="2000" spc="-20" dirty="0">
                <a:latin typeface="Trebuchet MS"/>
                <a:cs typeface="Trebuchet MS"/>
              </a:rPr>
              <a:t>BigTable. </a:t>
            </a:r>
            <a:r>
              <a:rPr sz="2000" spc="10" dirty="0">
                <a:latin typeface="Trebuchet MS"/>
                <a:cs typeface="Trebuchet MS"/>
              </a:rPr>
              <a:t>Similar </a:t>
            </a:r>
            <a:r>
              <a:rPr sz="2000" spc="5" dirty="0">
                <a:latin typeface="Trebuchet MS"/>
                <a:cs typeface="Trebuchet MS"/>
              </a:rPr>
              <a:t>to </a:t>
            </a:r>
            <a:r>
              <a:rPr sz="2000" spc="-20" dirty="0">
                <a:latin typeface="Trebuchet MS"/>
                <a:cs typeface="Trebuchet MS"/>
              </a:rPr>
              <a:t>BigTable, </a:t>
            </a:r>
            <a:r>
              <a:rPr sz="2000" spc="60" dirty="0">
                <a:latin typeface="Trebuchet MS"/>
                <a:cs typeface="Trebuchet MS"/>
              </a:rPr>
              <a:t>HBase </a:t>
            </a:r>
            <a:r>
              <a:rPr sz="2000" spc="25" dirty="0">
                <a:latin typeface="Trebuchet MS"/>
                <a:cs typeface="Trebuchet MS"/>
              </a:rPr>
              <a:t>supports </a:t>
            </a:r>
            <a:r>
              <a:rPr sz="2000" spc="55" dirty="0">
                <a:latin typeface="Trebuchet MS"/>
                <a:cs typeface="Trebuchet MS"/>
              </a:rPr>
              <a:t>a </a:t>
            </a:r>
            <a:r>
              <a:rPr sz="2000" spc="20" dirty="0">
                <a:latin typeface="Trebuchet MS"/>
                <a:cs typeface="Trebuchet MS"/>
              </a:rPr>
              <a:t>large  </a:t>
            </a:r>
            <a:r>
              <a:rPr sz="2000" spc="60" dirty="0">
                <a:latin typeface="Trebuchet MS"/>
                <a:cs typeface="Trebuchet MS"/>
              </a:rPr>
              <a:t>amount </a:t>
            </a:r>
            <a:r>
              <a:rPr sz="2000" spc="15" dirty="0">
                <a:latin typeface="Trebuchet MS"/>
                <a:cs typeface="Trebuchet MS"/>
              </a:rPr>
              <a:t>of data </a:t>
            </a:r>
            <a:r>
              <a:rPr sz="2000" spc="50" dirty="0">
                <a:latin typeface="Trebuchet MS"/>
                <a:cs typeface="Trebuchet MS"/>
              </a:rPr>
              <a:t>and </a:t>
            </a:r>
            <a:r>
              <a:rPr sz="2000" spc="-10" dirty="0">
                <a:latin typeface="Trebuchet MS"/>
                <a:cs typeface="Trebuchet MS"/>
              </a:rPr>
              <a:t>distributed </a:t>
            </a:r>
            <a:r>
              <a:rPr sz="2000" spc="-5" dirty="0">
                <a:latin typeface="Trebuchet MS"/>
                <a:cs typeface="Trebuchet MS"/>
              </a:rPr>
              <a:t>concurrent </a:t>
            </a:r>
            <a:r>
              <a:rPr sz="2000" spc="20" dirty="0">
                <a:latin typeface="Trebuchet MS"/>
                <a:cs typeface="Trebuchet MS"/>
              </a:rPr>
              <a:t>data </a:t>
            </a:r>
            <a:r>
              <a:rPr sz="2000" spc="-10" dirty="0">
                <a:latin typeface="Trebuchet MS"/>
                <a:cs typeface="Trebuchet MS"/>
              </a:rPr>
              <a:t>processing. </a:t>
            </a:r>
            <a:r>
              <a:rPr sz="2000" spc="-25" dirty="0">
                <a:latin typeface="Trebuchet MS"/>
                <a:cs typeface="Trebuchet MS"/>
              </a:rPr>
              <a:t>It </a:t>
            </a:r>
            <a:r>
              <a:rPr sz="2000" spc="-20" dirty="0">
                <a:latin typeface="Trebuchet MS"/>
                <a:cs typeface="Trebuchet MS"/>
              </a:rPr>
              <a:t>is </a:t>
            </a:r>
            <a:r>
              <a:rPr sz="2000" spc="10" dirty="0">
                <a:latin typeface="Trebuchet MS"/>
                <a:cs typeface="Trebuchet MS"/>
              </a:rPr>
              <a:t>easy </a:t>
            </a:r>
            <a:r>
              <a:rPr sz="2000" spc="5" dirty="0">
                <a:latin typeface="Trebuchet MS"/>
                <a:cs typeface="Trebuchet MS"/>
              </a:rPr>
              <a:t>to </a:t>
            </a:r>
            <a:r>
              <a:rPr sz="2000" spc="-20" dirty="0">
                <a:latin typeface="Trebuchet MS"/>
                <a:cs typeface="Trebuchet MS"/>
              </a:rPr>
              <a:t>expand,  </a:t>
            </a:r>
            <a:r>
              <a:rPr sz="2000" spc="35" dirty="0">
                <a:latin typeface="Trebuchet MS"/>
                <a:cs typeface="Trebuchet MS"/>
              </a:rPr>
              <a:t>supporting </a:t>
            </a:r>
            <a:r>
              <a:rPr sz="2000" spc="25" dirty="0">
                <a:latin typeface="Trebuchet MS"/>
                <a:cs typeface="Trebuchet MS"/>
              </a:rPr>
              <a:t>dynamic </a:t>
            </a:r>
            <a:r>
              <a:rPr sz="2000" spc="-15" dirty="0">
                <a:latin typeface="Trebuchet MS"/>
                <a:cs typeface="Trebuchet MS"/>
              </a:rPr>
              <a:t>scaling, </a:t>
            </a:r>
            <a:r>
              <a:rPr sz="2000" spc="50" dirty="0">
                <a:latin typeface="Trebuchet MS"/>
                <a:cs typeface="Trebuchet MS"/>
              </a:rPr>
              <a:t>and </a:t>
            </a:r>
            <a:r>
              <a:rPr sz="2000" spc="-10" dirty="0">
                <a:latin typeface="Trebuchet MS"/>
                <a:cs typeface="Trebuchet MS"/>
              </a:rPr>
              <a:t>is </a:t>
            </a:r>
            <a:r>
              <a:rPr sz="2000" spc="-5" dirty="0">
                <a:latin typeface="Trebuchet MS"/>
                <a:cs typeface="Trebuchet MS"/>
              </a:rPr>
              <a:t>applicable </a:t>
            </a:r>
            <a:r>
              <a:rPr sz="2000" spc="5" dirty="0">
                <a:latin typeface="Trebuchet MS"/>
                <a:cs typeface="Trebuchet MS"/>
              </a:rPr>
              <a:t>to </a:t>
            </a:r>
            <a:r>
              <a:rPr sz="2000" spc="-5" dirty="0">
                <a:latin typeface="Trebuchet MS"/>
                <a:cs typeface="Trebuchet MS"/>
              </a:rPr>
              <a:t>inexpensive</a:t>
            </a:r>
            <a:r>
              <a:rPr sz="2000" spc="20" dirty="0">
                <a:latin typeface="Trebuchet MS"/>
                <a:cs typeface="Trebuchet MS"/>
              </a:rPr>
              <a:t> </a:t>
            </a:r>
            <a:r>
              <a:rPr sz="2000" spc="-50" dirty="0">
                <a:latin typeface="Trebuchet MS"/>
                <a:cs typeface="Trebuchet MS"/>
              </a:rPr>
              <a:t>devices.</a:t>
            </a:r>
            <a:endParaRPr sz="2000">
              <a:latin typeface="Trebuchet MS"/>
              <a:cs typeface="Trebuchet MS"/>
            </a:endParaRPr>
          </a:p>
        </p:txBody>
      </p:sp>
      <p:sp>
        <p:nvSpPr>
          <p:cNvPr id="8" name="object 8"/>
          <p:cNvSpPr txBox="1"/>
          <p:nvPr/>
        </p:nvSpPr>
        <p:spPr>
          <a:xfrm>
            <a:off x="1097991" y="3878072"/>
            <a:ext cx="120014"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Wingdings"/>
                <a:cs typeface="Wingdings"/>
              </a:rPr>
              <a:t></a:t>
            </a:r>
            <a:endParaRPr sz="1000">
              <a:latin typeface="Wingdings"/>
              <a:cs typeface="Wingdings"/>
            </a:endParaRPr>
          </a:p>
        </p:txBody>
      </p:sp>
      <p:sp>
        <p:nvSpPr>
          <p:cNvPr id="9" name="object 9"/>
          <p:cNvSpPr txBox="1"/>
          <p:nvPr/>
        </p:nvSpPr>
        <p:spPr>
          <a:xfrm>
            <a:off x="1399794" y="3684490"/>
            <a:ext cx="9693910" cy="1733550"/>
          </a:xfrm>
          <a:prstGeom prst="rect">
            <a:avLst/>
          </a:prstGeom>
        </p:spPr>
        <p:txBody>
          <a:bodyPr vert="horz" wrap="square" lIns="0" tIns="13335" rIns="0" bIns="0" rtlCol="0">
            <a:spAutoFit/>
          </a:bodyPr>
          <a:lstStyle/>
          <a:p>
            <a:pPr marL="12700" marR="5080" algn="just">
              <a:lnSpc>
                <a:spcPct val="140000"/>
              </a:lnSpc>
              <a:spcBef>
                <a:spcPts val="105"/>
              </a:spcBef>
            </a:pPr>
            <a:r>
              <a:rPr sz="2000" spc="-10" dirty="0">
                <a:latin typeface="Trebuchet MS"/>
                <a:cs typeface="Trebuchet MS"/>
              </a:rPr>
              <a:t>Additionally, </a:t>
            </a:r>
            <a:r>
              <a:rPr sz="2000" spc="-5" dirty="0">
                <a:latin typeface="Trebuchet MS"/>
                <a:cs typeface="Trebuchet MS"/>
              </a:rPr>
              <a:t>this </a:t>
            </a:r>
            <a:r>
              <a:rPr sz="2000" spc="5" dirty="0">
                <a:latin typeface="Trebuchet MS"/>
                <a:cs typeface="Trebuchet MS"/>
              </a:rPr>
              <a:t>course </a:t>
            </a:r>
            <a:r>
              <a:rPr sz="2000" spc="-15" dirty="0">
                <a:latin typeface="Trebuchet MS"/>
                <a:cs typeface="Trebuchet MS"/>
              </a:rPr>
              <a:t>describes </a:t>
            </a:r>
            <a:r>
              <a:rPr sz="2000" spc="-10" dirty="0">
                <a:latin typeface="Trebuchet MS"/>
                <a:cs typeface="Trebuchet MS"/>
              </a:rPr>
              <a:t>the </a:t>
            </a:r>
            <a:r>
              <a:rPr sz="2000" spc="-25" dirty="0">
                <a:latin typeface="Trebuchet MS"/>
                <a:cs typeface="Trebuchet MS"/>
              </a:rPr>
              <a:t>differences </a:t>
            </a:r>
            <a:r>
              <a:rPr sz="2000" spc="-5" dirty="0">
                <a:latin typeface="Trebuchet MS"/>
                <a:cs typeface="Trebuchet MS"/>
              </a:rPr>
              <a:t>between </a:t>
            </a:r>
            <a:r>
              <a:rPr sz="2000" spc="-10" dirty="0">
                <a:latin typeface="Trebuchet MS"/>
                <a:cs typeface="Trebuchet MS"/>
              </a:rPr>
              <a:t>the </a:t>
            </a:r>
            <a:r>
              <a:rPr sz="2000" dirty="0">
                <a:latin typeface="Trebuchet MS"/>
                <a:cs typeface="Trebuchet MS"/>
              </a:rPr>
              <a:t>conceptual </a:t>
            </a:r>
            <a:r>
              <a:rPr sz="2000" spc="-5" dirty="0">
                <a:latin typeface="Trebuchet MS"/>
                <a:cs typeface="Trebuchet MS"/>
              </a:rPr>
              <a:t>view </a:t>
            </a:r>
            <a:r>
              <a:rPr sz="2000" spc="55" dirty="0">
                <a:latin typeface="Trebuchet MS"/>
                <a:cs typeface="Trebuchet MS"/>
              </a:rPr>
              <a:t>and  </a:t>
            </a:r>
            <a:r>
              <a:rPr sz="2000" dirty="0">
                <a:latin typeface="Trebuchet MS"/>
                <a:cs typeface="Trebuchet MS"/>
              </a:rPr>
              <a:t>physical </a:t>
            </a:r>
            <a:r>
              <a:rPr sz="2000" spc="-5" dirty="0">
                <a:latin typeface="Trebuchet MS"/>
                <a:cs typeface="Trebuchet MS"/>
              </a:rPr>
              <a:t>view </a:t>
            </a:r>
            <a:r>
              <a:rPr sz="2000" spc="15" dirty="0">
                <a:latin typeface="Trebuchet MS"/>
                <a:cs typeface="Trebuchet MS"/>
              </a:rPr>
              <a:t>of </a:t>
            </a:r>
            <a:r>
              <a:rPr sz="2000" spc="60" dirty="0">
                <a:latin typeface="Trebuchet MS"/>
                <a:cs typeface="Trebuchet MS"/>
              </a:rPr>
              <a:t>HBase </a:t>
            </a:r>
            <a:r>
              <a:rPr sz="2000" spc="-40" dirty="0">
                <a:latin typeface="Trebuchet MS"/>
                <a:cs typeface="Trebuchet MS"/>
              </a:rPr>
              <a:t>data. </a:t>
            </a:r>
            <a:r>
              <a:rPr sz="2000" spc="60" dirty="0">
                <a:latin typeface="Trebuchet MS"/>
                <a:cs typeface="Trebuchet MS"/>
              </a:rPr>
              <a:t>HBase </a:t>
            </a:r>
            <a:r>
              <a:rPr sz="2000" spc="-10" dirty="0">
                <a:latin typeface="Trebuchet MS"/>
                <a:cs typeface="Trebuchet MS"/>
              </a:rPr>
              <a:t>is </a:t>
            </a:r>
            <a:r>
              <a:rPr sz="2000" spc="55" dirty="0">
                <a:latin typeface="Trebuchet MS"/>
                <a:cs typeface="Trebuchet MS"/>
              </a:rPr>
              <a:t>a </a:t>
            </a:r>
            <a:r>
              <a:rPr sz="2000" spc="60" dirty="0">
                <a:latin typeface="Trebuchet MS"/>
                <a:cs typeface="Trebuchet MS"/>
              </a:rPr>
              <a:t>mapping </a:t>
            </a:r>
            <a:r>
              <a:rPr sz="2000" spc="-15" dirty="0">
                <a:latin typeface="Trebuchet MS"/>
                <a:cs typeface="Trebuchet MS"/>
              </a:rPr>
              <a:t>table </a:t>
            </a:r>
            <a:r>
              <a:rPr sz="2000" dirty="0">
                <a:latin typeface="Trebuchet MS"/>
                <a:cs typeface="Trebuchet MS"/>
              </a:rPr>
              <a:t>that stores </a:t>
            </a:r>
            <a:r>
              <a:rPr sz="2000" spc="20" dirty="0">
                <a:latin typeface="Trebuchet MS"/>
                <a:cs typeface="Trebuchet MS"/>
              </a:rPr>
              <a:t>data </a:t>
            </a:r>
            <a:r>
              <a:rPr sz="2000" spc="10" dirty="0">
                <a:latin typeface="Trebuchet MS"/>
                <a:cs typeface="Trebuchet MS"/>
              </a:rPr>
              <a:t>in </a:t>
            </a:r>
            <a:r>
              <a:rPr sz="2000" spc="55" dirty="0">
                <a:latin typeface="Trebuchet MS"/>
                <a:cs typeface="Trebuchet MS"/>
              </a:rPr>
              <a:t>a </a:t>
            </a:r>
            <a:r>
              <a:rPr sz="2000" spc="-25" dirty="0">
                <a:latin typeface="Trebuchet MS"/>
                <a:cs typeface="Trebuchet MS"/>
              </a:rPr>
              <a:t>sparse,  </a:t>
            </a:r>
            <a:r>
              <a:rPr sz="2000" spc="5" dirty="0">
                <a:latin typeface="Trebuchet MS"/>
                <a:cs typeface="Trebuchet MS"/>
              </a:rPr>
              <a:t>multi-dimensional, </a:t>
            </a:r>
            <a:r>
              <a:rPr sz="2000" spc="50" dirty="0">
                <a:latin typeface="Trebuchet MS"/>
                <a:cs typeface="Trebuchet MS"/>
              </a:rPr>
              <a:t>and </a:t>
            </a:r>
            <a:r>
              <a:rPr sz="2000" spc="-10" dirty="0">
                <a:latin typeface="Trebuchet MS"/>
                <a:cs typeface="Trebuchet MS"/>
              </a:rPr>
              <a:t>persistent </a:t>
            </a:r>
            <a:r>
              <a:rPr sz="2000" dirty="0">
                <a:latin typeface="Trebuchet MS"/>
                <a:cs typeface="Trebuchet MS"/>
              </a:rPr>
              <a:t>manner. </a:t>
            </a:r>
            <a:r>
              <a:rPr sz="2000" spc="-25" dirty="0">
                <a:latin typeface="Trebuchet MS"/>
                <a:cs typeface="Trebuchet MS"/>
              </a:rPr>
              <a:t>It </a:t>
            </a:r>
            <a:r>
              <a:rPr sz="2000" spc="25" dirty="0">
                <a:latin typeface="Trebuchet MS"/>
                <a:cs typeface="Trebuchet MS"/>
              </a:rPr>
              <a:t>uses </a:t>
            </a:r>
            <a:r>
              <a:rPr sz="2000" spc="45" dirty="0">
                <a:latin typeface="Trebuchet MS"/>
                <a:cs typeface="Trebuchet MS"/>
              </a:rPr>
              <a:t>row </a:t>
            </a:r>
            <a:r>
              <a:rPr sz="2000" spc="-45" dirty="0">
                <a:latin typeface="Trebuchet MS"/>
                <a:cs typeface="Trebuchet MS"/>
              </a:rPr>
              <a:t>keys, </a:t>
            </a:r>
            <a:r>
              <a:rPr sz="2000" spc="40" dirty="0">
                <a:latin typeface="Trebuchet MS"/>
                <a:cs typeface="Trebuchet MS"/>
              </a:rPr>
              <a:t>column </a:t>
            </a:r>
            <a:r>
              <a:rPr sz="2000" spc="-45" dirty="0">
                <a:latin typeface="Trebuchet MS"/>
                <a:cs typeface="Trebuchet MS"/>
              </a:rPr>
              <a:t>keys, </a:t>
            </a:r>
            <a:r>
              <a:rPr sz="2000" spc="50" dirty="0">
                <a:latin typeface="Trebuchet MS"/>
                <a:cs typeface="Trebuchet MS"/>
              </a:rPr>
              <a:t>and  </a:t>
            </a:r>
            <a:r>
              <a:rPr sz="2000" spc="20" dirty="0">
                <a:latin typeface="Trebuchet MS"/>
                <a:cs typeface="Trebuchet MS"/>
              </a:rPr>
              <a:t>timestamps </a:t>
            </a:r>
            <a:r>
              <a:rPr sz="2000" dirty="0">
                <a:latin typeface="Trebuchet MS"/>
                <a:cs typeface="Trebuchet MS"/>
              </a:rPr>
              <a:t>for </a:t>
            </a:r>
            <a:r>
              <a:rPr sz="2000" spc="-10" dirty="0">
                <a:latin typeface="Trebuchet MS"/>
                <a:cs typeface="Trebuchet MS"/>
              </a:rPr>
              <a:t>indexing, </a:t>
            </a:r>
            <a:r>
              <a:rPr sz="2000" spc="55" dirty="0">
                <a:latin typeface="Trebuchet MS"/>
                <a:cs typeface="Trebuchet MS"/>
              </a:rPr>
              <a:t>and </a:t>
            </a:r>
            <a:r>
              <a:rPr sz="2000" dirty="0">
                <a:latin typeface="Trebuchet MS"/>
                <a:cs typeface="Trebuchet MS"/>
              </a:rPr>
              <a:t>each </a:t>
            </a:r>
            <a:r>
              <a:rPr sz="2000" spc="10" dirty="0">
                <a:latin typeface="Trebuchet MS"/>
                <a:cs typeface="Trebuchet MS"/>
              </a:rPr>
              <a:t>value </a:t>
            </a:r>
            <a:r>
              <a:rPr sz="2000" spc="-10" dirty="0">
                <a:latin typeface="Trebuchet MS"/>
                <a:cs typeface="Trebuchet MS"/>
              </a:rPr>
              <a:t>is </a:t>
            </a:r>
            <a:r>
              <a:rPr sz="2000" spc="60" dirty="0">
                <a:latin typeface="Trebuchet MS"/>
                <a:cs typeface="Trebuchet MS"/>
              </a:rPr>
              <a:t>an </a:t>
            </a:r>
            <a:r>
              <a:rPr sz="2000" spc="10" dirty="0">
                <a:latin typeface="Trebuchet MS"/>
                <a:cs typeface="Trebuchet MS"/>
              </a:rPr>
              <a:t>unexplained</a:t>
            </a:r>
            <a:r>
              <a:rPr sz="2000" spc="40" dirty="0">
                <a:latin typeface="Trebuchet MS"/>
                <a:cs typeface="Trebuchet MS"/>
              </a:rPr>
              <a:t> </a:t>
            </a:r>
            <a:r>
              <a:rPr sz="2000" spc="-25" dirty="0">
                <a:latin typeface="Trebuchet MS"/>
                <a:cs typeface="Trebuchet MS"/>
              </a:rPr>
              <a:t>string.</a:t>
            </a:r>
            <a:endParaRPr sz="2000">
              <a:latin typeface="Trebuchet MS"/>
              <a:cs typeface="Trebuchet MS"/>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1043940" cy="0"/>
          </a:xfrm>
          <a:custGeom>
            <a:avLst/>
            <a:gdLst/>
            <a:ahLst/>
            <a:cxnLst/>
            <a:rect l="l" t="t" r="r" b="b"/>
            <a:pathLst>
              <a:path w="1043939">
                <a:moveTo>
                  <a:pt x="1043939"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1089025" cy="635000"/>
          </a:xfrm>
          <a:prstGeom prst="rect">
            <a:avLst/>
          </a:prstGeom>
        </p:spPr>
        <p:txBody>
          <a:bodyPr vert="horz" wrap="square" lIns="0" tIns="12065" rIns="0" bIns="0" rtlCol="0">
            <a:spAutoFit/>
          </a:bodyPr>
          <a:lstStyle/>
          <a:p>
            <a:pPr marL="12700">
              <a:lnSpc>
                <a:spcPct val="100000"/>
              </a:lnSpc>
              <a:spcBef>
                <a:spcPts val="95"/>
              </a:spcBef>
            </a:pPr>
            <a:r>
              <a:rPr sz="4000" spc="110" dirty="0">
                <a:solidFill>
                  <a:srgbClr val="404040"/>
                </a:solidFill>
              </a:rPr>
              <a:t>Quiz</a:t>
            </a:r>
            <a:endParaRPr sz="4000"/>
          </a:p>
        </p:txBody>
      </p:sp>
      <p:sp>
        <p:nvSpPr>
          <p:cNvPr id="7" name="object 7"/>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fld id="{81D60167-4931-47E6-BA6A-407CBD079E47}" type="slidenum">
              <a:rPr spc="45" dirty="0"/>
              <a:t>64</a:t>
            </a:fld>
            <a:r>
              <a:rPr spc="45" dirty="0"/>
              <a:t>	</a:t>
            </a:r>
            <a:r>
              <a:rPr spc="30" dirty="0"/>
              <a:t>Huawei</a:t>
            </a:r>
            <a:r>
              <a:rPr spc="-10" dirty="0"/>
              <a:t> </a:t>
            </a:r>
            <a:r>
              <a:rPr spc="5" dirty="0"/>
              <a:t>Confidential</a:t>
            </a:r>
          </a:p>
        </p:txBody>
      </p:sp>
      <p:sp>
        <p:nvSpPr>
          <p:cNvPr id="6" name="object 6"/>
          <p:cNvSpPr txBox="1"/>
          <p:nvPr/>
        </p:nvSpPr>
        <p:spPr>
          <a:xfrm>
            <a:off x="1097991" y="1997201"/>
            <a:ext cx="8061325" cy="2221865"/>
          </a:xfrm>
          <a:prstGeom prst="rect">
            <a:avLst/>
          </a:prstGeom>
        </p:spPr>
        <p:txBody>
          <a:bodyPr vert="horz" wrap="square" lIns="0" tIns="13335" rIns="0" bIns="0" rtlCol="0">
            <a:spAutoFit/>
          </a:bodyPr>
          <a:lstStyle/>
          <a:p>
            <a:pPr marL="469900" indent="-457834">
              <a:lnSpc>
                <a:spcPct val="100000"/>
              </a:lnSpc>
              <a:spcBef>
                <a:spcPts val="105"/>
              </a:spcBef>
              <a:buAutoNum type="arabicPeriod"/>
              <a:tabLst>
                <a:tab pos="469265" algn="l"/>
                <a:tab pos="470534" algn="l"/>
                <a:tab pos="7942580" algn="l"/>
              </a:tabLst>
            </a:pPr>
            <a:r>
              <a:rPr sz="2000" spc="185" dirty="0">
                <a:latin typeface="Trebuchet MS"/>
                <a:cs typeface="Trebuchet MS"/>
              </a:rPr>
              <a:t>W</a:t>
            </a:r>
            <a:r>
              <a:rPr sz="2000" spc="125" dirty="0">
                <a:latin typeface="Trebuchet MS"/>
                <a:cs typeface="Trebuchet MS"/>
              </a:rPr>
              <a:t>h</a:t>
            </a:r>
            <a:r>
              <a:rPr sz="2000" spc="-20" dirty="0">
                <a:latin typeface="Trebuchet MS"/>
                <a:cs typeface="Trebuchet MS"/>
              </a:rPr>
              <a:t>ich</a:t>
            </a:r>
            <a:r>
              <a:rPr sz="2000" spc="10" dirty="0">
                <a:latin typeface="Trebuchet MS"/>
                <a:cs typeface="Trebuchet MS"/>
              </a:rPr>
              <a:t> </a:t>
            </a:r>
            <a:r>
              <a:rPr sz="2000" spc="20" dirty="0">
                <a:latin typeface="Trebuchet MS"/>
                <a:cs typeface="Trebuchet MS"/>
              </a:rPr>
              <a:t>o</a:t>
            </a:r>
            <a:r>
              <a:rPr sz="2000" spc="15" dirty="0">
                <a:latin typeface="Trebuchet MS"/>
                <a:cs typeface="Trebuchet MS"/>
              </a:rPr>
              <a:t>f </a:t>
            </a:r>
            <a:r>
              <a:rPr sz="2000" spc="-10" dirty="0">
                <a:latin typeface="Trebuchet MS"/>
                <a:cs typeface="Trebuchet MS"/>
              </a:rPr>
              <a:t>the</a:t>
            </a:r>
            <a:r>
              <a:rPr sz="2000" spc="5" dirty="0">
                <a:latin typeface="Trebuchet MS"/>
                <a:cs typeface="Trebuchet MS"/>
              </a:rPr>
              <a:t> </a:t>
            </a:r>
            <a:r>
              <a:rPr sz="2000" spc="10" dirty="0">
                <a:latin typeface="Trebuchet MS"/>
                <a:cs typeface="Trebuchet MS"/>
              </a:rPr>
              <a:t>f</a:t>
            </a:r>
            <a:r>
              <a:rPr sz="2000" spc="15" dirty="0">
                <a:latin typeface="Trebuchet MS"/>
                <a:cs typeface="Trebuchet MS"/>
              </a:rPr>
              <a:t>ollowi</a:t>
            </a:r>
            <a:r>
              <a:rPr sz="2000" spc="25" dirty="0">
                <a:latin typeface="Trebuchet MS"/>
                <a:cs typeface="Trebuchet MS"/>
              </a:rPr>
              <a:t>n</a:t>
            </a:r>
            <a:r>
              <a:rPr sz="2000" spc="145" dirty="0">
                <a:latin typeface="Trebuchet MS"/>
                <a:cs typeface="Trebuchet MS"/>
              </a:rPr>
              <a:t>g</a:t>
            </a:r>
            <a:r>
              <a:rPr sz="2000" spc="20" dirty="0">
                <a:latin typeface="Trebuchet MS"/>
                <a:cs typeface="Trebuchet MS"/>
              </a:rPr>
              <a:t> </a:t>
            </a:r>
            <a:r>
              <a:rPr sz="2000" spc="-5" dirty="0">
                <a:latin typeface="Trebuchet MS"/>
                <a:cs typeface="Trebuchet MS"/>
              </a:rPr>
              <a:t>i</a:t>
            </a:r>
            <a:r>
              <a:rPr sz="2000" spc="-15" dirty="0">
                <a:latin typeface="Trebuchet MS"/>
                <a:cs typeface="Trebuchet MS"/>
              </a:rPr>
              <a:t>s</a:t>
            </a:r>
            <a:r>
              <a:rPr sz="2000" spc="15" dirty="0">
                <a:latin typeface="Trebuchet MS"/>
                <a:cs typeface="Trebuchet MS"/>
              </a:rPr>
              <a:t> </a:t>
            </a:r>
            <a:r>
              <a:rPr sz="2000" spc="-25" dirty="0">
                <a:latin typeface="Trebuchet MS"/>
                <a:cs typeface="Trebuchet MS"/>
              </a:rPr>
              <a:t>typ</a:t>
            </a:r>
            <a:r>
              <a:rPr sz="2000" spc="-20" dirty="0">
                <a:latin typeface="Trebuchet MS"/>
                <a:cs typeface="Trebuchet MS"/>
              </a:rPr>
              <a:t>e</a:t>
            </a:r>
            <a:r>
              <a:rPr sz="2000" spc="25" dirty="0">
                <a:latin typeface="Trebuchet MS"/>
                <a:cs typeface="Trebuchet MS"/>
              </a:rPr>
              <a:t> </a:t>
            </a:r>
            <a:r>
              <a:rPr sz="2000" spc="65" dirty="0">
                <a:latin typeface="Trebuchet MS"/>
                <a:cs typeface="Trebuchet MS"/>
              </a:rPr>
              <a:t>u</a:t>
            </a:r>
            <a:r>
              <a:rPr sz="2000" spc="50" dirty="0">
                <a:latin typeface="Trebuchet MS"/>
                <a:cs typeface="Trebuchet MS"/>
              </a:rPr>
              <a:t>s</a:t>
            </a:r>
            <a:r>
              <a:rPr sz="2000" spc="-5" dirty="0">
                <a:latin typeface="Trebuchet MS"/>
                <a:cs typeface="Trebuchet MS"/>
              </a:rPr>
              <a:t>e</a:t>
            </a:r>
            <a:r>
              <a:rPr sz="2000" dirty="0">
                <a:latin typeface="Trebuchet MS"/>
                <a:cs typeface="Trebuchet MS"/>
              </a:rPr>
              <a:t>d</a:t>
            </a:r>
            <a:r>
              <a:rPr sz="2000" spc="10" dirty="0">
                <a:latin typeface="Trebuchet MS"/>
                <a:cs typeface="Trebuchet MS"/>
              </a:rPr>
              <a:t> </a:t>
            </a:r>
            <a:r>
              <a:rPr sz="2000" spc="5" dirty="0">
                <a:latin typeface="Trebuchet MS"/>
                <a:cs typeface="Trebuchet MS"/>
              </a:rPr>
              <a:t>to </a:t>
            </a:r>
            <a:r>
              <a:rPr sz="2000" spc="-15" dirty="0">
                <a:latin typeface="Trebuchet MS"/>
                <a:cs typeface="Trebuchet MS"/>
              </a:rPr>
              <a:t>s</a:t>
            </a:r>
            <a:r>
              <a:rPr sz="2000" spc="-10" dirty="0">
                <a:latin typeface="Trebuchet MS"/>
                <a:cs typeface="Trebuchet MS"/>
              </a:rPr>
              <a:t>t</a:t>
            </a:r>
            <a:r>
              <a:rPr sz="2000" dirty="0">
                <a:latin typeface="Trebuchet MS"/>
                <a:cs typeface="Trebuchet MS"/>
              </a:rPr>
              <a:t>or</a:t>
            </a:r>
            <a:r>
              <a:rPr sz="2000" spc="5" dirty="0">
                <a:latin typeface="Trebuchet MS"/>
                <a:cs typeface="Trebuchet MS"/>
              </a:rPr>
              <a:t>e</a:t>
            </a:r>
            <a:r>
              <a:rPr sz="2000" dirty="0">
                <a:latin typeface="Trebuchet MS"/>
                <a:cs typeface="Trebuchet MS"/>
              </a:rPr>
              <a:t> </a:t>
            </a:r>
            <a:r>
              <a:rPr sz="2000" spc="20" dirty="0">
                <a:latin typeface="Trebuchet MS"/>
                <a:cs typeface="Trebuchet MS"/>
              </a:rPr>
              <a:t>data</a:t>
            </a:r>
            <a:r>
              <a:rPr sz="2000" spc="25" dirty="0">
                <a:latin typeface="Trebuchet MS"/>
                <a:cs typeface="Trebuchet MS"/>
              </a:rPr>
              <a:t> </a:t>
            </a:r>
            <a:r>
              <a:rPr sz="2000" spc="10" dirty="0">
                <a:latin typeface="Trebuchet MS"/>
                <a:cs typeface="Trebuchet MS"/>
              </a:rPr>
              <a:t>in</a:t>
            </a:r>
            <a:r>
              <a:rPr sz="2000" spc="25" dirty="0">
                <a:latin typeface="Trebuchet MS"/>
                <a:cs typeface="Trebuchet MS"/>
              </a:rPr>
              <a:t> </a:t>
            </a:r>
            <a:r>
              <a:rPr sz="2000" spc="145" dirty="0">
                <a:latin typeface="Trebuchet MS"/>
                <a:cs typeface="Trebuchet MS"/>
              </a:rPr>
              <a:t>H</a:t>
            </a:r>
            <a:r>
              <a:rPr sz="2000" spc="114" dirty="0">
                <a:latin typeface="Trebuchet MS"/>
                <a:cs typeface="Trebuchet MS"/>
              </a:rPr>
              <a:t>B</a:t>
            </a:r>
            <a:r>
              <a:rPr sz="2000" spc="10" dirty="0">
                <a:latin typeface="Trebuchet MS"/>
                <a:cs typeface="Trebuchet MS"/>
              </a:rPr>
              <a:t>as</a:t>
            </a:r>
            <a:r>
              <a:rPr sz="2000" spc="20" dirty="0">
                <a:latin typeface="Trebuchet MS"/>
                <a:cs typeface="Trebuchet MS"/>
              </a:rPr>
              <a:t>e</a:t>
            </a:r>
            <a:r>
              <a:rPr sz="2000" spc="220" dirty="0">
                <a:latin typeface="Trebuchet MS"/>
                <a:cs typeface="Trebuchet MS"/>
              </a:rPr>
              <a:t>?</a:t>
            </a:r>
            <a:r>
              <a:rPr sz="2000" spc="10" dirty="0">
                <a:latin typeface="Trebuchet MS"/>
                <a:cs typeface="Trebuchet MS"/>
              </a:rPr>
              <a:t> </a:t>
            </a:r>
            <a:r>
              <a:rPr sz="2000" spc="90" dirty="0">
                <a:latin typeface="Trebuchet MS"/>
                <a:cs typeface="Trebuchet MS"/>
              </a:rPr>
              <a:t>(</a:t>
            </a:r>
            <a:r>
              <a:rPr sz="2000" dirty="0">
                <a:latin typeface="Trebuchet MS"/>
                <a:cs typeface="Trebuchet MS"/>
              </a:rPr>
              <a:t>	</a:t>
            </a:r>
            <a:r>
              <a:rPr sz="2000" spc="90" dirty="0">
                <a:latin typeface="Trebuchet MS"/>
                <a:cs typeface="Trebuchet MS"/>
              </a:rPr>
              <a:t>)</a:t>
            </a:r>
            <a:endParaRPr sz="2000">
              <a:latin typeface="Trebuchet MS"/>
              <a:cs typeface="Trebuchet MS"/>
            </a:endParaRPr>
          </a:p>
          <a:p>
            <a:pPr marL="756285" lvl="1" indent="-343535">
              <a:lnSpc>
                <a:spcPct val="100000"/>
              </a:lnSpc>
              <a:spcBef>
                <a:spcPts val="1555"/>
              </a:spcBef>
              <a:buAutoNum type="alphaUcPeriod"/>
              <a:tabLst>
                <a:tab pos="756285" algn="l"/>
                <a:tab pos="756920" algn="l"/>
              </a:tabLst>
            </a:pPr>
            <a:r>
              <a:rPr sz="1800" spc="5" dirty="0">
                <a:latin typeface="Trebuchet MS"/>
                <a:cs typeface="Trebuchet MS"/>
              </a:rPr>
              <a:t>Int</a:t>
            </a:r>
            <a:endParaRPr sz="1800">
              <a:latin typeface="Trebuchet MS"/>
              <a:cs typeface="Trebuchet MS"/>
            </a:endParaRPr>
          </a:p>
          <a:p>
            <a:pPr marL="756285" lvl="1" indent="-343535">
              <a:lnSpc>
                <a:spcPct val="100000"/>
              </a:lnSpc>
              <a:spcBef>
                <a:spcPts val="1575"/>
              </a:spcBef>
              <a:buAutoNum type="alphaUcPeriod"/>
              <a:tabLst>
                <a:tab pos="756285" algn="l"/>
                <a:tab pos="756920" algn="l"/>
              </a:tabLst>
            </a:pPr>
            <a:r>
              <a:rPr sz="1800" spc="65" dirty="0">
                <a:latin typeface="Trebuchet MS"/>
                <a:cs typeface="Trebuchet MS"/>
              </a:rPr>
              <a:t>Long</a:t>
            </a:r>
            <a:endParaRPr sz="1800">
              <a:latin typeface="Trebuchet MS"/>
              <a:cs typeface="Trebuchet MS"/>
            </a:endParaRPr>
          </a:p>
          <a:p>
            <a:pPr marL="756285" lvl="1" indent="-343535">
              <a:lnSpc>
                <a:spcPct val="100000"/>
              </a:lnSpc>
              <a:spcBef>
                <a:spcPts val="1560"/>
              </a:spcBef>
              <a:buAutoNum type="alphaUcPeriod"/>
              <a:tabLst>
                <a:tab pos="756285" algn="l"/>
                <a:tab pos="756920" algn="l"/>
              </a:tabLst>
            </a:pPr>
            <a:r>
              <a:rPr sz="1800" spc="20" dirty="0">
                <a:latin typeface="Trebuchet MS"/>
                <a:cs typeface="Trebuchet MS"/>
              </a:rPr>
              <a:t>String</a:t>
            </a:r>
            <a:endParaRPr sz="1800">
              <a:latin typeface="Trebuchet MS"/>
              <a:cs typeface="Trebuchet MS"/>
            </a:endParaRPr>
          </a:p>
          <a:p>
            <a:pPr marL="756285" lvl="1" indent="-343535">
              <a:lnSpc>
                <a:spcPct val="100000"/>
              </a:lnSpc>
              <a:spcBef>
                <a:spcPts val="1560"/>
              </a:spcBef>
              <a:buAutoNum type="alphaUcPeriod"/>
              <a:tabLst>
                <a:tab pos="756920" algn="l"/>
              </a:tabLst>
            </a:pPr>
            <a:r>
              <a:rPr sz="1800" spc="10" dirty="0">
                <a:latin typeface="Trebuchet MS"/>
                <a:cs typeface="Trebuchet MS"/>
              </a:rPr>
              <a:t>Byte[]</a:t>
            </a:r>
            <a:endParaRPr sz="1800">
              <a:latin typeface="Trebuchet MS"/>
              <a:cs typeface="Trebuchet MS"/>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1043940" cy="0"/>
          </a:xfrm>
          <a:custGeom>
            <a:avLst/>
            <a:gdLst/>
            <a:ahLst/>
            <a:cxnLst/>
            <a:rect l="l" t="t" r="r" b="b"/>
            <a:pathLst>
              <a:path w="1043939">
                <a:moveTo>
                  <a:pt x="1043939"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1089025" cy="635000"/>
          </a:xfrm>
          <a:prstGeom prst="rect">
            <a:avLst/>
          </a:prstGeom>
        </p:spPr>
        <p:txBody>
          <a:bodyPr vert="horz" wrap="square" lIns="0" tIns="12065" rIns="0" bIns="0" rtlCol="0">
            <a:spAutoFit/>
          </a:bodyPr>
          <a:lstStyle/>
          <a:p>
            <a:pPr marL="12700">
              <a:lnSpc>
                <a:spcPct val="100000"/>
              </a:lnSpc>
              <a:spcBef>
                <a:spcPts val="95"/>
              </a:spcBef>
            </a:pPr>
            <a:r>
              <a:rPr sz="4000" spc="110" dirty="0">
                <a:solidFill>
                  <a:srgbClr val="404040"/>
                </a:solidFill>
              </a:rPr>
              <a:t>Quiz</a:t>
            </a:r>
            <a:endParaRPr sz="4000"/>
          </a:p>
        </p:txBody>
      </p:sp>
      <p:sp>
        <p:nvSpPr>
          <p:cNvPr id="7" name="object 7"/>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fld id="{81D60167-4931-47E6-BA6A-407CBD079E47}" type="slidenum">
              <a:rPr spc="45" dirty="0"/>
              <a:t>65</a:t>
            </a:fld>
            <a:r>
              <a:rPr spc="45" dirty="0"/>
              <a:t>	</a:t>
            </a:r>
            <a:r>
              <a:rPr spc="30" dirty="0"/>
              <a:t>Huawei</a:t>
            </a:r>
            <a:r>
              <a:rPr spc="-10" dirty="0"/>
              <a:t> </a:t>
            </a:r>
            <a:r>
              <a:rPr spc="5" dirty="0"/>
              <a:t>Confidential</a:t>
            </a:r>
          </a:p>
        </p:txBody>
      </p:sp>
      <p:sp>
        <p:nvSpPr>
          <p:cNvPr id="6" name="object 6"/>
          <p:cNvSpPr txBox="1"/>
          <p:nvPr/>
        </p:nvSpPr>
        <p:spPr>
          <a:xfrm>
            <a:off x="1097991" y="1997201"/>
            <a:ext cx="6255385" cy="2221865"/>
          </a:xfrm>
          <a:prstGeom prst="rect">
            <a:avLst/>
          </a:prstGeom>
        </p:spPr>
        <p:txBody>
          <a:bodyPr vert="horz" wrap="square" lIns="0" tIns="13335" rIns="0" bIns="0" rtlCol="0">
            <a:spAutoFit/>
          </a:bodyPr>
          <a:lstStyle/>
          <a:p>
            <a:pPr marL="469900" indent="-457834">
              <a:lnSpc>
                <a:spcPct val="100000"/>
              </a:lnSpc>
              <a:spcBef>
                <a:spcPts val="105"/>
              </a:spcBef>
              <a:buAutoNum type="arabicPeriod" startAt="2"/>
              <a:tabLst>
                <a:tab pos="469265" algn="l"/>
                <a:tab pos="470534" algn="l"/>
                <a:tab pos="6136640" algn="l"/>
              </a:tabLst>
            </a:pPr>
            <a:r>
              <a:rPr sz="2000" spc="185" dirty="0">
                <a:latin typeface="Trebuchet MS"/>
                <a:cs typeface="Trebuchet MS"/>
              </a:rPr>
              <a:t>W</a:t>
            </a:r>
            <a:r>
              <a:rPr sz="2000" spc="125" dirty="0">
                <a:latin typeface="Trebuchet MS"/>
                <a:cs typeface="Trebuchet MS"/>
              </a:rPr>
              <a:t>h</a:t>
            </a:r>
            <a:r>
              <a:rPr sz="2000" spc="-10" dirty="0">
                <a:latin typeface="Trebuchet MS"/>
                <a:cs typeface="Trebuchet MS"/>
              </a:rPr>
              <a:t>a</a:t>
            </a:r>
            <a:r>
              <a:rPr sz="2000" spc="-5" dirty="0">
                <a:latin typeface="Trebuchet MS"/>
                <a:cs typeface="Trebuchet MS"/>
              </a:rPr>
              <a:t>t</a:t>
            </a:r>
            <a:r>
              <a:rPr sz="2000" spc="20" dirty="0">
                <a:latin typeface="Trebuchet MS"/>
                <a:cs typeface="Trebuchet MS"/>
              </a:rPr>
              <a:t> </a:t>
            </a:r>
            <a:r>
              <a:rPr sz="2000" spc="-5" dirty="0">
                <a:latin typeface="Trebuchet MS"/>
                <a:cs typeface="Trebuchet MS"/>
              </a:rPr>
              <a:t>i</a:t>
            </a:r>
            <a:r>
              <a:rPr sz="2000" spc="-15" dirty="0">
                <a:latin typeface="Trebuchet MS"/>
                <a:cs typeface="Trebuchet MS"/>
              </a:rPr>
              <a:t>s</a:t>
            </a:r>
            <a:r>
              <a:rPr sz="2000" spc="10" dirty="0">
                <a:latin typeface="Trebuchet MS"/>
                <a:cs typeface="Trebuchet MS"/>
              </a:rPr>
              <a:t> </a:t>
            </a:r>
            <a:r>
              <a:rPr sz="2000" spc="-10" dirty="0">
                <a:latin typeface="Trebuchet MS"/>
                <a:cs typeface="Trebuchet MS"/>
              </a:rPr>
              <a:t>the</a:t>
            </a:r>
            <a:r>
              <a:rPr sz="2000" spc="5" dirty="0">
                <a:latin typeface="Trebuchet MS"/>
                <a:cs typeface="Trebuchet MS"/>
              </a:rPr>
              <a:t> </a:t>
            </a:r>
            <a:r>
              <a:rPr sz="2000" spc="30" dirty="0">
                <a:latin typeface="Trebuchet MS"/>
                <a:cs typeface="Trebuchet MS"/>
              </a:rPr>
              <a:t>small</a:t>
            </a:r>
            <a:r>
              <a:rPr sz="2000" spc="-30" dirty="0">
                <a:latin typeface="Trebuchet MS"/>
                <a:cs typeface="Trebuchet MS"/>
              </a:rPr>
              <a:t>es</a:t>
            </a:r>
            <a:r>
              <a:rPr sz="2000" spc="-20" dirty="0">
                <a:latin typeface="Trebuchet MS"/>
                <a:cs typeface="Trebuchet MS"/>
              </a:rPr>
              <a:t>t</a:t>
            </a:r>
            <a:r>
              <a:rPr sz="2000" spc="15" dirty="0">
                <a:latin typeface="Trebuchet MS"/>
                <a:cs typeface="Trebuchet MS"/>
              </a:rPr>
              <a:t> </a:t>
            </a:r>
            <a:r>
              <a:rPr sz="2000" spc="-15" dirty="0">
                <a:latin typeface="Trebuchet MS"/>
                <a:cs typeface="Trebuchet MS"/>
              </a:rPr>
              <a:t>s</a:t>
            </a:r>
            <a:r>
              <a:rPr sz="2000" spc="-10" dirty="0">
                <a:latin typeface="Trebuchet MS"/>
                <a:cs typeface="Trebuchet MS"/>
              </a:rPr>
              <a:t>t</a:t>
            </a:r>
            <a:r>
              <a:rPr sz="2000" spc="35" dirty="0">
                <a:latin typeface="Trebuchet MS"/>
                <a:cs typeface="Trebuchet MS"/>
              </a:rPr>
              <a:t>orag</a:t>
            </a:r>
            <a:r>
              <a:rPr sz="2000" spc="45" dirty="0">
                <a:latin typeface="Trebuchet MS"/>
                <a:cs typeface="Trebuchet MS"/>
              </a:rPr>
              <a:t>e</a:t>
            </a:r>
            <a:r>
              <a:rPr sz="2000" spc="10" dirty="0">
                <a:latin typeface="Trebuchet MS"/>
                <a:cs typeface="Trebuchet MS"/>
              </a:rPr>
              <a:t> </a:t>
            </a:r>
            <a:r>
              <a:rPr sz="2000" spc="75" dirty="0">
                <a:latin typeface="Trebuchet MS"/>
                <a:cs typeface="Trebuchet MS"/>
              </a:rPr>
              <a:t>u</a:t>
            </a:r>
            <a:r>
              <a:rPr sz="2000" spc="80" dirty="0">
                <a:latin typeface="Trebuchet MS"/>
                <a:cs typeface="Trebuchet MS"/>
              </a:rPr>
              <a:t>n</a:t>
            </a:r>
            <a:r>
              <a:rPr sz="2000" spc="-65" dirty="0">
                <a:latin typeface="Trebuchet MS"/>
                <a:cs typeface="Trebuchet MS"/>
              </a:rPr>
              <a:t>it</a:t>
            </a:r>
            <a:r>
              <a:rPr sz="2000" spc="15" dirty="0">
                <a:latin typeface="Trebuchet MS"/>
                <a:cs typeface="Trebuchet MS"/>
              </a:rPr>
              <a:t> </a:t>
            </a:r>
            <a:r>
              <a:rPr sz="2000" spc="20" dirty="0">
                <a:latin typeface="Trebuchet MS"/>
                <a:cs typeface="Trebuchet MS"/>
              </a:rPr>
              <a:t>o</a:t>
            </a:r>
            <a:r>
              <a:rPr sz="2000" spc="15" dirty="0">
                <a:latin typeface="Trebuchet MS"/>
                <a:cs typeface="Trebuchet MS"/>
              </a:rPr>
              <a:t>f </a:t>
            </a:r>
            <a:r>
              <a:rPr sz="2000" spc="145" dirty="0">
                <a:latin typeface="Trebuchet MS"/>
                <a:cs typeface="Trebuchet MS"/>
              </a:rPr>
              <a:t>H</a:t>
            </a:r>
            <a:r>
              <a:rPr sz="2000" spc="114" dirty="0">
                <a:latin typeface="Trebuchet MS"/>
                <a:cs typeface="Trebuchet MS"/>
              </a:rPr>
              <a:t>B</a:t>
            </a:r>
            <a:r>
              <a:rPr sz="2000" spc="10" dirty="0">
                <a:latin typeface="Trebuchet MS"/>
                <a:cs typeface="Trebuchet MS"/>
              </a:rPr>
              <a:t>as</a:t>
            </a:r>
            <a:r>
              <a:rPr sz="2000" spc="20" dirty="0">
                <a:latin typeface="Trebuchet MS"/>
                <a:cs typeface="Trebuchet MS"/>
              </a:rPr>
              <a:t>e</a:t>
            </a:r>
            <a:r>
              <a:rPr sz="2000" spc="220" dirty="0">
                <a:latin typeface="Trebuchet MS"/>
                <a:cs typeface="Trebuchet MS"/>
              </a:rPr>
              <a:t>?</a:t>
            </a:r>
            <a:r>
              <a:rPr sz="2000" spc="25" dirty="0">
                <a:latin typeface="Trebuchet MS"/>
                <a:cs typeface="Trebuchet MS"/>
              </a:rPr>
              <a:t> </a:t>
            </a:r>
            <a:r>
              <a:rPr sz="2000" spc="90" dirty="0">
                <a:latin typeface="Trebuchet MS"/>
                <a:cs typeface="Trebuchet MS"/>
              </a:rPr>
              <a:t>(</a:t>
            </a:r>
            <a:r>
              <a:rPr sz="2000" dirty="0">
                <a:latin typeface="Trebuchet MS"/>
                <a:cs typeface="Trebuchet MS"/>
              </a:rPr>
              <a:t>	</a:t>
            </a:r>
            <a:r>
              <a:rPr sz="2000" spc="90" dirty="0">
                <a:latin typeface="Trebuchet MS"/>
                <a:cs typeface="Trebuchet MS"/>
              </a:rPr>
              <a:t>)</a:t>
            </a:r>
            <a:endParaRPr sz="2000">
              <a:latin typeface="Trebuchet MS"/>
              <a:cs typeface="Trebuchet MS"/>
            </a:endParaRPr>
          </a:p>
          <a:p>
            <a:pPr marL="756285" lvl="1" indent="-343535">
              <a:lnSpc>
                <a:spcPct val="100000"/>
              </a:lnSpc>
              <a:spcBef>
                <a:spcPts val="1555"/>
              </a:spcBef>
              <a:buAutoNum type="alphaUcPeriod"/>
              <a:tabLst>
                <a:tab pos="756285" algn="l"/>
                <a:tab pos="756920" algn="l"/>
              </a:tabLst>
            </a:pPr>
            <a:r>
              <a:rPr sz="1800" spc="35" dirty="0">
                <a:latin typeface="Trebuchet MS"/>
                <a:cs typeface="Trebuchet MS"/>
              </a:rPr>
              <a:t>Region</a:t>
            </a:r>
            <a:endParaRPr sz="1800">
              <a:latin typeface="Trebuchet MS"/>
              <a:cs typeface="Trebuchet MS"/>
            </a:endParaRPr>
          </a:p>
          <a:p>
            <a:pPr marL="756285" lvl="1" indent="-343535">
              <a:lnSpc>
                <a:spcPct val="100000"/>
              </a:lnSpc>
              <a:spcBef>
                <a:spcPts val="1575"/>
              </a:spcBef>
              <a:buAutoNum type="alphaUcPeriod"/>
              <a:tabLst>
                <a:tab pos="756285" algn="l"/>
                <a:tab pos="756920" algn="l"/>
              </a:tabLst>
            </a:pPr>
            <a:r>
              <a:rPr sz="1800" spc="50" dirty="0">
                <a:latin typeface="Trebuchet MS"/>
                <a:cs typeface="Trebuchet MS"/>
              </a:rPr>
              <a:t>Column</a:t>
            </a:r>
            <a:r>
              <a:rPr sz="1800" spc="-10" dirty="0">
                <a:latin typeface="Trebuchet MS"/>
                <a:cs typeface="Trebuchet MS"/>
              </a:rPr>
              <a:t> </a:t>
            </a:r>
            <a:r>
              <a:rPr sz="1800" spc="10" dirty="0">
                <a:latin typeface="Trebuchet MS"/>
                <a:cs typeface="Trebuchet MS"/>
              </a:rPr>
              <a:t>Family</a:t>
            </a:r>
            <a:endParaRPr sz="1800">
              <a:latin typeface="Trebuchet MS"/>
              <a:cs typeface="Trebuchet MS"/>
            </a:endParaRPr>
          </a:p>
          <a:p>
            <a:pPr marL="756285" lvl="1" indent="-343535">
              <a:lnSpc>
                <a:spcPct val="100000"/>
              </a:lnSpc>
              <a:spcBef>
                <a:spcPts val="1560"/>
              </a:spcBef>
              <a:buAutoNum type="alphaUcPeriod"/>
              <a:tabLst>
                <a:tab pos="756285" algn="l"/>
                <a:tab pos="756920" algn="l"/>
              </a:tabLst>
            </a:pPr>
            <a:r>
              <a:rPr sz="1800" spc="50" dirty="0">
                <a:latin typeface="Trebuchet MS"/>
                <a:cs typeface="Trebuchet MS"/>
              </a:rPr>
              <a:t>Column</a:t>
            </a:r>
            <a:endParaRPr sz="1800">
              <a:latin typeface="Trebuchet MS"/>
              <a:cs typeface="Trebuchet MS"/>
            </a:endParaRPr>
          </a:p>
          <a:p>
            <a:pPr marL="756285" lvl="1" indent="-343535">
              <a:lnSpc>
                <a:spcPct val="100000"/>
              </a:lnSpc>
              <a:spcBef>
                <a:spcPts val="1560"/>
              </a:spcBef>
              <a:buAutoNum type="alphaUcPeriod"/>
              <a:tabLst>
                <a:tab pos="756920" algn="l"/>
              </a:tabLst>
            </a:pPr>
            <a:r>
              <a:rPr sz="1800" spc="-25" dirty="0">
                <a:latin typeface="Trebuchet MS"/>
                <a:cs typeface="Trebuchet MS"/>
              </a:rPr>
              <a:t>Cell</a:t>
            </a:r>
            <a:endParaRPr sz="1800">
              <a:latin typeface="Trebuchet MS"/>
              <a:cs typeface="Trebuchet MS"/>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BEBEB"/>
          </a:solidFill>
        </p:spPr>
        <p:txBody>
          <a:bodyPr wrap="square" lIns="0" tIns="0" rIns="0" bIns="0" rtlCol="0"/>
          <a:lstStyle/>
          <a:p>
            <a:endParaRPr/>
          </a:p>
        </p:txBody>
      </p:sp>
      <p:sp>
        <p:nvSpPr>
          <p:cNvPr id="3" name="object 3"/>
          <p:cNvSpPr/>
          <p:nvPr/>
        </p:nvSpPr>
        <p:spPr>
          <a:xfrm>
            <a:off x="10195559" y="6320028"/>
            <a:ext cx="1269492" cy="27127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030986" y="1349502"/>
            <a:ext cx="4248150" cy="0"/>
          </a:xfrm>
          <a:custGeom>
            <a:avLst/>
            <a:gdLst/>
            <a:ahLst/>
            <a:cxnLst/>
            <a:rect l="l" t="t" r="r" b="b"/>
            <a:pathLst>
              <a:path w="4248150">
                <a:moveTo>
                  <a:pt x="4248023" y="0"/>
                </a:moveTo>
                <a:lnTo>
                  <a:pt x="0" y="0"/>
                </a:lnTo>
              </a:path>
            </a:pathLst>
          </a:custGeom>
          <a:ln w="28956">
            <a:solidFill>
              <a:srgbClr val="C6000A"/>
            </a:solidFill>
          </a:ln>
        </p:spPr>
        <p:txBody>
          <a:bodyPr wrap="square" lIns="0" tIns="0" rIns="0" bIns="0" rtlCol="0"/>
          <a:lstStyle/>
          <a:p>
            <a:endParaRPr/>
          </a:p>
        </p:txBody>
      </p:sp>
      <p:sp>
        <p:nvSpPr>
          <p:cNvPr id="5" name="object 5"/>
          <p:cNvSpPr txBox="1">
            <a:spLocks noGrp="1"/>
          </p:cNvSpPr>
          <p:nvPr>
            <p:ph type="title"/>
          </p:nvPr>
        </p:nvSpPr>
        <p:spPr>
          <a:xfrm>
            <a:off x="997711" y="657301"/>
            <a:ext cx="4299585" cy="635000"/>
          </a:xfrm>
          <a:prstGeom prst="rect">
            <a:avLst/>
          </a:prstGeom>
        </p:spPr>
        <p:txBody>
          <a:bodyPr vert="horz" wrap="square" lIns="0" tIns="12065" rIns="0" bIns="0" rtlCol="0">
            <a:spAutoFit/>
          </a:bodyPr>
          <a:lstStyle/>
          <a:p>
            <a:pPr marL="12700">
              <a:lnSpc>
                <a:spcPct val="100000"/>
              </a:lnSpc>
              <a:spcBef>
                <a:spcPts val="95"/>
              </a:spcBef>
            </a:pPr>
            <a:r>
              <a:rPr sz="4000" spc="60" dirty="0">
                <a:solidFill>
                  <a:srgbClr val="404040"/>
                </a:solidFill>
              </a:rPr>
              <a:t>Recommendations</a:t>
            </a:r>
            <a:endParaRPr sz="4000"/>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tabLst>
                <a:tab pos="490855" algn="l"/>
              </a:tabLst>
            </a:pPr>
            <a:fld id="{81D60167-4931-47E6-BA6A-407CBD079E47}" type="slidenum">
              <a:rPr spc="45" dirty="0"/>
              <a:t>66</a:t>
            </a:fld>
            <a:r>
              <a:rPr spc="45" dirty="0"/>
              <a:t>	</a:t>
            </a:r>
            <a:r>
              <a:rPr spc="30" dirty="0"/>
              <a:t>Huawei</a:t>
            </a:r>
            <a:r>
              <a:rPr spc="-10" dirty="0"/>
              <a:t> </a:t>
            </a:r>
            <a:r>
              <a:rPr spc="5" dirty="0"/>
              <a:t>Confidential</a:t>
            </a:r>
          </a:p>
        </p:txBody>
      </p:sp>
      <p:sp>
        <p:nvSpPr>
          <p:cNvPr id="6" name="object 6"/>
          <p:cNvSpPr txBox="1"/>
          <p:nvPr/>
        </p:nvSpPr>
        <p:spPr>
          <a:xfrm>
            <a:off x="1097991" y="2088642"/>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7" name="object 7"/>
          <p:cNvSpPr txBox="1"/>
          <p:nvPr/>
        </p:nvSpPr>
        <p:spPr>
          <a:xfrm>
            <a:off x="1097991" y="3175507"/>
            <a:ext cx="130175" cy="193675"/>
          </a:xfrm>
          <a:prstGeom prst="rect">
            <a:avLst/>
          </a:prstGeom>
        </p:spPr>
        <p:txBody>
          <a:bodyPr vert="horz" wrap="square" lIns="0" tIns="13335" rIns="0" bIns="0" rtlCol="0">
            <a:spAutoFit/>
          </a:bodyPr>
          <a:lstStyle/>
          <a:p>
            <a:pPr marL="12700">
              <a:lnSpc>
                <a:spcPct val="100000"/>
              </a:lnSpc>
              <a:spcBef>
                <a:spcPts val="105"/>
              </a:spcBef>
            </a:pPr>
            <a:r>
              <a:rPr sz="1100" dirty="0">
                <a:latin typeface="Wingdings"/>
                <a:cs typeface="Wingdings"/>
              </a:rPr>
              <a:t></a:t>
            </a:r>
            <a:endParaRPr sz="1100">
              <a:latin typeface="Wingdings"/>
              <a:cs typeface="Wingdings"/>
            </a:endParaRPr>
          </a:p>
        </p:txBody>
      </p:sp>
      <p:sp>
        <p:nvSpPr>
          <p:cNvPr id="8" name="object 8"/>
          <p:cNvSpPr txBox="1"/>
          <p:nvPr/>
        </p:nvSpPr>
        <p:spPr>
          <a:xfrm>
            <a:off x="1097991" y="4260850"/>
            <a:ext cx="130175" cy="193675"/>
          </a:xfrm>
          <a:prstGeom prst="rect">
            <a:avLst/>
          </a:prstGeom>
        </p:spPr>
        <p:txBody>
          <a:bodyPr vert="horz" wrap="square" lIns="0" tIns="12700" rIns="0" bIns="0" rtlCol="0">
            <a:spAutoFit/>
          </a:bodyPr>
          <a:lstStyle/>
          <a:p>
            <a:pPr marL="12700">
              <a:lnSpc>
                <a:spcPct val="100000"/>
              </a:lnSpc>
              <a:spcBef>
                <a:spcPts val="100"/>
              </a:spcBef>
            </a:pPr>
            <a:r>
              <a:rPr sz="1100" dirty="0">
                <a:latin typeface="Wingdings"/>
                <a:cs typeface="Wingdings"/>
              </a:rPr>
              <a:t></a:t>
            </a:r>
            <a:endParaRPr sz="1100">
              <a:latin typeface="Wingdings"/>
              <a:cs typeface="Wingdings"/>
            </a:endParaRPr>
          </a:p>
        </p:txBody>
      </p:sp>
      <p:sp>
        <p:nvSpPr>
          <p:cNvPr id="9" name="object 9"/>
          <p:cNvSpPr txBox="1"/>
          <p:nvPr/>
        </p:nvSpPr>
        <p:spPr>
          <a:xfrm>
            <a:off x="1323594" y="2009393"/>
            <a:ext cx="7346950" cy="3050540"/>
          </a:xfrm>
          <a:prstGeom prst="rect">
            <a:avLst/>
          </a:prstGeom>
        </p:spPr>
        <p:txBody>
          <a:bodyPr vert="horz" wrap="square" lIns="0" tIns="12065" rIns="0" bIns="0" rtlCol="0">
            <a:spAutoFit/>
          </a:bodyPr>
          <a:lstStyle/>
          <a:p>
            <a:pPr marL="88900">
              <a:lnSpc>
                <a:spcPct val="100000"/>
              </a:lnSpc>
              <a:spcBef>
                <a:spcPts val="95"/>
              </a:spcBef>
            </a:pPr>
            <a:r>
              <a:rPr sz="2200" spc="50" dirty="0">
                <a:latin typeface="Trebuchet MS"/>
                <a:cs typeface="Trebuchet MS"/>
              </a:rPr>
              <a:t>Huawei </a:t>
            </a:r>
            <a:r>
              <a:rPr sz="2200" spc="30" dirty="0">
                <a:latin typeface="Trebuchet MS"/>
                <a:cs typeface="Trebuchet MS"/>
              </a:rPr>
              <a:t>Cloud </a:t>
            </a:r>
            <a:r>
              <a:rPr sz="2200" spc="-10" dirty="0">
                <a:latin typeface="Trebuchet MS"/>
                <a:cs typeface="Trebuchet MS"/>
              </a:rPr>
              <a:t>Official </a:t>
            </a:r>
            <a:r>
              <a:rPr sz="2200" spc="75" dirty="0">
                <a:latin typeface="Trebuchet MS"/>
                <a:cs typeface="Trebuchet MS"/>
              </a:rPr>
              <a:t>Web</a:t>
            </a:r>
            <a:r>
              <a:rPr sz="2200" spc="50" dirty="0">
                <a:latin typeface="Trebuchet MS"/>
                <a:cs typeface="Trebuchet MS"/>
              </a:rPr>
              <a:t> </a:t>
            </a:r>
            <a:r>
              <a:rPr sz="2200" spc="-50" dirty="0">
                <a:latin typeface="Trebuchet MS"/>
                <a:cs typeface="Trebuchet MS"/>
              </a:rPr>
              <a:t>Link:</a:t>
            </a:r>
            <a:endParaRPr sz="2200">
              <a:latin typeface="Trebuchet MS"/>
              <a:cs typeface="Trebuchet MS"/>
            </a:endParaRPr>
          </a:p>
          <a:p>
            <a:pPr marL="441959" indent="-252095">
              <a:lnSpc>
                <a:spcPct val="100000"/>
              </a:lnSpc>
              <a:spcBef>
                <a:spcPts val="1664"/>
              </a:spcBef>
              <a:buClr>
                <a:srgbClr val="000000"/>
              </a:buClr>
              <a:buSzPct val="50000"/>
              <a:buFont typeface="Wingdings"/>
              <a:buChar char=""/>
              <a:tabLst>
                <a:tab pos="441959" algn="l"/>
                <a:tab pos="442595" algn="l"/>
              </a:tabLst>
            </a:pPr>
            <a:r>
              <a:rPr sz="2000" u="sng" spc="-40" dirty="0">
                <a:solidFill>
                  <a:srgbClr val="0462C1"/>
                </a:solidFill>
                <a:uFill>
                  <a:solidFill>
                    <a:srgbClr val="0462C1"/>
                  </a:solidFill>
                </a:uFill>
                <a:latin typeface="Trebuchet MS"/>
                <a:cs typeface="Trebuchet MS"/>
                <a:hlinkClick r:id="rId3"/>
              </a:rPr>
              <a:t>https://www.huaweicloud.com/intl/en-us/</a:t>
            </a:r>
            <a:endParaRPr sz="2000">
              <a:latin typeface="Trebuchet MS"/>
              <a:cs typeface="Trebuchet MS"/>
            </a:endParaRPr>
          </a:p>
          <a:p>
            <a:pPr marL="88900">
              <a:lnSpc>
                <a:spcPct val="100000"/>
              </a:lnSpc>
              <a:spcBef>
                <a:spcPts val="1855"/>
              </a:spcBef>
            </a:pPr>
            <a:r>
              <a:rPr sz="2200" spc="50" dirty="0">
                <a:latin typeface="Trebuchet MS"/>
                <a:cs typeface="Trebuchet MS"/>
              </a:rPr>
              <a:t>Huawei </a:t>
            </a:r>
            <a:r>
              <a:rPr sz="2200" spc="215" dirty="0">
                <a:latin typeface="Trebuchet MS"/>
                <a:cs typeface="Trebuchet MS"/>
              </a:rPr>
              <a:t>MRS</a:t>
            </a:r>
            <a:r>
              <a:rPr sz="2200" spc="-5" dirty="0">
                <a:latin typeface="Trebuchet MS"/>
                <a:cs typeface="Trebuchet MS"/>
              </a:rPr>
              <a:t> </a:t>
            </a:r>
            <a:r>
              <a:rPr sz="2200" spc="10" dirty="0">
                <a:latin typeface="Trebuchet MS"/>
                <a:cs typeface="Trebuchet MS"/>
              </a:rPr>
              <a:t>Documentation:</a:t>
            </a:r>
            <a:endParaRPr sz="2200">
              <a:latin typeface="Trebuchet MS"/>
              <a:cs typeface="Trebuchet MS"/>
            </a:endParaRPr>
          </a:p>
          <a:p>
            <a:pPr marL="441959" indent="-252095">
              <a:lnSpc>
                <a:spcPct val="100000"/>
              </a:lnSpc>
              <a:spcBef>
                <a:spcPts val="1660"/>
              </a:spcBef>
              <a:buClr>
                <a:srgbClr val="000000"/>
              </a:buClr>
              <a:buSzPct val="50000"/>
              <a:buFont typeface="Wingdings"/>
              <a:buChar char=""/>
              <a:tabLst>
                <a:tab pos="441959" algn="l"/>
                <a:tab pos="442595" algn="l"/>
              </a:tabLst>
            </a:pPr>
            <a:r>
              <a:rPr sz="2000" u="sng" spc="-35" dirty="0">
                <a:solidFill>
                  <a:srgbClr val="0462C1"/>
                </a:solidFill>
                <a:uFill>
                  <a:solidFill>
                    <a:srgbClr val="0462C1"/>
                  </a:solidFill>
                </a:uFill>
                <a:latin typeface="Trebuchet MS"/>
                <a:cs typeface="Trebuchet MS"/>
                <a:hlinkClick r:id="rId4"/>
              </a:rPr>
              <a:t>https://www.huaweicloud.com/intl/en-us/product/mrs.html</a:t>
            </a:r>
            <a:endParaRPr sz="2000">
              <a:latin typeface="Trebuchet MS"/>
              <a:cs typeface="Trebuchet MS"/>
            </a:endParaRPr>
          </a:p>
          <a:p>
            <a:pPr marL="88900">
              <a:lnSpc>
                <a:spcPct val="100000"/>
              </a:lnSpc>
              <a:spcBef>
                <a:spcPts val="1845"/>
              </a:spcBef>
            </a:pPr>
            <a:r>
              <a:rPr sz="2200" spc="50" dirty="0">
                <a:latin typeface="Trebuchet MS"/>
                <a:cs typeface="Trebuchet MS"/>
              </a:rPr>
              <a:t>Huawei </a:t>
            </a:r>
            <a:r>
              <a:rPr sz="2200" spc="55" dirty="0">
                <a:latin typeface="Trebuchet MS"/>
                <a:cs typeface="Trebuchet MS"/>
              </a:rPr>
              <a:t>TALENT</a:t>
            </a:r>
            <a:r>
              <a:rPr sz="2200" dirty="0">
                <a:latin typeface="Trebuchet MS"/>
                <a:cs typeface="Trebuchet MS"/>
              </a:rPr>
              <a:t> </a:t>
            </a:r>
            <a:r>
              <a:rPr sz="2200" spc="70" dirty="0">
                <a:latin typeface="Trebuchet MS"/>
                <a:cs typeface="Trebuchet MS"/>
              </a:rPr>
              <a:t>ONLINE:</a:t>
            </a:r>
            <a:endParaRPr sz="2200">
              <a:latin typeface="Trebuchet MS"/>
              <a:cs typeface="Trebuchet MS"/>
            </a:endParaRPr>
          </a:p>
          <a:p>
            <a:pPr marL="441959" indent="-252095">
              <a:lnSpc>
                <a:spcPct val="100000"/>
              </a:lnSpc>
              <a:spcBef>
                <a:spcPts val="1675"/>
              </a:spcBef>
              <a:buClr>
                <a:srgbClr val="000000"/>
              </a:buClr>
              <a:buSzPct val="50000"/>
              <a:buFont typeface="Wingdings"/>
              <a:buChar char=""/>
              <a:tabLst>
                <a:tab pos="441959" algn="l"/>
                <a:tab pos="442595" algn="l"/>
              </a:tabLst>
            </a:pPr>
            <a:r>
              <a:rPr sz="2000" u="sng" spc="-65" dirty="0">
                <a:solidFill>
                  <a:srgbClr val="0462C1"/>
                </a:solidFill>
                <a:uFill>
                  <a:solidFill>
                    <a:srgbClr val="0462C1"/>
                  </a:solidFill>
                </a:uFill>
                <a:latin typeface="Trebuchet MS"/>
                <a:cs typeface="Trebuchet MS"/>
                <a:hlinkClick r:id="rId5"/>
              </a:rPr>
              <a:t>https://e.huawei.com/en/talent/#/</a:t>
            </a:r>
            <a:endParaRPr sz="2000">
              <a:latin typeface="Trebuchet MS"/>
              <a:cs typeface="Trebuchet MS"/>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65135" y="2389918"/>
            <a:ext cx="10545927" cy="3940887"/>
          </a:xfrm>
          <a:prstGeom prst="rect">
            <a:avLst/>
          </a:prstGeom>
        </p:spPr>
        <p:txBody>
          <a:bodyPr vert="horz" wrap="square" lIns="0" tIns="12700" rIns="0" bIns="0" rtlCol="0">
            <a:spAutoFit/>
          </a:bodyPr>
          <a:lstStyle/>
          <a:p>
            <a:pPr marL="12700" marR="809625" algn="just">
              <a:lnSpc>
                <a:spcPct val="107100"/>
              </a:lnSpc>
              <a:spcBef>
                <a:spcPts val="100"/>
              </a:spcBef>
            </a:pPr>
            <a:r>
              <a:rPr sz="2400" b="1" spc="5" dirty="0">
                <a:solidFill>
                  <a:srgbClr val="1D1D1B"/>
                </a:solidFill>
                <a:latin typeface="Times New Roman" panose="02020603050405020304" pitchFamily="18" charset="0"/>
                <a:cs typeface="Times New Roman" panose="02020603050405020304" pitchFamily="18" charset="0"/>
              </a:rPr>
              <a:t>Copyright©2020 </a:t>
            </a:r>
            <a:r>
              <a:rPr sz="2400" b="1" spc="25" dirty="0">
                <a:solidFill>
                  <a:srgbClr val="1D1D1B"/>
                </a:solidFill>
                <a:latin typeface="Times New Roman" panose="02020603050405020304" pitchFamily="18" charset="0"/>
                <a:cs typeface="Times New Roman" panose="02020603050405020304" pitchFamily="18" charset="0"/>
              </a:rPr>
              <a:t>Huawei </a:t>
            </a:r>
            <a:r>
              <a:rPr sz="2400" b="1" spc="-15" dirty="0">
                <a:solidFill>
                  <a:srgbClr val="1D1D1B"/>
                </a:solidFill>
                <a:latin typeface="Times New Roman" panose="02020603050405020304" pitchFamily="18" charset="0"/>
                <a:cs typeface="Times New Roman" panose="02020603050405020304" pitchFamily="18" charset="0"/>
              </a:rPr>
              <a:t>Technologies </a:t>
            </a:r>
            <a:r>
              <a:rPr sz="2400" b="1" spc="-35" dirty="0">
                <a:solidFill>
                  <a:srgbClr val="1D1D1B"/>
                </a:solidFill>
                <a:latin typeface="Times New Roman" panose="02020603050405020304" pitchFamily="18" charset="0"/>
                <a:cs typeface="Times New Roman" panose="02020603050405020304" pitchFamily="18" charset="0"/>
              </a:rPr>
              <a:t>Co., </a:t>
            </a:r>
            <a:r>
              <a:rPr sz="2400" b="1" spc="-10" dirty="0">
                <a:solidFill>
                  <a:srgbClr val="1D1D1B"/>
                </a:solidFill>
                <a:latin typeface="Times New Roman" panose="02020603050405020304" pitchFamily="18" charset="0"/>
                <a:cs typeface="Times New Roman" panose="02020603050405020304" pitchFamily="18" charset="0"/>
              </a:rPr>
              <a:t>Ltd.  </a:t>
            </a:r>
            <a:r>
              <a:rPr sz="2400" b="1" spc="15" dirty="0">
                <a:solidFill>
                  <a:srgbClr val="1D1D1B"/>
                </a:solidFill>
                <a:latin typeface="Times New Roman" panose="02020603050405020304" pitchFamily="18" charset="0"/>
                <a:cs typeface="Times New Roman" panose="02020603050405020304" pitchFamily="18" charset="0"/>
              </a:rPr>
              <a:t>All </a:t>
            </a:r>
            <a:r>
              <a:rPr sz="2400" b="1" spc="-15" dirty="0">
                <a:solidFill>
                  <a:srgbClr val="1D1D1B"/>
                </a:solidFill>
                <a:latin typeface="Times New Roman" panose="02020603050405020304" pitchFamily="18" charset="0"/>
                <a:cs typeface="Times New Roman" panose="02020603050405020304" pitchFamily="18" charset="0"/>
              </a:rPr>
              <a:t>Rights</a:t>
            </a:r>
            <a:r>
              <a:rPr sz="2400" b="1" spc="15" dirty="0">
                <a:solidFill>
                  <a:srgbClr val="1D1D1B"/>
                </a:solidFill>
                <a:latin typeface="Times New Roman" panose="02020603050405020304" pitchFamily="18" charset="0"/>
                <a:cs typeface="Times New Roman" panose="02020603050405020304" pitchFamily="18" charset="0"/>
              </a:rPr>
              <a:t> </a:t>
            </a:r>
            <a:r>
              <a:rPr sz="2400" b="1" spc="-20" dirty="0">
                <a:solidFill>
                  <a:srgbClr val="1D1D1B"/>
                </a:solidFill>
                <a:latin typeface="Times New Roman" panose="02020603050405020304" pitchFamily="18" charset="0"/>
                <a:cs typeface="Times New Roman" panose="02020603050405020304" pitchFamily="18" charset="0"/>
              </a:rPr>
              <a:t>Reserved.</a:t>
            </a:r>
            <a:endParaRPr sz="2400" dirty="0">
              <a:latin typeface="Times New Roman" panose="02020603050405020304" pitchFamily="18" charset="0"/>
              <a:cs typeface="Times New Roman" panose="02020603050405020304" pitchFamily="18" charset="0"/>
            </a:endParaRPr>
          </a:p>
          <a:p>
            <a:pPr algn="just">
              <a:lnSpc>
                <a:spcPct val="100000"/>
              </a:lnSpc>
              <a:spcBef>
                <a:spcPts val="15"/>
              </a:spcBef>
            </a:pPr>
            <a:endParaRPr sz="2400" dirty="0">
              <a:latin typeface="Times New Roman" panose="02020603050405020304" pitchFamily="18" charset="0"/>
              <a:cs typeface="Times New Roman" panose="02020603050405020304" pitchFamily="18" charset="0"/>
            </a:endParaRPr>
          </a:p>
          <a:p>
            <a:pPr marL="12700" marR="5080" algn="just">
              <a:lnSpc>
                <a:spcPct val="107800"/>
              </a:lnSpc>
            </a:pPr>
            <a:r>
              <a:rPr sz="2400" dirty="0">
                <a:solidFill>
                  <a:srgbClr val="1D1D1B"/>
                </a:solidFill>
                <a:latin typeface="Times New Roman" panose="02020603050405020304" pitchFamily="18" charset="0"/>
                <a:cs typeface="Times New Roman" panose="02020603050405020304" pitchFamily="18" charset="0"/>
              </a:rPr>
              <a:t>The </a:t>
            </a:r>
            <a:r>
              <a:rPr sz="2400" spc="5" dirty="0">
                <a:solidFill>
                  <a:srgbClr val="1D1D1B"/>
                </a:solidFill>
                <a:latin typeface="Times New Roman" panose="02020603050405020304" pitchFamily="18" charset="0"/>
                <a:cs typeface="Times New Roman" panose="02020603050405020304" pitchFamily="18" charset="0"/>
              </a:rPr>
              <a:t>information </a:t>
            </a:r>
            <a:r>
              <a:rPr sz="2400" dirty="0">
                <a:solidFill>
                  <a:srgbClr val="1D1D1B"/>
                </a:solidFill>
                <a:latin typeface="Times New Roman" panose="02020603050405020304" pitchFamily="18" charset="0"/>
                <a:cs typeface="Times New Roman" panose="02020603050405020304" pitchFamily="18" charset="0"/>
              </a:rPr>
              <a:t>in </a:t>
            </a:r>
            <a:r>
              <a:rPr sz="2400" spc="-5" dirty="0">
                <a:solidFill>
                  <a:srgbClr val="1D1D1B"/>
                </a:solidFill>
                <a:latin typeface="Times New Roman" panose="02020603050405020304" pitchFamily="18" charset="0"/>
                <a:cs typeface="Times New Roman" panose="02020603050405020304" pitchFamily="18" charset="0"/>
              </a:rPr>
              <a:t>this </a:t>
            </a:r>
            <a:r>
              <a:rPr sz="2400" spc="10" dirty="0">
                <a:solidFill>
                  <a:srgbClr val="1D1D1B"/>
                </a:solidFill>
                <a:latin typeface="Times New Roman" panose="02020603050405020304" pitchFamily="18" charset="0"/>
                <a:cs typeface="Times New Roman" panose="02020603050405020304" pitchFamily="18" charset="0"/>
              </a:rPr>
              <a:t>document </a:t>
            </a:r>
            <a:r>
              <a:rPr sz="2400" spc="25" dirty="0">
                <a:solidFill>
                  <a:srgbClr val="1D1D1B"/>
                </a:solidFill>
                <a:latin typeface="Times New Roman" panose="02020603050405020304" pitchFamily="18" charset="0"/>
                <a:cs typeface="Times New Roman" panose="02020603050405020304" pitchFamily="18" charset="0"/>
              </a:rPr>
              <a:t>may </a:t>
            </a:r>
            <a:r>
              <a:rPr sz="2400" dirty="0">
                <a:solidFill>
                  <a:srgbClr val="1D1D1B"/>
                </a:solidFill>
                <a:latin typeface="Times New Roman" panose="02020603050405020304" pitchFamily="18" charset="0"/>
                <a:cs typeface="Times New Roman" panose="02020603050405020304" pitchFamily="18" charset="0"/>
              </a:rPr>
              <a:t>contain </a:t>
            </a:r>
            <a:r>
              <a:rPr sz="2400" spc="-15" dirty="0">
                <a:solidFill>
                  <a:srgbClr val="1D1D1B"/>
                </a:solidFill>
                <a:latin typeface="Times New Roman" panose="02020603050405020304" pitchFamily="18" charset="0"/>
                <a:cs typeface="Times New Roman" panose="02020603050405020304" pitchFamily="18" charset="0"/>
              </a:rPr>
              <a:t>predictive  </a:t>
            </a:r>
            <a:r>
              <a:rPr sz="2400" dirty="0">
                <a:solidFill>
                  <a:srgbClr val="1D1D1B"/>
                </a:solidFill>
                <a:latin typeface="Times New Roman" panose="02020603050405020304" pitchFamily="18" charset="0"/>
                <a:cs typeface="Times New Roman" panose="02020603050405020304" pitchFamily="18" charset="0"/>
              </a:rPr>
              <a:t>statements </a:t>
            </a:r>
            <a:r>
              <a:rPr sz="2400" spc="-10" dirty="0">
                <a:solidFill>
                  <a:srgbClr val="1D1D1B"/>
                </a:solidFill>
                <a:latin typeface="Times New Roman" panose="02020603050405020304" pitchFamily="18" charset="0"/>
                <a:cs typeface="Times New Roman" panose="02020603050405020304" pitchFamily="18" charset="0"/>
              </a:rPr>
              <a:t>including, </a:t>
            </a:r>
            <a:r>
              <a:rPr sz="2400" spc="5" dirty="0">
                <a:solidFill>
                  <a:srgbClr val="1D1D1B"/>
                </a:solidFill>
                <a:latin typeface="Times New Roman" panose="02020603050405020304" pitchFamily="18" charset="0"/>
                <a:cs typeface="Times New Roman" panose="02020603050405020304" pitchFamily="18" charset="0"/>
              </a:rPr>
              <a:t>without </a:t>
            </a:r>
            <a:r>
              <a:rPr sz="2400" spc="-15" dirty="0">
                <a:solidFill>
                  <a:srgbClr val="1D1D1B"/>
                </a:solidFill>
                <a:latin typeface="Times New Roman" panose="02020603050405020304" pitchFamily="18" charset="0"/>
                <a:cs typeface="Times New Roman" panose="02020603050405020304" pitchFamily="18" charset="0"/>
              </a:rPr>
              <a:t>limitation, </a:t>
            </a:r>
            <a:r>
              <a:rPr sz="2400" dirty="0">
                <a:solidFill>
                  <a:srgbClr val="1D1D1B"/>
                </a:solidFill>
                <a:latin typeface="Times New Roman" panose="02020603050405020304" pitchFamily="18" charset="0"/>
                <a:cs typeface="Times New Roman" panose="02020603050405020304" pitchFamily="18" charset="0"/>
              </a:rPr>
              <a:t>statements </a:t>
            </a:r>
            <a:r>
              <a:rPr sz="2400" spc="10" dirty="0">
                <a:solidFill>
                  <a:srgbClr val="1D1D1B"/>
                </a:solidFill>
                <a:latin typeface="Times New Roman" panose="02020603050405020304" pitchFamily="18" charset="0"/>
                <a:cs typeface="Times New Roman" panose="02020603050405020304" pitchFamily="18" charset="0"/>
              </a:rPr>
              <a:t>regarding  </a:t>
            </a:r>
            <a:r>
              <a:rPr sz="2400" spc="-5" dirty="0">
                <a:solidFill>
                  <a:srgbClr val="1D1D1B"/>
                </a:solidFill>
                <a:latin typeface="Times New Roman" panose="02020603050405020304" pitchFamily="18" charset="0"/>
                <a:cs typeface="Times New Roman" panose="02020603050405020304" pitchFamily="18" charset="0"/>
              </a:rPr>
              <a:t>the </a:t>
            </a:r>
            <a:r>
              <a:rPr sz="2400" dirty="0">
                <a:solidFill>
                  <a:srgbClr val="1D1D1B"/>
                </a:solidFill>
                <a:latin typeface="Times New Roman" panose="02020603050405020304" pitchFamily="18" charset="0"/>
                <a:cs typeface="Times New Roman" panose="02020603050405020304" pitchFamily="18" charset="0"/>
              </a:rPr>
              <a:t>future </a:t>
            </a:r>
            <a:r>
              <a:rPr sz="2400" spc="-10" dirty="0">
                <a:solidFill>
                  <a:srgbClr val="1D1D1B"/>
                </a:solidFill>
                <a:latin typeface="Times New Roman" panose="02020603050405020304" pitchFamily="18" charset="0"/>
                <a:cs typeface="Times New Roman" panose="02020603050405020304" pitchFamily="18" charset="0"/>
              </a:rPr>
              <a:t>financial </a:t>
            </a:r>
            <a:r>
              <a:rPr sz="2400" spc="15" dirty="0">
                <a:solidFill>
                  <a:srgbClr val="1D1D1B"/>
                </a:solidFill>
                <a:latin typeface="Times New Roman" panose="02020603050405020304" pitchFamily="18" charset="0"/>
                <a:cs typeface="Times New Roman" panose="02020603050405020304" pitchFamily="18" charset="0"/>
              </a:rPr>
              <a:t>and </a:t>
            </a:r>
            <a:r>
              <a:rPr sz="2400" spc="5" dirty="0">
                <a:solidFill>
                  <a:srgbClr val="1D1D1B"/>
                </a:solidFill>
                <a:latin typeface="Times New Roman" panose="02020603050405020304" pitchFamily="18" charset="0"/>
                <a:cs typeface="Times New Roman" panose="02020603050405020304" pitchFamily="18" charset="0"/>
              </a:rPr>
              <a:t>operating </a:t>
            </a:r>
            <a:r>
              <a:rPr sz="2400" spc="-20" dirty="0">
                <a:solidFill>
                  <a:srgbClr val="1D1D1B"/>
                </a:solidFill>
                <a:latin typeface="Times New Roman" panose="02020603050405020304" pitchFamily="18" charset="0"/>
                <a:cs typeface="Times New Roman" panose="02020603050405020304" pitchFamily="18" charset="0"/>
              </a:rPr>
              <a:t>results, </a:t>
            </a:r>
            <a:r>
              <a:rPr sz="2400" dirty="0">
                <a:solidFill>
                  <a:srgbClr val="1D1D1B"/>
                </a:solidFill>
                <a:latin typeface="Times New Roman" panose="02020603050405020304" pitchFamily="18" charset="0"/>
                <a:cs typeface="Times New Roman" panose="02020603050405020304" pitchFamily="18" charset="0"/>
              </a:rPr>
              <a:t>future product  </a:t>
            </a:r>
            <a:r>
              <a:rPr sz="2400" spc="-10" dirty="0">
                <a:solidFill>
                  <a:srgbClr val="1D1D1B"/>
                </a:solidFill>
                <a:latin typeface="Times New Roman" panose="02020603050405020304" pitchFamily="18" charset="0"/>
                <a:cs typeface="Times New Roman" panose="02020603050405020304" pitchFamily="18" charset="0"/>
              </a:rPr>
              <a:t>portfolio, </a:t>
            </a:r>
            <a:r>
              <a:rPr sz="2400" spc="10" dirty="0">
                <a:solidFill>
                  <a:srgbClr val="1D1D1B"/>
                </a:solidFill>
                <a:latin typeface="Times New Roman" panose="02020603050405020304" pitchFamily="18" charset="0"/>
                <a:cs typeface="Times New Roman" panose="02020603050405020304" pitchFamily="18" charset="0"/>
              </a:rPr>
              <a:t>new </a:t>
            </a:r>
            <a:r>
              <a:rPr sz="2400" spc="-5" dirty="0">
                <a:solidFill>
                  <a:srgbClr val="1D1D1B"/>
                </a:solidFill>
                <a:latin typeface="Times New Roman" panose="02020603050405020304" pitchFamily="18" charset="0"/>
                <a:cs typeface="Times New Roman" panose="02020603050405020304" pitchFamily="18" charset="0"/>
              </a:rPr>
              <a:t>technology, </a:t>
            </a:r>
            <a:r>
              <a:rPr sz="2400" spc="-55" dirty="0">
                <a:solidFill>
                  <a:srgbClr val="1D1D1B"/>
                </a:solidFill>
                <a:latin typeface="Times New Roman" panose="02020603050405020304" pitchFamily="18" charset="0"/>
                <a:cs typeface="Times New Roman" panose="02020603050405020304" pitchFamily="18" charset="0"/>
              </a:rPr>
              <a:t>etc. </a:t>
            </a:r>
            <a:r>
              <a:rPr sz="2400" spc="-10" dirty="0">
                <a:solidFill>
                  <a:srgbClr val="1D1D1B"/>
                </a:solidFill>
                <a:latin typeface="Times New Roman" panose="02020603050405020304" pitchFamily="18" charset="0"/>
                <a:cs typeface="Times New Roman" panose="02020603050405020304" pitchFamily="18" charset="0"/>
              </a:rPr>
              <a:t>There </a:t>
            </a:r>
            <a:r>
              <a:rPr sz="2400" spc="-5" dirty="0">
                <a:solidFill>
                  <a:srgbClr val="1D1D1B"/>
                </a:solidFill>
                <a:latin typeface="Times New Roman" panose="02020603050405020304" pitchFamily="18" charset="0"/>
                <a:cs typeface="Times New Roman" panose="02020603050405020304" pitchFamily="18" charset="0"/>
              </a:rPr>
              <a:t>are </a:t>
            </a:r>
            <a:r>
              <a:rPr sz="2400" spc="20" dirty="0">
                <a:solidFill>
                  <a:srgbClr val="1D1D1B"/>
                </a:solidFill>
                <a:latin typeface="Times New Roman" panose="02020603050405020304" pitchFamily="18" charset="0"/>
                <a:cs typeface="Times New Roman" panose="02020603050405020304" pitchFamily="18" charset="0"/>
              </a:rPr>
              <a:t>a </a:t>
            </a:r>
            <a:r>
              <a:rPr sz="2400" spc="15" dirty="0">
                <a:solidFill>
                  <a:srgbClr val="1D1D1B"/>
                </a:solidFill>
                <a:latin typeface="Times New Roman" panose="02020603050405020304" pitchFamily="18" charset="0"/>
                <a:cs typeface="Times New Roman" panose="02020603050405020304" pitchFamily="18" charset="0"/>
              </a:rPr>
              <a:t>number </a:t>
            </a:r>
            <a:r>
              <a:rPr sz="2400" spc="5" dirty="0">
                <a:solidFill>
                  <a:srgbClr val="1D1D1B"/>
                </a:solidFill>
                <a:latin typeface="Times New Roman" panose="02020603050405020304" pitchFamily="18" charset="0"/>
                <a:cs typeface="Times New Roman" panose="02020603050405020304" pitchFamily="18" charset="0"/>
              </a:rPr>
              <a:t>of </a:t>
            </a:r>
            <a:r>
              <a:rPr sz="2400" spc="-5" dirty="0">
                <a:solidFill>
                  <a:srgbClr val="1D1D1B"/>
                </a:solidFill>
                <a:latin typeface="Times New Roman" panose="02020603050405020304" pitchFamily="18" charset="0"/>
                <a:cs typeface="Times New Roman" panose="02020603050405020304" pitchFamily="18" charset="0"/>
              </a:rPr>
              <a:t>factors that  </a:t>
            </a:r>
            <a:r>
              <a:rPr sz="2400" dirty="0">
                <a:solidFill>
                  <a:srgbClr val="1D1D1B"/>
                </a:solidFill>
                <a:latin typeface="Times New Roman" panose="02020603050405020304" pitchFamily="18" charset="0"/>
                <a:cs typeface="Times New Roman" panose="02020603050405020304" pitchFamily="18" charset="0"/>
              </a:rPr>
              <a:t>could cause </a:t>
            </a:r>
            <a:r>
              <a:rPr sz="2400" spc="-5" dirty="0">
                <a:solidFill>
                  <a:srgbClr val="1D1D1B"/>
                </a:solidFill>
                <a:latin typeface="Times New Roman" panose="02020603050405020304" pitchFamily="18" charset="0"/>
                <a:cs typeface="Times New Roman" panose="02020603050405020304" pitchFamily="18" charset="0"/>
              </a:rPr>
              <a:t>actual results </a:t>
            </a:r>
            <a:r>
              <a:rPr sz="2400" spc="15" dirty="0">
                <a:solidFill>
                  <a:srgbClr val="1D1D1B"/>
                </a:solidFill>
                <a:latin typeface="Times New Roman" panose="02020603050405020304" pitchFamily="18" charset="0"/>
                <a:cs typeface="Times New Roman" panose="02020603050405020304" pitchFamily="18" charset="0"/>
              </a:rPr>
              <a:t>and </a:t>
            </a:r>
            <a:r>
              <a:rPr sz="2400" dirty="0">
                <a:solidFill>
                  <a:srgbClr val="1D1D1B"/>
                </a:solidFill>
                <a:latin typeface="Times New Roman" panose="02020603050405020304" pitchFamily="18" charset="0"/>
                <a:cs typeface="Times New Roman" panose="02020603050405020304" pitchFamily="18" charset="0"/>
              </a:rPr>
              <a:t>developments to </a:t>
            </a:r>
            <a:r>
              <a:rPr sz="2400" spc="-15" dirty="0">
                <a:solidFill>
                  <a:srgbClr val="1D1D1B"/>
                </a:solidFill>
                <a:latin typeface="Times New Roman" panose="02020603050405020304" pitchFamily="18" charset="0"/>
                <a:cs typeface="Times New Roman" panose="02020603050405020304" pitchFamily="18" charset="0"/>
              </a:rPr>
              <a:t>differ </a:t>
            </a:r>
            <a:r>
              <a:rPr sz="2400" spc="-5" dirty="0">
                <a:solidFill>
                  <a:srgbClr val="1D1D1B"/>
                </a:solidFill>
                <a:latin typeface="Times New Roman" panose="02020603050405020304" pitchFamily="18" charset="0"/>
                <a:cs typeface="Times New Roman" panose="02020603050405020304" pitchFamily="18" charset="0"/>
              </a:rPr>
              <a:t>materially  </a:t>
            </a:r>
            <a:r>
              <a:rPr sz="2400" spc="15" dirty="0">
                <a:solidFill>
                  <a:srgbClr val="1D1D1B"/>
                </a:solidFill>
                <a:latin typeface="Times New Roman" panose="02020603050405020304" pitchFamily="18" charset="0"/>
                <a:cs typeface="Times New Roman" panose="02020603050405020304" pitchFamily="18" charset="0"/>
              </a:rPr>
              <a:t>from </a:t>
            </a:r>
            <a:r>
              <a:rPr sz="2400" spc="5" dirty="0">
                <a:solidFill>
                  <a:srgbClr val="1D1D1B"/>
                </a:solidFill>
                <a:latin typeface="Times New Roman" panose="02020603050405020304" pitchFamily="18" charset="0"/>
                <a:cs typeface="Times New Roman" panose="02020603050405020304" pitchFamily="18" charset="0"/>
              </a:rPr>
              <a:t>those </a:t>
            </a:r>
            <a:r>
              <a:rPr sz="2400" spc="-5" dirty="0">
                <a:solidFill>
                  <a:srgbClr val="1D1D1B"/>
                </a:solidFill>
                <a:latin typeface="Times New Roman" panose="02020603050405020304" pitchFamily="18" charset="0"/>
                <a:cs typeface="Times New Roman" panose="02020603050405020304" pitchFamily="18" charset="0"/>
              </a:rPr>
              <a:t>expressed </a:t>
            </a:r>
            <a:r>
              <a:rPr sz="2400" spc="5" dirty="0">
                <a:solidFill>
                  <a:srgbClr val="1D1D1B"/>
                </a:solidFill>
                <a:latin typeface="Times New Roman" panose="02020603050405020304" pitchFamily="18" charset="0"/>
                <a:cs typeface="Times New Roman" panose="02020603050405020304" pitchFamily="18" charset="0"/>
              </a:rPr>
              <a:t>or </a:t>
            </a:r>
            <a:r>
              <a:rPr sz="2400" spc="-5" dirty="0">
                <a:solidFill>
                  <a:srgbClr val="1D1D1B"/>
                </a:solidFill>
                <a:latin typeface="Times New Roman" panose="02020603050405020304" pitchFamily="18" charset="0"/>
                <a:cs typeface="Times New Roman" panose="02020603050405020304" pitchFamily="18" charset="0"/>
              </a:rPr>
              <a:t>implied </a:t>
            </a:r>
            <a:r>
              <a:rPr sz="2400" dirty="0">
                <a:solidFill>
                  <a:srgbClr val="1D1D1B"/>
                </a:solidFill>
                <a:latin typeface="Times New Roman" panose="02020603050405020304" pitchFamily="18" charset="0"/>
                <a:cs typeface="Times New Roman" panose="02020603050405020304" pitchFamily="18" charset="0"/>
              </a:rPr>
              <a:t>in </a:t>
            </a:r>
            <a:r>
              <a:rPr sz="2400" spc="-5" dirty="0">
                <a:solidFill>
                  <a:srgbClr val="1D1D1B"/>
                </a:solidFill>
                <a:latin typeface="Times New Roman" panose="02020603050405020304" pitchFamily="18" charset="0"/>
                <a:cs typeface="Times New Roman" panose="02020603050405020304" pitchFamily="18" charset="0"/>
              </a:rPr>
              <a:t>the </a:t>
            </a:r>
            <a:r>
              <a:rPr sz="2400" spc="-15" dirty="0">
                <a:solidFill>
                  <a:srgbClr val="1D1D1B"/>
                </a:solidFill>
                <a:latin typeface="Times New Roman" panose="02020603050405020304" pitchFamily="18" charset="0"/>
                <a:cs typeface="Times New Roman" panose="02020603050405020304" pitchFamily="18" charset="0"/>
              </a:rPr>
              <a:t>predictive</a:t>
            </a:r>
            <a:r>
              <a:rPr sz="2400" spc="-30" dirty="0">
                <a:solidFill>
                  <a:srgbClr val="1D1D1B"/>
                </a:solidFill>
                <a:latin typeface="Times New Roman" panose="02020603050405020304" pitchFamily="18" charset="0"/>
                <a:cs typeface="Times New Roman" panose="02020603050405020304" pitchFamily="18" charset="0"/>
              </a:rPr>
              <a:t> </a:t>
            </a:r>
            <a:r>
              <a:rPr sz="2400" spc="-10" dirty="0">
                <a:solidFill>
                  <a:srgbClr val="1D1D1B"/>
                </a:solidFill>
                <a:latin typeface="Times New Roman" panose="02020603050405020304" pitchFamily="18" charset="0"/>
                <a:cs typeface="Times New Roman" panose="02020603050405020304" pitchFamily="18" charset="0"/>
              </a:rPr>
              <a:t>statements.</a:t>
            </a:r>
            <a:endParaRPr sz="2400" dirty="0">
              <a:latin typeface="Times New Roman" panose="02020603050405020304" pitchFamily="18" charset="0"/>
              <a:cs typeface="Times New Roman" panose="02020603050405020304" pitchFamily="18" charset="0"/>
            </a:endParaRPr>
          </a:p>
          <a:p>
            <a:pPr marL="12700" marR="74295" algn="just">
              <a:lnSpc>
                <a:spcPct val="107600"/>
              </a:lnSpc>
              <a:spcBef>
                <a:spcPts val="5"/>
              </a:spcBef>
            </a:pPr>
            <a:r>
              <a:rPr sz="2400" spc="-20" dirty="0">
                <a:solidFill>
                  <a:srgbClr val="1D1D1B"/>
                </a:solidFill>
                <a:latin typeface="Times New Roman" panose="02020603050405020304" pitchFamily="18" charset="0"/>
                <a:cs typeface="Times New Roman" panose="02020603050405020304" pitchFamily="18" charset="0"/>
              </a:rPr>
              <a:t>Therefore, </a:t>
            </a:r>
            <a:r>
              <a:rPr sz="2400" spc="10" dirty="0">
                <a:solidFill>
                  <a:srgbClr val="1D1D1B"/>
                </a:solidFill>
                <a:latin typeface="Times New Roman" panose="02020603050405020304" pitchFamily="18" charset="0"/>
                <a:cs typeface="Times New Roman" panose="02020603050405020304" pitchFamily="18" charset="0"/>
              </a:rPr>
              <a:t>such </a:t>
            </a:r>
            <a:r>
              <a:rPr sz="2400" spc="5" dirty="0">
                <a:solidFill>
                  <a:srgbClr val="1D1D1B"/>
                </a:solidFill>
                <a:latin typeface="Times New Roman" panose="02020603050405020304" pitchFamily="18" charset="0"/>
                <a:cs typeface="Times New Roman" panose="02020603050405020304" pitchFamily="18" charset="0"/>
              </a:rPr>
              <a:t>information </a:t>
            </a:r>
            <a:r>
              <a:rPr sz="2400" spc="-5" dirty="0">
                <a:solidFill>
                  <a:srgbClr val="1D1D1B"/>
                </a:solidFill>
                <a:latin typeface="Times New Roman" panose="02020603050405020304" pitchFamily="18" charset="0"/>
                <a:cs typeface="Times New Roman" panose="02020603050405020304" pitchFamily="18" charset="0"/>
              </a:rPr>
              <a:t>is </a:t>
            </a:r>
            <a:r>
              <a:rPr sz="2400" dirty="0">
                <a:solidFill>
                  <a:srgbClr val="1D1D1B"/>
                </a:solidFill>
                <a:latin typeface="Times New Roman" panose="02020603050405020304" pitchFamily="18" charset="0"/>
                <a:cs typeface="Times New Roman" panose="02020603050405020304" pitchFamily="18" charset="0"/>
              </a:rPr>
              <a:t>provided for </a:t>
            </a:r>
            <a:r>
              <a:rPr sz="2400" spc="-20" dirty="0">
                <a:solidFill>
                  <a:srgbClr val="1D1D1B"/>
                </a:solidFill>
                <a:latin typeface="Times New Roman" panose="02020603050405020304" pitchFamily="18" charset="0"/>
                <a:cs typeface="Times New Roman" panose="02020603050405020304" pitchFamily="18" charset="0"/>
              </a:rPr>
              <a:t>reference </a:t>
            </a:r>
            <a:r>
              <a:rPr sz="2400" spc="10" dirty="0">
                <a:solidFill>
                  <a:srgbClr val="1D1D1B"/>
                </a:solidFill>
                <a:latin typeface="Times New Roman" panose="02020603050405020304" pitchFamily="18" charset="0"/>
                <a:cs typeface="Times New Roman" panose="02020603050405020304" pitchFamily="18" charset="0"/>
              </a:rPr>
              <a:t>purpose  </a:t>
            </a:r>
            <a:r>
              <a:rPr sz="2400" spc="5" dirty="0">
                <a:solidFill>
                  <a:srgbClr val="1D1D1B"/>
                </a:solidFill>
                <a:latin typeface="Times New Roman" panose="02020603050405020304" pitchFamily="18" charset="0"/>
                <a:cs typeface="Times New Roman" panose="02020603050405020304" pitchFamily="18" charset="0"/>
              </a:rPr>
              <a:t>only </a:t>
            </a:r>
            <a:r>
              <a:rPr sz="2400" spc="15" dirty="0">
                <a:solidFill>
                  <a:srgbClr val="1D1D1B"/>
                </a:solidFill>
                <a:latin typeface="Times New Roman" panose="02020603050405020304" pitchFamily="18" charset="0"/>
                <a:cs typeface="Times New Roman" panose="02020603050405020304" pitchFamily="18" charset="0"/>
              </a:rPr>
              <a:t>and </a:t>
            </a:r>
            <a:r>
              <a:rPr sz="2400" spc="-5" dirty="0">
                <a:solidFill>
                  <a:srgbClr val="1D1D1B"/>
                </a:solidFill>
                <a:latin typeface="Times New Roman" panose="02020603050405020304" pitchFamily="18" charset="0"/>
                <a:cs typeface="Times New Roman" panose="02020603050405020304" pitchFamily="18" charset="0"/>
              </a:rPr>
              <a:t>constitutes </a:t>
            </a:r>
            <a:r>
              <a:rPr sz="2400" spc="-10" dirty="0">
                <a:solidFill>
                  <a:srgbClr val="1D1D1B"/>
                </a:solidFill>
                <a:latin typeface="Times New Roman" panose="02020603050405020304" pitchFamily="18" charset="0"/>
                <a:cs typeface="Times New Roman" panose="02020603050405020304" pitchFamily="18" charset="0"/>
              </a:rPr>
              <a:t>neither </a:t>
            </a:r>
            <a:r>
              <a:rPr sz="2400" spc="20" dirty="0">
                <a:solidFill>
                  <a:srgbClr val="1D1D1B"/>
                </a:solidFill>
                <a:latin typeface="Times New Roman" panose="02020603050405020304" pitchFamily="18" charset="0"/>
                <a:cs typeface="Times New Roman" panose="02020603050405020304" pitchFamily="18" charset="0"/>
              </a:rPr>
              <a:t>an </a:t>
            </a:r>
            <a:r>
              <a:rPr sz="2400" spc="-10" dirty="0">
                <a:solidFill>
                  <a:srgbClr val="1D1D1B"/>
                </a:solidFill>
                <a:latin typeface="Times New Roman" panose="02020603050405020304" pitchFamily="18" charset="0"/>
                <a:cs typeface="Times New Roman" panose="02020603050405020304" pitchFamily="18" charset="0"/>
              </a:rPr>
              <a:t>offer </a:t>
            </a:r>
            <a:r>
              <a:rPr sz="2400" spc="10" dirty="0">
                <a:solidFill>
                  <a:srgbClr val="1D1D1B"/>
                </a:solidFill>
                <a:latin typeface="Times New Roman" panose="02020603050405020304" pitchFamily="18" charset="0"/>
                <a:cs typeface="Times New Roman" panose="02020603050405020304" pitchFamily="18" charset="0"/>
              </a:rPr>
              <a:t>nor </a:t>
            </a:r>
            <a:r>
              <a:rPr sz="2400" spc="25" dirty="0">
                <a:solidFill>
                  <a:srgbClr val="1D1D1B"/>
                </a:solidFill>
                <a:latin typeface="Times New Roman" panose="02020603050405020304" pitchFamily="18" charset="0"/>
                <a:cs typeface="Times New Roman" panose="02020603050405020304" pitchFamily="18" charset="0"/>
              </a:rPr>
              <a:t>an </a:t>
            </a:r>
            <a:r>
              <a:rPr sz="2400" spc="-25" dirty="0">
                <a:solidFill>
                  <a:srgbClr val="1D1D1B"/>
                </a:solidFill>
                <a:latin typeface="Times New Roman" panose="02020603050405020304" pitchFamily="18" charset="0"/>
                <a:cs typeface="Times New Roman" panose="02020603050405020304" pitchFamily="18" charset="0"/>
              </a:rPr>
              <a:t>acceptance. </a:t>
            </a:r>
            <a:r>
              <a:rPr sz="2400" spc="20" dirty="0">
                <a:solidFill>
                  <a:srgbClr val="1D1D1B"/>
                </a:solidFill>
                <a:latin typeface="Times New Roman" panose="02020603050405020304" pitchFamily="18" charset="0"/>
                <a:cs typeface="Times New Roman" panose="02020603050405020304" pitchFamily="18" charset="0"/>
              </a:rPr>
              <a:t>Huawei  </a:t>
            </a:r>
            <a:r>
              <a:rPr sz="2400" spc="25" dirty="0">
                <a:solidFill>
                  <a:srgbClr val="1D1D1B"/>
                </a:solidFill>
                <a:latin typeface="Times New Roman" panose="02020603050405020304" pitchFamily="18" charset="0"/>
                <a:cs typeface="Times New Roman" panose="02020603050405020304" pitchFamily="18" charset="0"/>
              </a:rPr>
              <a:t>may </a:t>
            </a:r>
            <a:r>
              <a:rPr sz="2400" spc="10" dirty="0">
                <a:solidFill>
                  <a:srgbClr val="1D1D1B"/>
                </a:solidFill>
                <a:latin typeface="Times New Roman" panose="02020603050405020304" pitchFamily="18" charset="0"/>
                <a:cs typeface="Times New Roman" panose="02020603050405020304" pitchFamily="18" charset="0"/>
              </a:rPr>
              <a:t>change </a:t>
            </a:r>
            <a:r>
              <a:rPr sz="2400" spc="-5" dirty="0">
                <a:solidFill>
                  <a:srgbClr val="1D1D1B"/>
                </a:solidFill>
                <a:latin typeface="Times New Roman" panose="02020603050405020304" pitchFamily="18" charset="0"/>
                <a:cs typeface="Times New Roman" panose="02020603050405020304" pitchFamily="18" charset="0"/>
              </a:rPr>
              <a:t>the </a:t>
            </a:r>
            <a:r>
              <a:rPr sz="2400" spc="5" dirty="0">
                <a:solidFill>
                  <a:srgbClr val="1D1D1B"/>
                </a:solidFill>
                <a:latin typeface="Times New Roman" panose="02020603050405020304" pitchFamily="18" charset="0"/>
                <a:cs typeface="Times New Roman" panose="02020603050405020304" pitchFamily="18" charset="0"/>
              </a:rPr>
              <a:t>information </a:t>
            </a:r>
            <a:r>
              <a:rPr sz="2400" spc="-5" dirty="0">
                <a:solidFill>
                  <a:srgbClr val="1D1D1B"/>
                </a:solidFill>
                <a:latin typeface="Times New Roman" panose="02020603050405020304" pitchFamily="18" charset="0"/>
                <a:cs typeface="Times New Roman" panose="02020603050405020304" pitchFamily="18" charset="0"/>
              </a:rPr>
              <a:t>at </a:t>
            </a:r>
            <a:r>
              <a:rPr sz="2400" spc="10" dirty="0">
                <a:solidFill>
                  <a:srgbClr val="1D1D1B"/>
                </a:solidFill>
                <a:latin typeface="Times New Roman" panose="02020603050405020304" pitchFamily="18" charset="0"/>
                <a:cs typeface="Times New Roman" panose="02020603050405020304" pitchFamily="18" charset="0"/>
              </a:rPr>
              <a:t>any </a:t>
            </a:r>
            <a:r>
              <a:rPr sz="2400" spc="-5" dirty="0">
                <a:solidFill>
                  <a:srgbClr val="1D1D1B"/>
                </a:solidFill>
                <a:latin typeface="Times New Roman" panose="02020603050405020304" pitchFamily="18" charset="0"/>
                <a:cs typeface="Times New Roman" panose="02020603050405020304" pitchFamily="18" charset="0"/>
              </a:rPr>
              <a:t>time </a:t>
            </a:r>
            <a:r>
              <a:rPr sz="2400" spc="5" dirty="0">
                <a:solidFill>
                  <a:srgbClr val="1D1D1B"/>
                </a:solidFill>
                <a:latin typeface="Times New Roman" panose="02020603050405020304" pitchFamily="18" charset="0"/>
                <a:cs typeface="Times New Roman" panose="02020603050405020304" pitchFamily="18" charset="0"/>
              </a:rPr>
              <a:t>without</a:t>
            </a:r>
            <a:r>
              <a:rPr sz="2400" spc="15" dirty="0">
                <a:solidFill>
                  <a:srgbClr val="1D1D1B"/>
                </a:solidFill>
                <a:latin typeface="Times New Roman" panose="02020603050405020304" pitchFamily="18" charset="0"/>
                <a:cs typeface="Times New Roman" panose="02020603050405020304" pitchFamily="18" charset="0"/>
              </a:rPr>
              <a:t> </a:t>
            </a:r>
            <a:r>
              <a:rPr sz="2400" spc="-30" dirty="0">
                <a:solidFill>
                  <a:srgbClr val="1D1D1B"/>
                </a:solidFill>
                <a:latin typeface="Times New Roman" panose="02020603050405020304" pitchFamily="18" charset="0"/>
                <a:cs typeface="Times New Roman" panose="02020603050405020304" pitchFamily="18" charset="0"/>
              </a:rPr>
              <a:t>notice.</a:t>
            </a:r>
            <a:endParaRPr sz="2400" dirty="0">
              <a:latin typeface="Times New Roman" panose="02020603050405020304" pitchFamily="18" charset="0"/>
              <a:cs typeface="Times New Roman" panose="02020603050405020304" pitchFamily="18" charset="0"/>
            </a:endParaRPr>
          </a:p>
        </p:txBody>
      </p:sp>
      <p:sp>
        <p:nvSpPr>
          <p:cNvPr id="4" name="object 4"/>
          <p:cNvSpPr/>
          <p:nvPr/>
        </p:nvSpPr>
        <p:spPr>
          <a:xfrm>
            <a:off x="9677400" y="6312662"/>
            <a:ext cx="1869948" cy="399288"/>
          </a:xfrm>
          <a:prstGeom prst="rect">
            <a:avLst/>
          </a:prstGeom>
          <a:blipFill>
            <a:blip r:embed="rId2" cstate="print"/>
            <a:stretch>
              <a:fillRect/>
            </a:stretch>
          </a:blipFill>
        </p:spPr>
        <p:txBody>
          <a:bodyPr wrap="square" lIns="0" tIns="0" rIns="0" bIns="0" rtlCol="0"/>
          <a:lstStyle/>
          <a:p>
            <a:endParaRPr/>
          </a:p>
        </p:txBody>
      </p:sp>
      <p:sp>
        <p:nvSpPr>
          <p:cNvPr id="5" name="object 5"/>
          <p:cNvSpPr txBox="1">
            <a:spLocks noGrp="1"/>
          </p:cNvSpPr>
          <p:nvPr>
            <p:ph type="title"/>
          </p:nvPr>
        </p:nvSpPr>
        <p:spPr>
          <a:xfrm>
            <a:off x="686206" y="1406778"/>
            <a:ext cx="3171190" cy="779145"/>
          </a:xfrm>
          <a:prstGeom prst="rect">
            <a:avLst/>
          </a:prstGeom>
        </p:spPr>
        <p:txBody>
          <a:bodyPr vert="horz" wrap="square" lIns="0" tIns="11430" rIns="0" bIns="0" rtlCol="0">
            <a:spAutoFit/>
          </a:bodyPr>
          <a:lstStyle/>
          <a:p>
            <a:pPr marL="12700">
              <a:lnSpc>
                <a:spcPct val="100000"/>
              </a:lnSpc>
              <a:spcBef>
                <a:spcPts val="90"/>
              </a:spcBef>
            </a:pPr>
            <a:r>
              <a:rPr spc="100" dirty="0"/>
              <a:t>Thank</a:t>
            </a:r>
            <a:r>
              <a:rPr spc="-15" dirty="0"/>
              <a:t> </a:t>
            </a:r>
            <a:r>
              <a:rPr spc="-80" dirty="0"/>
              <a:t>you.</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13391</TotalTime>
  <Words>3794</Words>
  <Application>Microsoft Office PowerPoint</Application>
  <PresentationFormat>Widescreen</PresentationFormat>
  <Paragraphs>608</Paragraphs>
  <Slides>67</Slides>
  <Notes>1</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67</vt:i4>
      </vt:variant>
    </vt:vector>
  </HeadingPairs>
  <TitlesOfParts>
    <vt:vector size="74" baseType="lpstr">
      <vt:lpstr>Arial</vt:lpstr>
      <vt:lpstr>Calibri</vt:lpstr>
      <vt:lpstr>Times New Roman</vt:lpstr>
      <vt:lpstr>Trebuchet MS</vt:lpstr>
      <vt:lpstr>UKIJ CJK</vt:lpstr>
      <vt:lpstr>Wingdings</vt:lpstr>
      <vt:lpstr>Office Theme</vt:lpstr>
      <vt:lpstr>Chapter 4 HBase Technical Principles Presented By: Dr.Randa Moamed </vt:lpstr>
      <vt:lpstr>PowerPoint Presentation</vt:lpstr>
      <vt:lpstr>Objectives</vt:lpstr>
      <vt:lpstr>Contents</vt:lpstr>
      <vt:lpstr>Introduction to HBase</vt:lpstr>
      <vt:lpstr>Comparison Between HBase and RDB</vt:lpstr>
      <vt:lpstr>HBase Application Scenario</vt:lpstr>
      <vt:lpstr>Contents</vt:lpstr>
      <vt:lpstr>Data Model</vt:lpstr>
      <vt:lpstr>HBase Table Structure (1)</vt:lpstr>
      <vt:lpstr>HBase Table Structure (2)</vt:lpstr>
      <vt:lpstr>Conceptual View of Data Storage</vt:lpstr>
      <vt:lpstr>Physical View of Data Storage</vt:lpstr>
      <vt:lpstr>Row-based Storage</vt:lpstr>
      <vt:lpstr>Row-based Storage</vt:lpstr>
      <vt:lpstr>Row-based Storage</vt:lpstr>
      <vt:lpstr>Column-based Storage</vt:lpstr>
      <vt:lpstr>PowerPoint Presentation</vt:lpstr>
      <vt:lpstr>Contents</vt:lpstr>
      <vt:lpstr>PowerPoint Presentation</vt:lpstr>
      <vt:lpstr>PowerPoint Presentation</vt:lpstr>
      <vt:lpstr>PowerPoint Presentation</vt:lpstr>
      <vt:lpstr>PowerPoint Presentation</vt:lpstr>
      <vt:lpstr>HBase Architecture (2)</vt:lpstr>
      <vt:lpstr>HBase Architecture (3)</vt:lpstr>
      <vt:lpstr>PowerPoint Presentation</vt:lpstr>
      <vt:lpstr>HBase Architecture (4)</vt:lpstr>
      <vt:lpstr>Table and Region</vt:lpstr>
      <vt:lpstr>Region Positioning (1)</vt:lpstr>
      <vt:lpstr>Region Positioning (2)</vt:lpstr>
      <vt:lpstr>Client</vt:lpstr>
      <vt:lpstr>PowerPoint Presentation</vt:lpstr>
      <vt:lpstr>PowerPoint Presentation</vt:lpstr>
      <vt:lpstr>HMaster HA</vt:lpstr>
      <vt:lpstr>HMaster</vt:lpstr>
      <vt:lpstr>HRegionServer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Contents</vt:lpstr>
      <vt:lpstr>Data Read and Write Process</vt:lpstr>
      <vt:lpstr>Cache Refreshing</vt:lpstr>
      <vt:lpstr>Merging StoreFiles</vt:lpstr>
      <vt:lpstr>Store Implementation</vt:lpstr>
      <vt:lpstr>HLog Implementation</vt:lpstr>
      <vt:lpstr>PowerPoint Presentation</vt:lpstr>
      <vt:lpstr>Contents</vt:lpstr>
      <vt:lpstr>PowerPoint Presentation</vt:lpstr>
      <vt:lpstr>Compaction (1)</vt:lpstr>
      <vt:lpstr>Compaction - 2</vt:lpstr>
      <vt:lpstr>OpenScanner</vt:lpstr>
      <vt:lpstr>BloomFilter</vt:lpstr>
      <vt:lpstr>Contents</vt:lpstr>
      <vt:lpstr>Row Key</vt:lpstr>
      <vt:lpstr>Creating HBase Secondary Index (1)</vt:lpstr>
      <vt:lpstr>Creating HBase Secondary Index (2)</vt:lpstr>
      <vt:lpstr>Contents</vt:lpstr>
      <vt:lpstr>Common HBase Shell Commands</vt:lpstr>
      <vt:lpstr>Summary</vt:lpstr>
      <vt:lpstr>Quiz</vt:lpstr>
      <vt:lpstr>Quiz</vt:lpstr>
      <vt:lpstr>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HBase Technical Principles</dc:title>
  <cp:lastModifiedBy>randa</cp:lastModifiedBy>
  <cp:revision>54</cp:revision>
  <dcterms:created xsi:type="dcterms:W3CDTF">2021-12-30T07:31:46Z</dcterms:created>
  <dcterms:modified xsi:type="dcterms:W3CDTF">2023-06-21T18:35:06Z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2020-12-28T00:00:00Z</vt:filetime>
  </property>
  <property fmtid="{D5CDD505-2E9C-101B-9397-08002B2CF9AE}" pid="3" name="Creator">
    <vt:lpwstr>Microsoft® PowerPoint® 2013</vt:lpwstr>
  </property>
  <property fmtid="{D5CDD505-2E9C-101B-9397-08002B2CF9AE}" pid="4" name="LastSaved">
    <vt:filetime>2021-12-30T00:00:00Z</vt:filetime>
  </property>
</Properties>
</file>