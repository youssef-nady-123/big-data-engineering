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6" r:id="rId1"/>
  </p:sldMasterIdLst>
  <p:notesMasterIdLst>
    <p:notesMasterId r:id="rId38"/>
  </p:notesMasterIdLst>
  <p:sldIdLst>
    <p:sldId id="291" r:id="rId2"/>
    <p:sldId id="257" r:id="rId3"/>
    <p:sldId id="258" r:id="rId4"/>
    <p:sldId id="259" r:id="rId5"/>
    <p:sldId id="260" r:id="rId6"/>
    <p:sldId id="261" r:id="rId7"/>
    <p:sldId id="282" r:id="rId8"/>
    <p:sldId id="262" r:id="rId9"/>
    <p:sldId id="263" r:id="rId10"/>
    <p:sldId id="264" r:id="rId11"/>
    <p:sldId id="283" r:id="rId12"/>
    <p:sldId id="265" r:id="rId13"/>
    <p:sldId id="266" r:id="rId14"/>
    <p:sldId id="284" r:id="rId15"/>
    <p:sldId id="285" r:id="rId16"/>
    <p:sldId id="267" r:id="rId17"/>
    <p:sldId id="268" r:id="rId18"/>
    <p:sldId id="294" r:id="rId19"/>
    <p:sldId id="295" r:id="rId20"/>
    <p:sldId id="293" r:id="rId21"/>
    <p:sldId id="269" r:id="rId22"/>
    <p:sldId id="287" r:id="rId23"/>
    <p:sldId id="270" r:id="rId24"/>
    <p:sldId id="288" r:id="rId25"/>
    <p:sldId id="271" r:id="rId26"/>
    <p:sldId id="272" r:id="rId27"/>
    <p:sldId id="273" r:id="rId28"/>
    <p:sldId id="274" r:id="rId29"/>
    <p:sldId id="275" r:id="rId30"/>
    <p:sldId id="276" r:id="rId31"/>
    <p:sldId id="277" r:id="rId32"/>
    <p:sldId id="296" r:id="rId33"/>
    <p:sldId id="278" r:id="rId34"/>
    <p:sldId id="279" r:id="rId35"/>
    <p:sldId id="280" r:id="rId36"/>
    <p:sldId id="281" r:id="rId37"/>
  </p:sldIdLst>
  <p:sldSz cx="12192000" cy="6858000"/>
  <p:notesSz cx="12192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810" autoAdjust="0"/>
    <p:restoredTop sz="89837" autoAdjust="0"/>
  </p:normalViewPr>
  <p:slideViewPr>
    <p:cSldViewPr>
      <p:cViewPr>
        <p:scale>
          <a:sx n="80" d="100"/>
          <a:sy n="80" d="100"/>
        </p:scale>
        <p:origin x="102" y="-306"/>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7BB51EE5-F87E-49E1-85E1-D0B3021BB612}" type="datetimeFigureOut">
              <a:rPr lang="en-US" smtClean="0"/>
              <a:t>12/03/2023</a:t>
            </a:fld>
            <a:endParaRPr lang="en-US"/>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C3B46600-CB0D-41F9-8500-EE9F4E9E1C83}" type="slidenum">
              <a:rPr lang="en-US" smtClean="0"/>
              <a:t>‹#›</a:t>
            </a:fld>
            <a:endParaRPr lang="en-US"/>
          </a:p>
        </p:txBody>
      </p:sp>
    </p:spTree>
    <p:extLst>
      <p:ext uri="{BB962C8B-B14F-4D97-AF65-F5344CB8AC3E}">
        <p14:creationId xmlns:p14="http://schemas.microsoft.com/office/powerpoint/2010/main" val="16806872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s://en.wikipedia.org/wiki/Data_structure" TargetMode="External"/><Relationship Id="rId2" Type="http://schemas.openxmlformats.org/officeDocument/2006/relationships/slide" Target="../slides/slide8.xml"/><Relationship Id="rId1" Type="http://schemas.openxmlformats.org/officeDocument/2006/relationships/notesMaster" Target="../notesMasters/notesMaster1.xml"/><Relationship Id="rId6" Type="http://schemas.openxmlformats.org/officeDocument/2006/relationships/hyperlink" Target="https://en.wikipedia.org/wiki/Lookup" TargetMode="External"/><Relationship Id="rId5" Type="http://schemas.openxmlformats.org/officeDocument/2006/relationships/hyperlink" Target="https://en.wikipedia.org/wiki/Column_(database)" TargetMode="External"/><Relationship Id="rId4" Type="http://schemas.openxmlformats.org/officeDocument/2006/relationships/hyperlink" Target="https://en.wikipedia.org/wiki/Table_(database)" TargetMode="External"/></Relationships>
</file>

<file path=ppt/notesSlides/_rels/notesSlide4.xml.rels><?xml version="1.0" encoding="UTF-8" standalone="yes"?>
<Relationships xmlns="http://schemas.openxmlformats.org/package/2006/relationships"><Relationship Id="rId8" Type="http://schemas.openxmlformats.org/officeDocument/2006/relationships/hyperlink" Target="https://en.wikipedia.org/wiki/Partial_index" TargetMode="External"/><Relationship Id="rId3" Type="http://schemas.openxmlformats.org/officeDocument/2006/relationships/hyperlink" Target="https://en.wikipedia.org/wiki/Data_structure" TargetMode="External"/><Relationship Id="rId7" Type="http://schemas.openxmlformats.org/officeDocument/2006/relationships/hyperlink" Target="https://en.wikipedia.org/wiki/Expression_(programming)" TargetMode="External"/><Relationship Id="rId2" Type="http://schemas.openxmlformats.org/officeDocument/2006/relationships/slide" Target="../slides/slide9.xml"/><Relationship Id="rId1" Type="http://schemas.openxmlformats.org/officeDocument/2006/relationships/notesMaster" Target="../notesMasters/notesMaster1.xml"/><Relationship Id="rId6" Type="http://schemas.openxmlformats.org/officeDocument/2006/relationships/hyperlink" Target="https://en.wikipedia.org/wiki/Lookup" TargetMode="External"/><Relationship Id="rId5" Type="http://schemas.openxmlformats.org/officeDocument/2006/relationships/hyperlink" Target="https://en.wikipedia.org/wiki/Column_(database)" TargetMode="External"/><Relationship Id="rId4" Type="http://schemas.openxmlformats.org/officeDocument/2006/relationships/hyperlink" Target="https://en.wikipedia.org/wiki/Table_(database)" TargetMode="External"/><Relationship Id="rId9" Type="http://schemas.openxmlformats.org/officeDocument/2006/relationships/hyperlink" Target="https://en.wikipedia.org/wiki/User-defined_function" TargetMode="Externa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s://cwiki.apache.org/confluence/display/Hive/HiveClient" TargetMode="External"/><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PB</a:t>
            </a:r>
            <a:r>
              <a:rPr lang="en-US" baseline="0" dirty="0" smtClean="0"/>
              <a:t>   </a:t>
            </a:r>
            <a:r>
              <a:rPr lang="en-US" baseline="0" dirty="0" err="1" smtClean="0"/>
              <a:t>peta</a:t>
            </a:r>
            <a:r>
              <a:rPr lang="en-US" baseline="0" dirty="0" smtClean="0"/>
              <a:t> byte</a:t>
            </a:r>
          </a:p>
          <a:p>
            <a:r>
              <a:rPr lang="en-US" sz="1200" b="0" i="0" kern="1200" dirty="0" err="1" smtClean="0">
                <a:solidFill>
                  <a:schemeClr val="tx1"/>
                </a:solidFill>
                <a:effectLst/>
                <a:latin typeface="+mn-lt"/>
                <a:ea typeface="+mn-ea"/>
                <a:cs typeface="+mn-cs"/>
              </a:rPr>
              <a:t>Pb</a:t>
            </a:r>
            <a:r>
              <a:rPr lang="en-US" sz="1200" b="0" i="0" kern="1200" dirty="0" smtClean="0">
                <a:solidFill>
                  <a:schemeClr val="tx1"/>
                </a:solidFill>
                <a:effectLst/>
                <a:latin typeface="+mn-lt"/>
                <a:ea typeface="+mn-ea"/>
                <a:cs typeface="+mn-cs"/>
              </a:rPr>
              <a:t> level refers to the amount of data that can be queried.</a:t>
            </a:r>
            <a:endParaRPr lang="en-US" dirty="0"/>
          </a:p>
        </p:txBody>
      </p:sp>
      <p:sp>
        <p:nvSpPr>
          <p:cNvPr id="4" name="Slide Number Placeholder 3"/>
          <p:cNvSpPr>
            <a:spLocks noGrp="1"/>
          </p:cNvSpPr>
          <p:nvPr>
            <p:ph type="sldNum" sz="quarter" idx="10"/>
          </p:nvPr>
        </p:nvSpPr>
        <p:spPr/>
        <p:txBody>
          <a:bodyPr/>
          <a:lstStyle/>
          <a:p>
            <a:fld id="{C3B46600-CB0D-41F9-8500-EE9F4E9E1C83}" type="slidenum">
              <a:rPr lang="en-US" smtClean="0"/>
              <a:t>5</a:t>
            </a:fld>
            <a:endParaRPr lang="en-US"/>
          </a:p>
        </p:txBody>
      </p:sp>
    </p:spTree>
    <p:extLst>
      <p:ext uri="{BB962C8B-B14F-4D97-AF65-F5344CB8AC3E}">
        <p14:creationId xmlns:p14="http://schemas.microsoft.com/office/powerpoint/2010/main" val="15821453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User behavior analytics (UBA) is the tracking, collecting and assessing of user data and activities using monitoring systems.</a:t>
            </a:r>
          </a:p>
          <a:p>
            <a:r>
              <a:rPr lang="en-US" sz="1200" b="0" i="0" kern="1200" dirty="0" smtClean="0">
                <a:solidFill>
                  <a:schemeClr val="tx1"/>
                </a:solidFill>
                <a:effectLst/>
                <a:latin typeface="+mn-lt"/>
                <a:ea typeface="+mn-ea"/>
                <a:cs typeface="+mn-cs"/>
              </a:rPr>
              <a:t>Behavior analysis systems first appeared in the early 2000s as tools to help marketing teams analyze and predict customer buying patterns.</a:t>
            </a:r>
          </a:p>
          <a:p>
            <a:endParaRPr lang="en-US" sz="1200" b="0"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Log analysis is the process of reviewing, interpreting and understand computer-generated records called logs. Logs are generated by a range of programmable technologies, including networking devices, operating systems, applications, and more. A log consists of a series of messages in time-sequence that describe activities going on within a system. Log files may be streamed to a log collector through an active network, or they may be stored in files for later review. Either way, log analysis is the delicate art of reviewing and interpreting these messages to gain insight into the inner workings of the system.</a:t>
            </a:r>
          </a:p>
          <a:p>
            <a:endParaRPr lang="en-US" dirty="0"/>
          </a:p>
        </p:txBody>
      </p:sp>
      <p:sp>
        <p:nvSpPr>
          <p:cNvPr id="4" name="Slide Number Placeholder 3"/>
          <p:cNvSpPr>
            <a:spLocks noGrp="1"/>
          </p:cNvSpPr>
          <p:nvPr>
            <p:ph type="sldNum" sz="quarter" idx="10"/>
          </p:nvPr>
        </p:nvSpPr>
        <p:spPr/>
        <p:txBody>
          <a:bodyPr/>
          <a:lstStyle/>
          <a:p>
            <a:fld id="{C3B46600-CB0D-41F9-8500-EE9F4E9E1C83}" type="slidenum">
              <a:rPr lang="en-US" smtClean="0"/>
              <a:t>6</a:t>
            </a:fld>
            <a:endParaRPr lang="en-US"/>
          </a:p>
        </p:txBody>
      </p:sp>
    </p:spTree>
    <p:extLst>
      <p:ext uri="{BB962C8B-B14F-4D97-AF65-F5344CB8AC3E}">
        <p14:creationId xmlns:p14="http://schemas.microsoft.com/office/powerpoint/2010/main" val="217089723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smtClean="0">
                <a:solidFill>
                  <a:schemeClr val="tx1"/>
                </a:solidFill>
                <a:effectLst/>
                <a:latin typeface="+mn-lt"/>
                <a:ea typeface="+mn-ea"/>
                <a:cs typeface="+mn-cs"/>
              </a:rPr>
              <a:t>Interpreter translates just one statement of the program at a time into machine code.</a:t>
            </a:r>
            <a:r>
              <a:rPr lang="en-US" sz="1200" b="0" i="0" kern="1200" dirty="0" smtClean="0">
                <a:solidFill>
                  <a:schemeClr val="tx1"/>
                </a:solidFill>
                <a:effectLst/>
                <a:latin typeface="+mn-lt"/>
                <a:ea typeface="+mn-ea"/>
                <a:cs typeface="+mn-cs"/>
              </a:rPr>
              <a:t> </a:t>
            </a:r>
            <a:r>
              <a:rPr lang="en-US" sz="1200" b="1" i="0" kern="1200" dirty="0" smtClean="0">
                <a:solidFill>
                  <a:schemeClr val="tx1"/>
                </a:solidFill>
                <a:effectLst/>
                <a:latin typeface="+mn-lt"/>
                <a:ea typeface="+mn-ea"/>
                <a:cs typeface="+mn-cs"/>
              </a:rPr>
              <a:t>Compiler scans the entire program and translates the whole of it into machine code at once</a:t>
            </a:r>
            <a:r>
              <a:rPr lang="en-US" sz="1200" b="0" i="0" kern="1200" dirty="0" smtClean="0">
                <a:solidFill>
                  <a:schemeClr val="tx1"/>
                </a:solidFill>
                <a:effectLst/>
                <a:latin typeface="+mn-lt"/>
                <a:ea typeface="+mn-ea"/>
                <a:cs typeface="+mn-cs"/>
              </a:rPr>
              <a:t>. An interpreter takes very less time to analyze the source code. However, the overall time to execute the process is much slower.</a:t>
            </a:r>
          </a:p>
          <a:p>
            <a:endParaRPr lang="en-US" sz="1200" b="0"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A </a:t>
            </a:r>
            <a:r>
              <a:rPr lang="en-US" sz="1200" b="1" i="0" kern="1200" dirty="0" smtClean="0">
                <a:solidFill>
                  <a:schemeClr val="tx1"/>
                </a:solidFill>
                <a:effectLst/>
                <a:latin typeface="+mn-lt"/>
                <a:ea typeface="+mn-ea"/>
                <a:cs typeface="+mn-cs"/>
              </a:rPr>
              <a:t>database index</a:t>
            </a:r>
            <a:r>
              <a:rPr lang="en-US" sz="1200" b="0" i="0" kern="1200" dirty="0" smtClean="0">
                <a:solidFill>
                  <a:schemeClr val="tx1"/>
                </a:solidFill>
                <a:effectLst/>
                <a:latin typeface="+mn-lt"/>
                <a:ea typeface="+mn-ea"/>
                <a:cs typeface="+mn-cs"/>
              </a:rPr>
              <a:t> is a </a:t>
            </a:r>
            <a:r>
              <a:rPr lang="en-US" sz="1200" b="0" i="0" u="none" strike="noStrike" kern="1200" dirty="0" smtClean="0">
                <a:solidFill>
                  <a:schemeClr val="tx1"/>
                </a:solidFill>
                <a:effectLst/>
                <a:latin typeface="+mn-lt"/>
                <a:ea typeface="+mn-ea"/>
                <a:cs typeface="+mn-cs"/>
                <a:hlinkClick r:id="rId3" tooltip="Data structure"/>
              </a:rPr>
              <a:t>data structure</a:t>
            </a:r>
            <a:r>
              <a:rPr lang="en-US" sz="1200" b="0" i="0" kern="1200" dirty="0" smtClean="0">
                <a:solidFill>
                  <a:schemeClr val="tx1"/>
                </a:solidFill>
                <a:effectLst/>
                <a:latin typeface="+mn-lt"/>
                <a:ea typeface="+mn-ea"/>
                <a:cs typeface="+mn-cs"/>
              </a:rPr>
              <a:t> that improves the speed of data retrieval operations on a </a:t>
            </a:r>
            <a:r>
              <a:rPr lang="en-US" sz="1200" b="0" i="0" u="none" strike="noStrike" kern="1200" dirty="0" smtClean="0">
                <a:solidFill>
                  <a:schemeClr val="tx1"/>
                </a:solidFill>
                <a:effectLst/>
                <a:latin typeface="+mn-lt"/>
                <a:ea typeface="+mn-ea"/>
                <a:cs typeface="+mn-cs"/>
                <a:hlinkClick r:id="rId4" tooltip="Table (database)"/>
              </a:rPr>
              <a:t>database table</a:t>
            </a:r>
            <a:r>
              <a:rPr lang="en-US" sz="1200" b="0" i="0" kern="1200" dirty="0" smtClean="0">
                <a:solidFill>
                  <a:schemeClr val="tx1"/>
                </a:solidFill>
                <a:effectLst/>
                <a:latin typeface="+mn-lt"/>
                <a:ea typeface="+mn-ea"/>
                <a:cs typeface="+mn-cs"/>
              </a:rPr>
              <a:t> at the cost of additional writes and storage space to maintain the index data structure. Indexes are used to quickly locate data without having to search every row in a database table every time a database table is accessed. Indexes can be created using one or more </a:t>
            </a:r>
            <a:r>
              <a:rPr lang="en-US" sz="1200" b="0" i="0" u="none" strike="noStrike" kern="1200" dirty="0" smtClean="0">
                <a:solidFill>
                  <a:schemeClr val="tx1"/>
                </a:solidFill>
                <a:effectLst/>
                <a:latin typeface="+mn-lt"/>
                <a:ea typeface="+mn-ea"/>
                <a:cs typeface="+mn-cs"/>
                <a:hlinkClick r:id="rId5" tooltip="Column (database)"/>
              </a:rPr>
              <a:t>columns of a database table</a:t>
            </a:r>
            <a:r>
              <a:rPr lang="en-US" sz="1200" b="0" i="0" kern="1200" dirty="0" smtClean="0">
                <a:solidFill>
                  <a:schemeClr val="tx1"/>
                </a:solidFill>
                <a:effectLst/>
                <a:latin typeface="+mn-lt"/>
                <a:ea typeface="+mn-ea"/>
                <a:cs typeface="+mn-cs"/>
              </a:rPr>
              <a:t>, providing the basis for both rapid random </a:t>
            </a:r>
            <a:r>
              <a:rPr lang="en-US" sz="1200" b="0" i="0" u="none" strike="noStrike" kern="1200" dirty="0" smtClean="0">
                <a:solidFill>
                  <a:schemeClr val="tx1"/>
                </a:solidFill>
                <a:effectLst/>
                <a:latin typeface="+mn-lt"/>
                <a:ea typeface="+mn-ea"/>
                <a:cs typeface="+mn-cs"/>
                <a:hlinkClick r:id="rId6" tooltip="Lookup"/>
              </a:rPr>
              <a:t>lookups</a:t>
            </a:r>
            <a:r>
              <a:rPr lang="en-US" sz="1200" b="0" i="0" kern="1200" dirty="0" smtClean="0">
                <a:solidFill>
                  <a:schemeClr val="tx1"/>
                </a:solidFill>
                <a:effectLst/>
                <a:latin typeface="+mn-lt"/>
                <a:ea typeface="+mn-ea"/>
                <a:cs typeface="+mn-cs"/>
              </a:rPr>
              <a:t> and efficient access of ordered records.</a:t>
            </a:r>
            <a:endParaRPr lang="en-US" dirty="0"/>
          </a:p>
        </p:txBody>
      </p:sp>
      <p:sp>
        <p:nvSpPr>
          <p:cNvPr id="4" name="Slide Number Placeholder 3"/>
          <p:cNvSpPr>
            <a:spLocks noGrp="1"/>
          </p:cNvSpPr>
          <p:nvPr>
            <p:ph type="sldNum" sz="quarter" idx="10"/>
          </p:nvPr>
        </p:nvSpPr>
        <p:spPr/>
        <p:txBody>
          <a:bodyPr/>
          <a:lstStyle/>
          <a:p>
            <a:fld id="{C3B46600-CB0D-41F9-8500-EE9F4E9E1C83}" type="slidenum">
              <a:rPr lang="en-US" smtClean="0"/>
              <a:t>8</a:t>
            </a:fld>
            <a:endParaRPr lang="en-US"/>
          </a:p>
        </p:txBody>
      </p:sp>
    </p:spTree>
    <p:extLst>
      <p:ext uri="{BB962C8B-B14F-4D97-AF65-F5344CB8AC3E}">
        <p14:creationId xmlns:p14="http://schemas.microsoft.com/office/powerpoint/2010/main" val="36625011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A </a:t>
            </a:r>
            <a:r>
              <a:rPr lang="en-US" sz="1200" b="1" i="0" kern="1200" dirty="0" smtClean="0">
                <a:solidFill>
                  <a:schemeClr val="tx1"/>
                </a:solidFill>
                <a:effectLst/>
                <a:latin typeface="+mn-lt"/>
                <a:ea typeface="+mn-ea"/>
                <a:cs typeface="+mn-cs"/>
              </a:rPr>
              <a:t>database index</a:t>
            </a:r>
            <a:r>
              <a:rPr lang="en-US" sz="1200" b="0" i="0" kern="1200" dirty="0" smtClean="0">
                <a:solidFill>
                  <a:schemeClr val="tx1"/>
                </a:solidFill>
                <a:effectLst/>
                <a:latin typeface="+mn-lt"/>
                <a:ea typeface="+mn-ea"/>
                <a:cs typeface="+mn-cs"/>
              </a:rPr>
              <a:t> is a </a:t>
            </a:r>
            <a:r>
              <a:rPr lang="en-US" sz="1200" b="0" i="0" u="none" strike="noStrike" kern="1200" dirty="0" smtClean="0">
                <a:solidFill>
                  <a:schemeClr val="tx1"/>
                </a:solidFill>
                <a:effectLst/>
                <a:latin typeface="+mn-lt"/>
                <a:ea typeface="+mn-ea"/>
                <a:cs typeface="+mn-cs"/>
                <a:hlinkClick r:id="rId3" tooltip="Data structure"/>
              </a:rPr>
              <a:t>data structure</a:t>
            </a:r>
            <a:r>
              <a:rPr lang="en-US" sz="1200" b="0" i="0" kern="1200" dirty="0" smtClean="0">
                <a:solidFill>
                  <a:schemeClr val="tx1"/>
                </a:solidFill>
                <a:effectLst/>
                <a:latin typeface="+mn-lt"/>
                <a:ea typeface="+mn-ea"/>
                <a:cs typeface="+mn-cs"/>
              </a:rPr>
              <a:t> that improves the speed of data retrieval operations on a </a:t>
            </a:r>
            <a:r>
              <a:rPr lang="en-US" sz="1200" b="0" i="0" u="none" strike="noStrike" kern="1200" dirty="0" smtClean="0">
                <a:solidFill>
                  <a:schemeClr val="tx1"/>
                </a:solidFill>
                <a:effectLst/>
                <a:latin typeface="+mn-lt"/>
                <a:ea typeface="+mn-ea"/>
                <a:cs typeface="+mn-cs"/>
                <a:hlinkClick r:id="rId4" tooltip="Table (database)"/>
              </a:rPr>
              <a:t>database table</a:t>
            </a:r>
            <a:r>
              <a:rPr lang="en-US" sz="1200" b="0" i="0" kern="1200" dirty="0" smtClean="0">
                <a:solidFill>
                  <a:schemeClr val="tx1"/>
                </a:solidFill>
                <a:effectLst/>
                <a:latin typeface="+mn-lt"/>
                <a:ea typeface="+mn-ea"/>
                <a:cs typeface="+mn-cs"/>
              </a:rPr>
              <a:t> at the cost of additional writes and storage space to maintain the index data structure. Indexes are used to quickly locate data without having to search every row in a database table every time a database table is accessed. Indexes can be created using one or more </a:t>
            </a:r>
            <a:r>
              <a:rPr lang="en-US" sz="1200" b="0" i="0" u="none" strike="noStrike" kern="1200" dirty="0" smtClean="0">
                <a:solidFill>
                  <a:schemeClr val="tx1"/>
                </a:solidFill>
                <a:effectLst/>
                <a:latin typeface="+mn-lt"/>
                <a:ea typeface="+mn-ea"/>
                <a:cs typeface="+mn-cs"/>
                <a:hlinkClick r:id="rId5" tooltip="Column (database)"/>
              </a:rPr>
              <a:t>columns of a database table</a:t>
            </a:r>
            <a:r>
              <a:rPr lang="en-US" sz="1200" b="0" i="0" kern="1200" dirty="0" smtClean="0">
                <a:solidFill>
                  <a:schemeClr val="tx1"/>
                </a:solidFill>
                <a:effectLst/>
                <a:latin typeface="+mn-lt"/>
                <a:ea typeface="+mn-ea"/>
                <a:cs typeface="+mn-cs"/>
              </a:rPr>
              <a:t>, providing the basis for both rapid random </a:t>
            </a:r>
            <a:r>
              <a:rPr lang="en-US" sz="1200" b="0" i="0" u="none" strike="noStrike" kern="1200" dirty="0" smtClean="0">
                <a:solidFill>
                  <a:schemeClr val="tx1"/>
                </a:solidFill>
                <a:effectLst/>
                <a:latin typeface="+mn-lt"/>
                <a:ea typeface="+mn-ea"/>
                <a:cs typeface="+mn-cs"/>
                <a:hlinkClick r:id="rId6" tooltip="Lookup"/>
              </a:rPr>
              <a:t>lookups</a:t>
            </a:r>
            <a:r>
              <a:rPr lang="en-US" sz="1200" b="0" i="0" kern="1200" dirty="0" smtClean="0">
                <a:solidFill>
                  <a:schemeClr val="tx1"/>
                </a:solidFill>
                <a:effectLst/>
                <a:latin typeface="+mn-lt"/>
                <a:ea typeface="+mn-ea"/>
                <a:cs typeface="+mn-cs"/>
              </a:rPr>
              <a:t> and efficient access of ordered records.</a:t>
            </a:r>
          </a:p>
          <a:p>
            <a:r>
              <a:rPr lang="en-US" dirty="0" smtClean="0"/>
              <a:t/>
            </a:r>
            <a:br>
              <a:rPr lang="en-US" dirty="0" smtClean="0"/>
            </a:br>
            <a:r>
              <a:rPr lang="en-US" sz="1200" b="0" i="0" kern="1200" dirty="0" smtClean="0">
                <a:solidFill>
                  <a:schemeClr val="tx1"/>
                </a:solidFill>
                <a:effectLst/>
                <a:latin typeface="+mn-lt"/>
                <a:ea typeface="+mn-ea"/>
                <a:cs typeface="+mn-cs"/>
              </a:rPr>
              <a:t>An index is a copy of selected columns of data, from a table, that is designed to enable very efficient search. An index normally includes a "key" or direct link to the original row of data from which it was copied, to allow the complete row to be retrieved efficiently. Some databases extend the power of indexing by letting developers create indexes on column values that have been transformed by functions or </a:t>
            </a:r>
            <a:r>
              <a:rPr lang="en-US" sz="1200" b="0" i="0" u="none" strike="noStrike" kern="1200" dirty="0" smtClean="0">
                <a:solidFill>
                  <a:schemeClr val="tx1"/>
                </a:solidFill>
                <a:effectLst/>
                <a:latin typeface="+mn-lt"/>
                <a:ea typeface="+mn-ea"/>
                <a:cs typeface="+mn-cs"/>
                <a:hlinkClick r:id="rId7" tooltip="Expression (programming)"/>
              </a:rPr>
              <a:t>expressions</a:t>
            </a:r>
            <a:r>
              <a:rPr lang="en-US" sz="1200" b="0" i="0" kern="1200" dirty="0" smtClean="0">
                <a:solidFill>
                  <a:schemeClr val="tx1"/>
                </a:solidFill>
                <a:effectLst/>
                <a:latin typeface="+mn-lt"/>
                <a:ea typeface="+mn-ea"/>
                <a:cs typeface="+mn-cs"/>
              </a:rPr>
              <a:t>. For example, an index could be created on upper(</a:t>
            </a:r>
            <a:r>
              <a:rPr lang="en-US" sz="1200" b="0" i="0" kern="1200" dirty="0" err="1" smtClean="0">
                <a:solidFill>
                  <a:schemeClr val="tx1"/>
                </a:solidFill>
                <a:effectLst/>
                <a:latin typeface="+mn-lt"/>
                <a:ea typeface="+mn-ea"/>
                <a:cs typeface="+mn-cs"/>
              </a:rPr>
              <a:t>last_name</a:t>
            </a:r>
            <a:r>
              <a:rPr lang="en-US" sz="1200" b="0" i="0" kern="1200" dirty="0" smtClean="0">
                <a:solidFill>
                  <a:schemeClr val="tx1"/>
                </a:solidFill>
                <a:effectLst/>
                <a:latin typeface="+mn-lt"/>
                <a:ea typeface="+mn-ea"/>
                <a:cs typeface="+mn-cs"/>
              </a:rPr>
              <a:t>), which would only store the upper-case versions of the </a:t>
            </a:r>
            <a:r>
              <a:rPr lang="en-US" sz="1200" b="0" i="0" kern="1200" dirty="0" err="1" smtClean="0">
                <a:solidFill>
                  <a:schemeClr val="tx1"/>
                </a:solidFill>
                <a:effectLst/>
                <a:latin typeface="+mn-lt"/>
                <a:ea typeface="+mn-ea"/>
                <a:cs typeface="+mn-cs"/>
              </a:rPr>
              <a:t>last_name</a:t>
            </a:r>
            <a:r>
              <a:rPr lang="en-US" sz="1200" b="0" i="0" kern="1200" dirty="0" smtClean="0">
                <a:solidFill>
                  <a:schemeClr val="tx1"/>
                </a:solidFill>
                <a:effectLst/>
                <a:latin typeface="+mn-lt"/>
                <a:ea typeface="+mn-ea"/>
                <a:cs typeface="+mn-cs"/>
              </a:rPr>
              <a:t> field in the index. Another option sometimes supported is the use of </a:t>
            </a:r>
            <a:r>
              <a:rPr lang="en-US" sz="1200" b="0" i="0" u="none" strike="noStrike" kern="1200" dirty="0" smtClean="0">
                <a:solidFill>
                  <a:schemeClr val="tx1"/>
                </a:solidFill>
                <a:effectLst/>
                <a:latin typeface="+mn-lt"/>
                <a:ea typeface="+mn-ea"/>
                <a:cs typeface="+mn-cs"/>
                <a:hlinkClick r:id="rId8" tooltip="Partial index"/>
              </a:rPr>
              <a:t>partial indices</a:t>
            </a:r>
            <a:r>
              <a:rPr lang="en-US" sz="1200" b="0" i="0" kern="1200" dirty="0" smtClean="0">
                <a:solidFill>
                  <a:schemeClr val="tx1"/>
                </a:solidFill>
                <a:effectLst/>
                <a:latin typeface="+mn-lt"/>
                <a:ea typeface="+mn-ea"/>
                <a:cs typeface="+mn-cs"/>
              </a:rPr>
              <a:t>, where index entries are created only for those records that satisfy some conditional expression. A further aspect of flexibility is to permit indexing on </a:t>
            </a:r>
            <a:r>
              <a:rPr lang="en-US" sz="1200" b="0" i="0" u="none" strike="noStrike" kern="1200" dirty="0" smtClean="0">
                <a:solidFill>
                  <a:schemeClr val="tx1"/>
                </a:solidFill>
                <a:effectLst/>
                <a:latin typeface="+mn-lt"/>
                <a:ea typeface="+mn-ea"/>
                <a:cs typeface="+mn-cs"/>
                <a:hlinkClick r:id="rId9" tooltip="User-defined function"/>
              </a:rPr>
              <a:t>user-defined functions</a:t>
            </a:r>
            <a:r>
              <a:rPr lang="en-US" sz="1200" b="0" i="0" kern="1200" dirty="0" smtClean="0">
                <a:solidFill>
                  <a:schemeClr val="tx1"/>
                </a:solidFill>
                <a:effectLst/>
                <a:latin typeface="+mn-lt"/>
                <a:ea typeface="+mn-ea"/>
                <a:cs typeface="+mn-cs"/>
              </a:rPr>
              <a:t>, as well as expressions formed from an assortment of built-in functions.</a:t>
            </a:r>
          </a:p>
          <a:p>
            <a:r>
              <a:rPr lang="en-US" dirty="0" smtClean="0"/>
              <a:t/>
            </a:r>
            <a:br>
              <a:rPr lang="en-US" dirty="0" smtClean="0"/>
            </a:br>
            <a:endParaRPr lang="en-US" dirty="0"/>
          </a:p>
        </p:txBody>
      </p:sp>
      <p:sp>
        <p:nvSpPr>
          <p:cNvPr id="4" name="Slide Number Placeholder 3"/>
          <p:cNvSpPr>
            <a:spLocks noGrp="1"/>
          </p:cNvSpPr>
          <p:nvPr>
            <p:ph type="sldNum" sz="quarter" idx="10"/>
          </p:nvPr>
        </p:nvSpPr>
        <p:spPr/>
        <p:txBody>
          <a:bodyPr/>
          <a:lstStyle/>
          <a:p>
            <a:fld id="{C3B46600-CB0D-41F9-8500-EE9F4E9E1C83}" type="slidenum">
              <a:rPr lang="en-US" smtClean="0"/>
              <a:t>9</a:t>
            </a:fld>
            <a:endParaRPr lang="en-US"/>
          </a:p>
        </p:txBody>
      </p:sp>
    </p:spTree>
    <p:extLst>
      <p:ext uri="{BB962C8B-B14F-4D97-AF65-F5344CB8AC3E}">
        <p14:creationId xmlns:p14="http://schemas.microsoft.com/office/powerpoint/2010/main" val="368883570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err="1" smtClean="0">
                <a:solidFill>
                  <a:schemeClr val="tx1"/>
                </a:solidFill>
                <a:effectLst/>
                <a:latin typeface="+mn-lt"/>
                <a:ea typeface="+mn-ea"/>
                <a:cs typeface="+mn-cs"/>
              </a:rPr>
              <a:t>HiveServer</a:t>
            </a:r>
            <a:r>
              <a:rPr lang="en-US" sz="1200" b="0" i="0" kern="1200" dirty="0" smtClean="0">
                <a:solidFill>
                  <a:schemeClr val="tx1"/>
                </a:solidFill>
                <a:effectLst/>
                <a:latin typeface="+mn-lt"/>
                <a:ea typeface="+mn-ea"/>
                <a:cs typeface="+mn-cs"/>
              </a:rPr>
              <a:t> is an optional service that allows a remote </a:t>
            </a:r>
            <a:r>
              <a:rPr lang="en-US" sz="1200" b="0" i="0" kern="1200" dirty="0" smtClean="0">
                <a:solidFill>
                  <a:schemeClr val="tx1"/>
                </a:solidFill>
                <a:effectLst/>
                <a:latin typeface="+mn-lt"/>
                <a:ea typeface="+mn-ea"/>
                <a:cs typeface="+mn-cs"/>
                <a:hlinkClick r:id="rId3"/>
              </a:rPr>
              <a:t>client</a:t>
            </a:r>
            <a:r>
              <a:rPr lang="en-US" sz="1200" b="0" i="0" kern="1200" dirty="0" smtClean="0">
                <a:solidFill>
                  <a:schemeClr val="tx1"/>
                </a:solidFill>
                <a:effectLst/>
                <a:latin typeface="+mn-lt"/>
                <a:ea typeface="+mn-ea"/>
                <a:cs typeface="+mn-cs"/>
              </a:rPr>
              <a:t> to submit requests to Hive, using a variety of programming languages, and retrieve results.</a:t>
            </a:r>
            <a:endParaRPr lang="en-US" dirty="0"/>
          </a:p>
        </p:txBody>
      </p:sp>
      <p:sp>
        <p:nvSpPr>
          <p:cNvPr id="4" name="Slide Number Placeholder 3"/>
          <p:cNvSpPr>
            <a:spLocks noGrp="1"/>
          </p:cNvSpPr>
          <p:nvPr>
            <p:ph type="sldNum" sz="quarter" idx="10"/>
          </p:nvPr>
        </p:nvSpPr>
        <p:spPr/>
        <p:txBody>
          <a:bodyPr/>
          <a:lstStyle/>
          <a:p>
            <a:fld id="{C3B46600-CB0D-41F9-8500-EE9F4E9E1C83}" type="slidenum">
              <a:rPr lang="en-US" smtClean="0"/>
              <a:t>10</a:t>
            </a:fld>
            <a:endParaRPr lang="en-US"/>
          </a:p>
        </p:txBody>
      </p:sp>
    </p:spTree>
    <p:extLst>
      <p:ext uri="{BB962C8B-B14F-4D97-AF65-F5344CB8AC3E}">
        <p14:creationId xmlns:p14="http://schemas.microsoft.com/office/powerpoint/2010/main" val="6433150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smtClean="0"/>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12/03/2023</a:t>
            </a:fld>
            <a:endParaRPr lang="en-US"/>
          </a:p>
        </p:txBody>
      </p:sp>
      <p:sp>
        <p:nvSpPr>
          <p:cNvPr id="5" name="Footer Placeholder 4"/>
          <p:cNvSpPr>
            <a:spLocks noGrp="1"/>
          </p:cNvSpPr>
          <p:nvPr>
            <p:ph type="ftr" sz="quarter" idx="11"/>
          </p:nvPr>
        </p:nvSpPr>
        <p:spPr/>
        <p:txBody>
          <a:bodyPr/>
          <a:lstStyle/>
          <a:p>
            <a:endParaRPr lang="en-US"/>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pPr marL="38100">
              <a:lnSpc>
                <a:spcPct val="100000"/>
              </a:lnSpc>
              <a:spcBef>
                <a:spcPts val="55"/>
              </a:spcBef>
              <a:tabLst>
                <a:tab pos="490855" algn="l"/>
              </a:tabLst>
            </a:pPr>
            <a:fld id="{81D60167-4931-47E6-BA6A-407CBD079E47}" type="slidenum">
              <a:rPr lang="en-US" spc="45" smtClean="0"/>
              <a:t>‹#›</a:t>
            </a:fld>
            <a:r>
              <a:rPr lang="en-US" spc="45" smtClean="0"/>
              <a:t>	</a:t>
            </a:r>
            <a:r>
              <a:rPr lang="en-US" spc="30" smtClean="0"/>
              <a:t>Huawei</a:t>
            </a:r>
            <a:r>
              <a:rPr lang="en-US" spc="-10" smtClean="0"/>
              <a:t> </a:t>
            </a:r>
            <a:r>
              <a:rPr lang="en-US" spc="5" smtClean="0"/>
              <a:t>Confidential</a:t>
            </a:r>
            <a:endParaRPr lang="en-US" spc="5" dirty="0"/>
          </a:p>
        </p:txBody>
      </p:sp>
    </p:spTree>
    <p:extLst>
      <p:ext uri="{BB962C8B-B14F-4D97-AF65-F5344CB8AC3E}">
        <p14:creationId xmlns:p14="http://schemas.microsoft.com/office/powerpoint/2010/main" val="9248662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smtClean="0"/>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12/03/2023</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pPr marL="38100">
              <a:lnSpc>
                <a:spcPct val="100000"/>
              </a:lnSpc>
              <a:spcBef>
                <a:spcPts val="55"/>
              </a:spcBef>
              <a:tabLst>
                <a:tab pos="490855" algn="l"/>
              </a:tabLst>
            </a:pPr>
            <a:fld id="{81D60167-4931-47E6-BA6A-407CBD079E47}" type="slidenum">
              <a:rPr lang="en-US" spc="45" smtClean="0"/>
              <a:t>‹#›</a:t>
            </a:fld>
            <a:r>
              <a:rPr lang="en-US" spc="45" smtClean="0"/>
              <a:t>	</a:t>
            </a:r>
            <a:r>
              <a:rPr lang="en-US" spc="30" smtClean="0"/>
              <a:t>Huawei</a:t>
            </a:r>
            <a:r>
              <a:rPr lang="en-US" spc="-10" smtClean="0"/>
              <a:t> </a:t>
            </a:r>
            <a:r>
              <a:rPr lang="en-US" spc="5" smtClean="0"/>
              <a:t>Confidential</a:t>
            </a:r>
            <a:endParaRPr lang="en-US" spc="5" dirty="0"/>
          </a:p>
        </p:txBody>
      </p:sp>
    </p:spTree>
    <p:extLst>
      <p:ext uri="{BB962C8B-B14F-4D97-AF65-F5344CB8AC3E}">
        <p14:creationId xmlns:p14="http://schemas.microsoft.com/office/powerpoint/2010/main" val="30203175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12/03/2023</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pPr marL="38100">
              <a:lnSpc>
                <a:spcPct val="100000"/>
              </a:lnSpc>
              <a:spcBef>
                <a:spcPts val="55"/>
              </a:spcBef>
              <a:tabLst>
                <a:tab pos="490855" algn="l"/>
              </a:tabLst>
            </a:pPr>
            <a:fld id="{81D60167-4931-47E6-BA6A-407CBD079E47}" type="slidenum">
              <a:rPr lang="en-US" spc="45" smtClean="0"/>
              <a:t>‹#›</a:t>
            </a:fld>
            <a:r>
              <a:rPr lang="en-US" spc="45" smtClean="0"/>
              <a:t>	</a:t>
            </a:r>
            <a:r>
              <a:rPr lang="en-US" spc="30" smtClean="0"/>
              <a:t>Huawei</a:t>
            </a:r>
            <a:r>
              <a:rPr lang="en-US" spc="-10" smtClean="0"/>
              <a:t> </a:t>
            </a:r>
            <a:r>
              <a:rPr lang="en-US" spc="5" smtClean="0"/>
              <a:t>Confidential</a:t>
            </a:r>
            <a:endParaRPr lang="en-US" spc="5" dirty="0"/>
          </a:p>
        </p:txBody>
      </p:sp>
    </p:spTree>
    <p:extLst>
      <p:ext uri="{BB962C8B-B14F-4D97-AF65-F5344CB8AC3E}">
        <p14:creationId xmlns:p14="http://schemas.microsoft.com/office/powerpoint/2010/main" val="7498236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1D8BD707-D9CF-40AE-B4C6-C98DA3205C09}" type="datetimeFigureOut">
              <a:rPr lang="en-US" smtClean="0"/>
              <a:t>12/03/2023</a:t>
            </a:fld>
            <a:endParaRPr lang="en-US"/>
          </a:p>
        </p:txBody>
      </p:sp>
      <p:sp>
        <p:nvSpPr>
          <p:cNvPr id="6" name="Footer Placeholder 5"/>
          <p:cNvSpPr>
            <a:spLocks noGrp="1"/>
          </p:cNvSpPr>
          <p:nvPr>
            <p:ph type="ftr" sz="quarter" idx="11"/>
          </p:nvPr>
        </p:nvSpPr>
        <p:spPr/>
        <p:txBody>
          <a:bodyPr/>
          <a:lstStyle/>
          <a:p>
            <a:endParaRPr lang="en-US"/>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pPr marL="38100">
              <a:lnSpc>
                <a:spcPct val="100000"/>
              </a:lnSpc>
              <a:spcBef>
                <a:spcPts val="55"/>
              </a:spcBef>
              <a:tabLst>
                <a:tab pos="490855" algn="l"/>
              </a:tabLst>
            </a:pPr>
            <a:fld id="{81D60167-4931-47E6-BA6A-407CBD079E47}" type="slidenum">
              <a:rPr lang="en-US" spc="45" smtClean="0"/>
              <a:t>‹#›</a:t>
            </a:fld>
            <a:r>
              <a:rPr lang="en-US" spc="45" smtClean="0"/>
              <a:t>	</a:t>
            </a:r>
            <a:r>
              <a:rPr lang="en-US" spc="30" smtClean="0"/>
              <a:t>Huawei</a:t>
            </a:r>
            <a:r>
              <a:rPr lang="en-US" spc="-10" smtClean="0"/>
              <a:t> </a:t>
            </a:r>
            <a:r>
              <a:rPr lang="en-US" spc="5" smtClean="0"/>
              <a:t>Confidential</a:t>
            </a:r>
            <a:endParaRPr lang="en-US" spc="5" dirty="0"/>
          </a:p>
        </p:txBody>
      </p:sp>
    </p:spTree>
    <p:extLst>
      <p:ext uri="{BB962C8B-B14F-4D97-AF65-F5344CB8AC3E}">
        <p14:creationId xmlns:p14="http://schemas.microsoft.com/office/powerpoint/2010/main" val="34639520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1D8BD707-D9CF-40AE-B4C6-C98DA3205C09}" type="datetimeFigureOut">
              <a:rPr lang="en-US" smtClean="0"/>
              <a:t>12/03/2023</a:t>
            </a:fld>
            <a:endParaRPr lang="en-US"/>
          </a:p>
        </p:txBody>
      </p:sp>
      <p:sp>
        <p:nvSpPr>
          <p:cNvPr id="8" name="Footer Placeholder 7"/>
          <p:cNvSpPr>
            <a:spLocks noGrp="1"/>
          </p:cNvSpPr>
          <p:nvPr>
            <p:ph type="ftr" sz="quarter" idx="11"/>
          </p:nvPr>
        </p:nvSpPr>
        <p:spPr/>
        <p:txBody>
          <a:bodyPr/>
          <a:lstStyle/>
          <a:p>
            <a:endParaRPr lang="en-US"/>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pPr marL="38100">
              <a:lnSpc>
                <a:spcPct val="100000"/>
              </a:lnSpc>
              <a:spcBef>
                <a:spcPts val="55"/>
              </a:spcBef>
              <a:tabLst>
                <a:tab pos="490855" algn="l"/>
              </a:tabLst>
            </a:pPr>
            <a:fld id="{81D60167-4931-47E6-BA6A-407CBD079E47}" type="slidenum">
              <a:rPr lang="en-US" spc="45" smtClean="0"/>
              <a:t>‹#›</a:t>
            </a:fld>
            <a:r>
              <a:rPr lang="en-US" spc="45" smtClean="0"/>
              <a:t>	</a:t>
            </a:r>
            <a:r>
              <a:rPr lang="en-US" spc="30" smtClean="0"/>
              <a:t>Huawei</a:t>
            </a:r>
            <a:r>
              <a:rPr lang="en-US" spc="-10" smtClean="0"/>
              <a:t> </a:t>
            </a:r>
            <a:r>
              <a:rPr lang="en-US" spc="5" smtClean="0"/>
              <a:t>Confidential</a:t>
            </a:r>
            <a:endParaRPr lang="en-US" spc="5" dirty="0"/>
          </a:p>
        </p:txBody>
      </p:sp>
    </p:spTree>
    <p:extLst>
      <p:ext uri="{BB962C8B-B14F-4D97-AF65-F5344CB8AC3E}">
        <p14:creationId xmlns:p14="http://schemas.microsoft.com/office/powerpoint/2010/main" val="31809197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1D8BD707-D9CF-40AE-B4C6-C98DA3205C09}" type="datetimeFigureOut">
              <a:rPr lang="en-US" smtClean="0"/>
              <a:t>12/03/2023</a:t>
            </a:fld>
            <a:endParaRPr lang="en-US"/>
          </a:p>
        </p:txBody>
      </p:sp>
      <p:sp>
        <p:nvSpPr>
          <p:cNvPr id="4" name="Footer Placeholder 3"/>
          <p:cNvSpPr>
            <a:spLocks noGrp="1"/>
          </p:cNvSpPr>
          <p:nvPr>
            <p:ph type="ftr" sz="quarter" idx="11"/>
          </p:nvPr>
        </p:nvSpPr>
        <p:spPr/>
        <p:txBody>
          <a:bodyPr/>
          <a:lstStyle/>
          <a:p>
            <a:endParaRPr lang="en-US"/>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pPr marL="38100">
              <a:lnSpc>
                <a:spcPct val="100000"/>
              </a:lnSpc>
              <a:spcBef>
                <a:spcPts val="55"/>
              </a:spcBef>
              <a:tabLst>
                <a:tab pos="490855" algn="l"/>
              </a:tabLst>
            </a:pPr>
            <a:fld id="{81D60167-4931-47E6-BA6A-407CBD079E47}" type="slidenum">
              <a:rPr lang="en-US" spc="45" smtClean="0"/>
              <a:t>‹#›</a:t>
            </a:fld>
            <a:r>
              <a:rPr lang="en-US" spc="45" smtClean="0"/>
              <a:t>	</a:t>
            </a:r>
            <a:r>
              <a:rPr lang="en-US" spc="30" smtClean="0"/>
              <a:t>Huawei</a:t>
            </a:r>
            <a:r>
              <a:rPr lang="en-US" spc="-10" smtClean="0"/>
              <a:t> </a:t>
            </a:r>
            <a:r>
              <a:rPr lang="en-US" spc="5" smtClean="0"/>
              <a:t>Confidential</a:t>
            </a:r>
            <a:endParaRPr lang="en-US" spc="5" dirty="0"/>
          </a:p>
        </p:txBody>
      </p:sp>
    </p:spTree>
    <p:extLst>
      <p:ext uri="{BB962C8B-B14F-4D97-AF65-F5344CB8AC3E}">
        <p14:creationId xmlns:p14="http://schemas.microsoft.com/office/powerpoint/2010/main" val="4431752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t>12/03/2023</a:t>
            </a:fld>
            <a:endParaRPr lang="en-US"/>
          </a:p>
        </p:txBody>
      </p:sp>
      <p:sp>
        <p:nvSpPr>
          <p:cNvPr id="3" name="Footer Placeholder 2"/>
          <p:cNvSpPr>
            <a:spLocks noGrp="1"/>
          </p:cNvSpPr>
          <p:nvPr>
            <p:ph type="ftr" sz="quarter" idx="11"/>
          </p:nvPr>
        </p:nvSpPr>
        <p:spPr/>
        <p:txBody>
          <a:bodyPr/>
          <a:lstStyle/>
          <a:p>
            <a:endParaRPr lang="en-US"/>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pPr marL="38100">
              <a:lnSpc>
                <a:spcPct val="100000"/>
              </a:lnSpc>
              <a:spcBef>
                <a:spcPts val="55"/>
              </a:spcBef>
              <a:tabLst>
                <a:tab pos="490855" algn="l"/>
              </a:tabLst>
            </a:pPr>
            <a:fld id="{81D60167-4931-47E6-BA6A-407CBD079E47}" type="slidenum">
              <a:rPr lang="en-US" spc="45" smtClean="0"/>
              <a:t>‹#›</a:t>
            </a:fld>
            <a:r>
              <a:rPr lang="en-US" spc="45" smtClean="0"/>
              <a:t>	</a:t>
            </a:r>
            <a:r>
              <a:rPr lang="en-US" spc="30" smtClean="0"/>
              <a:t>Huawei</a:t>
            </a:r>
            <a:r>
              <a:rPr lang="en-US" spc="-10" smtClean="0"/>
              <a:t> </a:t>
            </a:r>
            <a:r>
              <a:rPr lang="en-US" spc="5" smtClean="0"/>
              <a:t>Confidential</a:t>
            </a:r>
            <a:endParaRPr lang="en-US" spc="5" dirty="0"/>
          </a:p>
        </p:txBody>
      </p:sp>
    </p:spTree>
    <p:extLst>
      <p:ext uri="{BB962C8B-B14F-4D97-AF65-F5344CB8AC3E}">
        <p14:creationId xmlns:p14="http://schemas.microsoft.com/office/powerpoint/2010/main" val="4078686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12/03/2023</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pPr marL="38100">
              <a:lnSpc>
                <a:spcPct val="100000"/>
              </a:lnSpc>
              <a:spcBef>
                <a:spcPts val="55"/>
              </a:spcBef>
              <a:tabLst>
                <a:tab pos="490855" algn="l"/>
              </a:tabLst>
            </a:pPr>
            <a:fld id="{81D60167-4931-47E6-BA6A-407CBD079E47}" type="slidenum">
              <a:rPr lang="en-US" spc="45" smtClean="0"/>
              <a:t>‹#›</a:t>
            </a:fld>
            <a:r>
              <a:rPr lang="en-US" spc="45" smtClean="0"/>
              <a:t>	</a:t>
            </a:r>
            <a:r>
              <a:rPr lang="en-US" spc="30" smtClean="0"/>
              <a:t>Huawei</a:t>
            </a:r>
            <a:r>
              <a:rPr lang="en-US" spc="-10" smtClean="0"/>
              <a:t> </a:t>
            </a:r>
            <a:r>
              <a:rPr lang="en-US" spc="5" smtClean="0"/>
              <a:t>Confidential</a:t>
            </a:r>
            <a:endParaRPr lang="en-US" spc="5" dirty="0"/>
          </a:p>
        </p:txBody>
      </p:sp>
    </p:spTree>
    <p:extLst>
      <p:ext uri="{BB962C8B-B14F-4D97-AF65-F5344CB8AC3E}">
        <p14:creationId xmlns:p14="http://schemas.microsoft.com/office/powerpoint/2010/main" val="21278905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12/03/2023</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pPr marL="38100">
              <a:lnSpc>
                <a:spcPct val="100000"/>
              </a:lnSpc>
              <a:spcBef>
                <a:spcPts val="55"/>
              </a:spcBef>
              <a:tabLst>
                <a:tab pos="490855" algn="l"/>
              </a:tabLst>
            </a:pPr>
            <a:fld id="{81D60167-4931-47E6-BA6A-407CBD079E47}" type="slidenum">
              <a:rPr lang="en-US" spc="45" smtClean="0"/>
              <a:t>‹#›</a:t>
            </a:fld>
            <a:r>
              <a:rPr lang="en-US" spc="45" smtClean="0"/>
              <a:t>	</a:t>
            </a:r>
            <a:r>
              <a:rPr lang="en-US" spc="30" smtClean="0"/>
              <a:t>Huawei</a:t>
            </a:r>
            <a:r>
              <a:rPr lang="en-US" spc="-10" smtClean="0"/>
              <a:t> </a:t>
            </a:r>
            <a:r>
              <a:rPr lang="en-US" spc="5" smtClean="0"/>
              <a:t>Confidential</a:t>
            </a:r>
            <a:endParaRPr lang="en-US" spc="5" dirty="0"/>
          </a:p>
        </p:txBody>
      </p:sp>
    </p:spTree>
    <p:extLst>
      <p:ext uri="{BB962C8B-B14F-4D97-AF65-F5344CB8AC3E}">
        <p14:creationId xmlns:p14="http://schemas.microsoft.com/office/powerpoint/2010/main" val="12053587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12/03/2023</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pPr marL="38100">
              <a:lnSpc>
                <a:spcPct val="100000"/>
              </a:lnSpc>
              <a:spcBef>
                <a:spcPts val="55"/>
              </a:spcBef>
              <a:tabLst>
                <a:tab pos="490855" algn="l"/>
              </a:tabLst>
            </a:pPr>
            <a:fld id="{81D60167-4931-47E6-BA6A-407CBD079E47}" type="slidenum">
              <a:rPr lang="en-US" spc="45" smtClean="0"/>
              <a:t>‹#›</a:t>
            </a:fld>
            <a:r>
              <a:rPr lang="en-US" spc="45" smtClean="0"/>
              <a:t>	</a:t>
            </a:r>
            <a:r>
              <a:rPr lang="en-US" spc="30" smtClean="0"/>
              <a:t>Huawei</a:t>
            </a:r>
            <a:r>
              <a:rPr lang="en-US" spc="-10" smtClean="0"/>
              <a:t> </a:t>
            </a:r>
            <a:r>
              <a:rPr lang="en-US" spc="5" smtClean="0"/>
              <a:t>Confidential</a:t>
            </a:r>
            <a:endParaRPr lang="en-US" spc="5" dirty="0"/>
          </a:p>
        </p:txBody>
      </p:sp>
    </p:spTree>
    <p:extLst>
      <p:ext uri="{BB962C8B-B14F-4D97-AF65-F5344CB8AC3E}">
        <p14:creationId xmlns:p14="http://schemas.microsoft.com/office/powerpoint/2010/main" val="41578806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smtClean="0"/>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12/03/2023</a:t>
            </a:fld>
            <a:endParaRPr lang="en-US"/>
          </a:p>
        </p:txBody>
      </p:sp>
      <p:sp>
        <p:nvSpPr>
          <p:cNvPr id="5" name="Footer Placeholder 4"/>
          <p:cNvSpPr>
            <a:spLocks noGrp="1"/>
          </p:cNvSpPr>
          <p:nvPr>
            <p:ph type="ftr" sz="quarter" idx="11"/>
          </p:nvPr>
        </p:nvSpPr>
        <p:spPr/>
        <p:txBody>
          <a:bodyPr/>
          <a:lstStyle/>
          <a:p>
            <a:endParaRPr lang="en-US"/>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pPr marL="38100">
              <a:lnSpc>
                <a:spcPct val="100000"/>
              </a:lnSpc>
              <a:spcBef>
                <a:spcPts val="55"/>
              </a:spcBef>
              <a:tabLst>
                <a:tab pos="490855" algn="l"/>
              </a:tabLst>
            </a:pPr>
            <a:fld id="{81D60167-4931-47E6-BA6A-407CBD079E47}" type="slidenum">
              <a:rPr lang="en-US" spc="45" smtClean="0"/>
              <a:t>‹#›</a:t>
            </a:fld>
            <a:r>
              <a:rPr lang="en-US" spc="45" smtClean="0"/>
              <a:t>	</a:t>
            </a:r>
            <a:r>
              <a:rPr lang="en-US" spc="30" smtClean="0"/>
              <a:t>Huawei</a:t>
            </a:r>
            <a:r>
              <a:rPr lang="en-US" spc="-10" smtClean="0"/>
              <a:t> </a:t>
            </a:r>
            <a:r>
              <a:rPr lang="en-US" spc="5" smtClean="0"/>
              <a:t>Confidential</a:t>
            </a:r>
            <a:endParaRPr lang="en-US" spc="5" dirty="0"/>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576817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smtClean="0"/>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12/03/2023</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pPr marL="38100">
              <a:lnSpc>
                <a:spcPct val="100000"/>
              </a:lnSpc>
              <a:spcBef>
                <a:spcPts val="55"/>
              </a:spcBef>
              <a:tabLst>
                <a:tab pos="490855" algn="l"/>
              </a:tabLst>
            </a:pPr>
            <a:fld id="{81D60167-4931-47E6-BA6A-407CBD079E47}" type="slidenum">
              <a:rPr lang="en-US" spc="45" smtClean="0"/>
              <a:t>‹#›</a:t>
            </a:fld>
            <a:r>
              <a:rPr lang="en-US" spc="45" smtClean="0"/>
              <a:t>	</a:t>
            </a:r>
            <a:r>
              <a:rPr lang="en-US" spc="30" smtClean="0"/>
              <a:t>Huawei</a:t>
            </a:r>
            <a:r>
              <a:rPr lang="en-US" spc="-10" smtClean="0"/>
              <a:t> </a:t>
            </a:r>
            <a:r>
              <a:rPr lang="en-US" spc="5" smtClean="0"/>
              <a:t>Confidential</a:t>
            </a:r>
            <a:endParaRPr lang="en-US" spc="5" dirty="0"/>
          </a:p>
        </p:txBody>
      </p:sp>
    </p:spTree>
    <p:extLst>
      <p:ext uri="{BB962C8B-B14F-4D97-AF65-F5344CB8AC3E}">
        <p14:creationId xmlns:p14="http://schemas.microsoft.com/office/powerpoint/2010/main" val="236541648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smtClean="0"/>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12/03/2023</a:t>
            </a:fld>
            <a:endParaRPr lang="en-US"/>
          </a:p>
        </p:txBody>
      </p:sp>
      <p:sp>
        <p:nvSpPr>
          <p:cNvPr id="6" name="Footer Placeholder 5"/>
          <p:cNvSpPr>
            <a:spLocks noGrp="1"/>
          </p:cNvSpPr>
          <p:nvPr>
            <p:ph type="ftr" sz="quarter" idx="11"/>
          </p:nvPr>
        </p:nvSpPr>
        <p:spPr/>
        <p:txBody>
          <a:bodyPr/>
          <a:lstStyle/>
          <a:p>
            <a:endParaRPr lang="en-US"/>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pPr marL="38100">
              <a:lnSpc>
                <a:spcPct val="100000"/>
              </a:lnSpc>
              <a:spcBef>
                <a:spcPts val="55"/>
              </a:spcBef>
              <a:tabLst>
                <a:tab pos="490855" algn="l"/>
              </a:tabLst>
            </a:pPr>
            <a:fld id="{81D60167-4931-47E6-BA6A-407CBD079E47}" type="slidenum">
              <a:rPr lang="en-US" spc="45" smtClean="0"/>
              <a:t>‹#›</a:t>
            </a:fld>
            <a:r>
              <a:rPr lang="en-US" spc="45" smtClean="0"/>
              <a:t>	</a:t>
            </a:r>
            <a:r>
              <a:rPr lang="en-US" spc="30" smtClean="0"/>
              <a:t>Huawei</a:t>
            </a:r>
            <a:r>
              <a:rPr lang="en-US" spc="-10" smtClean="0"/>
              <a:t> </a:t>
            </a:r>
            <a:r>
              <a:rPr lang="en-US" spc="5" smtClean="0"/>
              <a:t>Confidential</a:t>
            </a:r>
            <a:endParaRPr lang="en-US" spc="5" dirty="0"/>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84127976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smtClean="0"/>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12/03/2023</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pPr marL="38100">
              <a:lnSpc>
                <a:spcPct val="100000"/>
              </a:lnSpc>
              <a:spcBef>
                <a:spcPts val="55"/>
              </a:spcBef>
              <a:tabLst>
                <a:tab pos="490855" algn="l"/>
              </a:tabLst>
            </a:pPr>
            <a:fld id="{81D60167-4931-47E6-BA6A-407CBD079E47}" type="slidenum">
              <a:rPr lang="en-US" spc="45" smtClean="0"/>
              <a:t>‹#›</a:t>
            </a:fld>
            <a:r>
              <a:rPr lang="en-US" spc="45" smtClean="0"/>
              <a:t>	</a:t>
            </a:r>
            <a:r>
              <a:rPr lang="en-US" spc="30" smtClean="0"/>
              <a:t>Huawei</a:t>
            </a:r>
            <a:r>
              <a:rPr lang="en-US" spc="-10" smtClean="0"/>
              <a:t> </a:t>
            </a:r>
            <a:r>
              <a:rPr lang="en-US" spc="5" smtClean="0"/>
              <a:t>Confidential</a:t>
            </a:r>
            <a:endParaRPr lang="en-US" spc="5" dirty="0"/>
          </a:p>
        </p:txBody>
      </p:sp>
    </p:spTree>
    <p:extLst>
      <p:ext uri="{BB962C8B-B14F-4D97-AF65-F5344CB8AC3E}">
        <p14:creationId xmlns:p14="http://schemas.microsoft.com/office/powerpoint/2010/main" val="113543585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12/03/2023</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pPr marL="38100">
              <a:lnSpc>
                <a:spcPct val="100000"/>
              </a:lnSpc>
              <a:spcBef>
                <a:spcPts val="55"/>
              </a:spcBef>
              <a:tabLst>
                <a:tab pos="490855" algn="l"/>
              </a:tabLst>
            </a:pPr>
            <a:fld id="{81D60167-4931-47E6-BA6A-407CBD079E47}" type="slidenum">
              <a:rPr lang="en-US" spc="45" smtClean="0"/>
              <a:t>‹#›</a:t>
            </a:fld>
            <a:r>
              <a:rPr lang="en-US" spc="45" smtClean="0"/>
              <a:t>	</a:t>
            </a:r>
            <a:r>
              <a:rPr lang="en-US" spc="30" smtClean="0"/>
              <a:t>Huawei</a:t>
            </a:r>
            <a:r>
              <a:rPr lang="en-US" spc="-10" smtClean="0"/>
              <a:t> </a:t>
            </a:r>
            <a:r>
              <a:rPr lang="en-US" spc="5" smtClean="0"/>
              <a:t>Confidential</a:t>
            </a:r>
            <a:endParaRPr lang="en-US" spc="5" dirty="0"/>
          </a:p>
        </p:txBody>
      </p:sp>
    </p:spTree>
    <p:extLst>
      <p:ext uri="{BB962C8B-B14F-4D97-AF65-F5344CB8AC3E}">
        <p14:creationId xmlns:p14="http://schemas.microsoft.com/office/powerpoint/2010/main" val="412365675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12/03/2023</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pPr marL="38100">
              <a:lnSpc>
                <a:spcPct val="100000"/>
              </a:lnSpc>
              <a:spcBef>
                <a:spcPts val="55"/>
              </a:spcBef>
              <a:tabLst>
                <a:tab pos="490855" algn="l"/>
              </a:tabLst>
            </a:pPr>
            <a:fld id="{81D60167-4931-47E6-BA6A-407CBD079E47}" type="slidenum">
              <a:rPr lang="en-US" spc="45" smtClean="0"/>
              <a:t>‹#›</a:t>
            </a:fld>
            <a:r>
              <a:rPr lang="en-US" spc="45" smtClean="0"/>
              <a:t>	</a:t>
            </a:r>
            <a:r>
              <a:rPr lang="en-US" spc="30" smtClean="0"/>
              <a:t>Huawei</a:t>
            </a:r>
            <a:r>
              <a:rPr lang="en-US" spc="-10" smtClean="0"/>
              <a:t> </a:t>
            </a:r>
            <a:r>
              <a:rPr lang="en-US" spc="5" smtClean="0"/>
              <a:t>Confidential</a:t>
            </a:r>
            <a:endParaRPr lang="en-US" spc="5" dirty="0"/>
          </a:p>
        </p:txBody>
      </p:sp>
    </p:spTree>
    <p:extLst>
      <p:ext uri="{BB962C8B-B14F-4D97-AF65-F5344CB8AC3E}">
        <p14:creationId xmlns:p14="http://schemas.microsoft.com/office/powerpoint/2010/main" val="17438863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1D8BD707-D9CF-40AE-B4C6-C98DA3205C09}" type="datetimeFigureOut">
              <a:rPr lang="en-US" smtClean="0"/>
              <a:t>12/03/2023</a:t>
            </a:fld>
            <a:endParaRPr lang="en-US"/>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pPr marL="38100">
              <a:lnSpc>
                <a:spcPct val="100000"/>
              </a:lnSpc>
              <a:spcBef>
                <a:spcPts val="55"/>
              </a:spcBef>
              <a:tabLst>
                <a:tab pos="490855" algn="l"/>
              </a:tabLst>
            </a:pPr>
            <a:fld id="{81D60167-4931-47E6-BA6A-407CBD079E47}" type="slidenum">
              <a:rPr lang="en-US" spc="45" smtClean="0"/>
              <a:t>‹#›</a:t>
            </a:fld>
            <a:r>
              <a:rPr lang="en-US" spc="45" smtClean="0"/>
              <a:t>	</a:t>
            </a:r>
            <a:r>
              <a:rPr lang="en-US" spc="30" smtClean="0"/>
              <a:t>Huawei</a:t>
            </a:r>
            <a:r>
              <a:rPr lang="en-US" spc="-10" smtClean="0"/>
              <a:t> </a:t>
            </a:r>
            <a:r>
              <a:rPr lang="en-US" spc="5" smtClean="0"/>
              <a:t>Confidential</a:t>
            </a:r>
            <a:endParaRPr lang="en-US" spc="5" dirty="0"/>
          </a:p>
        </p:txBody>
      </p:sp>
    </p:spTree>
    <p:extLst>
      <p:ext uri="{BB962C8B-B14F-4D97-AF65-F5344CB8AC3E}">
        <p14:creationId xmlns:p14="http://schemas.microsoft.com/office/powerpoint/2010/main" val="2432842192"/>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png"/><Relationship Id="rId3" Type="http://schemas.openxmlformats.org/officeDocument/2006/relationships/image" Target="../media/image2.png"/><Relationship Id="rId7" Type="http://schemas.openxmlformats.org/officeDocument/2006/relationships/image" Target="../media/image6.png"/><Relationship Id="rId12" Type="http://schemas.openxmlformats.org/officeDocument/2006/relationships/image" Target="../media/image11.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 Id="rId14" Type="http://schemas.openxmlformats.org/officeDocument/2006/relationships/image" Target="../media/image13.png"/></Relationships>
</file>

<file path=ppt/slides/_rels/slide7.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3.png"/><Relationship Id="rId3" Type="http://schemas.openxmlformats.org/officeDocument/2006/relationships/image" Target="../media/image3.png"/><Relationship Id="rId7" Type="http://schemas.openxmlformats.org/officeDocument/2006/relationships/image" Target="../media/image7.png"/><Relationship Id="rId12" Type="http://schemas.openxmlformats.org/officeDocument/2006/relationships/image" Target="../media/image12.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6.png"/><Relationship Id="rId11" Type="http://schemas.openxmlformats.org/officeDocument/2006/relationships/image" Target="../media/image11.png"/><Relationship Id="rId5" Type="http://schemas.openxmlformats.org/officeDocument/2006/relationships/image" Target="../media/image5.pn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5.png"/><Relationship Id="rId7" Type="http://schemas.openxmlformats.org/officeDocument/2006/relationships/image" Target="../media/image19.png"/><Relationship Id="rId12" Type="http://schemas.openxmlformats.org/officeDocument/2006/relationships/image" Target="../media/image24.png"/><Relationship Id="rId2" Type="http://schemas.openxmlformats.org/officeDocument/2006/relationships/image" Target="../media/image14.png"/><Relationship Id="rId1" Type="http://schemas.openxmlformats.org/officeDocument/2006/relationships/slideLayout" Target="../slideLayouts/slideLayout2.xml"/><Relationship Id="rId6" Type="http://schemas.openxmlformats.org/officeDocument/2006/relationships/image" Target="../media/image18.png"/><Relationship Id="rId11" Type="http://schemas.openxmlformats.org/officeDocument/2006/relationships/image" Target="../media/image23.png"/><Relationship Id="rId5" Type="http://schemas.openxmlformats.org/officeDocument/2006/relationships/image" Target="../media/image17.png"/><Relationship Id="rId10" Type="http://schemas.openxmlformats.org/officeDocument/2006/relationships/image" Target="../media/image22.png"/><Relationship Id="rId4" Type="http://schemas.openxmlformats.org/officeDocument/2006/relationships/image" Target="../media/image16.png"/><Relationship Id="rId9" Type="http://schemas.openxmlformats.org/officeDocument/2006/relationships/image" Target="../media/image21.png"/></Relationships>
</file>

<file path=ppt/slides/_rels/slide18.xml.rels><?xml version="1.0" encoding="UTF-8" standalone="yes"?>
<Relationships xmlns="http://schemas.openxmlformats.org/package/2006/relationships"><Relationship Id="rId2" Type="http://schemas.openxmlformats.org/officeDocument/2006/relationships/image" Target="../media/image25.jp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25.jp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hyperlink" Target="https://www.huaweicloud.com/intl/en-us/" TargetMode="External"/><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hyperlink" Target="https://e.huawei.com/en/talent/#/" TargetMode="External"/><Relationship Id="rId4" Type="http://schemas.openxmlformats.org/officeDocument/2006/relationships/hyperlink" Target="https://www.huaweicloud.com/intl/en-us/product/mrs.html" TargetMode="External"/></Relationships>
</file>

<file path=ppt/slides/_rels/slide3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905000" y="4038600"/>
            <a:ext cx="8915399" cy="967381"/>
          </a:xfrm>
        </p:spPr>
        <p:txBody>
          <a:bodyPr>
            <a:normAutofit fontScale="90000"/>
          </a:bodyPr>
          <a:lstStyle/>
          <a:p>
            <a:r>
              <a:rPr lang="en-US" sz="6000" dirty="0" smtClean="0"/>
              <a:t>Apache Hive </a:t>
            </a:r>
            <a:endParaRPr lang="en-US" sz="6000" dirty="0"/>
          </a:p>
        </p:txBody>
      </p:sp>
      <p:sp>
        <p:nvSpPr>
          <p:cNvPr id="3" name="Subtitle 2"/>
          <p:cNvSpPr>
            <a:spLocks noGrp="1"/>
          </p:cNvSpPr>
          <p:nvPr>
            <p:ph type="subTitle" idx="1"/>
          </p:nvPr>
        </p:nvSpPr>
        <p:spPr/>
        <p:txBody>
          <a:bodyPr>
            <a:normAutofit/>
          </a:bodyPr>
          <a:lstStyle/>
          <a:p>
            <a:pPr marL="342900" lvl="0" indent="-342900">
              <a:buClr>
                <a:srgbClr val="A53010"/>
              </a:buClr>
              <a:buFont typeface="Wingdings 3" charset="2"/>
              <a:buChar char=""/>
            </a:pPr>
            <a:endParaRPr lang="en-US" sz="2600" b="1" dirty="0" smtClean="0">
              <a:solidFill>
                <a:prstClr val="black">
                  <a:lumMod val="75000"/>
                  <a:lumOff val="25000"/>
                </a:prstClr>
              </a:solidFill>
            </a:endParaRPr>
          </a:p>
          <a:p>
            <a:pPr lvl="0">
              <a:buClr>
                <a:srgbClr val="A53010"/>
              </a:buClr>
            </a:pPr>
            <a:r>
              <a:rPr lang="en-US" sz="2600" b="1" dirty="0" smtClean="0">
                <a:solidFill>
                  <a:prstClr val="black">
                    <a:lumMod val="75000"/>
                    <a:lumOff val="25000"/>
                  </a:prstClr>
                </a:solidFill>
              </a:rPr>
              <a:t>Presented </a:t>
            </a:r>
            <a:r>
              <a:rPr lang="en-US" sz="2600" b="1" dirty="0">
                <a:solidFill>
                  <a:prstClr val="black">
                    <a:lumMod val="75000"/>
                    <a:lumOff val="25000"/>
                  </a:prstClr>
                </a:solidFill>
              </a:rPr>
              <a:t>By: Dr. Randa Mohamed</a:t>
            </a:r>
          </a:p>
          <a:p>
            <a:endParaRPr lang="en-US" sz="2600" b="1" dirty="0"/>
          </a:p>
        </p:txBody>
      </p:sp>
    </p:spTree>
    <p:extLst>
      <p:ext uri="{BB962C8B-B14F-4D97-AF65-F5344CB8AC3E}">
        <p14:creationId xmlns:p14="http://schemas.microsoft.com/office/powerpoint/2010/main" val="229283617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EBEBEB"/>
          </a:solidFill>
        </p:spPr>
        <p:txBody>
          <a:bodyPr wrap="square" lIns="0" tIns="0" rIns="0" bIns="0" rtlCol="0"/>
          <a:lstStyle/>
          <a:p>
            <a:endParaRPr/>
          </a:p>
        </p:txBody>
      </p:sp>
      <p:sp>
        <p:nvSpPr>
          <p:cNvPr id="3" name="object 3"/>
          <p:cNvSpPr/>
          <p:nvPr/>
        </p:nvSpPr>
        <p:spPr>
          <a:xfrm>
            <a:off x="10195559" y="6320028"/>
            <a:ext cx="1269492" cy="271272"/>
          </a:xfrm>
          <a:prstGeom prst="rect">
            <a:avLst/>
          </a:prstGeom>
          <a:blipFill>
            <a:blip r:embed="rId2" cstate="print"/>
            <a:stretch>
              <a:fillRect/>
            </a:stretch>
          </a:blipFill>
        </p:spPr>
        <p:txBody>
          <a:bodyPr wrap="square" lIns="0" tIns="0" rIns="0" bIns="0" rtlCol="0"/>
          <a:lstStyle/>
          <a:p>
            <a:endParaRPr/>
          </a:p>
        </p:txBody>
      </p:sp>
      <p:sp>
        <p:nvSpPr>
          <p:cNvPr id="4" name="object 4"/>
          <p:cNvSpPr/>
          <p:nvPr/>
        </p:nvSpPr>
        <p:spPr>
          <a:xfrm>
            <a:off x="1030986" y="1349502"/>
            <a:ext cx="2160270" cy="0"/>
          </a:xfrm>
          <a:custGeom>
            <a:avLst/>
            <a:gdLst/>
            <a:ahLst/>
            <a:cxnLst/>
            <a:rect l="l" t="t" r="r" b="b"/>
            <a:pathLst>
              <a:path w="2160270">
                <a:moveTo>
                  <a:pt x="2160016" y="0"/>
                </a:moveTo>
                <a:lnTo>
                  <a:pt x="0" y="0"/>
                </a:lnTo>
              </a:path>
            </a:pathLst>
          </a:custGeom>
          <a:ln w="28956">
            <a:solidFill>
              <a:srgbClr val="C6000A"/>
            </a:solidFill>
          </a:ln>
        </p:spPr>
        <p:txBody>
          <a:bodyPr wrap="square" lIns="0" tIns="0" rIns="0" bIns="0" rtlCol="0"/>
          <a:lstStyle/>
          <a:p>
            <a:endParaRPr/>
          </a:p>
        </p:txBody>
      </p:sp>
      <p:sp>
        <p:nvSpPr>
          <p:cNvPr id="5" name="object 5"/>
          <p:cNvSpPr txBox="1">
            <a:spLocks noGrp="1"/>
          </p:cNvSpPr>
          <p:nvPr>
            <p:ph type="title"/>
          </p:nvPr>
        </p:nvSpPr>
        <p:spPr>
          <a:xfrm>
            <a:off x="997711" y="640537"/>
            <a:ext cx="2888489" cy="635000"/>
          </a:xfrm>
          <a:prstGeom prst="rect">
            <a:avLst/>
          </a:prstGeom>
        </p:spPr>
        <p:txBody>
          <a:bodyPr vert="horz" wrap="square" lIns="0" tIns="12065" rIns="0" bIns="0" rtlCol="0">
            <a:spAutoFit/>
          </a:bodyPr>
          <a:lstStyle/>
          <a:p>
            <a:pPr marL="12700">
              <a:lnSpc>
                <a:spcPct val="100000"/>
              </a:lnSpc>
              <a:spcBef>
                <a:spcPts val="95"/>
              </a:spcBef>
            </a:pPr>
            <a:r>
              <a:rPr sz="4000" spc="40" dirty="0">
                <a:solidFill>
                  <a:srgbClr val="404040"/>
                </a:solidFill>
              </a:rPr>
              <a:t>Foreword</a:t>
            </a:r>
            <a:endParaRPr sz="4000" dirty="0"/>
          </a:p>
        </p:txBody>
      </p:sp>
      <p:sp>
        <p:nvSpPr>
          <p:cNvPr id="7" name="object 7"/>
          <p:cNvSpPr txBox="1"/>
          <p:nvPr/>
        </p:nvSpPr>
        <p:spPr>
          <a:xfrm>
            <a:off x="1399794" y="1875123"/>
            <a:ext cx="9693910" cy="2407710"/>
          </a:xfrm>
          <a:prstGeom prst="rect">
            <a:avLst/>
          </a:prstGeom>
        </p:spPr>
        <p:txBody>
          <a:bodyPr vert="horz" wrap="square" lIns="0" tIns="12065" rIns="0" bIns="0" rtlCol="0">
            <a:spAutoFit/>
          </a:bodyPr>
          <a:lstStyle/>
          <a:p>
            <a:pPr marL="355600" marR="5080" indent="-342900" algn="just">
              <a:lnSpc>
                <a:spcPct val="140000"/>
              </a:lnSpc>
              <a:spcBef>
                <a:spcPts val="95"/>
              </a:spcBef>
              <a:buFont typeface="Arial" panose="020B0604020202020204" pitchFamily="34" charset="0"/>
              <a:buChar char="•"/>
            </a:pPr>
            <a:r>
              <a:rPr sz="2200" spc="-5" dirty="0">
                <a:latin typeface="Trebuchet MS"/>
                <a:cs typeface="Trebuchet MS"/>
              </a:rPr>
              <a:t>The </a:t>
            </a:r>
            <a:r>
              <a:rPr sz="2200" spc="30" dirty="0">
                <a:latin typeface="Trebuchet MS"/>
                <a:cs typeface="Trebuchet MS"/>
              </a:rPr>
              <a:t>Apache </a:t>
            </a:r>
            <a:r>
              <a:rPr sz="2200" spc="20" dirty="0">
                <a:latin typeface="Trebuchet MS"/>
                <a:cs typeface="Trebuchet MS"/>
              </a:rPr>
              <a:t>Hive </a:t>
            </a:r>
            <a:r>
              <a:rPr sz="2200" spc="15" dirty="0">
                <a:latin typeface="Trebuchet MS"/>
                <a:cs typeface="Trebuchet MS"/>
              </a:rPr>
              <a:t>data </a:t>
            </a:r>
            <a:r>
              <a:rPr sz="2200" spc="30" dirty="0">
                <a:latin typeface="Trebuchet MS"/>
                <a:cs typeface="Trebuchet MS"/>
              </a:rPr>
              <a:t>warehouse </a:t>
            </a:r>
            <a:r>
              <a:rPr sz="2200" spc="5" dirty="0">
                <a:latin typeface="Trebuchet MS"/>
                <a:cs typeface="Trebuchet MS"/>
              </a:rPr>
              <a:t>software </a:t>
            </a:r>
            <a:r>
              <a:rPr sz="2200" spc="10" dirty="0">
                <a:latin typeface="Trebuchet MS"/>
                <a:cs typeface="Trebuchet MS"/>
              </a:rPr>
              <a:t>helps </a:t>
            </a:r>
            <a:r>
              <a:rPr sz="2200" spc="-55" dirty="0">
                <a:latin typeface="Trebuchet MS"/>
                <a:cs typeface="Trebuchet MS"/>
              </a:rPr>
              <a:t>read, </a:t>
            </a:r>
            <a:r>
              <a:rPr sz="2200" spc="-75" dirty="0">
                <a:latin typeface="Trebuchet MS"/>
                <a:cs typeface="Trebuchet MS"/>
              </a:rPr>
              <a:t>write, </a:t>
            </a:r>
            <a:r>
              <a:rPr sz="2200" spc="55" dirty="0">
                <a:latin typeface="Trebuchet MS"/>
                <a:cs typeface="Trebuchet MS"/>
              </a:rPr>
              <a:t>and </a:t>
            </a:r>
            <a:r>
              <a:rPr sz="2200" spc="70" dirty="0">
                <a:latin typeface="Trebuchet MS"/>
                <a:cs typeface="Trebuchet MS"/>
              </a:rPr>
              <a:t>manage  </a:t>
            </a:r>
            <a:r>
              <a:rPr sz="2200" spc="20" dirty="0">
                <a:latin typeface="Trebuchet MS"/>
                <a:cs typeface="Trebuchet MS"/>
              </a:rPr>
              <a:t>large </a:t>
            </a:r>
            <a:r>
              <a:rPr sz="2200" spc="15" dirty="0">
                <a:latin typeface="Trebuchet MS"/>
                <a:cs typeface="Trebuchet MS"/>
              </a:rPr>
              <a:t>data </a:t>
            </a:r>
            <a:r>
              <a:rPr sz="2200" spc="-10" dirty="0">
                <a:latin typeface="Trebuchet MS"/>
                <a:cs typeface="Trebuchet MS"/>
              </a:rPr>
              <a:t>sets </a:t>
            </a:r>
            <a:r>
              <a:rPr sz="2200" spc="-5" dirty="0">
                <a:latin typeface="Trebuchet MS"/>
                <a:cs typeface="Trebuchet MS"/>
              </a:rPr>
              <a:t>that </a:t>
            </a:r>
            <a:r>
              <a:rPr sz="2200" spc="-20" dirty="0">
                <a:latin typeface="Trebuchet MS"/>
                <a:cs typeface="Trebuchet MS"/>
              </a:rPr>
              <a:t>reside </a:t>
            </a:r>
            <a:r>
              <a:rPr sz="2200" spc="5" dirty="0">
                <a:latin typeface="Trebuchet MS"/>
                <a:cs typeface="Trebuchet MS"/>
              </a:rPr>
              <a:t>in </a:t>
            </a:r>
            <a:r>
              <a:rPr sz="2200" spc="-15" dirty="0">
                <a:latin typeface="Trebuchet MS"/>
                <a:cs typeface="Trebuchet MS"/>
              </a:rPr>
              <a:t>distributed </a:t>
            </a:r>
            <a:r>
              <a:rPr sz="2200" spc="25" dirty="0">
                <a:latin typeface="Trebuchet MS"/>
                <a:cs typeface="Trebuchet MS"/>
              </a:rPr>
              <a:t>storage </a:t>
            </a:r>
            <a:r>
              <a:rPr sz="2200" spc="15" dirty="0">
                <a:latin typeface="Trebuchet MS"/>
                <a:cs typeface="Trebuchet MS"/>
              </a:rPr>
              <a:t>by </a:t>
            </a:r>
            <a:r>
              <a:rPr sz="2200" spc="60" dirty="0">
                <a:latin typeface="Trebuchet MS"/>
                <a:cs typeface="Trebuchet MS"/>
              </a:rPr>
              <a:t>using </a:t>
            </a:r>
            <a:r>
              <a:rPr sz="2200" spc="10" dirty="0">
                <a:latin typeface="Trebuchet MS"/>
                <a:cs typeface="Trebuchet MS"/>
              </a:rPr>
              <a:t>SQL. </a:t>
            </a:r>
            <a:endParaRPr lang="en-US" sz="2200" spc="10" dirty="0" smtClean="0">
              <a:latin typeface="Trebuchet MS"/>
              <a:cs typeface="Trebuchet MS"/>
            </a:endParaRPr>
          </a:p>
          <a:p>
            <a:pPr marL="355600" marR="5080" indent="-342900" algn="just">
              <a:lnSpc>
                <a:spcPct val="140000"/>
              </a:lnSpc>
              <a:spcBef>
                <a:spcPts val="95"/>
              </a:spcBef>
              <a:buFont typeface="Arial" panose="020B0604020202020204" pitchFamily="34" charset="0"/>
              <a:buChar char="•"/>
            </a:pPr>
            <a:r>
              <a:rPr sz="2200" spc="-5" dirty="0" smtClean="0">
                <a:latin typeface="Trebuchet MS"/>
                <a:cs typeface="Trebuchet MS"/>
              </a:rPr>
              <a:t>Structures  </a:t>
            </a:r>
            <a:r>
              <a:rPr sz="2200" spc="15" dirty="0">
                <a:latin typeface="Trebuchet MS"/>
                <a:cs typeface="Trebuchet MS"/>
              </a:rPr>
              <a:t>can </a:t>
            </a:r>
            <a:r>
              <a:rPr sz="2200" spc="-10" dirty="0">
                <a:latin typeface="Trebuchet MS"/>
                <a:cs typeface="Trebuchet MS"/>
              </a:rPr>
              <a:t>be </a:t>
            </a:r>
            <a:r>
              <a:rPr sz="2200" spc="-45" dirty="0">
                <a:latin typeface="Trebuchet MS"/>
                <a:cs typeface="Trebuchet MS"/>
              </a:rPr>
              <a:t>projected </a:t>
            </a:r>
            <a:r>
              <a:rPr lang="en-US" sz="2200" spc="40" dirty="0" smtClean="0">
                <a:latin typeface="Trebuchet MS"/>
                <a:cs typeface="Trebuchet MS"/>
              </a:rPr>
              <a:t>i</a:t>
            </a:r>
            <a:r>
              <a:rPr sz="2200" spc="40" dirty="0" smtClean="0">
                <a:latin typeface="Trebuchet MS"/>
                <a:cs typeface="Trebuchet MS"/>
              </a:rPr>
              <a:t>nto </a:t>
            </a:r>
            <a:r>
              <a:rPr sz="2200" spc="-5" dirty="0">
                <a:latin typeface="Trebuchet MS"/>
                <a:cs typeface="Trebuchet MS"/>
              </a:rPr>
              <a:t>stored </a:t>
            </a:r>
            <a:r>
              <a:rPr sz="2200" spc="-50" dirty="0">
                <a:latin typeface="Trebuchet MS"/>
                <a:cs typeface="Trebuchet MS"/>
              </a:rPr>
              <a:t>data. </a:t>
            </a:r>
            <a:endParaRPr lang="en-US" sz="2200" spc="-50" dirty="0" smtClean="0">
              <a:latin typeface="Trebuchet MS"/>
              <a:cs typeface="Trebuchet MS"/>
            </a:endParaRPr>
          </a:p>
          <a:p>
            <a:pPr marL="355600" marR="5080" indent="-342900" algn="just">
              <a:lnSpc>
                <a:spcPct val="140000"/>
              </a:lnSpc>
              <a:spcBef>
                <a:spcPts val="95"/>
              </a:spcBef>
              <a:buFont typeface="Arial" panose="020B0604020202020204" pitchFamily="34" charset="0"/>
              <a:buChar char="•"/>
            </a:pPr>
            <a:r>
              <a:rPr sz="2200" spc="-5" dirty="0" smtClean="0">
                <a:latin typeface="Trebuchet MS"/>
                <a:cs typeface="Trebuchet MS"/>
              </a:rPr>
              <a:t>The </a:t>
            </a:r>
            <a:r>
              <a:rPr sz="2200" spc="70" dirty="0">
                <a:latin typeface="Trebuchet MS"/>
                <a:cs typeface="Trebuchet MS"/>
              </a:rPr>
              <a:t>command </a:t>
            </a:r>
            <a:r>
              <a:rPr sz="2200" spc="-20" dirty="0">
                <a:latin typeface="Trebuchet MS"/>
                <a:cs typeface="Trebuchet MS"/>
              </a:rPr>
              <a:t>line </a:t>
            </a:r>
            <a:r>
              <a:rPr sz="2200" spc="5" dirty="0">
                <a:latin typeface="Trebuchet MS"/>
                <a:cs typeface="Trebuchet MS"/>
              </a:rPr>
              <a:t>tool </a:t>
            </a:r>
            <a:r>
              <a:rPr sz="2200" spc="55" dirty="0">
                <a:latin typeface="Trebuchet MS"/>
                <a:cs typeface="Trebuchet MS"/>
              </a:rPr>
              <a:t>and </a:t>
            </a:r>
            <a:r>
              <a:rPr sz="2200" spc="5" dirty="0">
                <a:latin typeface="Trebuchet MS"/>
                <a:cs typeface="Trebuchet MS"/>
              </a:rPr>
              <a:t>JDBC </a:t>
            </a:r>
            <a:r>
              <a:rPr sz="2200" spc="-25" dirty="0">
                <a:latin typeface="Trebuchet MS"/>
                <a:cs typeface="Trebuchet MS"/>
              </a:rPr>
              <a:t>driver  </a:t>
            </a:r>
            <a:r>
              <a:rPr sz="2200" spc="-10" dirty="0">
                <a:latin typeface="Trebuchet MS"/>
                <a:cs typeface="Trebuchet MS"/>
              </a:rPr>
              <a:t>are </a:t>
            </a:r>
            <a:r>
              <a:rPr sz="2200" spc="5" dirty="0">
                <a:latin typeface="Trebuchet MS"/>
                <a:cs typeface="Trebuchet MS"/>
              </a:rPr>
              <a:t>provided </a:t>
            </a:r>
            <a:r>
              <a:rPr sz="2200" dirty="0">
                <a:latin typeface="Trebuchet MS"/>
                <a:cs typeface="Trebuchet MS"/>
              </a:rPr>
              <a:t>to </a:t>
            </a:r>
            <a:r>
              <a:rPr sz="2200" spc="-5" dirty="0">
                <a:latin typeface="Trebuchet MS"/>
                <a:cs typeface="Trebuchet MS"/>
              </a:rPr>
              <a:t>connect </a:t>
            </a:r>
            <a:r>
              <a:rPr sz="2200" spc="15" dirty="0">
                <a:latin typeface="Trebuchet MS"/>
                <a:cs typeface="Trebuchet MS"/>
              </a:rPr>
              <a:t>users </a:t>
            </a:r>
            <a:r>
              <a:rPr sz="2200" dirty="0">
                <a:latin typeface="Trebuchet MS"/>
                <a:cs typeface="Trebuchet MS"/>
              </a:rPr>
              <a:t>to</a:t>
            </a:r>
            <a:r>
              <a:rPr sz="2200" spc="114" dirty="0">
                <a:latin typeface="Trebuchet MS"/>
                <a:cs typeface="Trebuchet MS"/>
              </a:rPr>
              <a:t> </a:t>
            </a:r>
            <a:r>
              <a:rPr sz="2200" spc="-40" dirty="0">
                <a:latin typeface="Trebuchet MS"/>
                <a:cs typeface="Trebuchet MS"/>
              </a:rPr>
              <a:t>Hive.</a:t>
            </a:r>
            <a:endParaRPr sz="2200" dirty="0">
              <a:latin typeface="Trebuchet MS"/>
              <a:cs typeface="Trebuchet MS"/>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EBEBEB"/>
          </a:solidFill>
        </p:spPr>
        <p:txBody>
          <a:bodyPr wrap="square" lIns="0" tIns="0" rIns="0" bIns="0" rtlCol="0"/>
          <a:lstStyle/>
          <a:p>
            <a:endParaRPr/>
          </a:p>
        </p:txBody>
      </p:sp>
      <p:sp>
        <p:nvSpPr>
          <p:cNvPr id="3" name="object 3"/>
          <p:cNvSpPr/>
          <p:nvPr/>
        </p:nvSpPr>
        <p:spPr>
          <a:xfrm>
            <a:off x="10195559" y="6320028"/>
            <a:ext cx="1269492" cy="271272"/>
          </a:xfrm>
          <a:prstGeom prst="rect">
            <a:avLst/>
          </a:prstGeom>
          <a:blipFill>
            <a:blip r:embed="rId2" cstate="print"/>
            <a:stretch>
              <a:fillRect/>
            </a:stretch>
          </a:blipFill>
        </p:spPr>
        <p:txBody>
          <a:bodyPr wrap="square" lIns="0" tIns="0" rIns="0" bIns="0" rtlCol="0"/>
          <a:lstStyle/>
          <a:p>
            <a:endParaRPr/>
          </a:p>
        </p:txBody>
      </p:sp>
      <p:sp>
        <p:nvSpPr>
          <p:cNvPr id="4" name="object 4"/>
          <p:cNvSpPr/>
          <p:nvPr/>
        </p:nvSpPr>
        <p:spPr>
          <a:xfrm>
            <a:off x="1030986" y="1349502"/>
            <a:ext cx="2339975" cy="0"/>
          </a:xfrm>
          <a:custGeom>
            <a:avLst/>
            <a:gdLst/>
            <a:ahLst/>
            <a:cxnLst/>
            <a:rect l="l" t="t" r="r" b="b"/>
            <a:pathLst>
              <a:path w="2339975">
                <a:moveTo>
                  <a:pt x="2339975" y="0"/>
                </a:moveTo>
                <a:lnTo>
                  <a:pt x="0" y="0"/>
                </a:lnTo>
              </a:path>
            </a:pathLst>
          </a:custGeom>
          <a:ln w="28956">
            <a:solidFill>
              <a:srgbClr val="C6000A"/>
            </a:solidFill>
          </a:ln>
        </p:spPr>
        <p:txBody>
          <a:bodyPr wrap="square" lIns="0" tIns="0" rIns="0" bIns="0" rtlCol="0"/>
          <a:lstStyle/>
          <a:p>
            <a:endParaRPr/>
          </a:p>
        </p:txBody>
      </p:sp>
      <p:sp>
        <p:nvSpPr>
          <p:cNvPr id="5" name="object 5"/>
          <p:cNvSpPr txBox="1">
            <a:spLocks noGrp="1"/>
          </p:cNvSpPr>
          <p:nvPr>
            <p:ph type="title"/>
          </p:nvPr>
        </p:nvSpPr>
        <p:spPr>
          <a:xfrm>
            <a:off x="997710" y="657301"/>
            <a:ext cx="3040889" cy="635000"/>
          </a:xfrm>
          <a:prstGeom prst="rect">
            <a:avLst/>
          </a:prstGeom>
        </p:spPr>
        <p:txBody>
          <a:bodyPr vert="horz" wrap="square" lIns="0" tIns="12065" rIns="0" bIns="0" rtlCol="0">
            <a:spAutoFit/>
          </a:bodyPr>
          <a:lstStyle/>
          <a:p>
            <a:pPr marL="12700">
              <a:lnSpc>
                <a:spcPct val="100000"/>
              </a:lnSpc>
              <a:spcBef>
                <a:spcPts val="95"/>
              </a:spcBef>
            </a:pPr>
            <a:r>
              <a:rPr sz="4000" spc="-50" dirty="0">
                <a:solidFill>
                  <a:srgbClr val="404040"/>
                </a:solidFill>
              </a:rPr>
              <a:t>Objectives</a:t>
            </a:r>
            <a:endParaRPr sz="4000" dirty="0"/>
          </a:p>
        </p:txBody>
      </p:sp>
      <p:sp>
        <p:nvSpPr>
          <p:cNvPr id="6" name="object 6"/>
          <p:cNvSpPr txBox="1"/>
          <p:nvPr/>
        </p:nvSpPr>
        <p:spPr>
          <a:xfrm>
            <a:off x="1097991" y="2088642"/>
            <a:ext cx="130175" cy="193675"/>
          </a:xfrm>
          <a:prstGeom prst="rect">
            <a:avLst/>
          </a:prstGeom>
        </p:spPr>
        <p:txBody>
          <a:bodyPr vert="horz" wrap="square" lIns="0" tIns="13335" rIns="0" bIns="0" rtlCol="0">
            <a:spAutoFit/>
          </a:bodyPr>
          <a:lstStyle/>
          <a:p>
            <a:pPr marL="12700">
              <a:lnSpc>
                <a:spcPct val="100000"/>
              </a:lnSpc>
              <a:spcBef>
                <a:spcPts val="105"/>
              </a:spcBef>
            </a:pPr>
            <a:r>
              <a:rPr sz="1100" dirty="0">
                <a:latin typeface="Wingdings"/>
                <a:cs typeface="Wingdings"/>
              </a:rPr>
              <a:t></a:t>
            </a:r>
            <a:endParaRPr sz="1100">
              <a:latin typeface="Wingdings"/>
              <a:cs typeface="Wingdings"/>
            </a:endParaRPr>
          </a:p>
        </p:txBody>
      </p:sp>
      <p:sp>
        <p:nvSpPr>
          <p:cNvPr id="7" name="object 7"/>
          <p:cNvSpPr txBox="1"/>
          <p:nvPr/>
        </p:nvSpPr>
        <p:spPr>
          <a:xfrm>
            <a:off x="1440941" y="2009393"/>
            <a:ext cx="7336155" cy="360680"/>
          </a:xfrm>
          <a:prstGeom prst="rect">
            <a:avLst/>
          </a:prstGeom>
        </p:spPr>
        <p:txBody>
          <a:bodyPr vert="horz" wrap="square" lIns="0" tIns="12065" rIns="0" bIns="0" rtlCol="0">
            <a:spAutoFit/>
          </a:bodyPr>
          <a:lstStyle/>
          <a:p>
            <a:pPr marL="12700">
              <a:lnSpc>
                <a:spcPct val="100000"/>
              </a:lnSpc>
              <a:spcBef>
                <a:spcPts val="95"/>
              </a:spcBef>
            </a:pPr>
            <a:r>
              <a:rPr sz="2200" spc="90" dirty="0">
                <a:latin typeface="Trebuchet MS"/>
                <a:cs typeface="Trebuchet MS"/>
              </a:rPr>
              <a:t>Upon </a:t>
            </a:r>
            <a:r>
              <a:rPr sz="2200" spc="10" dirty="0">
                <a:latin typeface="Trebuchet MS"/>
                <a:cs typeface="Trebuchet MS"/>
              </a:rPr>
              <a:t>completion </a:t>
            </a:r>
            <a:r>
              <a:rPr sz="2200" spc="15" dirty="0">
                <a:latin typeface="Trebuchet MS"/>
                <a:cs typeface="Trebuchet MS"/>
              </a:rPr>
              <a:t>of </a:t>
            </a:r>
            <a:r>
              <a:rPr sz="2200" spc="-10" dirty="0">
                <a:latin typeface="Trebuchet MS"/>
                <a:cs typeface="Trebuchet MS"/>
              </a:rPr>
              <a:t>this </a:t>
            </a:r>
            <a:r>
              <a:rPr sz="2200" spc="-35" dirty="0">
                <a:latin typeface="Trebuchet MS"/>
                <a:cs typeface="Trebuchet MS"/>
              </a:rPr>
              <a:t>course, </a:t>
            </a:r>
            <a:r>
              <a:rPr sz="2200" spc="50" dirty="0">
                <a:latin typeface="Trebuchet MS"/>
                <a:cs typeface="Trebuchet MS"/>
              </a:rPr>
              <a:t>you </a:t>
            </a:r>
            <a:r>
              <a:rPr sz="2200" spc="-20" dirty="0">
                <a:latin typeface="Trebuchet MS"/>
                <a:cs typeface="Trebuchet MS"/>
              </a:rPr>
              <a:t>will </a:t>
            </a:r>
            <a:r>
              <a:rPr sz="2200" spc="-10" dirty="0">
                <a:latin typeface="Trebuchet MS"/>
                <a:cs typeface="Trebuchet MS"/>
              </a:rPr>
              <a:t>be </a:t>
            </a:r>
            <a:r>
              <a:rPr sz="2200" spc="-5" dirty="0">
                <a:latin typeface="Trebuchet MS"/>
                <a:cs typeface="Trebuchet MS"/>
              </a:rPr>
              <a:t>able </a:t>
            </a:r>
            <a:r>
              <a:rPr sz="2200" dirty="0">
                <a:latin typeface="Trebuchet MS"/>
                <a:cs typeface="Trebuchet MS"/>
              </a:rPr>
              <a:t>to</a:t>
            </a:r>
            <a:r>
              <a:rPr sz="2200" spc="200" dirty="0">
                <a:latin typeface="Trebuchet MS"/>
                <a:cs typeface="Trebuchet MS"/>
              </a:rPr>
              <a:t> </a:t>
            </a:r>
            <a:r>
              <a:rPr sz="2200" spc="-50" dirty="0">
                <a:latin typeface="Trebuchet MS"/>
                <a:cs typeface="Trebuchet MS"/>
              </a:rPr>
              <a:t>learn:</a:t>
            </a:r>
            <a:endParaRPr sz="2200">
              <a:latin typeface="Trebuchet MS"/>
              <a:cs typeface="Trebuchet MS"/>
            </a:endParaRPr>
          </a:p>
        </p:txBody>
      </p:sp>
      <p:sp>
        <p:nvSpPr>
          <p:cNvPr id="8" name="object 8"/>
          <p:cNvSpPr txBox="1"/>
          <p:nvPr/>
        </p:nvSpPr>
        <p:spPr>
          <a:xfrm>
            <a:off x="1501902" y="2626613"/>
            <a:ext cx="138430" cy="177800"/>
          </a:xfrm>
          <a:prstGeom prst="rect">
            <a:avLst/>
          </a:prstGeom>
        </p:spPr>
        <p:txBody>
          <a:bodyPr vert="horz" wrap="square" lIns="0" tIns="12065" rIns="0" bIns="0" rtlCol="0">
            <a:spAutoFit/>
          </a:bodyPr>
          <a:lstStyle/>
          <a:p>
            <a:pPr marL="12700">
              <a:lnSpc>
                <a:spcPct val="100000"/>
              </a:lnSpc>
              <a:spcBef>
                <a:spcPts val="95"/>
              </a:spcBef>
            </a:pPr>
            <a:r>
              <a:rPr sz="1000" spc="-5" dirty="0">
                <a:latin typeface="Wingdings"/>
                <a:cs typeface="Wingdings"/>
              </a:rPr>
              <a:t></a:t>
            </a:r>
            <a:endParaRPr sz="1000">
              <a:latin typeface="Wingdings"/>
              <a:cs typeface="Wingdings"/>
            </a:endParaRPr>
          </a:p>
        </p:txBody>
      </p:sp>
      <p:sp>
        <p:nvSpPr>
          <p:cNvPr id="9" name="object 9"/>
          <p:cNvSpPr txBox="1"/>
          <p:nvPr/>
        </p:nvSpPr>
        <p:spPr>
          <a:xfrm>
            <a:off x="1501902" y="3141979"/>
            <a:ext cx="138430" cy="177800"/>
          </a:xfrm>
          <a:prstGeom prst="rect">
            <a:avLst/>
          </a:prstGeom>
        </p:spPr>
        <p:txBody>
          <a:bodyPr vert="horz" wrap="square" lIns="0" tIns="12065" rIns="0" bIns="0" rtlCol="0">
            <a:spAutoFit/>
          </a:bodyPr>
          <a:lstStyle/>
          <a:p>
            <a:pPr marL="12700">
              <a:lnSpc>
                <a:spcPct val="100000"/>
              </a:lnSpc>
              <a:spcBef>
                <a:spcPts val="95"/>
              </a:spcBef>
            </a:pPr>
            <a:r>
              <a:rPr sz="1000" spc="-5" dirty="0">
                <a:latin typeface="Wingdings"/>
                <a:cs typeface="Wingdings"/>
              </a:rPr>
              <a:t></a:t>
            </a:r>
            <a:endParaRPr sz="1000">
              <a:latin typeface="Wingdings"/>
              <a:cs typeface="Wingdings"/>
            </a:endParaRPr>
          </a:p>
        </p:txBody>
      </p:sp>
      <p:sp>
        <p:nvSpPr>
          <p:cNvPr id="10" name="object 10"/>
          <p:cNvSpPr txBox="1"/>
          <p:nvPr/>
        </p:nvSpPr>
        <p:spPr>
          <a:xfrm>
            <a:off x="1501902" y="3658615"/>
            <a:ext cx="138430" cy="177800"/>
          </a:xfrm>
          <a:prstGeom prst="rect">
            <a:avLst/>
          </a:prstGeom>
        </p:spPr>
        <p:txBody>
          <a:bodyPr vert="horz" wrap="square" lIns="0" tIns="12065" rIns="0" bIns="0" rtlCol="0">
            <a:spAutoFit/>
          </a:bodyPr>
          <a:lstStyle/>
          <a:p>
            <a:pPr marL="12700">
              <a:lnSpc>
                <a:spcPct val="100000"/>
              </a:lnSpc>
              <a:spcBef>
                <a:spcPts val="95"/>
              </a:spcBef>
            </a:pPr>
            <a:r>
              <a:rPr sz="1000" spc="-5" dirty="0">
                <a:latin typeface="Wingdings"/>
                <a:cs typeface="Wingdings"/>
              </a:rPr>
              <a:t></a:t>
            </a:r>
            <a:endParaRPr sz="1000">
              <a:latin typeface="Wingdings"/>
              <a:cs typeface="Wingdings"/>
            </a:endParaRPr>
          </a:p>
        </p:txBody>
      </p:sp>
      <p:sp>
        <p:nvSpPr>
          <p:cNvPr id="11" name="object 11"/>
          <p:cNvSpPr txBox="1"/>
          <p:nvPr/>
        </p:nvSpPr>
        <p:spPr>
          <a:xfrm>
            <a:off x="1753361" y="2554681"/>
            <a:ext cx="5382260" cy="1363345"/>
          </a:xfrm>
          <a:prstGeom prst="rect">
            <a:avLst/>
          </a:prstGeom>
        </p:spPr>
        <p:txBody>
          <a:bodyPr vert="horz" wrap="square" lIns="0" tIns="13335" rIns="0" bIns="0" rtlCol="0">
            <a:spAutoFit/>
          </a:bodyPr>
          <a:lstStyle/>
          <a:p>
            <a:pPr marL="12700">
              <a:lnSpc>
                <a:spcPct val="100000"/>
              </a:lnSpc>
              <a:spcBef>
                <a:spcPts val="105"/>
              </a:spcBef>
            </a:pPr>
            <a:r>
              <a:rPr sz="2000" spc="25" dirty="0">
                <a:latin typeface="Trebuchet MS"/>
                <a:cs typeface="Trebuchet MS"/>
              </a:rPr>
              <a:t>Hive </a:t>
            </a:r>
            <a:r>
              <a:rPr sz="2000" dirty="0">
                <a:latin typeface="Trebuchet MS"/>
                <a:cs typeface="Trebuchet MS"/>
              </a:rPr>
              <a:t>application </a:t>
            </a:r>
            <a:r>
              <a:rPr sz="2000" spc="10" dirty="0">
                <a:latin typeface="Trebuchet MS"/>
                <a:cs typeface="Trebuchet MS"/>
              </a:rPr>
              <a:t>scenarios </a:t>
            </a:r>
            <a:r>
              <a:rPr sz="2000" spc="55" dirty="0">
                <a:latin typeface="Trebuchet MS"/>
                <a:cs typeface="Trebuchet MS"/>
              </a:rPr>
              <a:t>and </a:t>
            </a:r>
            <a:r>
              <a:rPr sz="2000" dirty="0">
                <a:latin typeface="Trebuchet MS"/>
                <a:cs typeface="Trebuchet MS"/>
              </a:rPr>
              <a:t>basic</a:t>
            </a:r>
            <a:r>
              <a:rPr sz="2000" spc="-110" dirty="0">
                <a:latin typeface="Trebuchet MS"/>
                <a:cs typeface="Trebuchet MS"/>
              </a:rPr>
              <a:t> </a:t>
            </a:r>
            <a:r>
              <a:rPr sz="2000" spc="-10" dirty="0">
                <a:latin typeface="Trebuchet MS"/>
                <a:cs typeface="Trebuchet MS"/>
              </a:rPr>
              <a:t>principles</a:t>
            </a:r>
            <a:endParaRPr sz="2000" dirty="0">
              <a:latin typeface="Trebuchet MS"/>
              <a:cs typeface="Trebuchet MS"/>
            </a:endParaRPr>
          </a:p>
          <a:p>
            <a:pPr marL="12700" marR="960119">
              <a:lnSpc>
                <a:spcPts val="4070"/>
              </a:lnSpc>
              <a:spcBef>
                <a:spcPts val="400"/>
              </a:spcBef>
            </a:pPr>
            <a:r>
              <a:rPr sz="2000" spc="25" dirty="0">
                <a:latin typeface="Trebuchet MS"/>
                <a:cs typeface="Trebuchet MS"/>
              </a:rPr>
              <a:t>Hive </a:t>
            </a:r>
            <a:r>
              <a:rPr sz="2000" spc="-25" dirty="0">
                <a:latin typeface="Trebuchet MS"/>
                <a:cs typeface="Trebuchet MS"/>
              </a:rPr>
              <a:t>architecture </a:t>
            </a:r>
            <a:r>
              <a:rPr sz="2000" spc="55" dirty="0">
                <a:latin typeface="Trebuchet MS"/>
                <a:cs typeface="Trebuchet MS"/>
              </a:rPr>
              <a:t>and running</a:t>
            </a:r>
            <a:r>
              <a:rPr sz="2000" spc="-105" dirty="0">
                <a:latin typeface="Trebuchet MS"/>
                <a:cs typeface="Trebuchet MS"/>
              </a:rPr>
              <a:t> </a:t>
            </a:r>
            <a:r>
              <a:rPr sz="2000" spc="5" dirty="0">
                <a:latin typeface="Trebuchet MS"/>
                <a:cs typeface="Trebuchet MS"/>
              </a:rPr>
              <a:t>process  </a:t>
            </a:r>
            <a:r>
              <a:rPr sz="2000" spc="25" dirty="0">
                <a:latin typeface="Trebuchet MS"/>
                <a:cs typeface="Trebuchet MS"/>
              </a:rPr>
              <a:t>Hive </a:t>
            </a:r>
            <a:r>
              <a:rPr sz="2000" spc="110" dirty="0">
                <a:latin typeface="Trebuchet MS"/>
                <a:cs typeface="Trebuchet MS"/>
              </a:rPr>
              <a:t>SQL</a:t>
            </a:r>
            <a:r>
              <a:rPr sz="2000" spc="10" dirty="0">
                <a:latin typeface="Trebuchet MS"/>
                <a:cs typeface="Trebuchet MS"/>
              </a:rPr>
              <a:t> </a:t>
            </a:r>
            <a:r>
              <a:rPr sz="2000" spc="5" dirty="0">
                <a:latin typeface="Trebuchet MS"/>
                <a:cs typeface="Trebuchet MS"/>
              </a:rPr>
              <a:t>statements</a:t>
            </a:r>
            <a:endParaRPr sz="2000" dirty="0">
              <a:latin typeface="Trebuchet MS"/>
              <a:cs typeface="Trebuchet MS"/>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EBEBEB"/>
          </a:solidFill>
        </p:spPr>
        <p:txBody>
          <a:bodyPr wrap="square" lIns="0" tIns="0" rIns="0" bIns="0" rtlCol="0"/>
          <a:lstStyle/>
          <a:p>
            <a:endParaRPr/>
          </a:p>
        </p:txBody>
      </p:sp>
      <p:sp>
        <p:nvSpPr>
          <p:cNvPr id="3" name="object 3"/>
          <p:cNvSpPr/>
          <p:nvPr/>
        </p:nvSpPr>
        <p:spPr>
          <a:xfrm>
            <a:off x="10195559" y="6320028"/>
            <a:ext cx="1269492" cy="271272"/>
          </a:xfrm>
          <a:prstGeom prst="rect">
            <a:avLst/>
          </a:prstGeom>
          <a:blipFill>
            <a:blip r:embed="rId2" cstate="print"/>
            <a:stretch>
              <a:fillRect/>
            </a:stretch>
          </a:blipFill>
        </p:spPr>
        <p:txBody>
          <a:bodyPr wrap="square" lIns="0" tIns="0" rIns="0" bIns="0" rtlCol="0"/>
          <a:lstStyle/>
          <a:p>
            <a:endParaRPr/>
          </a:p>
        </p:txBody>
      </p:sp>
      <p:sp>
        <p:nvSpPr>
          <p:cNvPr id="4" name="object 4"/>
          <p:cNvSpPr/>
          <p:nvPr/>
        </p:nvSpPr>
        <p:spPr>
          <a:xfrm>
            <a:off x="1030986" y="1349502"/>
            <a:ext cx="2016125" cy="0"/>
          </a:xfrm>
          <a:custGeom>
            <a:avLst/>
            <a:gdLst/>
            <a:ahLst/>
            <a:cxnLst/>
            <a:rect l="l" t="t" r="r" b="b"/>
            <a:pathLst>
              <a:path w="2016125">
                <a:moveTo>
                  <a:pt x="2015997" y="0"/>
                </a:moveTo>
                <a:lnTo>
                  <a:pt x="0" y="0"/>
                </a:lnTo>
              </a:path>
            </a:pathLst>
          </a:custGeom>
          <a:ln w="28956">
            <a:solidFill>
              <a:srgbClr val="C6000A"/>
            </a:solidFill>
          </a:ln>
        </p:spPr>
        <p:txBody>
          <a:bodyPr wrap="square" lIns="0" tIns="0" rIns="0" bIns="0" rtlCol="0"/>
          <a:lstStyle/>
          <a:p>
            <a:endParaRPr/>
          </a:p>
        </p:txBody>
      </p:sp>
      <p:sp>
        <p:nvSpPr>
          <p:cNvPr id="5" name="object 5"/>
          <p:cNvSpPr txBox="1">
            <a:spLocks noGrp="1"/>
          </p:cNvSpPr>
          <p:nvPr>
            <p:ph type="title"/>
          </p:nvPr>
        </p:nvSpPr>
        <p:spPr>
          <a:xfrm>
            <a:off x="997711" y="657301"/>
            <a:ext cx="3117089" cy="635000"/>
          </a:xfrm>
          <a:prstGeom prst="rect">
            <a:avLst/>
          </a:prstGeom>
        </p:spPr>
        <p:txBody>
          <a:bodyPr vert="horz" wrap="square" lIns="0" tIns="12065" rIns="0" bIns="0" rtlCol="0">
            <a:spAutoFit/>
          </a:bodyPr>
          <a:lstStyle/>
          <a:p>
            <a:pPr marL="12700">
              <a:lnSpc>
                <a:spcPct val="100000"/>
              </a:lnSpc>
              <a:spcBef>
                <a:spcPts val="95"/>
              </a:spcBef>
            </a:pPr>
            <a:r>
              <a:rPr sz="4000" spc="40" dirty="0">
                <a:solidFill>
                  <a:srgbClr val="404040"/>
                </a:solidFill>
              </a:rPr>
              <a:t>Conte</a:t>
            </a:r>
            <a:r>
              <a:rPr sz="4000" spc="55" dirty="0">
                <a:solidFill>
                  <a:srgbClr val="404040"/>
                </a:solidFill>
              </a:rPr>
              <a:t>n</a:t>
            </a:r>
            <a:r>
              <a:rPr sz="4000" spc="-40" dirty="0">
                <a:solidFill>
                  <a:srgbClr val="404040"/>
                </a:solidFill>
              </a:rPr>
              <a:t>ts</a:t>
            </a:r>
            <a:endParaRPr sz="4000" dirty="0"/>
          </a:p>
        </p:txBody>
      </p:sp>
      <p:sp>
        <p:nvSpPr>
          <p:cNvPr id="6" name="object 6"/>
          <p:cNvSpPr txBox="1"/>
          <p:nvPr/>
        </p:nvSpPr>
        <p:spPr>
          <a:xfrm>
            <a:off x="1097991" y="2009393"/>
            <a:ext cx="4547870" cy="1500505"/>
          </a:xfrm>
          <a:prstGeom prst="rect">
            <a:avLst/>
          </a:prstGeom>
        </p:spPr>
        <p:txBody>
          <a:bodyPr vert="horz" wrap="square" lIns="0" tIns="12065" rIns="0" bIns="0" rtlCol="0">
            <a:spAutoFit/>
          </a:bodyPr>
          <a:lstStyle/>
          <a:p>
            <a:pPr marL="469900" indent="-457834">
              <a:lnSpc>
                <a:spcPct val="100000"/>
              </a:lnSpc>
              <a:spcBef>
                <a:spcPts val="95"/>
              </a:spcBef>
              <a:buAutoNum type="arabicPeriod"/>
              <a:tabLst>
                <a:tab pos="469265" algn="l"/>
                <a:tab pos="470534" algn="l"/>
              </a:tabLst>
            </a:pPr>
            <a:r>
              <a:rPr sz="2200" b="1" spc="35" dirty="0">
                <a:latin typeface="Trebuchet MS"/>
                <a:cs typeface="Trebuchet MS"/>
              </a:rPr>
              <a:t>Hive</a:t>
            </a:r>
            <a:r>
              <a:rPr sz="2200" b="1" spc="25" dirty="0">
                <a:latin typeface="Trebuchet MS"/>
                <a:cs typeface="Trebuchet MS"/>
              </a:rPr>
              <a:t> Overview</a:t>
            </a:r>
            <a:endParaRPr sz="2200">
              <a:latin typeface="Trebuchet MS"/>
              <a:cs typeface="Trebuchet MS"/>
            </a:endParaRPr>
          </a:p>
          <a:p>
            <a:pPr marL="469900" indent="-457834">
              <a:lnSpc>
                <a:spcPct val="100000"/>
              </a:lnSpc>
              <a:spcBef>
                <a:spcPts val="1850"/>
              </a:spcBef>
              <a:buAutoNum type="arabicPeriod"/>
              <a:tabLst>
                <a:tab pos="469265" algn="l"/>
                <a:tab pos="470534" algn="l"/>
              </a:tabLst>
            </a:pPr>
            <a:r>
              <a:rPr sz="2200" spc="25" dirty="0">
                <a:solidFill>
                  <a:srgbClr val="7E7E7E"/>
                </a:solidFill>
                <a:latin typeface="Trebuchet MS"/>
                <a:cs typeface="Trebuchet MS"/>
              </a:rPr>
              <a:t>Hive </a:t>
            </a:r>
            <a:r>
              <a:rPr sz="2200" spc="10" dirty="0">
                <a:solidFill>
                  <a:srgbClr val="7E7E7E"/>
                </a:solidFill>
                <a:latin typeface="Trebuchet MS"/>
                <a:cs typeface="Trebuchet MS"/>
              </a:rPr>
              <a:t>Functions </a:t>
            </a:r>
            <a:r>
              <a:rPr sz="2200" spc="55" dirty="0">
                <a:solidFill>
                  <a:srgbClr val="7E7E7E"/>
                </a:solidFill>
                <a:latin typeface="Trebuchet MS"/>
                <a:cs typeface="Trebuchet MS"/>
              </a:rPr>
              <a:t>and</a:t>
            </a:r>
            <a:r>
              <a:rPr sz="2200" spc="-15" dirty="0">
                <a:solidFill>
                  <a:srgbClr val="7E7E7E"/>
                </a:solidFill>
                <a:latin typeface="Trebuchet MS"/>
                <a:cs typeface="Trebuchet MS"/>
              </a:rPr>
              <a:t> </a:t>
            </a:r>
            <a:r>
              <a:rPr sz="2200" spc="-20" dirty="0">
                <a:solidFill>
                  <a:srgbClr val="7E7E7E"/>
                </a:solidFill>
                <a:latin typeface="Trebuchet MS"/>
                <a:cs typeface="Trebuchet MS"/>
              </a:rPr>
              <a:t>Architecture</a:t>
            </a:r>
            <a:endParaRPr sz="2200">
              <a:latin typeface="Trebuchet MS"/>
              <a:cs typeface="Trebuchet MS"/>
            </a:endParaRPr>
          </a:p>
          <a:p>
            <a:pPr marL="469900" indent="-457834">
              <a:lnSpc>
                <a:spcPct val="100000"/>
              </a:lnSpc>
              <a:spcBef>
                <a:spcPts val="1845"/>
              </a:spcBef>
              <a:buAutoNum type="arabicPeriod"/>
              <a:tabLst>
                <a:tab pos="469265" algn="l"/>
                <a:tab pos="470534" algn="l"/>
              </a:tabLst>
            </a:pPr>
            <a:r>
              <a:rPr sz="2200" dirty="0">
                <a:solidFill>
                  <a:srgbClr val="7E7E7E"/>
                </a:solidFill>
                <a:latin typeface="Trebuchet MS"/>
                <a:cs typeface="Trebuchet MS"/>
              </a:rPr>
              <a:t>Basic </a:t>
            </a:r>
            <a:r>
              <a:rPr sz="2200" spc="20" dirty="0">
                <a:solidFill>
                  <a:srgbClr val="7E7E7E"/>
                </a:solidFill>
                <a:latin typeface="Trebuchet MS"/>
                <a:cs typeface="Trebuchet MS"/>
              </a:rPr>
              <a:t>Hive</a:t>
            </a:r>
            <a:r>
              <a:rPr sz="2200" spc="50" dirty="0">
                <a:solidFill>
                  <a:srgbClr val="7E7E7E"/>
                </a:solidFill>
                <a:latin typeface="Trebuchet MS"/>
                <a:cs typeface="Trebuchet MS"/>
              </a:rPr>
              <a:t> </a:t>
            </a:r>
            <a:r>
              <a:rPr sz="2200" spc="30" dirty="0">
                <a:solidFill>
                  <a:srgbClr val="7E7E7E"/>
                </a:solidFill>
                <a:latin typeface="Trebuchet MS"/>
                <a:cs typeface="Trebuchet MS"/>
              </a:rPr>
              <a:t>Operations</a:t>
            </a:r>
            <a:endParaRPr sz="2200">
              <a:latin typeface="Trebuchet MS"/>
              <a:cs typeface="Trebuchet MS"/>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752600" y="717196"/>
            <a:ext cx="5605476" cy="567463"/>
          </a:xfrm>
          <a:prstGeom prst="rect">
            <a:avLst/>
          </a:prstGeom>
        </p:spPr>
        <p:txBody>
          <a:bodyPr vert="horz" wrap="square" lIns="0" tIns="13335" rIns="0" bIns="0" rtlCol="0">
            <a:spAutoFit/>
          </a:bodyPr>
          <a:lstStyle/>
          <a:p>
            <a:pPr marL="12700">
              <a:lnSpc>
                <a:spcPct val="100000"/>
              </a:lnSpc>
              <a:spcBef>
                <a:spcPts val="105"/>
              </a:spcBef>
            </a:pPr>
            <a:r>
              <a:rPr spc="15" dirty="0"/>
              <a:t>Introduction </a:t>
            </a:r>
            <a:r>
              <a:rPr spc="5" dirty="0"/>
              <a:t>to</a:t>
            </a:r>
            <a:r>
              <a:rPr spc="10" dirty="0"/>
              <a:t> </a:t>
            </a:r>
            <a:r>
              <a:rPr spc="40" dirty="0"/>
              <a:t>Hive</a:t>
            </a:r>
          </a:p>
        </p:txBody>
      </p:sp>
      <p:sp>
        <p:nvSpPr>
          <p:cNvPr id="4" name="object 4"/>
          <p:cNvSpPr txBox="1"/>
          <p:nvPr/>
        </p:nvSpPr>
        <p:spPr>
          <a:xfrm>
            <a:off x="1295400" y="1911547"/>
            <a:ext cx="10290810" cy="960776"/>
          </a:xfrm>
          <a:prstGeom prst="rect">
            <a:avLst/>
          </a:prstGeom>
        </p:spPr>
        <p:txBody>
          <a:bodyPr vert="horz" wrap="square" lIns="0" tIns="12700" rIns="0" bIns="0" rtlCol="0">
            <a:spAutoFit/>
          </a:bodyPr>
          <a:lstStyle/>
          <a:p>
            <a:pPr marL="12700" marR="5080">
              <a:lnSpc>
                <a:spcPct val="140000"/>
              </a:lnSpc>
              <a:spcBef>
                <a:spcPts val="100"/>
              </a:spcBef>
              <a:tabLst>
                <a:tab pos="760730" algn="l"/>
                <a:tab pos="1130935" algn="l"/>
                <a:tab pos="1469390" algn="l"/>
                <a:tab pos="2220595" algn="l"/>
                <a:tab pos="3781425" algn="l"/>
                <a:tab pos="4461510" algn="l"/>
                <a:tab pos="5633720" algn="l"/>
                <a:tab pos="6139815" algn="l"/>
                <a:tab pos="7328534" algn="l"/>
                <a:tab pos="7988300" algn="l"/>
                <a:tab pos="9256395" algn="l"/>
              </a:tabLst>
            </a:pPr>
            <a:r>
              <a:rPr sz="2200" spc="20" dirty="0">
                <a:latin typeface="Trebuchet MS"/>
                <a:cs typeface="Trebuchet MS"/>
              </a:rPr>
              <a:t>Hiv</a:t>
            </a:r>
            <a:r>
              <a:rPr sz="2200" spc="30" dirty="0">
                <a:latin typeface="Trebuchet MS"/>
                <a:cs typeface="Trebuchet MS"/>
              </a:rPr>
              <a:t>e</a:t>
            </a:r>
            <a:r>
              <a:rPr sz="2200" dirty="0">
                <a:latin typeface="Trebuchet MS"/>
                <a:cs typeface="Trebuchet MS"/>
              </a:rPr>
              <a:t>	</a:t>
            </a:r>
            <a:r>
              <a:rPr sz="2200" spc="-15" dirty="0">
                <a:latin typeface="Trebuchet MS"/>
                <a:cs typeface="Trebuchet MS"/>
              </a:rPr>
              <a:t>is</a:t>
            </a:r>
            <a:r>
              <a:rPr sz="2200" dirty="0">
                <a:latin typeface="Trebuchet MS"/>
                <a:cs typeface="Trebuchet MS"/>
              </a:rPr>
              <a:t>	</a:t>
            </a:r>
            <a:r>
              <a:rPr sz="2200" spc="55" dirty="0">
                <a:latin typeface="Trebuchet MS"/>
                <a:cs typeface="Trebuchet MS"/>
              </a:rPr>
              <a:t>a</a:t>
            </a:r>
            <a:r>
              <a:rPr sz="2200" dirty="0">
                <a:latin typeface="Trebuchet MS"/>
                <a:cs typeface="Trebuchet MS"/>
              </a:rPr>
              <a:t>	</a:t>
            </a:r>
            <a:r>
              <a:rPr sz="2200" spc="5" dirty="0">
                <a:latin typeface="Trebuchet MS"/>
                <a:cs typeface="Trebuchet MS"/>
              </a:rPr>
              <a:t>da</a:t>
            </a:r>
            <a:r>
              <a:rPr sz="2200" spc="-10" dirty="0">
                <a:latin typeface="Trebuchet MS"/>
                <a:cs typeface="Trebuchet MS"/>
              </a:rPr>
              <a:t>t</a:t>
            </a:r>
            <a:r>
              <a:rPr sz="2200" spc="55" dirty="0">
                <a:latin typeface="Trebuchet MS"/>
                <a:cs typeface="Trebuchet MS"/>
              </a:rPr>
              <a:t>a</a:t>
            </a:r>
            <a:r>
              <a:rPr sz="2200" dirty="0">
                <a:latin typeface="Trebuchet MS"/>
                <a:cs typeface="Trebuchet MS"/>
              </a:rPr>
              <a:t>	</a:t>
            </a:r>
            <a:r>
              <a:rPr sz="2200" spc="15" dirty="0">
                <a:latin typeface="Trebuchet MS"/>
                <a:cs typeface="Trebuchet MS"/>
              </a:rPr>
              <a:t>war</a:t>
            </a:r>
            <a:r>
              <a:rPr sz="2200" spc="20" dirty="0">
                <a:latin typeface="Trebuchet MS"/>
                <a:cs typeface="Trebuchet MS"/>
              </a:rPr>
              <a:t>e</a:t>
            </a:r>
            <a:r>
              <a:rPr sz="2200" spc="70" dirty="0">
                <a:latin typeface="Trebuchet MS"/>
                <a:cs typeface="Trebuchet MS"/>
              </a:rPr>
              <a:t>hou</a:t>
            </a:r>
            <a:r>
              <a:rPr sz="2200" spc="40" dirty="0">
                <a:latin typeface="Trebuchet MS"/>
                <a:cs typeface="Trebuchet MS"/>
              </a:rPr>
              <a:t>s</a:t>
            </a:r>
            <a:r>
              <a:rPr sz="2200" spc="-45" dirty="0">
                <a:latin typeface="Trebuchet MS"/>
                <a:cs typeface="Trebuchet MS"/>
              </a:rPr>
              <a:t>e</a:t>
            </a:r>
            <a:r>
              <a:rPr sz="2200" dirty="0">
                <a:latin typeface="Trebuchet MS"/>
                <a:cs typeface="Trebuchet MS"/>
              </a:rPr>
              <a:t>	too</a:t>
            </a:r>
            <a:r>
              <a:rPr sz="2200" spc="5" dirty="0">
                <a:latin typeface="Trebuchet MS"/>
                <a:cs typeface="Trebuchet MS"/>
              </a:rPr>
              <a:t>l</a:t>
            </a:r>
            <a:r>
              <a:rPr sz="2200" dirty="0">
                <a:latin typeface="Trebuchet MS"/>
                <a:cs typeface="Trebuchet MS"/>
              </a:rPr>
              <a:t>	</a:t>
            </a:r>
            <a:r>
              <a:rPr sz="2200" spc="50" dirty="0">
                <a:latin typeface="Trebuchet MS"/>
                <a:cs typeface="Trebuchet MS"/>
              </a:rPr>
              <a:t>run</a:t>
            </a:r>
            <a:r>
              <a:rPr sz="2200" spc="60" dirty="0">
                <a:latin typeface="Trebuchet MS"/>
                <a:cs typeface="Trebuchet MS"/>
              </a:rPr>
              <a:t>n</a:t>
            </a:r>
            <a:r>
              <a:rPr sz="2200" spc="55" dirty="0">
                <a:latin typeface="Trebuchet MS"/>
                <a:cs typeface="Trebuchet MS"/>
              </a:rPr>
              <a:t>ing</a:t>
            </a:r>
            <a:r>
              <a:rPr sz="2200" dirty="0">
                <a:latin typeface="Trebuchet MS"/>
                <a:cs typeface="Trebuchet MS"/>
              </a:rPr>
              <a:t>	</a:t>
            </a:r>
            <a:r>
              <a:rPr sz="2200" spc="70" dirty="0">
                <a:latin typeface="Trebuchet MS"/>
                <a:cs typeface="Trebuchet MS"/>
              </a:rPr>
              <a:t>o</a:t>
            </a:r>
            <a:r>
              <a:rPr sz="2200" spc="80" dirty="0">
                <a:latin typeface="Trebuchet MS"/>
                <a:cs typeface="Trebuchet MS"/>
              </a:rPr>
              <a:t>n</a:t>
            </a:r>
            <a:r>
              <a:rPr sz="2200" dirty="0">
                <a:latin typeface="Trebuchet MS"/>
                <a:cs typeface="Trebuchet MS"/>
              </a:rPr>
              <a:t>	</a:t>
            </a:r>
            <a:r>
              <a:rPr sz="2200" spc="90" dirty="0">
                <a:latin typeface="Trebuchet MS"/>
                <a:cs typeface="Trebuchet MS"/>
              </a:rPr>
              <a:t>Hado</a:t>
            </a:r>
            <a:r>
              <a:rPr sz="2200" spc="80" dirty="0">
                <a:latin typeface="Trebuchet MS"/>
                <a:cs typeface="Trebuchet MS"/>
              </a:rPr>
              <a:t>o</a:t>
            </a:r>
            <a:r>
              <a:rPr sz="2200" spc="30" dirty="0">
                <a:latin typeface="Trebuchet MS"/>
                <a:cs typeface="Trebuchet MS"/>
              </a:rPr>
              <a:t>p</a:t>
            </a:r>
            <a:r>
              <a:rPr sz="2200" dirty="0">
                <a:latin typeface="Trebuchet MS"/>
                <a:cs typeface="Trebuchet MS"/>
              </a:rPr>
              <a:t>	</a:t>
            </a:r>
            <a:r>
              <a:rPr sz="2200" spc="60" dirty="0">
                <a:latin typeface="Trebuchet MS"/>
                <a:cs typeface="Trebuchet MS"/>
              </a:rPr>
              <a:t>a</a:t>
            </a:r>
            <a:r>
              <a:rPr sz="2200" spc="50" dirty="0">
                <a:latin typeface="Trebuchet MS"/>
                <a:cs typeface="Trebuchet MS"/>
              </a:rPr>
              <a:t>n</a:t>
            </a:r>
            <a:r>
              <a:rPr sz="2200" spc="55" dirty="0">
                <a:latin typeface="Trebuchet MS"/>
                <a:cs typeface="Trebuchet MS"/>
              </a:rPr>
              <a:t>d</a:t>
            </a:r>
            <a:r>
              <a:rPr sz="2200" dirty="0">
                <a:latin typeface="Trebuchet MS"/>
                <a:cs typeface="Trebuchet MS"/>
              </a:rPr>
              <a:t>	</a:t>
            </a:r>
            <a:r>
              <a:rPr sz="2200" spc="50" dirty="0">
                <a:latin typeface="Trebuchet MS"/>
                <a:cs typeface="Trebuchet MS"/>
              </a:rPr>
              <a:t>s</a:t>
            </a:r>
            <a:r>
              <a:rPr sz="2200" spc="70" dirty="0">
                <a:latin typeface="Trebuchet MS"/>
                <a:cs typeface="Trebuchet MS"/>
              </a:rPr>
              <a:t>u</a:t>
            </a:r>
            <a:r>
              <a:rPr sz="2200" spc="30" dirty="0">
                <a:latin typeface="Trebuchet MS"/>
                <a:cs typeface="Trebuchet MS"/>
              </a:rPr>
              <a:t>ppo</a:t>
            </a:r>
            <a:r>
              <a:rPr sz="2200" spc="25" dirty="0">
                <a:latin typeface="Trebuchet MS"/>
                <a:cs typeface="Trebuchet MS"/>
              </a:rPr>
              <a:t>r</a:t>
            </a:r>
            <a:r>
              <a:rPr sz="2200" spc="-70" dirty="0">
                <a:latin typeface="Trebuchet MS"/>
                <a:cs typeface="Trebuchet MS"/>
              </a:rPr>
              <a:t>t</a:t>
            </a:r>
            <a:r>
              <a:rPr sz="2200" spc="35" dirty="0">
                <a:latin typeface="Trebuchet MS"/>
                <a:cs typeface="Trebuchet MS"/>
              </a:rPr>
              <a:t>s</a:t>
            </a:r>
            <a:r>
              <a:rPr sz="2200" dirty="0">
                <a:latin typeface="Trebuchet MS"/>
                <a:cs typeface="Trebuchet MS"/>
              </a:rPr>
              <a:t>	</a:t>
            </a:r>
            <a:r>
              <a:rPr sz="2200" u="sng" spc="40" dirty="0">
                <a:solidFill>
                  <a:srgbClr val="FF0000"/>
                </a:solidFill>
                <a:latin typeface="Trebuchet MS"/>
                <a:cs typeface="Trebuchet MS"/>
              </a:rPr>
              <a:t>P</a:t>
            </a:r>
            <a:r>
              <a:rPr sz="2200" u="sng" spc="45" dirty="0">
                <a:solidFill>
                  <a:srgbClr val="FF0000"/>
                </a:solidFill>
                <a:latin typeface="Trebuchet MS"/>
                <a:cs typeface="Trebuchet MS"/>
              </a:rPr>
              <a:t>B</a:t>
            </a:r>
            <a:r>
              <a:rPr sz="2200" u="sng" spc="55" dirty="0">
                <a:solidFill>
                  <a:srgbClr val="FF0000"/>
                </a:solidFill>
                <a:latin typeface="Trebuchet MS"/>
                <a:cs typeface="Trebuchet MS"/>
              </a:rPr>
              <a:t>-</a:t>
            </a:r>
            <a:r>
              <a:rPr sz="2200" u="sng" spc="-30" dirty="0">
                <a:solidFill>
                  <a:srgbClr val="FF0000"/>
                </a:solidFill>
                <a:latin typeface="Trebuchet MS"/>
                <a:cs typeface="Trebuchet MS"/>
              </a:rPr>
              <a:t>lev</a:t>
            </a:r>
            <a:r>
              <a:rPr sz="2200" u="sng" spc="-45" dirty="0">
                <a:solidFill>
                  <a:srgbClr val="FF0000"/>
                </a:solidFill>
                <a:latin typeface="Trebuchet MS"/>
                <a:cs typeface="Trebuchet MS"/>
              </a:rPr>
              <a:t>e</a:t>
            </a:r>
            <a:r>
              <a:rPr sz="2200" u="sng" spc="-50" dirty="0">
                <a:solidFill>
                  <a:srgbClr val="FF0000"/>
                </a:solidFill>
                <a:latin typeface="Trebuchet MS"/>
                <a:cs typeface="Trebuchet MS"/>
              </a:rPr>
              <a:t>l</a:t>
            </a:r>
            <a:r>
              <a:rPr sz="2200" spc="-50" dirty="0">
                <a:latin typeface="Trebuchet MS"/>
                <a:cs typeface="Trebuchet MS"/>
              </a:rPr>
              <a:t>  </a:t>
            </a:r>
            <a:r>
              <a:rPr sz="2200" spc="-15" dirty="0">
                <a:latin typeface="Trebuchet MS"/>
                <a:cs typeface="Trebuchet MS"/>
              </a:rPr>
              <a:t>distributed </a:t>
            </a:r>
            <a:r>
              <a:rPr sz="2200" spc="15" dirty="0">
                <a:latin typeface="Trebuchet MS"/>
                <a:cs typeface="Trebuchet MS"/>
              </a:rPr>
              <a:t>data </a:t>
            </a:r>
            <a:r>
              <a:rPr sz="2200" spc="5" dirty="0">
                <a:latin typeface="Trebuchet MS"/>
                <a:cs typeface="Trebuchet MS"/>
              </a:rPr>
              <a:t>query </a:t>
            </a:r>
            <a:r>
              <a:rPr sz="2200" spc="55" dirty="0">
                <a:latin typeface="Trebuchet MS"/>
                <a:cs typeface="Trebuchet MS"/>
              </a:rPr>
              <a:t>and</a:t>
            </a:r>
            <a:r>
              <a:rPr sz="2200" spc="120" dirty="0">
                <a:latin typeface="Trebuchet MS"/>
                <a:cs typeface="Trebuchet MS"/>
              </a:rPr>
              <a:t> </a:t>
            </a:r>
            <a:r>
              <a:rPr sz="2200" spc="20" dirty="0">
                <a:latin typeface="Trebuchet MS"/>
                <a:cs typeface="Trebuchet MS"/>
              </a:rPr>
              <a:t>management.</a:t>
            </a:r>
            <a:endParaRPr sz="2200" dirty="0">
              <a:latin typeface="Trebuchet MS"/>
              <a:cs typeface="Trebuchet MS"/>
            </a:endParaRPr>
          </a:p>
        </p:txBody>
      </p:sp>
      <p:sp>
        <p:nvSpPr>
          <p:cNvPr id="6" name="object 6"/>
          <p:cNvSpPr txBox="1"/>
          <p:nvPr/>
        </p:nvSpPr>
        <p:spPr>
          <a:xfrm>
            <a:off x="1295400" y="3048000"/>
            <a:ext cx="1777364" cy="360680"/>
          </a:xfrm>
          <a:prstGeom prst="rect">
            <a:avLst/>
          </a:prstGeom>
        </p:spPr>
        <p:txBody>
          <a:bodyPr vert="horz" wrap="square" lIns="0" tIns="12065" rIns="0" bIns="0" rtlCol="0">
            <a:spAutoFit/>
          </a:bodyPr>
          <a:lstStyle/>
          <a:p>
            <a:pPr marL="12700">
              <a:lnSpc>
                <a:spcPct val="100000"/>
              </a:lnSpc>
              <a:spcBef>
                <a:spcPts val="95"/>
              </a:spcBef>
            </a:pPr>
            <a:r>
              <a:rPr sz="2200" u="sng" spc="20" dirty="0">
                <a:latin typeface="Trebuchet MS"/>
                <a:cs typeface="Trebuchet MS"/>
              </a:rPr>
              <a:t>Hive</a:t>
            </a:r>
            <a:r>
              <a:rPr sz="2200" u="sng" spc="-25" dirty="0">
                <a:latin typeface="Trebuchet MS"/>
                <a:cs typeface="Trebuchet MS"/>
              </a:rPr>
              <a:t> </a:t>
            </a:r>
            <a:r>
              <a:rPr sz="2200" u="sng" spc="-45" dirty="0">
                <a:latin typeface="Trebuchet MS"/>
                <a:cs typeface="Trebuchet MS"/>
              </a:rPr>
              <a:t>features:</a:t>
            </a:r>
            <a:endParaRPr sz="2200" u="sng" dirty="0">
              <a:latin typeface="Trebuchet MS"/>
              <a:cs typeface="Trebuchet MS"/>
            </a:endParaRPr>
          </a:p>
        </p:txBody>
      </p:sp>
      <p:sp>
        <p:nvSpPr>
          <p:cNvPr id="8" name="object 8"/>
          <p:cNvSpPr txBox="1"/>
          <p:nvPr/>
        </p:nvSpPr>
        <p:spPr>
          <a:xfrm>
            <a:off x="1752600" y="3562425"/>
            <a:ext cx="8991600" cy="1881669"/>
          </a:xfrm>
          <a:prstGeom prst="rect">
            <a:avLst/>
          </a:prstGeom>
        </p:spPr>
        <p:txBody>
          <a:bodyPr vert="horz" wrap="square" lIns="0" tIns="13335" rIns="0" bIns="0" rtlCol="0">
            <a:spAutoFit/>
          </a:bodyPr>
          <a:lstStyle/>
          <a:p>
            <a:pPr marL="355600" indent="-342900">
              <a:lnSpc>
                <a:spcPct val="100000"/>
              </a:lnSpc>
              <a:spcBef>
                <a:spcPts val="105"/>
              </a:spcBef>
              <a:buFont typeface="Arial" panose="020B0604020202020204" pitchFamily="34" charset="0"/>
              <a:buChar char="•"/>
            </a:pPr>
            <a:r>
              <a:rPr sz="2000" spc="40" dirty="0">
                <a:latin typeface="Trebuchet MS"/>
                <a:cs typeface="Trebuchet MS"/>
              </a:rPr>
              <a:t>Supporting </a:t>
            </a:r>
            <a:r>
              <a:rPr sz="2000" spc="-35" dirty="0">
                <a:latin typeface="Trebuchet MS"/>
                <a:cs typeface="Trebuchet MS"/>
              </a:rPr>
              <a:t>flexible </a:t>
            </a:r>
            <a:r>
              <a:rPr lang="en-US" sz="2000" spc="-35" dirty="0" smtClean="0">
                <a:latin typeface="Trebuchet MS"/>
                <a:cs typeface="Trebuchet MS"/>
              </a:rPr>
              <a:t>E</a:t>
            </a:r>
            <a:r>
              <a:rPr sz="2000" spc="-40" dirty="0" smtClean="0">
                <a:latin typeface="Trebuchet MS"/>
                <a:cs typeface="Trebuchet MS"/>
              </a:rPr>
              <a:t>xtraction</a:t>
            </a:r>
            <a:r>
              <a:rPr sz="2000" spc="-40" dirty="0">
                <a:latin typeface="Trebuchet MS"/>
                <a:cs typeface="Trebuchet MS"/>
              </a:rPr>
              <a:t>, </a:t>
            </a:r>
            <a:r>
              <a:rPr lang="en-US" sz="2000" dirty="0" smtClean="0">
                <a:latin typeface="Trebuchet MS"/>
                <a:cs typeface="Trebuchet MS"/>
              </a:rPr>
              <a:t>T</a:t>
            </a:r>
            <a:r>
              <a:rPr sz="2000" dirty="0" smtClean="0">
                <a:latin typeface="Trebuchet MS"/>
                <a:cs typeface="Trebuchet MS"/>
              </a:rPr>
              <a:t>ransformation</a:t>
            </a:r>
            <a:r>
              <a:rPr sz="2000" dirty="0">
                <a:latin typeface="Trebuchet MS"/>
                <a:cs typeface="Trebuchet MS"/>
              </a:rPr>
              <a:t>, </a:t>
            </a:r>
            <a:r>
              <a:rPr sz="2000" spc="50" dirty="0">
                <a:latin typeface="Trebuchet MS"/>
                <a:cs typeface="Trebuchet MS"/>
              </a:rPr>
              <a:t>and </a:t>
            </a:r>
            <a:r>
              <a:rPr lang="en-US" sz="2000" spc="30" dirty="0" smtClean="0">
                <a:latin typeface="Trebuchet MS"/>
                <a:cs typeface="Trebuchet MS"/>
              </a:rPr>
              <a:t>L</a:t>
            </a:r>
            <a:r>
              <a:rPr sz="2000" spc="30" dirty="0" smtClean="0">
                <a:latin typeface="Trebuchet MS"/>
                <a:cs typeface="Trebuchet MS"/>
              </a:rPr>
              <a:t>oad</a:t>
            </a:r>
            <a:r>
              <a:rPr sz="2000" spc="-70" dirty="0" smtClean="0">
                <a:latin typeface="Trebuchet MS"/>
                <a:cs typeface="Trebuchet MS"/>
              </a:rPr>
              <a:t> </a:t>
            </a:r>
            <a:r>
              <a:rPr sz="2000" spc="30" dirty="0">
                <a:latin typeface="Trebuchet MS"/>
                <a:cs typeface="Trebuchet MS"/>
              </a:rPr>
              <a:t>(ETL</a:t>
            </a:r>
            <a:r>
              <a:rPr sz="2000" spc="30" dirty="0" smtClean="0">
                <a:latin typeface="Trebuchet MS"/>
                <a:cs typeface="Trebuchet MS"/>
              </a:rPr>
              <a:t>)</a:t>
            </a:r>
            <a:r>
              <a:rPr lang="en-US" sz="2000" spc="30" dirty="0" smtClean="0">
                <a:latin typeface="Trebuchet MS"/>
                <a:cs typeface="Trebuchet MS"/>
              </a:rPr>
              <a:t>.</a:t>
            </a:r>
            <a:endParaRPr sz="2000" dirty="0">
              <a:latin typeface="Trebuchet MS"/>
              <a:cs typeface="Trebuchet MS"/>
            </a:endParaRPr>
          </a:p>
          <a:p>
            <a:pPr marL="355600" marR="5080" indent="-342900">
              <a:lnSpc>
                <a:spcPct val="169000"/>
              </a:lnSpc>
              <a:buFont typeface="Arial" panose="020B0604020202020204" pitchFamily="34" charset="0"/>
              <a:buChar char="•"/>
            </a:pPr>
            <a:r>
              <a:rPr sz="2000" spc="35" dirty="0">
                <a:latin typeface="Trebuchet MS"/>
                <a:cs typeface="Trebuchet MS"/>
              </a:rPr>
              <a:t>Supporting </a:t>
            </a:r>
            <a:r>
              <a:rPr sz="2000" dirty="0">
                <a:latin typeface="Trebuchet MS"/>
                <a:cs typeface="Trebuchet MS"/>
              </a:rPr>
              <a:t>multiple </a:t>
            </a:r>
            <a:r>
              <a:rPr sz="2000" spc="40" dirty="0">
                <a:latin typeface="Trebuchet MS"/>
                <a:cs typeface="Trebuchet MS"/>
              </a:rPr>
              <a:t>computing </a:t>
            </a:r>
            <a:r>
              <a:rPr sz="2000" spc="-10" dirty="0">
                <a:latin typeface="Trebuchet MS"/>
                <a:cs typeface="Trebuchet MS"/>
              </a:rPr>
              <a:t>engines, </a:t>
            </a:r>
            <a:r>
              <a:rPr sz="2000" spc="30" dirty="0">
                <a:latin typeface="Trebuchet MS"/>
                <a:cs typeface="Trebuchet MS"/>
              </a:rPr>
              <a:t>such </a:t>
            </a:r>
            <a:r>
              <a:rPr sz="2000" spc="40" dirty="0">
                <a:latin typeface="Trebuchet MS"/>
                <a:cs typeface="Trebuchet MS"/>
              </a:rPr>
              <a:t>as </a:t>
            </a:r>
            <a:r>
              <a:rPr lang="en-US" sz="2000" spc="-30" dirty="0" smtClean="0">
                <a:latin typeface="Trebuchet MS"/>
                <a:cs typeface="Trebuchet MS"/>
              </a:rPr>
              <a:t>Apache </a:t>
            </a:r>
            <a:r>
              <a:rPr sz="2000" spc="40" dirty="0" smtClean="0">
                <a:latin typeface="Trebuchet MS"/>
                <a:cs typeface="Trebuchet MS"/>
              </a:rPr>
              <a:t>Spark</a:t>
            </a:r>
            <a:r>
              <a:rPr lang="en-US" sz="2000" spc="40" dirty="0" smtClean="0">
                <a:latin typeface="Trebuchet MS"/>
                <a:cs typeface="Trebuchet MS"/>
              </a:rPr>
              <a:t>.</a:t>
            </a:r>
            <a:endParaRPr lang="en-US" sz="2000" spc="40" dirty="0">
              <a:latin typeface="Trebuchet MS"/>
              <a:cs typeface="Trebuchet MS"/>
            </a:endParaRPr>
          </a:p>
          <a:p>
            <a:pPr marL="355600" marR="5080" indent="-342900">
              <a:lnSpc>
                <a:spcPct val="169000"/>
              </a:lnSpc>
              <a:buFont typeface="Arial" panose="020B0604020202020204" pitchFamily="34" charset="0"/>
              <a:buChar char="•"/>
            </a:pPr>
            <a:r>
              <a:rPr sz="2000" spc="35" dirty="0" smtClean="0">
                <a:latin typeface="Trebuchet MS"/>
                <a:cs typeface="Trebuchet MS"/>
              </a:rPr>
              <a:t>Supporting </a:t>
            </a:r>
            <a:r>
              <a:rPr sz="2000" spc="-40" dirty="0">
                <a:latin typeface="Trebuchet MS"/>
                <a:cs typeface="Trebuchet MS"/>
              </a:rPr>
              <a:t>direct </a:t>
            </a:r>
            <a:r>
              <a:rPr sz="2000" spc="-15" dirty="0">
                <a:latin typeface="Trebuchet MS"/>
                <a:cs typeface="Trebuchet MS"/>
              </a:rPr>
              <a:t>access </a:t>
            </a:r>
            <a:r>
              <a:rPr sz="2000" spc="5" dirty="0">
                <a:latin typeface="Trebuchet MS"/>
                <a:cs typeface="Trebuchet MS"/>
              </a:rPr>
              <a:t>to </a:t>
            </a:r>
            <a:r>
              <a:rPr sz="2000" spc="130" dirty="0">
                <a:latin typeface="Trebuchet MS"/>
                <a:cs typeface="Trebuchet MS"/>
              </a:rPr>
              <a:t>HDFS </a:t>
            </a:r>
            <a:r>
              <a:rPr sz="2000" spc="-35" dirty="0">
                <a:latin typeface="Trebuchet MS"/>
                <a:cs typeface="Trebuchet MS"/>
              </a:rPr>
              <a:t>files </a:t>
            </a:r>
            <a:r>
              <a:rPr sz="2000" spc="50" dirty="0">
                <a:latin typeface="Trebuchet MS"/>
                <a:cs typeface="Trebuchet MS"/>
              </a:rPr>
              <a:t>and</a:t>
            </a:r>
            <a:r>
              <a:rPr sz="2000" spc="-55" dirty="0">
                <a:latin typeface="Trebuchet MS"/>
                <a:cs typeface="Trebuchet MS"/>
              </a:rPr>
              <a:t> </a:t>
            </a:r>
            <a:r>
              <a:rPr sz="2000" spc="60" dirty="0" smtClean="0">
                <a:latin typeface="Trebuchet MS"/>
                <a:cs typeface="Trebuchet MS"/>
              </a:rPr>
              <a:t>H</a:t>
            </a:r>
            <a:r>
              <a:rPr lang="en-US" sz="2000" spc="60" dirty="0" smtClean="0">
                <a:latin typeface="Trebuchet MS"/>
                <a:cs typeface="Trebuchet MS"/>
              </a:rPr>
              <a:t>b</a:t>
            </a:r>
            <a:r>
              <a:rPr sz="2000" spc="60" dirty="0" smtClean="0">
                <a:latin typeface="Trebuchet MS"/>
                <a:cs typeface="Trebuchet MS"/>
              </a:rPr>
              <a:t>ase</a:t>
            </a:r>
            <a:r>
              <a:rPr lang="en-US" sz="2000" spc="60" dirty="0" smtClean="0">
                <a:latin typeface="Trebuchet MS"/>
                <a:cs typeface="Trebuchet MS"/>
              </a:rPr>
              <a:t>.</a:t>
            </a:r>
            <a:endParaRPr lang="en-US" sz="2000" dirty="0">
              <a:latin typeface="Trebuchet MS"/>
              <a:cs typeface="Trebuchet MS"/>
            </a:endParaRPr>
          </a:p>
          <a:p>
            <a:pPr marL="355600" marR="5080" indent="-342900">
              <a:lnSpc>
                <a:spcPct val="169000"/>
              </a:lnSpc>
              <a:buFont typeface="Arial" panose="020B0604020202020204" pitchFamily="34" charset="0"/>
              <a:buChar char="•"/>
            </a:pPr>
            <a:r>
              <a:rPr sz="2000" spc="25" dirty="0" smtClean="0">
                <a:latin typeface="Trebuchet MS"/>
                <a:cs typeface="Trebuchet MS"/>
              </a:rPr>
              <a:t>Easy-to-use </a:t>
            </a:r>
            <a:r>
              <a:rPr sz="2000" spc="55" dirty="0">
                <a:latin typeface="Trebuchet MS"/>
                <a:cs typeface="Trebuchet MS"/>
              </a:rPr>
              <a:t>and</a:t>
            </a:r>
            <a:r>
              <a:rPr sz="2000" spc="-20" dirty="0">
                <a:latin typeface="Trebuchet MS"/>
                <a:cs typeface="Trebuchet MS"/>
              </a:rPr>
              <a:t> </a:t>
            </a:r>
            <a:r>
              <a:rPr sz="2000" spc="35" dirty="0">
                <a:latin typeface="Trebuchet MS"/>
                <a:cs typeface="Trebuchet MS"/>
              </a:rPr>
              <a:t>easy-to-program</a:t>
            </a:r>
            <a:endParaRPr sz="2000" dirty="0">
              <a:latin typeface="Trebuchet MS"/>
              <a:cs typeface="Trebuchet MS"/>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6519671" y="1598483"/>
            <a:ext cx="3317748" cy="944879"/>
          </a:xfrm>
          <a:prstGeom prst="rect">
            <a:avLst/>
          </a:prstGeom>
          <a:blipFill>
            <a:blip r:embed="rId3" cstate="print"/>
            <a:stretch>
              <a:fillRect/>
            </a:stretch>
          </a:blipFill>
        </p:spPr>
        <p:txBody>
          <a:bodyPr wrap="square" lIns="0" tIns="0" rIns="0" bIns="0" rtlCol="0"/>
          <a:lstStyle/>
          <a:p>
            <a:endParaRPr/>
          </a:p>
        </p:txBody>
      </p:sp>
      <p:grpSp>
        <p:nvGrpSpPr>
          <p:cNvPr id="3" name="object 3"/>
          <p:cNvGrpSpPr/>
          <p:nvPr/>
        </p:nvGrpSpPr>
        <p:grpSpPr>
          <a:xfrm>
            <a:off x="4169664" y="2659187"/>
            <a:ext cx="4798060" cy="1064260"/>
            <a:chOff x="4169664" y="2554223"/>
            <a:chExt cx="4798060" cy="1064260"/>
          </a:xfrm>
        </p:grpSpPr>
        <p:sp>
          <p:nvSpPr>
            <p:cNvPr id="4" name="object 4"/>
            <p:cNvSpPr/>
            <p:nvPr/>
          </p:nvSpPr>
          <p:spPr>
            <a:xfrm>
              <a:off x="5649468" y="2580131"/>
              <a:ext cx="3317747" cy="941832"/>
            </a:xfrm>
            <a:prstGeom prst="rect">
              <a:avLst/>
            </a:prstGeom>
            <a:blipFill>
              <a:blip r:embed="rId4" cstate="print"/>
              <a:stretch>
                <a:fillRect/>
              </a:stretch>
            </a:blipFill>
          </p:spPr>
          <p:txBody>
            <a:bodyPr wrap="square" lIns="0" tIns="0" rIns="0" bIns="0" rtlCol="0"/>
            <a:lstStyle/>
            <a:p>
              <a:endParaRPr/>
            </a:p>
          </p:txBody>
        </p:sp>
        <p:sp>
          <p:nvSpPr>
            <p:cNvPr id="5" name="object 5"/>
            <p:cNvSpPr/>
            <p:nvPr/>
          </p:nvSpPr>
          <p:spPr>
            <a:xfrm>
              <a:off x="4169664" y="2554223"/>
              <a:ext cx="1752600" cy="1048512"/>
            </a:xfrm>
            <a:prstGeom prst="rect">
              <a:avLst/>
            </a:prstGeom>
            <a:blipFill>
              <a:blip r:embed="rId5" cstate="print"/>
              <a:stretch>
                <a:fillRect/>
              </a:stretch>
            </a:blipFill>
          </p:spPr>
          <p:txBody>
            <a:bodyPr wrap="square" lIns="0" tIns="0" rIns="0" bIns="0" rtlCol="0"/>
            <a:lstStyle/>
            <a:p>
              <a:endParaRPr/>
            </a:p>
          </p:txBody>
        </p:sp>
        <p:sp>
          <p:nvSpPr>
            <p:cNvPr id="6" name="object 6"/>
            <p:cNvSpPr/>
            <p:nvPr/>
          </p:nvSpPr>
          <p:spPr>
            <a:xfrm>
              <a:off x="4212336" y="2596895"/>
              <a:ext cx="1735836" cy="1021079"/>
            </a:xfrm>
            <a:prstGeom prst="rect">
              <a:avLst/>
            </a:prstGeom>
            <a:blipFill>
              <a:blip r:embed="rId6" cstate="print"/>
              <a:stretch>
                <a:fillRect/>
              </a:stretch>
            </a:blipFill>
          </p:spPr>
          <p:txBody>
            <a:bodyPr wrap="square" lIns="0" tIns="0" rIns="0" bIns="0" rtlCol="0"/>
            <a:lstStyle/>
            <a:p>
              <a:endParaRPr/>
            </a:p>
          </p:txBody>
        </p:sp>
        <p:sp>
          <p:nvSpPr>
            <p:cNvPr id="7" name="object 7"/>
            <p:cNvSpPr/>
            <p:nvPr/>
          </p:nvSpPr>
          <p:spPr>
            <a:xfrm>
              <a:off x="4195572" y="2580131"/>
              <a:ext cx="1645920" cy="942340"/>
            </a:xfrm>
            <a:custGeom>
              <a:avLst/>
              <a:gdLst/>
              <a:ahLst/>
              <a:cxnLst/>
              <a:rect l="l" t="t" r="r" b="b"/>
              <a:pathLst>
                <a:path w="1645920" h="942339">
                  <a:moveTo>
                    <a:pt x="1525777" y="0"/>
                  </a:moveTo>
                  <a:lnTo>
                    <a:pt x="120141" y="0"/>
                  </a:lnTo>
                  <a:lnTo>
                    <a:pt x="73402" y="9449"/>
                  </a:lnTo>
                  <a:lnTo>
                    <a:pt x="35210" y="35210"/>
                  </a:lnTo>
                  <a:lnTo>
                    <a:pt x="9449" y="73402"/>
                  </a:lnTo>
                  <a:lnTo>
                    <a:pt x="0" y="120141"/>
                  </a:lnTo>
                  <a:lnTo>
                    <a:pt x="0" y="821689"/>
                  </a:lnTo>
                  <a:lnTo>
                    <a:pt x="9449" y="868429"/>
                  </a:lnTo>
                  <a:lnTo>
                    <a:pt x="35210" y="906621"/>
                  </a:lnTo>
                  <a:lnTo>
                    <a:pt x="73402" y="932382"/>
                  </a:lnTo>
                  <a:lnTo>
                    <a:pt x="120141" y="941831"/>
                  </a:lnTo>
                  <a:lnTo>
                    <a:pt x="1525777" y="941831"/>
                  </a:lnTo>
                  <a:lnTo>
                    <a:pt x="1572517" y="932382"/>
                  </a:lnTo>
                  <a:lnTo>
                    <a:pt x="1610709" y="906621"/>
                  </a:lnTo>
                  <a:lnTo>
                    <a:pt x="1636470" y="868429"/>
                  </a:lnTo>
                  <a:lnTo>
                    <a:pt x="1645919" y="821689"/>
                  </a:lnTo>
                  <a:lnTo>
                    <a:pt x="1645919" y="120141"/>
                  </a:lnTo>
                  <a:lnTo>
                    <a:pt x="1636470" y="73402"/>
                  </a:lnTo>
                  <a:lnTo>
                    <a:pt x="1610709" y="35210"/>
                  </a:lnTo>
                  <a:lnTo>
                    <a:pt x="1572517" y="9449"/>
                  </a:lnTo>
                  <a:lnTo>
                    <a:pt x="1525777" y="0"/>
                  </a:lnTo>
                  <a:close/>
                </a:path>
              </a:pathLst>
            </a:custGeom>
            <a:solidFill>
              <a:srgbClr val="4F81BC"/>
            </a:solidFill>
          </p:spPr>
          <p:txBody>
            <a:bodyPr wrap="square" lIns="0" tIns="0" rIns="0" bIns="0" rtlCol="0"/>
            <a:lstStyle/>
            <a:p>
              <a:endParaRPr/>
            </a:p>
          </p:txBody>
        </p:sp>
      </p:grpSp>
      <p:sp>
        <p:nvSpPr>
          <p:cNvPr id="8" name="object 8"/>
          <p:cNvSpPr txBox="1"/>
          <p:nvPr/>
        </p:nvSpPr>
        <p:spPr>
          <a:xfrm>
            <a:off x="4348734" y="2774757"/>
            <a:ext cx="1341120" cy="269240"/>
          </a:xfrm>
          <a:prstGeom prst="rect">
            <a:avLst/>
          </a:prstGeom>
        </p:spPr>
        <p:txBody>
          <a:bodyPr vert="horz" wrap="square" lIns="0" tIns="12065" rIns="0" bIns="0" rtlCol="0">
            <a:spAutoFit/>
          </a:bodyPr>
          <a:lstStyle/>
          <a:p>
            <a:pPr marL="12700">
              <a:lnSpc>
                <a:spcPct val="100000"/>
              </a:lnSpc>
              <a:spcBef>
                <a:spcPts val="95"/>
              </a:spcBef>
            </a:pPr>
            <a:r>
              <a:rPr sz="1600" spc="20" dirty="0">
                <a:solidFill>
                  <a:srgbClr val="FFFFFF"/>
                </a:solidFill>
                <a:latin typeface="Trebuchet MS"/>
                <a:cs typeface="Trebuchet MS"/>
              </a:rPr>
              <a:t>Non-real-time</a:t>
            </a:r>
            <a:endParaRPr sz="1600">
              <a:latin typeface="Trebuchet MS"/>
              <a:cs typeface="Trebuchet MS"/>
            </a:endParaRPr>
          </a:p>
        </p:txBody>
      </p:sp>
      <p:sp>
        <p:nvSpPr>
          <p:cNvPr id="9" name="object 9"/>
          <p:cNvSpPr txBox="1"/>
          <p:nvPr/>
        </p:nvSpPr>
        <p:spPr>
          <a:xfrm>
            <a:off x="4644644" y="3018597"/>
            <a:ext cx="748030" cy="513080"/>
          </a:xfrm>
          <a:prstGeom prst="rect">
            <a:avLst/>
          </a:prstGeom>
        </p:spPr>
        <p:txBody>
          <a:bodyPr vert="horz" wrap="square" lIns="0" tIns="12065" rIns="0" bIns="0" rtlCol="0">
            <a:spAutoFit/>
          </a:bodyPr>
          <a:lstStyle/>
          <a:p>
            <a:pPr marL="12700" marR="5080" indent="153670">
              <a:lnSpc>
                <a:spcPct val="100000"/>
              </a:lnSpc>
              <a:spcBef>
                <a:spcPts val="95"/>
              </a:spcBef>
            </a:pPr>
            <a:r>
              <a:rPr sz="1600" spc="5" dirty="0">
                <a:solidFill>
                  <a:srgbClr val="FFFFFF"/>
                </a:solidFill>
                <a:latin typeface="Trebuchet MS"/>
                <a:cs typeface="Trebuchet MS"/>
              </a:rPr>
              <a:t>data  </a:t>
            </a:r>
            <a:r>
              <a:rPr sz="1600" spc="40" dirty="0">
                <a:solidFill>
                  <a:srgbClr val="FFFFFF"/>
                </a:solidFill>
                <a:latin typeface="Trebuchet MS"/>
                <a:cs typeface="Trebuchet MS"/>
              </a:rPr>
              <a:t>a</a:t>
            </a:r>
            <a:r>
              <a:rPr sz="1600" spc="45" dirty="0">
                <a:solidFill>
                  <a:srgbClr val="FFFFFF"/>
                </a:solidFill>
                <a:latin typeface="Trebuchet MS"/>
                <a:cs typeface="Trebuchet MS"/>
              </a:rPr>
              <a:t>n</a:t>
            </a:r>
            <a:r>
              <a:rPr sz="1600" spc="50" dirty="0">
                <a:solidFill>
                  <a:srgbClr val="FFFFFF"/>
                </a:solidFill>
                <a:latin typeface="Trebuchet MS"/>
                <a:cs typeface="Trebuchet MS"/>
              </a:rPr>
              <a:t>a</a:t>
            </a:r>
            <a:r>
              <a:rPr sz="1600" spc="-40" dirty="0">
                <a:solidFill>
                  <a:srgbClr val="FFFFFF"/>
                </a:solidFill>
                <a:latin typeface="Trebuchet MS"/>
                <a:cs typeface="Trebuchet MS"/>
              </a:rPr>
              <a:t>l</a:t>
            </a:r>
            <a:r>
              <a:rPr sz="1600" spc="-5" dirty="0">
                <a:solidFill>
                  <a:srgbClr val="FFFFFF"/>
                </a:solidFill>
                <a:latin typeface="Trebuchet MS"/>
                <a:cs typeface="Trebuchet MS"/>
              </a:rPr>
              <a:t>y</a:t>
            </a:r>
            <a:r>
              <a:rPr sz="1600" dirty="0">
                <a:solidFill>
                  <a:srgbClr val="FFFFFF"/>
                </a:solidFill>
                <a:latin typeface="Trebuchet MS"/>
                <a:cs typeface="Trebuchet MS"/>
              </a:rPr>
              <a:t>sis</a:t>
            </a:r>
            <a:endParaRPr sz="1600">
              <a:latin typeface="Trebuchet MS"/>
              <a:cs typeface="Trebuchet MS"/>
            </a:endParaRPr>
          </a:p>
        </p:txBody>
      </p:sp>
      <p:sp>
        <p:nvSpPr>
          <p:cNvPr id="10" name="object 10"/>
          <p:cNvSpPr txBox="1"/>
          <p:nvPr/>
        </p:nvSpPr>
        <p:spPr>
          <a:xfrm>
            <a:off x="5909309" y="2946970"/>
            <a:ext cx="102235" cy="147955"/>
          </a:xfrm>
          <a:prstGeom prst="rect">
            <a:avLst/>
          </a:prstGeom>
        </p:spPr>
        <p:txBody>
          <a:bodyPr vert="horz" wrap="square" lIns="0" tIns="13335" rIns="0" bIns="0" rtlCol="0">
            <a:spAutoFit/>
          </a:bodyPr>
          <a:lstStyle/>
          <a:p>
            <a:pPr marL="12700">
              <a:lnSpc>
                <a:spcPct val="100000"/>
              </a:lnSpc>
              <a:spcBef>
                <a:spcPts val="105"/>
              </a:spcBef>
            </a:pPr>
            <a:r>
              <a:rPr sz="800" dirty="0">
                <a:latin typeface="Wingdings"/>
                <a:cs typeface="Wingdings"/>
              </a:rPr>
              <a:t></a:t>
            </a:r>
            <a:endParaRPr sz="800">
              <a:latin typeface="Wingdings"/>
              <a:cs typeface="Wingdings"/>
            </a:endParaRPr>
          </a:p>
        </p:txBody>
      </p:sp>
      <p:sp>
        <p:nvSpPr>
          <p:cNvPr id="11" name="object 11"/>
          <p:cNvSpPr txBox="1"/>
          <p:nvPr/>
        </p:nvSpPr>
        <p:spPr>
          <a:xfrm>
            <a:off x="5909309" y="3191190"/>
            <a:ext cx="102235" cy="147955"/>
          </a:xfrm>
          <a:prstGeom prst="rect">
            <a:avLst/>
          </a:prstGeom>
        </p:spPr>
        <p:txBody>
          <a:bodyPr vert="horz" wrap="square" lIns="0" tIns="13335" rIns="0" bIns="0" rtlCol="0">
            <a:spAutoFit/>
          </a:bodyPr>
          <a:lstStyle/>
          <a:p>
            <a:pPr marL="12700">
              <a:lnSpc>
                <a:spcPct val="100000"/>
              </a:lnSpc>
              <a:spcBef>
                <a:spcPts val="105"/>
              </a:spcBef>
            </a:pPr>
            <a:r>
              <a:rPr sz="800" dirty="0">
                <a:latin typeface="Wingdings"/>
                <a:cs typeface="Wingdings"/>
              </a:rPr>
              <a:t></a:t>
            </a:r>
            <a:endParaRPr sz="800">
              <a:latin typeface="Wingdings"/>
              <a:cs typeface="Wingdings"/>
            </a:endParaRPr>
          </a:p>
        </p:txBody>
      </p:sp>
      <p:sp>
        <p:nvSpPr>
          <p:cNvPr id="12" name="object 12"/>
          <p:cNvSpPr txBox="1"/>
          <p:nvPr/>
        </p:nvSpPr>
        <p:spPr>
          <a:xfrm>
            <a:off x="6195820" y="2888753"/>
            <a:ext cx="1728979" cy="513715"/>
          </a:xfrm>
          <a:prstGeom prst="rect">
            <a:avLst/>
          </a:prstGeom>
        </p:spPr>
        <p:txBody>
          <a:bodyPr vert="horz" wrap="square" lIns="0" tIns="12065" rIns="0" bIns="0" rtlCol="0">
            <a:spAutoFit/>
          </a:bodyPr>
          <a:lstStyle/>
          <a:p>
            <a:pPr marL="12700">
              <a:lnSpc>
                <a:spcPct val="100000"/>
              </a:lnSpc>
              <a:spcBef>
                <a:spcPts val="95"/>
              </a:spcBef>
            </a:pPr>
            <a:r>
              <a:rPr sz="1600" spc="55" dirty="0">
                <a:latin typeface="Trebuchet MS"/>
                <a:cs typeface="Trebuchet MS"/>
              </a:rPr>
              <a:t>Log</a:t>
            </a:r>
            <a:r>
              <a:rPr sz="1600" spc="-15" dirty="0">
                <a:latin typeface="Trebuchet MS"/>
                <a:cs typeface="Trebuchet MS"/>
              </a:rPr>
              <a:t> </a:t>
            </a:r>
            <a:r>
              <a:rPr sz="1600" spc="10" dirty="0" smtClean="0">
                <a:latin typeface="Trebuchet MS"/>
                <a:cs typeface="Trebuchet MS"/>
              </a:rPr>
              <a:t>analysis</a:t>
            </a:r>
            <a:r>
              <a:rPr lang="en-US" sz="1600" spc="10" dirty="0" smtClean="0">
                <a:latin typeface="Trebuchet MS"/>
                <a:cs typeface="Trebuchet MS"/>
              </a:rPr>
              <a:t>.</a:t>
            </a:r>
            <a:endParaRPr sz="1600" dirty="0">
              <a:latin typeface="Trebuchet MS"/>
              <a:cs typeface="Trebuchet MS"/>
            </a:endParaRPr>
          </a:p>
          <a:p>
            <a:pPr marL="12700">
              <a:lnSpc>
                <a:spcPct val="100000"/>
              </a:lnSpc>
              <a:spcBef>
                <a:spcPts val="5"/>
              </a:spcBef>
            </a:pPr>
            <a:r>
              <a:rPr sz="1600" spc="-45" dirty="0">
                <a:latin typeface="Trebuchet MS"/>
                <a:cs typeface="Trebuchet MS"/>
              </a:rPr>
              <a:t>Text</a:t>
            </a:r>
            <a:r>
              <a:rPr sz="1600" spc="-10" dirty="0">
                <a:latin typeface="Trebuchet MS"/>
                <a:cs typeface="Trebuchet MS"/>
              </a:rPr>
              <a:t> </a:t>
            </a:r>
            <a:r>
              <a:rPr sz="1600" spc="10" dirty="0" smtClean="0">
                <a:latin typeface="Trebuchet MS"/>
                <a:cs typeface="Trebuchet MS"/>
              </a:rPr>
              <a:t>analysis</a:t>
            </a:r>
            <a:r>
              <a:rPr lang="en-US" sz="1600" spc="10" dirty="0" smtClean="0">
                <a:latin typeface="Trebuchet MS"/>
                <a:cs typeface="Trebuchet MS"/>
              </a:rPr>
              <a:t>.</a:t>
            </a:r>
            <a:endParaRPr sz="1600" dirty="0">
              <a:latin typeface="Trebuchet MS"/>
              <a:cs typeface="Trebuchet MS"/>
            </a:endParaRPr>
          </a:p>
        </p:txBody>
      </p:sp>
      <p:grpSp>
        <p:nvGrpSpPr>
          <p:cNvPr id="13" name="object 13"/>
          <p:cNvGrpSpPr/>
          <p:nvPr/>
        </p:nvGrpSpPr>
        <p:grpSpPr>
          <a:xfrm>
            <a:off x="3208020" y="3825048"/>
            <a:ext cx="4899660" cy="1050290"/>
            <a:chOff x="3208020" y="3720084"/>
            <a:chExt cx="4899660" cy="1050290"/>
          </a:xfrm>
        </p:grpSpPr>
        <p:sp>
          <p:nvSpPr>
            <p:cNvPr id="14" name="object 14"/>
            <p:cNvSpPr/>
            <p:nvPr/>
          </p:nvSpPr>
          <p:spPr>
            <a:xfrm>
              <a:off x="4789932" y="3747516"/>
              <a:ext cx="3317748" cy="944880"/>
            </a:xfrm>
            <a:prstGeom prst="rect">
              <a:avLst/>
            </a:prstGeom>
            <a:blipFill>
              <a:blip r:embed="rId7" cstate="print"/>
              <a:stretch>
                <a:fillRect/>
              </a:stretch>
            </a:blipFill>
          </p:spPr>
          <p:txBody>
            <a:bodyPr wrap="square" lIns="0" tIns="0" rIns="0" bIns="0" rtlCol="0"/>
            <a:lstStyle/>
            <a:p>
              <a:endParaRPr/>
            </a:p>
          </p:txBody>
        </p:sp>
        <p:sp>
          <p:nvSpPr>
            <p:cNvPr id="15" name="object 15"/>
            <p:cNvSpPr/>
            <p:nvPr/>
          </p:nvSpPr>
          <p:spPr>
            <a:xfrm>
              <a:off x="3208020" y="3720084"/>
              <a:ext cx="1807463" cy="1050036"/>
            </a:xfrm>
            <a:prstGeom prst="rect">
              <a:avLst/>
            </a:prstGeom>
            <a:blipFill>
              <a:blip r:embed="rId8" cstate="print"/>
              <a:stretch>
                <a:fillRect/>
              </a:stretch>
            </a:blipFill>
          </p:spPr>
          <p:txBody>
            <a:bodyPr wrap="square" lIns="0" tIns="0" rIns="0" bIns="0" rtlCol="0"/>
            <a:lstStyle/>
            <a:p>
              <a:endParaRPr/>
            </a:p>
          </p:txBody>
        </p:sp>
        <p:sp>
          <p:nvSpPr>
            <p:cNvPr id="16" name="object 16"/>
            <p:cNvSpPr/>
            <p:nvPr/>
          </p:nvSpPr>
          <p:spPr>
            <a:xfrm>
              <a:off x="3246120" y="3886200"/>
              <a:ext cx="1729739" cy="777239"/>
            </a:xfrm>
            <a:prstGeom prst="rect">
              <a:avLst/>
            </a:prstGeom>
            <a:blipFill>
              <a:blip r:embed="rId9" cstate="print"/>
              <a:stretch>
                <a:fillRect/>
              </a:stretch>
            </a:blipFill>
          </p:spPr>
          <p:txBody>
            <a:bodyPr wrap="square" lIns="0" tIns="0" rIns="0" bIns="0" rtlCol="0"/>
            <a:lstStyle/>
            <a:p>
              <a:endParaRPr/>
            </a:p>
          </p:txBody>
        </p:sp>
        <p:sp>
          <p:nvSpPr>
            <p:cNvPr id="17" name="object 17"/>
            <p:cNvSpPr/>
            <p:nvPr/>
          </p:nvSpPr>
          <p:spPr>
            <a:xfrm>
              <a:off x="3233928" y="3745992"/>
              <a:ext cx="1701164" cy="943610"/>
            </a:xfrm>
            <a:custGeom>
              <a:avLst/>
              <a:gdLst/>
              <a:ahLst/>
              <a:cxnLst/>
              <a:rect l="l" t="t" r="r" b="b"/>
              <a:pathLst>
                <a:path w="1701164" h="943610">
                  <a:moveTo>
                    <a:pt x="1580388" y="0"/>
                  </a:moveTo>
                  <a:lnTo>
                    <a:pt x="120396" y="0"/>
                  </a:lnTo>
                  <a:lnTo>
                    <a:pt x="73509" y="9453"/>
                  </a:lnTo>
                  <a:lnTo>
                    <a:pt x="35242" y="35242"/>
                  </a:lnTo>
                  <a:lnTo>
                    <a:pt x="9453" y="73509"/>
                  </a:lnTo>
                  <a:lnTo>
                    <a:pt x="0" y="120395"/>
                  </a:lnTo>
                  <a:lnTo>
                    <a:pt x="0" y="822959"/>
                  </a:lnTo>
                  <a:lnTo>
                    <a:pt x="9453" y="869846"/>
                  </a:lnTo>
                  <a:lnTo>
                    <a:pt x="35242" y="908113"/>
                  </a:lnTo>
                  <a:lnTo>
                    <a:pt x="73509" y="933902"/>
                  </a:lnTo>
                  <a:lnTo>
                    <a:pt x="120396" y="943355"/>
                  </a:lnTo>
                  <a:lnTo>
                    <a:pt x="1580388" y="943355"/>
                  </a:lnTo>
                  <a:lnTo>
                    <a:pt x="1627274" y="933902"/>
                  </a:lnTo>
                  <a:lnTo>
                    <a:pt x="1665541" y="908113"/>
                  </a:lnTo>
                  <a:lnTo>
                    <a:pt x="1691330" y="869846"/>
                  </a:lnTo>
                  <a:lnTo>
                    <a:pt x="1700784" y="822959"/>
                  </a:lnTo>
                  <a:lnTo>
                    <a:pt x="1700784" y="120395"/>
                  </a:lnTo>
                  <a:lnTo>
                    <a:pt x="1691330" y="73509"/>
                  </a:lnTo>
                  <a:lnTo>
                    <a:pt x="1665541" y="35242"/>
                  </a:lnTo>
                  <a:lnTo>
                    <a:pt x="1627274" y="9453"/>
                  </a:lnTo>
                  <a:lnTo>
                    <a:pt x="1580388" y="0"/>
                  </a:lnTo>
                  <a:close/>
                </a:path>
              </a:pathLst>
            </a:custGeom>
            <a:solidFill>
              <a:srgbClr val="8063A1"/>
            </a:solidFill>
          </p:spPr>
          <p:txBody>
            <a:bodyPr wrap="square" lIns="0" tIns="0" rIns="0" bIns="0" rtlCol="0"/>
            <a:lstStyle/>
            <a:p>
              <a:endParaRPr/>
            </a:p>
          </p:txBody>
        </p:sp>
      </p:grpSp>
      <p:sp>
        <p:nvSpPr>
          <p:cNvPr id="18" name="object 18"/>
          <p:cNvSpPr txBox="1"/>
          <p:nvPr/>
        </p:nvSpPr>
        <p:spPr>
          <a:xfrm>
            <a:off x="6784085" y="1722944"/>
            <a:ext cx="102235" cy="147955"/>
          </a:xfrm>
          <a:prstGeom prst="rect">
            <a:avLst/>
          </a:prstGeom>
        </p:spPr>
        <p:txBody>
          <a:bodyPr vert="horz" wrap="square" lIns="0" tIns="13335" rIns="0" bIns="0" rtlCol="0">
            <a:spAutoFit/>
          </a:bodyPr>
          <a:lstStyle/>
          <a:p>
            <a:pPr marL="12700">
              <a:lnSpc>
                <a:spcPct val="100000"/>
              </a:lnSpc>
              <a:spcBef>
                <a:spcPts val="105"/>
              </a:spcBef>
            </a:pPr>
            <a:r>
              <a:rPr sz="800" dirty="0">
                <a:latin typeface="Wingdings"/>
                <a:cs typeface="Wingdings"/>
              </a:rPr>
              <a:t></a:t>
            </a:r>
            <a:endParaRPr sz="800">
              <a:latin typeface="Wingdings"/>
              <a:cs typeface="Wingdings"/>
            </a:endParaRPr>
          </a:p>
        </p:txBody>
      </p:sp>
      <p:sp>
        <p:nvSpPr>
          <p:cNvPr id="19" name="object 19"/>
          <p:cNvSpPr txBox="1"/>
          <p:nvPr/>
        </p:nvSpPr>
        <p:spPr>
          <a:xfrm>
            <a:off x="6784085" y="1967038"/>
            <a:ext cx="102235" cy="147955"/>
          </a:xfrm>
          <a:prstGeom prst="rect">
            <a:avLst/>
          </a:prstGeom>
        </p:spPr>
        <p:txBody>
          <a:bodyPr vert="horz" wrap="square" lIns="0" tIns="13335" rIns="0" bIns="0" rtlCol="0">
            <a:spAutoFit/>
          </a:bodyPr>
          <a:lstStyle/>
          <a:p>
            <a:pPr marL="12700">
              <a:lnSpc>
                <a:spcPct val="100000"/>
              </a:lnSpc>
              <a:spcBef>
                <a:spcPts val="105"/>
              </a:spcBef>
            </a:pPr>
            <a:r>
              <a:rPr sz="800" dirty="0">
                <a:latin typeface="Wingdings"/>
                <a:cs typeface="Wingdings"/>
              </a:rPr>
              <a:t></a:t>
            </a:r>
            <a:endParaRPr sz="800">
              <a:latin typeface="Wingdings"/>
              <a:cs typeface="Wingdings"/>
            </a:endParaRPr>
          </a:p>
        </p:txBody>
      </p:sp>
      <p:sp>
        <p:nvSpPr>
          <p:cNvPr id="20" name="object 20"/>
          <p:cNvSpPr txBox="1"/>
          <p:nvPr/>
        </p:nvSpPr>
        <p:spPr>
          <a:xfrm>
            <a:off x="6784085" y="2210877"/>
            <a:ext cx="102235" cy="147955"/>
          </a:xfrm>
          <a:prstGeom prst="rect">
            <a:avLst/>
          </a:prstGeom>
        </p:spPr>
        <p:txBody>
          <a:bodyPr vert="horz" wrap="square" lIns="0" tIns="13335" rIns="0" bIns="0" rtlCol="0">
            <a:spAutoFit/>
          </a:bodyPr>
          <a:lstStyle/>
          <a:p>
            <a:pPr marL="12700">
              <a:lnSpc>
                <a:spcPct val="100000"/>
              </a:lnSpc>
              <a:spcBef>
                <a:spcPts val="105"/>
              </a:spcBef>
            </a:pPr>
            <a:r>
              <a:rPr sz="800" dirty="0">
                <a:latin typeface="Wingdings"/>
                <a:cs typeface="Wingdings"/>
              </a:rPr>
              <a:t></a:t>
            </a:r>
            <a:endParaRPr sz="800">
              <a:latin typeface="Wingdings"/>
              <a:cs typeface="Wingdings"/>
            </a:endParaRPr>
          </a:p>
        </p:txBody>
      </p:sp>
      <p:sp>
        <p:nvSpPr>
          <p:cNvPr id="21" name="object 21"/>
          <p:cNvSpPr txBox="1"/>
          <p:nvPr/>
        </p:nvSpPr>
        <p:spPr>
          <a:xfrm>
            <a:off x="7070596" y="1664727"/>
            <a:ext cx="2454403" cy="750847"/>
          </a:xfrm>
          <a:prstGeom prst="rect">
            <a:avLst/>
          </a:prstGeom>
        </p:spPr>
        <p:txBody>
          <a:bodyPr vert="horz" wrap="square" lIns="0" tIns="12065" rIns="0" bIns="0" rtlCol="0">
            <a:spAutoFit/>
          </a:bodyPr>
          <a:lstStyle/>
          <a:p>
            <a:pPr marL="12700">
              <a:lnSpc>
                <a:spcPct val="100000"/>
              </a:lnSpc>
              <a:spcBef>
                <a:spcPts val="95"/>
              </a:spcBef>
            </a:pPr>
            <a:r>
              <a:rPr sz="1600" spc="20" dirty="0">
                <a:latin typeface="Trebuchet MS"/>
                <a:cs typeface="Trebuchet MS"/>
              </a:rPr>
              <a:t>User </a:t>
            </a:r>
            <a:r>
              <a:rPr sz="1600" spc="5" dirty="0">
                <a:latin typeface="Trebuchet MS"/>
                <a:cs typeface="Trebuchet MS"/>
              </a:rPr>
              <a:t>behavior</a:t>
            </a:r>
            <a:r>
              <a:rPr sz="1600" dirty="0">
                <a:latin typeface="Trebuchet MS"/>
                <a:cs typeface="Trebuchet MS"/>
              </a:rPr>
              <a:t> </a:t>
            </a:r>
            <a:r>
              <a:rPr sz="1600" spc="10" dirty="0" smtClean="0">
                <a:latin typeface="Trebuchet MS"/>
                <a:cs typeface="Trebuchet MS"/>
              </a:rPr>
              <a:t>analysis</a:t>
            </a:r>
            <a:r>
              <a:rPr lang="en-US" sz="1600" spc="10" dirty="0" smtClean="0">
                <a:latin typeface="Trebuchet MS"/>
                <a:cs typeface="Trebuchet MS"/>
              </a:rPr>
              <a:t>.</a:t>
            </a:r>
            <a:endParaRPr sz="1600" dirty="0">
              <a:latin typeface="Trebuchet MS"/>
              <a:cs typeface="Trebuchet MS"/>
            </a:endParaRPr>
          </a:p>
          <a:p>
            <a:pPr marL="12700" marR="517525">
              <a:lnSpc>
                <a:spcPct val="100000"/>
              </a:lnSpc>
              <a:spcBef>
                <a:spcPts val="5"/>
              </a:spcBef>
            </a:pPr>
            <a:r>
              <a:rPr sz="1600" spc="-20" dirty="0">
                <a:latin typeface="Trebuchet MS"/>
                <a:cs typeface="Trebuchet MS"/>
              </a:rPr>
              <a:t>Interest </a:t>
            </a:r>
            <a:r>
              <a:rPr lang="en-US" sz="1600" spc="-10" dirty="0" smtClean="0">
                <a:latin typeface="Trebuchet MS"/>
                <a:cs typeface="Trebuchet MS"/>
              </a:rPr>
              <a:t>analysis</a:t>
            </a:r>
            <a:r>
              <a:rPr lang="en-US" sz="1600" spc="-10" dirty="0">
                <a:latin typeface="Trebuchet MS"/>
                <a:cs typeface="Trebuchet MS"/>
              </a:rPr>
              <a:t>.</a:t>
            </a:r>
            <a:r>
              <a:rPr sz="1600" spc="-10" dirty="0" smtClean="0">
                <a:latin typeface="Trebuchet MS"/>
                <a:cs typeface="Trebuchet MS"/>
              </a:rPr>
              <a:t> </a:t>
            </a:r>
            <a:r>
              <a:rPr sz="1600" spc="20" dirty="0">
                <a:latin typeface="Trebuchet MS"/>
                <a:cs typeface="Trebuchet MS"/>
              </a:rPr>
              <a:t>Area </a:t>
            </a:r>
            <a:r>
              <a:rPr sz="1600" dirty="0" smtClean="0">
                <a:latin typeface="Trebuchet MS"/>
                <a:cs typeface="Trebuchet MS"/>
              </a:rPr>
              <a:t>display</a:t>
            </a:r>
            <a:r>
              <a:rPr lang="en-US" sz="1600" dirty="0" smtClean="0">
                <a:latin typeface="Trebuchet MS"/>
                <a:cs typeface="Trebuchet MS"/>
              </a:rPr>
              <a:t>.</a:t>
            </a:r>
            <a:endParaRPr sz="1600" dirty="0">
              <a:latin typeface="Trebuchet MS"/>
              <a:cs typeface="Trebuchet MS"/>
            </a:endParaRPr>
          </a:p>
        </p:txBody>
      </p:sp>
      <p:sp>
        <p:nvSpPr>
          <p:cNvPr id="22" name="object 22"/>
          <p:cNvSpPr txBox="1"/>
          <p:nvPr/>
        </p:nvSpPr>
        <p:spPr>
          <a:xfrm>
            <a:off x="3381883" y="4064061"/>
            <a:ext cx="1403985" cy="513080"/>
          </a:xfrm>
          <a:prstGeom prst="rect">
            <a:avLst/>
          </a:prstGeom>
        </p:spPr>
        <p:txBody>
          <a:bodyPr vert="horz" wrap="square" lIns="0" tIns="12065" rIns="0" bIns="0" rtlCol="0">
            <a:spAutoFit/>
          </a:bodyPr>
          <a:lstStyle/>
          <a:p>
            <a:pPr marL="12700" marR="5080" indent="467359">
              <a:lnSpc>
                <a:spcPct val="100000"/>
              </a:lnSpc>
              <a:spcBef>
                <a:spcPts val="95"/>
              </a:spcBef>
            </a:pPr>
            <a:r>
              <a:rPr sz="1600" spc="45" dirty="0">
                <a:solidFill>
                  <a:srgbClr val="FFFFFF"/>
                </a:solidFill>
                <a:latin typeface="Trebuchet MS"/>
                <a:cs typeface="Trebuchet MS"/>
              </a:rPr>
              <a:t>Data  </a:t>
            </a:r>
            <a:r>
              <a:rPr sz="1600" spc="70" dirty="0">
                <a:solidFill>
                  <a:srgbClr val="FFFFFF"/>
                </a:solidFill>
                <a:latin typeface="Trebuchet MS"/>
                <a:cs typeface="Trebuchet MS"/>
              </a:rPr>
              <a:t>sum</a:t>
            </a:r>
            <a:r>
              <a:rPr sz="1600" spc="90" dirty="0">
                <a:solidFill>
                  <a:srgbClr val="FFFFFF"/>
                </a:solidFill>
                <a:latin typeface="Trebuchet MS"/>
                <a:cs typeface="Trebuchet MS"/>
              </a:rPr>
              <a:t>m</a:t>
            </a:r>
            <a:r>
              <a:rPr sz="1600" spc="40" dirty="0">
                <a:solidFill>
                  <a:srgbClr val="FFFFFF"/>
                </a:solidFill>
                <a:latin typeface="Trebuchet MS"/>
                <a:cs typeface="Trebuchet MS"/>
              </a:rPr>
              <a:t>a</a:t>
            </a:r>
            <a:r>
              <a:rPr sz="1600" spc="-15" dirty="0">
                <a:solidFill>
                  <a:srgbClr val="FFFFFF"/>
                </a:solidFill>
                <a:latin typeface="Trebuchet MS"/>
                <a:cs typeface="Trebuchet MS"/>
              </a:rPr>
              <a:t>riz</a:t>
            </a:r>
            <a:r>
              <a:rPr sz="1600" spc="-10" dirty="0">
                <a:solidFill>
                  <a:srgbClr val="FFFFFF"/>
                </a:solidFill>
                <a:latin typeface="Trebuchet MS"/>
                <a:cs typeface="Trebuchet MS"/>
              </a:rPr>
              <a:t>a</a:t>
            </a:r>
            <a:r>
              <a:rPr sz="1600" spc="-5" dirty="0">
                <a:solidFill>
                  <a:srgbClr val="FFFFFF"/>
                </a:solidFill>
                <a:latin typeface="Trebuchet MS"/>
                <a:cs typeface="Trebuchet MS"/>
              </a:rPr>
              <a:t>tion</a:t>
            </a:r>
            <a:endParaRPr sz="1600" dirty="0">
              <a:latin typeface="Trebuchet MS"/>
              <a:cs typeface="Trebuchet MS"/>
            </a:endParaRPr>
          </a:p>
        </p:txBody>
      </p:sp>
      <p:grpSp>
        <p:nvGrpSpPr>
          <p:cNvPr id="23" name="object 23"/>
          <p:cNvGrpSpPr/>
          <p:nvPr/>
        </p:nvGrpSpPr>
        <p:grpSpPr>
          <a:xfrm>
            <a:off x="2526282" y="4854814"/>
            <a:ext cx="4544695" cy="1050290"/>
            <a:chOff x="2574035" y="4869179"/>
            <a:chExt cx="4544695" cy="1050290"/>
          </a:xfrm>
        </p:grpSpPr>
        <p:sp>
          <p:nvSpPr>
            <p:cNvPr id="24" name="object 24"/>
            <p:cNvSpPr/>
            <p:nvPr/>
          </p:nvSpPr>
          <p:spPr>
            <a:xfrm>
              <a:off x="3800855" y="4895087"/>
              <a:ext cx="3317748" cy="943356"/>
            </a:xfrm>
            <a:prstGeom prst="rect">
              <a:avLst/>
            </a:prstGeom>
            <a:blipFill>
              <a:blip r:embed="rId10" cstate="print"/>
              <a:stretch>
                <a:fillRect/>
              </a:stretch>
            </a:blipFill>
          </p:spPr>
          <p:txBody>
            <a:bodyPr wrap="square" lIns="0" tIns="0" rIns="0" bIns="0" rtlCol="0"/>
            <a:lstStyle/>
            <a:p>
              <a:endParaRPr/>
            </a:p>
          </p:txBody>
        </p:sp>
        <p:sp>
          <p:nvSpPr>
            <p:cNvPr id="25" name="object 25"/>
            <p:cNvSpPr/>
            <p:nvPr/>
          </p:nvSpPr>
          <p:spPr>
            <a:xfrm>
              <a:off x="2574035" y="4869179"/>
              <a:ext cx="1498091" cy="1050036"/>
            </a:xfrm>
            <a:prstGeom prst="rect">
              <a:avLst/>
            </a:prstGeom>
            <a:blipFill>
              <a:blip r:embed="rId11" cstate="print"/>
              <a:stretch>
                <a:fillRect/>
              </a:stretch>
            </a:blipFill>
          </p:spPr>
          <p:txBody>
            <a:bodyPr wrap="square" lIns="0" tIns="0" rIns="0" bIns="0" rtlCol="0"/>
            <a:lstStyle/>
            <a:p>
              <a:endParaRPr/>
            </a:p>
          </p:txBody>
        </p:sp>
        <p:sp>
          <p:nvSpPr>
            <p:cNvPr id="26" name="object 26"/>
            <p:cNvSpPr/>
            <p:nvPr/>
          </p:nvSpPr>
          <p:spPr>
            <a:xfrm>
              <a:off x="2647187" y="5035295"/>
              <a:ext cx="1351788" cy="777239"/>
            </a:xfrm>
            <a:prstGeom prst="rect">
              <a:avLst/>
            </a:prstGeom>
            <a:blipFill>
              <a:blip r:embed="rId12" cstate="print"/>
              <a:stretch>
                <a:fillRect/>
              </a:stretch>
            </a:blipFill>
          </p:spPr>
          <p:txBody>
            <a:bodyPr wrap="square" lIns="0" tIns="0" rIns="0" bIns="0" rtlCol="0"/>
            <a:lstStyle/>
            <a:p>
              <a:endParaRPr/>
            </a:p>
          </p:txBody>
        </p:sp>
        <p:sp>
          <p:nvSpPr>
            <p:cNvPr id="27" name="object 27"/>
            <p:cNvSpPr/>
            <p:nvPr/>
          </p:nvSpPr>
          <p:spPr>
            <a:xfrm>
              <a:off x="2599943" y="4895087"/>
              <a:ext cx="1391920" cy="943610"/>
            </a:xfrm>
            <a:custGeom>
              <a:avLst/>
              <a:gdLst/>
              <a:ahLst/>
              <a:cxnLst/>
              <a:rect l="l" t="t" r="r" b="b"/>
              <a:pathLst>
                <a:path w="1391920" h="943610">
                  <a:moveTo>
                    <a:pt x="1271016" y="0"/>
                  </a:moveTo>
                  <a:lnTo>
                    <a:pt x="120395" y="0"/>
                  </a:lnTo>
                  <a:lnTo>
                    <a:pt x="73509" y="9453"/>
                  </a:lnTo>
                  <a:lnTo>
                    <a:pt x="35242" y="35242"/>
                  </a:lnTo>
                  <a:lnTo>
                    <a:pt x="9453" y="73509"/>
                  </a:lnTo>
                  <a:lnTo>
                    <a:pt x="0" y="120395"/>
                  </a:lnTo>
                  <a:lnTo>
                    <a:pt x="0" y="822985"/>
                  </a:lnTo>
                  <a:lnTo>
                    <a:pt x="9453" y="869836"/>
                  </a:lnTo>
                  <a:lnTo>
                    <a:pt x="35242" y="908097"/>
                  </a:lnTo>
                  <a:lnTo>
                    <a:pt x="73509" y="933895"/>
                  </a:lnTo>
                  <a:lnTo>
                    <a:pt x="120395" y="943356"/>
                  </a:lnTo>
                  <a:lnTo>
                    <a:pt x="1271016" y="943356"/>
                  </a:lnTo>
                  <a:lnTo>
                    <a:pt x="1317902" y="933895"/>
                  </a:lnTo>
                  <a:lnTo>
                    <a:pt x="1356169" y="908097"/>
                  </a:lnTo>
                  <a:lnTo>
                    <a:pt x="1381958" y="869836"/>
                  </a:lnTo>
                  <a:lnTo>
                    <a:pt x="1391411" y="822985"/>
                  </a:lnTo>
                  <a:lnTo>
                    <a:pt x="1391411" y="120395"/>
                  </a:lnTo>
                  <a:lnTo>
                    <a:pt x="1381958" y="73509"/>
                  </a:lnTo>
                  <a:lnTo>
                    <a:pt x="1356169" y="35242"/>
                  </a:lnTo>
                  <a:lnTo>
                    <a:pt x="1317902" y="9453"/>
                  </a:lnTo>
                  <a:lnTo>
                    <a:pt x="1271016" y="0"/>
                  </a:lnTo>
                  <a:close/>
                </a:path>
              </a:pathLst>
            </a:custGeom>
            <a:solidFill>
              <a:srgbClr val="4AACC5"/>
            </a:solidFill>
          </p:spPr>
          <p:txBody>
            <a:bodyPr wrap="square" lIns="0" tIns="0" rIns="0" bIns="0" rtlCol="0"/>
            <a:lstStyle/>
            <a:p>
              <a:endParaRPr/>
            </a:p>
          </p:txBody>
        </p:sp>
      </p:grpSp>
      <p:sp>
        <p:nvSpPr>
          <p:cNvPr id="28" name="object 28"/>
          <p:cNvSpPr txBox="1"/>
          <p:nvPr/>
        </p:nvSpPr>
        <p:spPr>
          <a:xfrm>
            <a:off x="2782951" y="5213158"/>
            <a:ext cx="1028065" cy="513080"/>
          </a:xfrm>
          <a:prstGeom prst="rect">
            <a:avLst/>
          </a:prstGeom>
        </p:spPr>
        <p:txBody>
          <a:bodyPr vert="horz" wrap="square" lIns="0" tIns="12065" rIns="0" bIns="0" rtlCol="0">
            <a:spAutoFit/>
          </a:bodyPr>
          <a:lstStyle/>
          <a:p>
            <a:pPr marL="12700" marR="5080" indent="277495">
              <a:lnSpc>
                <a:spcPct val="100000"/>
              </a:lnSpc>
              <a:spcBef>
                <a:spcPts val="95"/>
              </a:spcBef>
            </a:pPr>
            <a:r>
              <a:rPr sz="1600" spc="45" dirty="0">
                <a:solidFill>
                  <a:srgbClr val="FFFFFF"/>
                </a:solidFill>
                <a:latin typeface="Trebuchet MS"/>
                <a:cs typeface="Trebuchet MS"/>
              </a:rPr>
              <a:t>Data  </a:t>
            </a:r>
            <a:r>
              <a:rPr sz="1600" spc="25" dirty="0">
                <a:solidFill>
                  <a:srgbClr val="FFFFFF"/>
                </a:solidFill>
                <a:latin typeface="Trebuchet MS"/>
                <a:cs typeface="Trebuchet MS"/>
              </a:rPr>
              <a:t>war</a:t>
            </a:r>
            <a:r>
              <a:rPr sz="1600" spc="5" dirty="0">
                <a:solidFill>
                  <a:srgbClr val="FFFFFF"/>
                </a:solidFill>
                <a:latin typeface="Trebuchet MS"/>
                <a:cs typeface="Trebuchet MS"/>
              </a:rPr>
              <a:t>e</a:t>
            </a:r>
            <a:r>
              <a:rPr sz="1600" spc="10" dirty="0">
                <a:solidFill>
                  <a:srgbClr val="FFFFFF"/>
                </a:solidFill>
                <a:latin typeface="Trebuchet MS"/>
                <a:cs typeface="Trebuchet MS"/>
              </a:rPr>
              <a:t>h</a:t>
            </a:r>
            <a:r>
              <a:rPr sz="1600" spc="60" dirty="0">
                <a:solidFill>
                  <a:srgbClr val="FFFFFF"/>
                </a:solidFill>
                <a:latin typeface="Trebuchet MS"/>
                <a:cs typeface="Trebuchet MS"/>
              </a:rPr>
              <a:t>o</a:t>
            </a:r>
            <a:r>
              <a:rPr sz="1600" spc="15" dirty="0">
                <a:solidFill>
                  <a:srgbClr val="FFFFFF"/>
                </a:solidFill>
                <a:latin typeface="Trebuchet MS"/>
                <a:cs typeface="Trebuchet MS"/>
              </a:rPr>
              <a:t>use</a:t>
            </a:r>
            <a:endParaRPr sz="1600" dirty="0">
              <a:latin typeface="Trebuchet MS"/>
              <a:cs typeface="Trebuchet MS"/>
            </a:endParaRPr>
          </a:p>
        </p:txBody>
      </p:sp>
      <p:sp>
        <p:nvSpPr>
          <p:cNvPr id="29" name="object 29"/>
          <p:cNvSpPr txBox="1"/>
          <p:nvPr/>
        </p:nvSpPr>
        <p:spPr>
          <a:xfrm>
            <a:off x="4046982" y="5141529"/>
            <a:ext cx="102235" cy="147955"/>
          </a:xfrm>
          <a:prstGeom prst="rect">
            <a:avLst/>
          </a:prstGeom>
        </p:spPr>
        <p:txBody>
          <a:bodyPr vert="horz" wrap="square" lIns="0" tIns="12700" rIns="0" bIns="0" rtlCol="0">
            <a:spAutoFit/>
          </a:bodyPr>
          <a:lstStyle/>
          <a:p>
            <a:pPr marL="12700">
              <a:lnSpc>
                <a:spcPct val="100000"/>
              </a:lnSpc>
              <a:spcBef>
                <a:spcPts val="100"/>
              </a:spcBef>
            </a:pPr>
            <a:r>
              <a:rPr sz="800" dirty="0">
                <a:latin typeface="Wingdings"/>
                <a:cs typeface="Wingdings"/>
              </a:rPr>
              <a:t></a:t>
            </a:r>
            <a:endParaRPr sz="800">
              <a:latin typeface="Wingdings"/>
              <a:cs typeface="Wingdings"/>
            </a:endParaRPr>
          </a:p>
        </p:txBody>
      </p:sp>
      <p:sp>
        <p:nvSpPr>
          <p:cNvPr id="30" name="object 30"/>
          <p:cNvSpPr txBox="1"/>
          <p:nvPr/>
        </p:nvSpPr>
        <p:spPr>
          <a:xfrm>
            <a:off x="4046982" y="5385369"/>
            <a:ext cx="102235" cy="147955"/>
          </a:xfrm>
          <a:prstGeom prst="rect">
            <a:avLst/>
          </a:prstGeom>
        </p:spPr>
        <p:txBody>
          <a:bodyPr vert="horz" wrap="square" lIns="0" tIns="12700" rIns="0" bIns="0" rtlCol="0">
            <a:spAutoFit/>
          </a:bodyPr>
          <a:lstStyle/>
          <a:p>
            <a:pPr marL="12700">
              <a:lnSpc>
                <a:spcPct val="100000"/>
              </a:lnSpc>
              <a:spcBef>
                <a:spcPts val="100"/>
              </a:spcBef>
            </a:pPr>
            <a:r>
              <a:rPr sz="800" dirty="0">
                <a:latin typeface="Wingdings"/>
                <a:cs typeface="Wingdings"/>
              </a:rPr>
              <a:t></a:t>
            </a:r>
            <a:endParaRPr sz="800">
              <a:latin typeface="Wingdings"/>
              <a:cs typeface="Wingdings"/>
            </a:endParaRPr>
          </a:p>
        </p:txBody>
      </p:sp>
      <p:sp>
        <p:nvSpPr>
          <p:cNvPr id="31" name="object 31"/>
          <p:cNvSpPr txBox="1"/>
          <p:nvPr/>
        </p:nvSpPr>
        <p:spPr>
          <a:xfrm>
            <a:off x="4046982" y="5629260"/>
            <a:ext cx="102235" cy="147955"/>
          </a:xfrm>
          <a:prstGeom prst="rect">
            <a:avLst/>
          </a:prstGeom>
        </p:spPr>
        <p:txBody>
          <a:bodyPr vert="horz" wrap="square" lIns="0" tIns="12700" rIns="0" bIns="0" rtlCol="0">
            <a:spAutoFit/>
          </a:bodyPr>
          <a:lstStyle/>
          <a:p>
            <a:pPr marL="12700">
              <a:lnSpc>
                <a:spcPct val="100000"/>
              </a:lnSpc>
              <a:spcBef>
                <a:spcPts val="100"/>
              </a:spcBef>
            </a:pPr>
            <a:r>
              <a:rPr sz="800" dirty="0">
                <a:latin typeface="Wingdings"/>
                <a:cs typeface="Wingdings"/>
              </a:rPr>
              <a:t></a:t>
            </a:r>
            <a:endParaRPr sz="800">
              <a:latin typeface="Wingdings"/>
              <a:cs typeface="Wingdings"/>
            </a:endParaRPr>
          </a:p>
        </p:txBody>
      </p:sp>
      <p:sp>
        <p:nvSpPr>
          <p:cNvPr id="32" name="object 32"/>
          <p:cNvSpPr txBox="1"/>
          <p:nvPr/>
        </p:nvSpPr>
        <p:spPr>
          <a:xfrm>
            <a:off x="4259894" y="5043110"/>
            <a:ext cx="2450591" cy="763671"/>
          </a:xfrm>
          <a:prstGeom prst="rect">
            <a:avLst/>
          </a:prstGeom>
        </p:spPr>
        <p:txBody>
          <a:bodyPr vert="horz" wrap="square" lIns="0" tIns="12065" rIns="0" bIns="0" rtlCol="0">
            <a:spAutoFit/>
          </a:bodyPr>
          <a:lstStyle/>
          <a:p>
            <a:pPr marL="12700" marR="473709">
              <a:lnSpc>
                <a:spcPct val="100000"/>
              </a:lnSpc>
              <a:spcBef>
                <a:spcPts val="95"/>
              </a:spcBef>
            </a:pPr>
            <a:r>
              <a:rPr sz="1600" spc="45" dirty="0">
                <a:latin typeface="Trebuchet MS"/>
                <a:cs typeface="Trebuchet MS"/>
              </a:rPr>
              <a:t>Data</a:t>
            </a:r>
            <a:r>
              <a:rPr sz="1600" spc="-35" dirty="0">
                <a:latin typeface="Trebuchet MS"/>
                <a:cs typeface="Trebuchet MS"/>
              </a:rPr>
              <a:t> </a:t>
            </a:r>
            <a:r>
              <a:rPr lang="en-US" sz="1600" spc="-20" dirty="0" smtClean="0">
                <a:latin typeface="Trebuchet MS"/>
                <a:cs typeface="Trebuchet MS"/>
              </a:rPr>
              <a:t>E</a:t>
            </a:r>
            <a:r>
              <a:rPr sz="1600" spc="-20" dirty="0" smtClean="0">
                <a:latin typeface="Trebuchet MS"/>
                <a:cs typeface="Trebuchet MS"/>
              </a:rPr>
              <a:t>xtraction  </a:t>
            </a:r>
            <a:r>
              <a:rPr sz="1600" spc="45" dirty="0" smtClean="0">
                <a:latin typeface="Trebuchet MS"/>
                <a:cs typeface="Trebuchet MS"/>
              </a:rPr>
              <a:t>Data</a:t>
            </a:r>
            <a:r>
              <a:rPr sz="1600" spc="-35" dirty="0" smtClean="0">
                <a:latin typeface="Trebuchet MS"/>
                <a:cs typeface="Trebuchet MS"/>
              </a:rPr>
              <a:t> </a:t>
            </a:r>
            <a:r>
              <a:rPr lang="en-US" sz="1600" spc="15" dirty="0" smtClean="0">
                <a:latin typeface="Trebuchet MS"/>
                <a:cs typeface="Trebuchet MS"/>
              </a:rPr>
              <a:t>T</a:t>
            </a:r>
            <a:r>
              <a:rPr sz="1600" spc="15" dirty="0" smtClean="0">
                <a:latin typeface="Trebuchet MS"/>
                <a:cs typeface="Trebuchet MS"/>
              </a:rPr>
              <a:t>ransformation</a:t>
            </a:r>
            <a:endParaRPr lang="en-US" sz="1600" spc="15" dirty="0" smtClean="0">
              <a:latin typeface="Trebuchet MS"/>
              <a:cs typeface="Trebuchet MS"/>
            </a:endParaRPr>
          </a:p>
          <a:p>
            <a:pPr marL="12700" marR="473709">
              <a:spcBef>
                <a:spcPts val="95"/>
              </a:spcBef>
            </a:pPr>
            <a:r>
              <a:rPr lang="en-US" sz="1600" spc="45" dirty="0">
                <a:latin typeface="Trebuchet MS"/>
                <a:cs typeface="Trebuchet MS"/>
              </a:rPr>
              <a:t>Data</a:t>
            </a:r>
            <a:r>
              <a:rPr lang="en-US" sz="1600" spc="15" dirty="0">
                <a:latin typeface="Trebuchet MS"/>
                <a:cs typeface="Trebuchet MS"/>
              </a:rPr>
              <a:t> </a:t>
            </a:r>
            <a:r>
              <a:rPr lang="en-US" sz="1600" spc="25" dirty="0" smtClean="0">
                <a:latin typeface="Trebuchet MS"/>
                <a:cs typeface="Trebuchet MS"/>
              </a:rPr>
              <a:t>Loading</a:t>
            </a:r>
            <a:endParaRPr lang="en-US" sz="1600" dirty="0">
              <a:latin typeface="Trebuchet MS"/>
              <a:cs typeface="Trebuchet MS"/>
            </a:endParaRPr>
          </a:p>
        </p:txBody>
      </p:sp>
      <p:sp>
        <p:nvSpPr>
          <p:cNvPr id="33" name="object 33"/>
          <p:cNvSpPr txBox="1">
            <a:spLocks noGrp="1"/>
          </p:cNvSpPr>
          <p:nvPr>
            <p:ph type="title"/>
          </p:nvPr>
        </p:nvSpPr>
        <p:spPr>
          <a:xfrm>
            <a:off x="1620709" y="651737"/>
            <a:ext cx="8839329" cy="567463"/>
          </a:xfrm>
          <a:prstGeom prst="rect">
            <a:avLst/>
          </a:prstGeom>
        </p:spPr>
        <p:txBody>
          <a:bodyPr vert="horz" wrap="square" lIns="0" tIns="13335" rIns="0" bIns="0" rtlCol="0">
            <a:spAutoFit/>
          </a:bodyPr>
          <a:lstStyle/>
          <a:p>
            <a:pPr marL="12700">
              <a:lnSpc>
                <a:spcPct val="100000"/>
              </a:lnSpc>
              <a:spcBef>
                <a:spcPts val="105"/>
              </a:spcBef>
            </a:pPr>
            <a:r>
              <a:rPr spc="10" dirty="0"/>
              <a:t>Application </a:t>
            </a:r>
            <a:r>
              <a:rPr spc="25" dirty="0"/>
              <a:t>Scenarios </a:t>
            </a:r>
            <a:r>
              <a:rPr spc="30" dirty="0"/>
              <a:t>of</a:t>
            </a:r>
            <a:r>
              <a:rPr spc="5" dirty="0"/>
              <a:t> </a:t>
            </a:r>
            <a:r>
              <a:rPr spc="40" dirty="0"/>
              <a:t>Hive</a:t>
            </a:r>
          </a:p>
        </p:txBody>
      </p:sp>
      <p:grpSp>
        <p:nvGrpSpPr>
          <p:cNvPr id="34" name="object 34"/>
          <p:cNvGrpSpPr/>
          <p:nvPr/>
        </p:nvGrpSpPr>
        <p:grpSpPr>
          <a:xfrm>
            <a:off x="5292852" y="1560383"/>
            <a:ext cx="1496695" cy="1051560"/>
            <a:chOff x="5292852" y="1455419"/>
            <a:chExt cx="1496695" cy="1051560"/>
          </a:xfrm>
        </p:grpSpPr>
        <p:sp>
          <p:nvSpPr>
            <p:cNvPr id="35" name="object 35"/>
            <p:cNvSpPr/>
            <p:nvPr/>
          </p:nvSpPr>
          <p:spPr>
            <a:xfrm>
              <a:off x="5292852" y="1455419"/>
              <a:ext cx="1496568" cy="1051560"/>
            </a:xfrm>
            <a:prstGeom prst="rect">
              <a:avLst/>
            </a:prstGeom>
            <a:blipFill>
              <a:blip r:embed="rId13" cstate="print"/>
              <a:stretch>
                <a:fillRect/>
              </a:stretch>
            </a:blipFill>
          </p:spPr>
          <p:txBody>
            <a:bodyPr wrap="square" lIns="0" tIns="0" rIns="0" bIns="0" rtlCol="0"/>
            <a:lstStyle/>
            <a:p>
              <a:endParaRPr/>
            </a:p>
          </p:txBody>
        </p:sp>
        <p:sp>
          <p:nvSpPr>
            <p:cNvPr id="36" name="object 36"/>
            <p:cNvSpPr/>
            <p:nvPr/>
          </p:nvSpPr>
          <p:spPr>
            <a:xfrm>
              <a:off x="5544312" y="1623059"/>
              <a:ext cx="992124" cy="777239"/>
            </a:xfrm>
            <a:prstGeom prst="rect">
              <a:avLst/>
            </a:prstGeom>
            <a:blipFill>
              <a:blip r:embed="rId14" cstate="print"/>
              <a:stretch>
                <a:fillRect/>
              </a:stretch>
            </a:blipFill>
          </p:spPr>
          <p:txBody>
            <a:bodyPr wrap="square" lIns="0" tIns="0" rIns="0" bIns="0" rtlCol="0"/>
            <a:lstStyle/>
            <a:p>
              <a:endParaRPr/>
            </a:p>
          </p:txBody>
        </p:sp>
        <p:sp>
          <p:nvSpPr>
            <p:cNvPr id="37" name="object 37"/>
            <p:cNvSpPr/>
            <p:nvPr/>
          </p:nvSpPr>
          <p:spPr>
            <a:xfrm>
              <a:off x="5318760" y="1481327"/>
              <a:ext cx="1390015" cy="944880"/>
            </a:xfrm>
            <a:custGeom>
              <a:avLst/>
              <a:gdLst/>
              <a:ahLst/>
              <a:cxnLst/>
              <a:rect l="l" t="t" r="r" b="b"/>
              <a:pathLst>
                <a:path w="1390015" h="944880">
                  <a:moveTo>
                    <a:pt x="1269364" y="0"/>
                  </a:moveTo>
                  <a:lnTo>
                    <a:pt x="120523" y="0"/>
                  </a:lnTo>
                  <a:lnTo>
                    <a:pt x="73616" y="9473"/>
                  </a:lnTo>
                  <a:lnTo>
                    <a:pt x="35306" y="35305"/>
                  </a:lnTo>
                  <a:lnTo>
                    <a:pt x="9473" y="73616"/>
                  </a:lnTo>
                  <a:lnTo>
                    <a:pt x="0" y="120523"/>
                  </a:lnTo>
                  <a:lnTo>
                    <a:pt x="0" y="824357"/>
                  </a:lnTo>
                  <a:lnTo>
                    <a:pt x="9473" y="871263"/>
                  </a:lnTo>
                  <a:lnTo>
                    <a:pt x="35305" y="909574"/>
                  </a:lnTo>
                  <a:lnTo>
                    <a:pt x="73616" y="935406"/>
                  </a:lnTo>
                  <a:lnTo>
                    <a:pt x="120523" y="944880"/>
                  </a:lnTo>
                  <a:lnTo>
                    <a:pt x="1269364" y="944880"/>
                  </a:lnTo>
                  <a:lnTo>
                    <a:pt x="1316271" y="935406"/>
                  </a:lnTo>
                  <a:lnTo>
                    <a:pt x="1354582" y="909574"/>
                  </a:lnTo>
                  <a:lnTo>
                    <a:pt x="1380414" y="871263"/>
                  </a:lnTo>
                  <a:lnTo>
                    <a:pt x="1389888" y="824357"/>
                  </a:lnTo>
                  <a:lnTo>
                    <a:pt x="1389888" y="120523"/>
                  </a:lnTo>
                  <a:lnTo>
                    <a:pt x="1380414" y="73616"/>
                  </a:lnTo>
                  <a:lnTo>
                    <a:pt x="1354581" y="35306"/>
                  </a:lnTo>
                  <a:lnTo>
                    <a:pt x="1316271" y="9473"/>
                  </a:lnTo>
                  <a:lnTo>
                    <a:pt x="1269364" y="0"/>
                  </a:lnTo>
                  <a:close/>
                </a:path>
              </a:pathLst>
            </a:custGeom>
            <a:solidFill>
              <a:srgbClr val="9BBA58"/>
            </a:solidFill>
          </p:spPr>
          <p:txBody>
            <a:bodyPr wrap="square" lIns="0" tIns="0" rIns="0" bIns="0" rtlCol="0"/>
            <a:lstStyle/>
            <a:p>
              <a:endParaRPr/>
            </a:p>
          </p:txBody>
        </p:sp>
      </p:grpSp>
      <p:sp>
        <p:nvSpPr>
          <p:cNvPr id="38" name="object 38"/>
          <p:cNvSpPr txBox="1"/>
          <p:nvPr/>
        </p:nvSpPr>
        <p:spPr>
          <a:xfrm>
            <a:off x="5680075" y="1799778"/>
            <a:ext cx="666115" cy="513080"/>
          </a:xfrm>
          <a:prstGeom prst="rect">
            <a:avLst/>
          </a:prstGeom>
        </p:spPr>
        <p:txBody>
          <a:bodyPr vert="horz" wrap="square" lIns="0" tIns="12065" rIns="0" bIns="0" rtlCol="0">
            <a:spAutoFit/>
          </a:bodyPr>
          <a:lstStyle/>
          <a:p>
            <a:pPr marL="12700" marR="5080" indent="99060">
              <a:lnSpc>
                <a:spcPct val="100000"/>
              </a:lnSpc>
              <a:spcBef>
                <a:spcPts val="95"/>
              </a:spcBef>
            </a:pPr>
            <a:r>
              <a:rPr sz="1600" spc="45" dirty="0">
                <a:solidFill>
                  <a:srgbClr val="FFFFFF"/>
                </a:solidFill>
                <a:latin typeface="Trebuchet MS"/>
                <a:cs typeface="Trebuchet MS"/>
              </a:rPr>
              <a:t>Data  </a:t>
            </a:r>
            <a:r>
              <a:rPr sz="1600" spc="20" dirty="0">
                <a:solidFill>
                  <a:srgbClr val="FFFFFF"/>
                </a:solidFill>
                <a:latin typeface="Trebuchet MS"/>
                <a:cs typeface="Trebuchet MS"/>
              </a:rPr>
              <a:t>mini</a:t>
            </a:r>
            <a:r>
              <a:rPr sz="1600" spc="25" dirty="0">
                <a:solidFill>
                  <a:srgbClr val="FFFFFF"/>
                </a:solidFill>
                <a:latin typeface="Trebuchet MS"/>
                <a:cs typeface="Trebuchet MS"/>
              </a:rPr>
              <a:t>n</a:t>
            </a:r>
            <a:r>
              <a:rPr sz="1600" spc="110" dirty="0">
                <a:solidFill>
                  <a:srgbClr val="FFFFFF"/>
                </a:solidFill>
                <a:latin typeface="Trebuchet MS"/>
                <a:cs typeface="Trebuchet MS"/>
              </a:rPr>
              <a:t>g</a:t>
            </a:r>
            <a:endParaRPr sz="1600">
              <a:latin typeface="Trebuchet MS"/>
              <a:cs typeface="Trebuchet MS"/>
            </a:endParaRPr>
          </a:p>
        </p:txBody>
      </p:sp>
      <p:sp>
        <p:nvSpPr>
          <p:cNvPr id="39" name="object 39"/>
          <p:cNvSpPr txBox="1"/>
          <p:nvPr/>
        </p:nvSpPr>
        <p:spPr>
          <a:xfrm>
            <a:off x="5024120" y="4118036"/>
            <a:ext cx="102235" cy="147955"/>
          </a:xfrm>
          <a:prstGeom prst="rect">
            <a:avLst/>
          </a:prstGeom>
        </p:spPr>
        <p:txBody>
          <a:bodyPr vert="horz" wrap="square" lIns="0" tIns="12700" rIns="0" bIns="0" rtlCol="0">
            <a:spAutoFit/>
          </a:bodyPr>
          <a:lstStyle/>
          <a:p>
            <a:pPr marL="12700">
              <a:lnSpc>
                <a:spcPct val="100000"/>
              </a:lnSpc>
              <a:spcBef>
                <a:spcPts val="100"/>
              </a:spcBef>
            </a:pPr>
            <a:r>
              <a:rPr sz="800" dirty="0">
                <a:latin typeface="Wingdings"/>
                <a:cs typeface="Wingdings"/>
              </a:rPr>
              <a:t></a:t>
            </a:r>
            <a:endParaRPr sz="800">
              <a:latin typeface="Wingdings"/>
              <a:cs typeface="Wingdings"/>
            </a:endParaRPr>
          </a:p>
        </p:txBody>
      </p:sp>
      <p:sp>
        <p:nvSpPr>
          <p:cNvPr id="40" name="object 40"/>
          <p:cNvSpPr txBox="1"/>
          <p:nvPr/>
        </p:nvSpPr>
        <p:spPr>
          <a:xfrm>
            <a:off x="5024120" y="4361572"/>
            <a:ext cx="102235" cy="148590"/>
          </a:xfrm>
          <a:prstGeom prst="rect">
            <a:avLst/>
          </a:prstGeom>
        </p:spPr>
        <p:txBody>
          <a:bodyPr vert="horz" wrap="square" lIns="0" tIns="13335" rIns="0" bIns="0" rtlCol="0">
            <a:spAutoFit/>
          </a:bodyPr>
          <a:lstStyle/>
          <a:p>
            <a:pPr marL="12700">
              <a:lnSpc>
                <a:spcPct val="100000"/>
              </a:lnSpc>
              <a:spcBef>
                <a:spcPts val="105"/>
              </a:spcBef>
            </a:pPr>
            <a:r>
              <a:rPr sz="800" dirty="0">
                <a:latin typeface="Wingdings"/>
                <a:cs typeface="Wingdings"/>
              </a:rPr>
              <a:t></a:t>
            </a:r>
            <a:endParaRPr sz="800">
              <a:latin typeface="Wingdings"/>
              <a:cs typeface="Wingdings"/>
            </a:endParaRPr>
          </a:p>
        </p:txBody>
      </p:sp>
      <p:sp>
        <p:nvSpPr>
          <p:cNvPr id="41" name="object 41"/>
          <p:cNvSpPr txBox="1"/>
          <p:nvPr/>
        </p:nvSpPr>
        <p:spPr>
          <a:xfrm>
            <a:off x="5310632" y="4059820"/>
            <a:ext cx="2249170" cy="513715"/>
          </a:xfrm>
          <a:prstGeom prst="rect">
            <a:avLst/>
          </a:prstGeom>
        </p:spPr>
        <p:txBody>
          <a:bodyPr vert="horz" wrap="square" lIns="0" tIns="12065" rIns="0" bIns="0" rtlCol="0">
            <a:spAutoFit/>
          </a:bodyPr>
          <a:lstStyle/>
          <a:p>
            <a:pPr marL="12700">
              <a:lnSpc>
                <a:spcPct val="100000"/>
              </a:lnSpc>
              <a:spcBef>
                <a:spcPts val="95"/>
              </a:spcBef>
            </a:pPr>
            <a:r>
              <a:rPr sz="1600" spc="-5" dirty="0">
                <a:latin typeface="Trebuchet MS"/>
                <a:cs typeface="Trebuchet MS"/>
              </a:rPr>
              <a:t>Daily/Weekly </a:t>
            </a:r>
            <a:r>
              <a:rPr sz="1600" spc="5" dirty="0">
                <a:latin typeface="Trebuchet MS"/>
                <a:cs typeface="Trebuchet MS"/>
              </a:rPr>
              <a:t>user</a:t>
            </a:r>
            <a:r>
              <a:rPr sz="1600" spc="75" dirty="0">
                <a:latin typeface="Trebuchet MS"/>
                <a:cs typeface="Trebuchet MS"/>
              </a:rPr>
              <a:t> </a:t>
            </a:r>
            <a:r>
              <a:rPr sz="1600" spc="-30" dirty="0">
                <a:latin typeface="Trebuchet MS"/>
                <a:cs typeface="Trebuchet MS"/>
              </a:rPr>
              <a:t>clicks</a:t>
            </a:r>
            <a:endParaRPr sz="1600" dirty="0">
              <a:latin typeface="Trebuchet MS"/>
              <a:cs typeface="Trebuchet MS"/>
            </a:endParaRPr>
          </a:p>
          <a:p>
            <a:pPr marL="12700">
              <a:lnSpc>
                <a:spcPct val="100000"/>
              </a:lnSpc>
              <a:spcBef>
                <a:spcPts val="5"/>
              </a:spcBef>
            </a:pPr>
            <a:r>
              <a:rPr sz="1600" spc="-30" dirty="0">
                <a:latin typeface="Trebuchet MS"/>
                <a:cs typeface="Trebuchet MS"/>
              </a:rPr>
              <a:t>Traffic</a:t>
            </a:r>
            <a:r>
              <a:rPr sz="1600" spc="15" dirty="0">
                <a:latin typeface="Trebuchet MS"/>
                <a:cs typeface="Trebuchet MS"/>
              </a:rPr>
              <a:t> </a:t>
            </a:r>
            <a:r>
              <a:rPr sz="1600" spc="-30" dirty="0">
                <a:latin typeface="Trebuchet MS"/>
                <a:cs typeface="Trebuchet MS"/>
              </a:rPr>
              <a:t>statistics</a:t>
            </a:r>
            <a:endParaRPr sz="1600" dirty="0">
              <a:latin typeface="Trebuchet MS"/>
              <a:cs typeface="Trebuchet MS"/>
            </a:endParaRPr>
          </a:p>
        </p:txBody>
      </p:sp>
      <p:sp>
        <p:nvSpPr>
          <p:cNvPr id="44" name="object 2"/>
          <p:cNvSpPr txBox="1"/>
          <p:nvPr/>
        </p:nvSpPr>
        <p:spPr>
          <a:xfrm>
            <a:off x="8229600" y="3694897"/>
            <a:ext cx="3753329" cy="3086903"/>
          </a:xfrm>
          <a:prstGeom prst="rect">
            <a:avLst/>
          </a:prstGeom>
        </p:spPr>
        <p:txBody>
          <a:bodyPr vert="horz" wrap="square" lIns="0" tIns="9049" rIns="0" bIns="0" rtlCol="0">
            <a:spAutoFit/>
          </a:bodyPr>
          <a:lstStyle/>
          <a:p>
            <a:pPr marL="138113" marR="3810" indent="-128588" algn="just">
              <a:spcBef>
                <a:spcPts val="4"/>
              </a:spcBef>
              <a:buFont typeface="Wingdings"/>
              <a:buChar char=""/>
              <a:tabLst>
                <a:tab pos="138113" algn="l"/>
              </a:tabLst>
            </a:pPr>
            <a:r>
              <a:rPr sz="2000" spc="30" dirty="0" smtClean="0">
                <a:latin typeface="UKIJ CJK"/>
                <a:cs typeface="UKIJ CJK"/>
              </a:rPr>
              <a:t>Hive </a:t>
            </a:r>
            <a:r>
              <a:rPr sz="2000" u="sng" spc="30" dirty="0">
                <a:latin typeface="UKIJ CJK"/>
                <a:cs typeface="UKIJ CJK"/>
              </a:rPr>
              <a:t>does not </a:t>
            </a:r>
            <a:r>
              <a:rPr sz="2000" u="sng" spc="23" dirty="0">
                <a:latin typeface="UKIJ CJK"/>
                <a:cs typeface="UKIJ CJK"/>
              </a:rPr>
              <a:t>support </a:t>
            </a:r>
            <a:r>
              <a:rPr sz="2000" u="sng" spc="26" dirty="0">
                <a:latin typeface="UKIJ CJK"/>
                <a:cs typeface="UKIJ CJK"/>
              </a:rPr>
              <a:t>quick </a:t>
            </a:r>
            <a:r>
              <a:rPr sz="2000" u="sng" spc="19" dirty="0">
                <a:latin typeface="UKIJ CJK"/>
                <a:cs typeface="UKIJ CJK"/>
              </a:rPr>
              <a:t>query </a:t>
            </a:r>
            <a:r>
              <a:rPr sz="2000" u="sng" spc="30" dirty="0">
                <a:latin typeface="UKIJ CJK"/>
                <a:cs typeface="UKIJ CJK"/>
              </a:rPr>
              <a:t>of </a:t>
            </a:r>
            <a:r>
              <a:rPr sz="2000" u="sng" spc="23" dirty="0">
                <a:latin typeface="UKIJ CJK"/>
                <a:cs typeface="UKIJ CJK"/>
              </a:rPr>
              <a:t>data </a:t>
            </a:r>
            <a:r>
              <a:rPr sz="2000" u="sng" spc="11" dirty="0">
                <a:latin typeface="UKIJ CJK"/>
                <a:cs typeface="UKIJ CJK"/>
              </a:rPr>
              <a:t>in </a:t>
            </a:r>
            <a:r>
              <a:rPr sz="2000" u="sng" spc="15" dirty="0">
                <a:latin typeface="UKIJ CJK"/>
                <a:cs typeface="UKIJ CJK"/>
              </a:rPr>
              <a:t>a </a:t>
            </a:r>
            <a:r>
              <a:rPr sz="2000" u="sng" spc="23" dirty="0">
                <a:latin typeface="UKIJ CJK"/>
                <a:cs typeface="UKIJ CJK"/>
              </a:rPr>
              <a:t>large-scale data </a:t>
            </a:r>
            <a:r>
              <a:rPr sz="2000" u="sng" spc="11" dirty="0">
                <a:latin typeface="UKIJ CJK"/>
                <a:cs typeface="UKIJ CJK"/>
              </a:rPr>
              <a:t>set</a:t>
            </a:r>
            <a:r>
              <a:rPr sz="2000" spc="11" dirty="0">
                <a:latin typeface="UKIJ CJK"/>
                <a:cs typeface="UKIJ CJK"/>
              </a:rPr>
              <a:t>, for  </a:t>
            </a:r>
            <a:r>
              <a:rPr sz="2000" spc="15" dirty="0">
                <a:latin typeface="UKIJ CJK"/>
                <a:cs typeface="UKIJ CJK"/>
              </a:rPr>
              <a:t>example, </a:t>
            </a:r>
            <a:r>
              <a:rPr sz="2000" spc="26" dirty="0">
                <a:latin typeface="UKIJ CJK"/>
                <a:cs typeface="UKIJ CJK"/>
              </a:rPr>
              <a:t>querying </a:t>
            </a:r>
            <a:r>
              <a:rPr sz="2000" spc="23" dirty="0">
                <a:latin typeface="UKIJ CJK"/>
                <a:cs typeface="UKIJ CJK"/>
              </a:rPr>
              <a:t>data </a:t>
            </a:r>
            <a:r>
              <a:rPr sz="2000" spc="11" dirty="0">
                <a:latin typeface="UKIJ CJK"/>
                <a:cs typeface="UKIJ CJK"/>
              </a:rPr>
              <a:t>in </a:t>
            </a:r>
            <a:r>
              <a:rPr sz="2000" spc="19" dirty="0">
                <a:latin typeface="UKIJ CJK"/>
                <a:cs typeface="UKIJ CJK"/>
              </a:rPr>
              <a:t>hundreds </a:t>
            </a:r>
            <a:r>
              <a:rPr sz="2000" spc="30" dirty="0">
                <a:latin typeface="UKIJ CJK"/>
                <a:cs typeface="UKIJ CJK"/>
              </a:rPr>
              <a:t>of MBs </a:t>
            </a:r>
            <a:r>
              <a:rPr sz="2000" spc="23" dirty="0">
                <a:latin typeface="UKIJ CJK"/>
                <a:cs typeface="UKIJ CJK"/>
              </a:rPr>
              <a:t>data </a:t>
            </a:r>
            <a:r>
              <a:rPr sz="2000" spc="19" dirty="0">
                <a:latin typeface="UKIJ CJK"/>
                <a:cs typeface="UKIJ CJK"/>
              </a:rPr>
              <a:t>set </a:t>
            </a:r>
            <a:r>
              <a:rPr sz="2000" spc="11" dirty="0">
                <a:latin typeface="UKIJ CJK"/>
                <a:cs typeface="UKIJ CJK"/>
              </a:rPr>
              <a:t>has </a:t>
            </a:r>
            <a:r>
              <a:rPr sz="2000" spc="19" dirty="0">
                <a:latin typeface="UKIJ CJK"/>
                <a:cs typeface="UKIJ CJK"/>
              </a:rPr>
              <a:t>minutes </a:t>
            </a:r>
            <a:r>
              <a:rPr sz="2000" spc="30" dirty="0">
                <a:latin typeface="UKIJ CJK"/>
                <a:cs typeface="UKIJ CJK"/>
              </a:rPr>
              <a:t>of </a:t>
            </a:r>
            <a:r>
              <a:rPr sz="2000" spc="15" dirty="0">
                <a:latin typeface="UKIJ CJK"/>
                <a:cs typeface="UKIJ CJK"/>
              </a:rPr>
              <a:t>delay.  Therefore, </a:t>
            </a:r>
            <a:r>
              <a:rPr sz="2000" u="sng" spc="30" dirty="0">
                <a:latin typeface="UKIJ CJK"/>
                <a:cs typeface="UKIJ CJK"/>
              </a:rPr>
              <a:t>Hive </a:t>
            </a:r>
            <a:r>
              <a:rPr sz="2000" u="sng" spc="4" dirty="0">
                <a:latin typeface="UKIJ CJK"/>
                <a:cs typeface="UKIJ CJK"/>
              </a:rPr>
              <a:t>is </a:t>
            </a:r>
            <a:r>
              <a:rPr sz="2000" u="sng" spc="19" dirty="0">
                <a:latin typeface="UKIJ CJK"/>
                <a:cs typeface="UKIJ CJK"/>
              </a:rPr>
              <a:t>inapplicable </a:t>
            </a:r>
            <a:r>
              <a:rPr sz="2000" u="sng" spc="11" dirty="0">
                <a:latin typeface="UKIJ CJK"/>
                <a:cs typeface="UKIJ CJK"/>
              </a:rPr>
              <a:t>for </a:t>
            </a:r>
            <a:r>
              <a:rPr sz="2000" u="sng" spc="15" dirty="0">
                <a:latin typeface="UKIJ CJK"/>
                <a:cs typeface="UKIJ CJK"/>
              </a:rPr>
              <a:t>scenarios where </a:t>
            </a:r>
            <a:r>
              <a:rPr sz="2000" u="sng" spc="11" dirty="0">
                <a:latin typeface="UKIJ CJK"/>
                <a:cs typeface="UKIJ CJK"/>
              </a:rPr>
              <a:t>require </a:t>
            </a:r>
            <a:r>
              <a:rPr sz="2000" u="sng" spc="26" dirty="0">
                <a:latin typeface="UKIJ CJK"/>
                <a:cs typeface="UKIJ CJK"/>
              </a:rPr>
              <a:t>low </a:t>
            </a:r>
            <a:r>
              <a:rPr sz="2000" u="sng" spc="15" dirty="0">
                <a:latin typeface="UKIJ CJK"/>
                <a:cs typeface="UKIJ CJK"/>
              </a:rPr>
              <a:t>latency</a:t>
            </a:r>
            <a:r>
              <a:rPr sz="2000" spc="15" dirty="0">
                <a:latin typeface="UKIJ CJK"/>
                <a:cs typeface="UKIJ CJK"/>
              </a:rPr>
              <a:t>, </a:t>
            </a:r>
            <a:r>
              <a:rPr sz="2000" spc="11" dirty="0">
                <a:latin typeface="UKIJ CJK"/>
                <a:cs typeface="UKIJ CJK"/>
              </a:rPr>
              <a:t>for  </a:t>
            </a:r>
            <a:r>
              <a:rPr sz="2000" spc="15" dirty="0">
                <a:latin typeface="UKIJ CJK"/>
                <a:cs typeface="UKIJ CJK"/>
              </a:rPr>
              <a:t>example, </a:t>
            </a:r>
            <a:r>
              <a:rPr sz="2000" spc="19" dirty="0">
                <a:latin typeface="UKIJ CJK"/>
                <a:cs typeface="UKIJ CJK"/>
              </a:rPr>
              <a:t>online transaction </a:t>
            </a:r>
            <a:r>
              <a:rPr sz="2000" spc="26" dirty="0">
                <a:latin typeface="UKIJ CJK"/>
                <a:cs typeface="UKIJ CJK"/>
              </a:rPr>
              <a:t>processing</a:t>
            </a:r>
            <a:r>
              <a:rPr sz="2000" spc="60" dirty="0">
                <a:latin typeface="UKIJ CJK"/>
                <a:cs typeface="UKIJ CJK"/>
              </a:rPr>
              <a:t> </a:t>
            </a:r>
            <a:r>
              <a:rPr sz="2000" spc="23" dirty="0">
                <a:latin typeface="UKIJ CJK"/>
                <a:cs typeface="UKIJ CJK"/>
              </a:rPr>
              <a:t>(OLTP</a:t>
            </a:r>
            <a:r>
              <a:rPr sz="2000" spc="23" dirty="0" smtClean="0">
                <a:latin typeface="UKIJ CJK"/>
                <a:cs typeface="UKIJ CJK"/>
              </a:rPr>
              <a:t>).</a:t>
            </a:r>
            <a:endParaRPr sz="2000" dirty="0">
              <a:latin typeface="UKIJ CJK"/>
              <a:cs typeface="UKIJ CJK"/>
            </a:endParaRPr>
          </a:p>
        </p:txBody>
      </p:sp>
      <p:sp>
        <p:nvSpPr>
          <p:cNvPr id="45" name="object 2"/>
          <p:cNvSpPr txBox="1"/>
          <p:nvPr/>
        </p:nvSpPr>
        <p:spPr>
          <a:xfrm>
            <a:off x="541947" y="1967038"/>
            <a:ext cx="3534385" cy="2163573"/>
          </a:xfrm>
          <a:prstGeom prst="rect">
            <a:avLst/>
          </a:prstGeom>
        </p:spPr>
        <p:txBody>
          <a:bodyPr vert="horz" wrap="square" lIns="0" tIns="9049" rIns="0" bIns="0" rtlCol="0">
            <a:spAutoFit/>
          </a:bodyPr>
          <a:lstStyle/>
          <a:p>
            <a:pPr marL="138113" marR="17145" indent="-128588" algn="just">
              <a:spcBef>
                <a:spcPts val="71"/>
              </a:spcBef>
              <a:buFont typeface="Wingdings"/>
              <a:buChar char=""/>
              <a:tabLst>
                <a:tab pos="138113" algn="l"/>
              </a:tabLst>
            </a:pPr>
            <a:r>
              <a:rPr sz="2000" spc="30" dirty="0">
                <a:latin typeface="UKIJ CJK"/>
                <a:cs typeface="UKIJ CJK"/>
              </a:rPr>
              <a:t>Hive </a:t>
            </a:r>
            <a:r>
              <a:rPr sz="2000" spc="4" dirty="0">
                <a:latin typeface="UKIJ CJK"/>
                <a:cs typeface="UKIJ CJK"/>
              </a:rPr>
              <a:t>is </a:t>
            </a:r>
            <a:r>
              <a:rPr sz="2000" spc="19" dirty="0">
                <a:latin typeface="UKIJ CJK"/>
                <a:cs typeface="UKIJ CJK"/>
              </a:rPr>
              <a:t>built </a:t>
            </a:r>
            <a:r>
              <a:rPr sz="2000" spc="30" dirty="0">
                <a:latin typeface="UKIJ CJK"/>
                <a:cs typeface="UKIJ CJK"/>
              </a:rPr>
              <a:t>on </a:t>
            </a:r>
            <a:r>
              <a:rPr sz="2000" spc="41" dirty="0">
                <a:latin typeface="UKIJ CJK"/>
                <a:cs typeface="UKIJ CJK"/>
              </a:rPr>
              <a:t>Hadoop </a:t>
            </a:r>
            <a:r>
              <a:rPr sz="2000" spc="11" dirty="0">
                <a:latin typeface="UKIJ CJK"/>
                <a:cs typeface="UKIJ CJK"/>
              </a:rPr>
              <a:t>for </a:t>
            </a:r>
            <a:r>
              <a:rPr sz="2000" spc="19" dirty="0">
                <a:latin typeface="UKIJ CJK"/>
                <a:cs typeface="UKIJ CJK"/>
              </a:rPr>
              <a:t>static </a:t>
            </a:r>
            <a:r>
              <a:rPr sz="2000" u="sng" spc="26" dirty="0">
                <a:latin typeface="UKIJ CJK"/>
                <a:cs typeface="UKIJ CJK"/>
              </a:rPr>
              <a:t>batch </a:t>
            </a:r>
            <a:r>
              <a:rPr sz="2000" u="sng" spc="23" dirty="0">
                <a:latin typeface="UKIJ CJK"/>
                <a:cs typeface="UKIJ CJK"/>
              </a:rPr>
              <a:t>processing</a:t>
            </a:r>
            <a:r>
              <a:rPr sz="2000" spc="23" dirty="0">
                <a:latin typeface="UKIJ CJK"/>
                <a:cs typeface="UKIJ CJK"/>
              </a:rPr>
              <a:t>. </a:t>
            </a:r>
            <a:r>
              <a:rPr sz="2000" spc="41" dirty="0">
                <a:latin typeface="UKIJ CJK"/>
                <a:cs typeface="UKIJ CJK"/>
              </a:rPr>
              <a:t>Hadoop </a:t>
            </a:r>
            <a:r>
              <a:rPr sz="2000" spc="11" dirty="0">
                <a:latin typeface="UKIJ CJK"/>
                <a:cs typeface="UKIJ CJK"/>
              </a:rPr>
              <a:t>has </a:t>
            </a:r>
            <a:r>
              <a:rPr sz="2000" spc="38" dirty="0">
                <a:latin typeface="UKIJ CJK"/>
                <a:cs typeface="UKIJ CJK"/>
              </a:rPr>
              <a:t>long  </a:t>
            </a:r>
            <a:r>
              <a:rPr sz="2000" spc="19" dirty="0">
                <a:latin typeface="UKIJ CJK"/>
                <a:cs typeface="UKIJ CJK"/>
              </a:rPr>
              <a:t>latency </a:t>
            </a:r>
            <a:r>
              <a:rPr sz="2000" spc="26" dirty="0">
                <a:latin typeface="UKIJ CJK"/>
                <a:cs typeface="UKIJ CJK"/>
              </a:rPr>
              <a:t>and </a:t>
            </a:r>
            <a:r>
              <a:rPr sz="2000" spc="23" dirty="0">
                <a:latin typeface="UKIJ CJK"/>
                <a:cs typeface="UKIJ CJK"/>
              </a:rPr>
              <a:t>consumes </a:t>
            </a:r>
            <a:r>
              <a:rPr sz="2000" spc="15" dirty="0">
                <a:latin typeface="UKIJ CJK"/>
                <a:cs typeface="UKIJ CJK"/>
              </a:rPr>
              <a:t>a </a:t>
            </a:r>
            <a:r>
              <a:rPr sz="2000" spc="23" dirty="0">
                <a:latin typeface="UKIJ CJK"/>
                <a:cs typeface="UKIJ CJK"/>
              </a:rPr>
              <a:t>large </a:t>
            </a:r>
            <a:r>
              <a:rPr sz="2000" spc="19" dirty="0">
                <a:latin typeface="UKIJ CJK"/>
                <a:cs typeface="UKIJ CJK"/>
              </a:rPr>
              <a:t>number </a:t>
            </a:r>
            <a:r>
              <a:rPr sz="2000" spc="30" dirty="0">
                <a:latin typeface="UKIJ CJK"/>
                <a:cs typeface="UKIJ CJK"/>
              </a:rPr>
              <a:t>of </a:t>
            </a:r>
            <a:r>
              <a:rPr sz="2000" spc="11" dirty="0">
                <a:latin typeface="UKIJ CJK"/>
                <a:cs typeface="UKIJ CJK"/>
              </a:rPr>
              <a:t>resources </a:t>
            </a:r>
            <a:r>
              <a:rPr sz="2000" spc="26" dirty="0">
                <a:latin typeface="UKIJ CJK"/>
                <a:cs typeface="UKIJ CJK"/>
              </a:rPr>
              <a:t>during job </a:t>
            </a:r>
            <a:r>
              <a:rPr sz="2000" spc="19" dirty="0">
                <a:latin typeface="UKIJ CJK"/>
                <a:cs typeface="UKIJ CJK"/>
              </a:rPr>
              <a:t>submission  </a:t>
            </a:r>
            <a:r>
              <a:rPr sz="2000" spc="26" dirty="0">
                <a:latin typeface="UKIJ CJK"/>
                <a:cs typeface="UKIJ CJK"/>
              </a:rPr>
              <a:t>and</a:t>
            </a:r>
            <a:r>
              <a:rPr sz="2000" spc="23" dirty="0">
                <a:latin typeface="UKIJ CJK"/>
                <a:cs typeface="UKIJ CJK"/>
              </a:rPr>
              <a:t> scheduling</a:t>
            </a:r>
            <a:r>
              <a:rPr sz="2000" spc="23" dirty="0" smtClean="0">
                <a:latin typeface="UKIJ CJK"/>
                <a:cs typeface="UKIJ CJK"/>
              </a:rPr>
              <a:t>.</a:t>
            </a:r>
            <a:endParaRPr sz="2000" dirty="0">
              <a:latin typeface="UKIJ CJK"/>
              <a:cs typeface="UKIJ CJK"/>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8340852" y="1255979"/>
            <a:ext cx="3317748" cy="944879"/>
          </a:xfrm>
          <a:prstGeom prst="rect">
            <a:avLst/>
          </a:prstGeom>
          <a:blipFill>
            <a:blip r:embed="rId2" cstate="print"/>
            <a:stretch>
              <a:fillRect/>
            </a:stretch>
          </a:blipFill>
        </p:spPr>
        <p:txBody>
          <a:bodyPr wrap="square" lIns="0" tIns="0" rIns="0" bIns="0" rtlCol="0"/>
          <a:lstStyle/>
          <a:p>
            <a:endParaRPr/>
          </a:p>
        </p:txBody>
      </p:sp>
      <p:grpSp>
        <p:nvGrpSpPr>
          <p:cNvPr id="3" name="object 3"/>
          <p:cNvGrpSpPr/>
          <p:nvPr/>
        </p:nvGrpSpPr>
        <p:grpSpPr>
          <a:xfrm>
            <a:off x="5990845" y="2316683"/>
            <a:ext cx="4798060" cy="1064260"/>
            <a:chOff x="4169664" y="2554223"/>
            <a:chExt cx="4798060" cy="1064260"/>
          </a:xfrm>
        </p:grpSpPr>
        <p:sp>
          <p:nvSpPr>
            <p:cNvPr id="4" name="object 4"/>
            <p:cNvSpPr/>
            <p:nvPr/>
          </p:nvSpPr>
          <p:spPr>
            <a:xfrm>
              <a:off x="5649468" y="2580131"/>
              <a:ext cx="3317747" cy="941832"/>
            </a:xfrm>
            <a:prstGeom prst="rect">
              <a:avLst/>
            </a:prstGeom>
            <a:blipFill>
              <a:blip r:embed="rId3" cstate="print"/>
              <a:stretch>
                <a:fillRect/>
              </a:stretch>
            </a:blipFill>
          </p:spPr>
          <p:txBody>
            <a:bodyPr wrap="square" lIns="0" tIns="0" rIns="0" bIns="0" rtlCol="0"/>
            <a:lstStyle/>
            <a:p>
              <a:endParaRPr/>
            </a:p>
          </p:txBody>
        </p:sp>
        <p:sp>
          <p:nvSpPr>
            <p:cNvPr id="5" name="object 5"/>
            <p:cNvSpPr/>
            <p:nvPr/>
          </p:nvSpPr>
          <p:spPr>
            <a:xfrm>
              <a:off x="4169664" y="2554223"/>
              <a:ext cx="1752600" cy="1048512"/>
            </a:xfrm>
            <a:prstGeom prst="rect">
              <a:avLst/>
            </a:prstGeom>
            <a:blipFill>
              <a:blip r:embed="rId4" cstate="print"/>
              <a:stretch>
                <a:fillRect/>
              </a:stretch>
            </a:blipFill>
          </p:spPr>
          <p:txBody>
            <a:bodyPr wrap="square" lIns="0" tIns="0" rIns="0" bIns="0" rtlCol="0"/>
            <a:lstStyle/>
            <a:p>
              <a:endParaRPr/>
            </a:p>
          </p:txBody>
        </p:sp>
        <p:sp>
          <p:nvSpPr>
            <p:cNvPr id="6" name="object 6"/>
            <p:cNvSpPr/>
            <p:nvPr/>
          </p:nvSpPr>
          <p:spPr>
            <a:xfrm>
              <a:off x="4212336" y="2596895"/>
              <a:ext cx="1735836" cy="1021079"/>
            </a:xfrm>
            <a:prstGeom prst="rect">
              <a:avLst/>
            </a:prstGeom>
            <a:blipFill>
              <a:blip r:embed="rId5" cstate="print"/>
              <a:stretch>
                <a:fillRect/>
              </a:stretch>
            </a:blipFill>
          </p:spPr>
          <p:txBody>
            <a:bodyPr wrap="square" lIns="0" tIns="0" rIns="0" bIns="0" rtlCol="0"/>
            <a:lstStyle/>
            <a:p>
              <a:endParaRPr/>
            </a:p>
          </p:txBody>
        </p:sp>
        <p:sp>
          <p:nvSpPr>
            <p:cNvPr id="7" name="object 7"/>
            <p:cNvSpPr/>
            <p:nvPr/>
          </p:nvSpPr>
          <p:spPr>
            <a:xfrm>
              <a:off x="4195572" y="2580131"/>
              <a:ext cx="1645920" cy="942340"/>
            </a:xfrm>
            <a:custGeom>
              <a:avLst/>
              <a:gdLst/>
              <a:ahLst/>
              <a:cxnLst/>
              <a:rect l="l" t="t" r="r" b="b"/>
              <a:pathLst>
                <a:path w="1645920" h="942339">
                  <a:moveTo>
                    <a:pt x="1525777" y="0"/>
                  </a:moveTo>
                  <a:lnTo>
                    <a:pt x="120141" y="0"/>
                  </a:lnTo>
                  <a:lnTo>
                    <a:pt x="73402" y="9449"/>
                  </a:lnTo>
                  <a:lnTo>
                    <a:pt x="35210" y="35210"/>
                  </a:lnTo>
                  <a:lnTo>
                    <a:pt x="9449" y="73402"/>
                  </a:lnTo>
                  <a:lnTo>
                    <a:pt x="0" y="120141"/>
                  </a:lnTo>
                  <a:lnTo>
                    <a:pt x="0" y="821689"/>
                  </a:lnTo>
                  <a:lnTo>
                    <a:pt x="9449" y="868429"/>
                  </a:lnTo>
                  <a:lnTo>
                    <a:pt x="35210" y="906621"/>
                  </a:lnTo>
                  <a:lnTo>
                    <a:pt x="73402" y="932382"/>
                  </a:lnTo>
                  <a:lnTo>
                    <a:pt x="120141" y="941831"/>
                  </a:lnTo>
                  <a:lnTo>
                    <a:pt x="1525777" y="941831"/>
                  </a:lnTo>
                  <a:lnTo>
                    <a:pt x="1572517" y="932382"/>
                  </a:lnTo>
                  <a:lnTo>
                    <a:pt x="1610709" y="906621"/>
                  </a:lnTo>
                  <a:lnTo>
                    <a:pt x="1636470" y="868429"/>
                  </a:lnTo>
                  <a:lnTo>
                    <a:pt x="1645919" y="821689"/>
                  </a:lnTo>
                  <a:lnTo>
                    <a:pt x="1645919" y="120141"/>
                  </a:lnTo>
                  <a:lnTo>
                    <a:pt x="1636470" y="73402"/>
                  </a:lnTo>
                  <a:lnTo>
                    <a:pt x="1610709" y="35210"/>
                  </a:lnTo>
                  <a:lnTo>
                    <a:pt x="1572517" y="9449"/>
                  </a:lnTo>
                  <a:lnTo>
                    <a:pt x="1525777" y="0"/>
                  </a:lnTo>
                  <a:close/>
                </a:path>
              </a:pathLst>
            </a:custGeom>
            <a:solidFill>
              <a:srgbClr val="4F81BC"/>
            </a:solidFill>
          </p:spPr>
          <p:txBody>
            <a:bodyPr wrap="square" lIns="0" tIns="0" rIns="0" bIns="0" rtlCol="0"/>
            <a:lstStyle/>
            <a:p>
              <a:endParaRPr/>
            </a:p>
          </p:txBody>
        </p:sp>
      </p:grpSp>
      <p:sp>
        <p:nvSpPr>
          <p:cNvPr id="8" name="object 8"/>
          <p:cNvSpPr txBox="1"/>
          <p:nvPr/>
        </p:nvSpPr>
        <p:spPr>
          <a:xfrm>
            <a:off x="6169915" y="2432253"/>
            <a:ext cx="1341120" cy="269240"/>
          </a:xfrm>
          <a:prstGeom prst="rect">
            <a:avLst/>
          </a:prstGeom>
        </p:spPr>
        <p:txBody>
          <a:bodyPr vert="horz" wrap="square" lIns="0" tIns="12065" rIns="0" bIns="0" rtlCol="0">
            <a:spAutoFit/>
          </a:bodyPr>
          <a:lstStyle/>
          <a:p>
            <a:pPr marL="12700">
              <a:lnSpc>
                <a:spcPct val="100000"/>
              </a:lnSpc>
              <a:spcBef>
                <a:spcPts val="95"/>
              </a:spcBef>
            </a:pPr>
            <a:r>
              <a:rPr sz="1600" spc="20" dirty="0">
                <a:solidFill>
                  <a:srgbClr val="FFFFFF"/>
                </a:solidFill>
                <a:latin typeface="Trebuchet MS"/>
                <a:cs typeface="Trebuchet MS"/>
              </a:rPr>
              <a:t>Non-real-time</a:t>
            </a:r>
            <a:endParaRPr sz="1600">
              <a:latin typeface="Trebuchet MS"/>
              <a:cs typeface="Trebuchet MS"/>
            </a:endParaRPr>
          </a:p>
        </p:txBody>
      </p:sp>
      <p:sp>
        <p:nvSpPr>
          <p:cNvPr id="9" name="object 9"/>
          <p:cNvSpPr txBox="1"/>
          <p:nvPr/>
        </p:nvSpPr>
        <p:spPr>
          <a:xfrm>
            <a:off x="6465825" y="2676093"/>
            <a:ext cx="748030" cy="513080"/>
          </a:xfrm>
          <a:prstGeom prst="rect">
            <a:avLst/>
          </a:prstGeom>
        </p:spPr>
        <p:txBody>
          <a:bodyPr vert="horz" wrap="square" lIns="0" tIns="12065" rIns="0" bIns="0" rtlCol="0">
            <a:spAutoFit/>
          </a:bodyPr>
          <a:lstStyle/>
          <a:p>
            <a:pPr marL="12700" marR="5080" indent="153670">
              <a:lnSpc>
                <a:spcPct val="100000"/>
              </a:lnSpc>
              <a:spcBef>
                <a:spcPts val="95"/>
              </a:spcBef>
            </a:pPr>
            <a:r>
              <a:rPr sz="1600" spc="5" dirty="0">
                <a:solidFill>
                  <a:srgbClr val="FFFFFF"/>
                </a:solidFill>
                <a:latin typeface="Trebuchet MS"/>
                <a:cs typeface="Trebuchet MS"/>
              </a:rPr>
              <a:t>data  </a:t>
            </a:r>
            <a:r>
              <a:rPr sz="1600" spc="40" dirty="0">
                <a:solidFill>
                  <a:srgbClr val="FFFFFF"/>
                </a:solidFill>
                <a:latin typeface="Trebuchet MS"/>
                <a:cs typeface="Trebuchet MS"/>
              </a:rPr>
              <a:t>a</a:t>
            </a:r>
            <a:r>
              <a:rPr sz="1600" spc="45" dirty="0">
                <a:solidFill>
                  <a:srgbClr val="FFFFFF"/>
                </a:solidFill>
                <a:latin typeface="Trebuchet MS"/>
                <a:cs typeface="Trebuchet MS"/>
              </a:rPr>
              <a:t>n</a:t>
            </a:r>
            <a:r>
              <a:rPr sz="1600" spc="50" dirty="0">
                <a:solidFill>
                  <a:srgbClr val="FFFFFF"/>
                </a:solidFill>
                <a:latin typeface="Trebuchet MS"/>
                <a:cs typeface="Trebuchet MS"/>
              </a:rPr>
              <a:t>a</a:t>
            </a:r>
            <a:r>
              <a:rPr sz="1600" spc="-40" dirty="0">
                <a:solidFill>
                  <a:srgbClr val="FFFFFF"/>
                </a:solidFill>
                <a:latin typeface="Trebuchet MS"/>
                <a:cs typeface="Trebuchet MS"/>
              </a:rPr>
              <a:t>l</a:t>
            </a:r>
            <a:r>
              <a:rPr sz="1600" spc="-5" dirty="0">
                <a:solidFill>
                  <a:srgbClr val="FFFFFF"/>
                </a:solidFill>
                <a:latin typeface="Trebuchet MS"/>
                <a:cs typeface="Trebuchet MS"/>
              </a:rPr>
              <a:t>y</a:t>
            </a:r>
            <a:r>
              <a:rPr sz="1600" dirty="0">
                <a:solidFill>
                  <a:srgbClr val="FFFFFF"/>
                </a:solidFill>
                <a:latin typeface="Trebuchet MS"/>
                <a:cs typeface="Trebuchet MS"/>
              </a:rPr>
              <a:t>sis</a:t>
            </a:r>
            <a:endParaRPr sz="1600">
              <a:latin typeface="Trebuchet MS"/>
              <a:cs typeface="Trebuchet MS"/>
            </a:endParaRPr>
          </a:p>
        </p:txBody>
      </p:sp>
      <p:sp>
        <p:nvSpPr>
          <p:cNvPr id="10" name="object 10"/>
          <p:cNvSpPr txBox="1"/>
          <p:nvPr/>
        </p:nvSpPr>
        <p:spPr>
          <a:xfrm>
            <a:off x="7730490" y="2604466"/>
            <a:ext cx="102235" cy="147955"/>
          </a:xfrm>
          <a:prstGeom prst="rect">
            <a:avLst/>
          </a:prstGeom>
        </p:spPr>
        <p:txBody>
          <a:bodyPr vert="horz" wrap="square" lIns="0" tIns="13335" rIns="0" bIns="0" rtlCol="0">
            <a:spAutoFit/>
          </a:bodyPr>
          <a:lstStyle/>
          <a:p>
            <a:pPr marL="12700">
              <a:lnSpc>
                <a:spcPct val="100000"/>
              </a:lnSpc>
              <a:spcBef>
                <a:spcPts val="105"/>
              </a:spcBef>
            </a:pPr>
            <a:r>
              <a:rPr sz="800" dirty="0">
                <a:latin typeface="Wingdings"/>
                <a:cs typeface="Wingdings"/>
              </a:rPr>
              <a:t></a:t>
            </a:r>
            <a:endParaRPr sz="800">
              <a:latin typeface="Wingdings"/>
              <a:cs typeface="Wingdings"/>
            </a:endParaRPr>
          </a:p>
        </p:txBody>
      </p:sp>
      <p:sp>
        <p:nvSpPr>
          <p:cNvPr id="11" name="object 11"/>
          <p:cNvSpPr txBox="1"/>
          <p:nvPr/>
        </p:nvSpPr>
        <p:spPr>
          <a:xfrm>
            <a:off x="7730490" y="2848686"/>
            <a:ext cx="102235" cy="147955"/>
          </a:xfrm>
          <a:prstGeom prst="rect">
            <a:avLst/>
          </a:prstGeom>
        </p:spPr>
        <p:txBody>
          <a:bodyPr vert="horz" wrap="square" lIns="0" tIns="13335" rIns="0" bIns="0" rtlCol="0">
            <a:spAutoFit/>
          </a:bodyPr>
          <a:lstStyle/>
          <a:p>
            <a:pPr marL="12700">
              <a:lnSpc>
                <a:spcPct val="100000"/>
              </a:lnSpc>
              <a:spcBef>
                <a:spcPts val="105"/>
              </a:spcBef>
            </a:pPr>
            <a:r>
              <a:rPr sz="800" dirty="0">
                <a:latin typeface="Wingdings"/>
                <a:cs typeface="Wingdings"/>
              </a:rPr>
              <a:t></a:t>
            </a:r>
            <a:endParaRPr sz="800">
              <a:latin typeface="Wingdings"/>
              <a:cs typeface="Wingdings"/>
            </a:endParaRPr>
          </a:p>
        </p:txBody>
      </p:sp>
      <p:sp>
        <p:nvSpPr>
          <p:cNvPr id="12" name="object 12"/>
          <p:cNvSpPr txBox="1"/>
          <p:nvPr/>
        </p:nvSpPr>
        <p:spPr>
          <a:xfrm>
            <a:off x="8017002" y="2546249"/>
            <a:ext cx="1206500" cy="513715"/>
          </a:xfrm>
          <a:prstGeom prst="rect">
            <a:avLst/>
          </a:prstGeom>
        </p:spPr>
        <p:txBody>
          <a:bodyPr vert="horz" wrap="square" lIns="0" tIns="12065" rIns="0" bIns="0" rtlCol="0">
            <a:spAutoFit/>
          </a:bodyPr>
          <a:lstStyle/>
          <a:p>
            <a:pPr marL="12700">
              <a:lnSpc>
                <a:spcPct val="100000"/>
              </a:lnSpc>
              <a:spcBef>
                <a:spcPts val="95"/>
              </a:spcBef>
            </a:pPr>
            <a:r>
              <a:rPr sz="1600" spc="55" dirty="0">
                <a:latin typeface="Trebuchet MS"/>
                <a:cs typeface="Trebuchet MS"/>
              </a:rPr>
              <a:t>Log</a:t>
            </a:r>
            <a:r>
              <a:rPr sz="1600" spc="-15" dirty="0">
                <a:latin typeface="Trebuchet MS"/>
                <a:cs typeface="Trebuchet MS"/>
              </a:rPr>
              <a:t> </a:t>
            </a:r>
            <a:r>
              <a:rPr sz="1600" spc="10" dirty="0">
                <a:latin typeface="Trebuchet MS"/>
                <a:cs typeface="Trebuchet MS"/>
              </a:rPr>
              <a:t>analysis</a:t>
            </a:r>
            <a:endParaRPr sz="1600">
              <a:latin typeface="Trebuchet MS"/>
              <a:cs typeface="Trebuchet MS"/>
            </a:endParaRPr>
          </a:p>
          <a:p>
            <a:pPr marL="12700">
              <a:lnSpc>
                <a:spcPct val="100000"/>
              </a:lnSpc>
              <a:spcBef>
                <a:spcPts val="5"/>
              </a:spcBef>
            </a:pPr>
            <a:r>
              <a:rPr sz="1600" spc="-45" dirty="0">
                <a:latin typeface="Trebuchet MS"/>
                <a:cs typeface="Trebuchet MS"/>
              </a:rPr>
              <a:t>Text</a:t>
            </a:r>
            <a:r>
              <a:rPr sz="1600" spc="-10" dirty="0">
                <a:latin typeface="Trebuchet MS"/>
                <a:cs typeface="Trebuchet MS"/>
              </a:rPr>
              <a:t> </a:t>
            </a:r>
            <a:r>
              <a:rPr sz="1600" spc="10" dirty="0">
                <a:latin typeface="Trebuchet MS"/>
                <a:cs typeface="Trebuchet MS"/>
              </a:rPr>
              <a:t>analysis</a:t>
            </a:r>
            <a:endParaRPr sz="1600">
              <a:latin typeface="Trebuchet MS"/>
              <a:cs typeface="Trebuchet MS"/>
            </a:endParaRPr>
          </a:p>
        </p:txBody>
      </p:sp>
      <p:grpSp>
        <p:nvGrpSpPr>
          <p:cNvPr id="13" name="object 13"/>
          <p:cNvGrpSpPr/>
          <p:nvPr/>
        </p:nvGrpSpPr>
        <p:grpSpPr>
          <a:xfrm>
            <a:off x="5029201" y="3482544"/>
            <a:ext cx="4899660" cy="1050290"/>
            <a:chOff x="3208020" y="3720084"/>
            <a:chExt cx="4899660" cy="1050290"/>
          </a:xfrm>
        </p:grpSpPr>
        <p:sp>
          <p:nvSpPr>
            <p:cNvPr id="14" name="object 14"/>
            <p:cNvSpPr/>
            <p:nvPr/>
          </p:nvSpPr>
          <p:spPr>
            <a:xfrm>
              <a:off x="4789932" y="3747516"/>
              <a:ext cx="3317748" cy="944880"/>
            </a:xfrm>
            <a:prstGeom prst="rect">
              <a:avLst/>
            </a:prstGeom>
            <a:blipFill>
              <a:blip r:embed="rId6" cstate="print"/>
              <a:stretch>
                <a:fillRect/>
              </a:stretch>
            </a:blipFill>
          </p:spPr>
          <p:txBody>
            <a:bodyPr wrap="square" lIns="0" tIns="0" rIns="0" bIns="0" rtlCol="0"/>
            <a:lstStyle/>
            <a:p>
              <a:endParaRPr/>
            </a:p>
          </p:txBody>
        </p:sp>
        <p:sp>
          <p:nvSpPr>
            <p:cNvPr id="15" name="object 15"/>
            <p:cNvSpPr/>
            <p:nvPr/>
          </p:nvSpPr>
          <p:spPr>
            <a:xfrm>
              <a:off x="3208020" y="3720084"/>
              <a:ext cx="1807463" cy="1050036"/>
            </a:xfrm>
            <a:prstGeom prst="rect">
              <a:avLst/>
            </a:prstGeom>
            <a:blipFill>
              <a:blip r:embed="rId7" cstate="print"/>
              <a:stretch>
                <a:fillRect/>
              </a:stretch>
            </a:blipFill>
          </p:spPr>
          <p:txBody>
            <a:bodyPr wrap="square" lIns="0" tIns="0" rIns="0" bIns="0" rtlCol="0"/>
            <a:lstStyle/>
            <a:p>
              <a:endParaRPr/>
            </a:p>
          </p:txBody>
        </p:sp>
        <p:sp>
          <p:nvSpPr>
            <p:cNvPr id="16" name="object 16"/>
            <p:cNvSpPr/>
            <p:nvPr/>
          </p:nvSpPr>
          <p:spPr>
            <a:xfrm>
              <a:off x="3246120" y="3886200"/>
              <a:ext cx="1729739" cy="777239"/>
            </a:xfrm>
            <a:prstGeom prst="rect">
              <a:avLst/>
            </a:prstGeom>
            <a:blipFill>
              <a:blip r:embed="rId8" cstate="print"/>
              <a:stretch>
                <a:fillRect/>
              </a:stretch>
            </a:blipFill>
          </p:spPr>
          <p:txBody>
            <a:bodyPr wrap="square" lIns="0" tIns="0" rIns="0" bIns="0" rtlCol="0"/>
            <a:lstStyle/>
            <a:p>
              <a:endParaRPr/>
            </a:p>
          </p:txBody>
        </p:sp>
        <p:sp>
          <p:nvSpPr>
            <p:cNvPr id="17" name="object 17"/>
            <p:cNvSpPr/>
            <p:nvPr/>
          </p:nvSpPr>
          <p:spPr>
            <a:xfrm>
              <a:off x="3233928" y="3745992"/>
              <a:ext cx="1701164" cy="943610"/>
            </a:xfrm>
            <a:custGeom>
              <a:avLst/>
              <a:gdLst/>
              <a:ahLst/>
              <a:cxnLst/>
              <a:rect l="l" t="t" r="r" b="b"/>
              <a:pathLst>
                <a:path w="1701164" h="943610">
                  <a:moveTo>
                    <a:pt x="1580388" y="0"/>
                  </a:moveTo>
                  <a:lnTo>
                    <a:pt x="120396" y="0"/>
                  </a:lnTo>
                  <a:lnTo>
                    <a:pt x="73509" y="9453"/>
                  </a:lnTo>
                  <a:lnTo>
                    <a:pt x="35242" y="35242"/>
                  </a:lnTo>
                  <a:lnTo>
                    <a:pt x="9453" y="73509"/>
                  </a:lnTo>
                  <a:lnTo>
                    <a:pt x="0" y="120395"/>
                  </a:lnTo>
                  <a:lnTo>
                    <a:pt x="0" y="822959"/>
                  </a:lnTo>
                  <a:lnTo>
                    <a:pt x="9453" y="869846"/>
                  </a:lnTo>
                  <a:lnTo>
                    <a:pt x="35242" y="908113"/>
                  </a:lnTo>
                  <a:lnTo>
                    <a:pt x="73509" y="933902"/>
                  </a:lnTo>
                  <a:lnTo>
                    <a:pt x="120396" y="943355"/>
                  </a:lnTo>
                  <a:lnTo>
                    <a:pt x="1580388" y="943355"/>
                  </a:lnTo>
                  <a:lnTo>
                    <a:pt x="1627274" y="933902"/>
                  </a:lnTo>
                  <a:lnTo>
                    <a:pt x="1665541" y="908113"/>
                  </a:lnTo>
                  <a:lnTo>
                    <a:pt x="1691330" y="869846"/>
                  </a:lnTo>
                  <a:lnTo>
                    <a:pt x="1700784" y="822959"/>
                  </a:lnTo>
                  <a:lnTo>
                    <a:pt x="1700784" y="120395"/>
                  </a:lnTo>
                  <a:lnTo>
                    <a:pt x="1691330" y="73509"/>
                  </a:lnTo>
                  <a:lnTo>
                    <a:pt x="1665541" y="35242"/>
                  </a:lnTo>
                  <a:lnTo>
                    <a:pt x="1627274" y="9453"/>
                  </a:lnTo>
                  <a:lnTo>
                    <a:pt x="1580388" y="0"/>
                  </a:lnTo>
                  <a:close/>
                </a:path>
              </a:pathLst>
            </a:custGeom>
            <a:solidFill>
              <a:srgbClr val="8063A1"/>
            </a:solidFill>
          </p:spPr>
          <p:txBody>
            <a:bodyPr wrap="square" lIns="0" tIns="0" rIns="0" bIns="0" rtlCol="0"/>
            <a:lstStyle/>
            <a:p>
              <a:endParaRPr/>
            </a:p>
          </p:txBody>
        </p:sp>
      </p:grpSp>
      <p:sp>
        <p:nvSpPr>
          <p:cNvPr id="18" name="object 18"/>
          <p:cNvSpPr txBox="1"/>
          <p:nvPr/>
        </p:nvSpPr>
        <p:spPr>
          <a:xfrm>
            <a:off x="8605266" y="1380440"/>
            <a:ext cx="102235" cy="147955"/>
          </a:xfrm>
          <a:prstGeom prst="rect">
            <a:avLst/>
          </a:prstGeom>
        </p:spPr>
        <p:txBody>
          <a:bodyPr vert="horz" wrap="square" lIns="0" tIns="13335" rIns="0" bIns="0" rtlCol="0">
            <a:spAutoFit/>
          </a:bodyPr>
          <a:lstStyle/>
          <a:p>
            <a:pPr marL="12700">
              <a:lnSpc>
                <a:spcPct val="100000"/>
              </a:lnSpc>
              <a:spcBef>
                <a:spcPts val="105"/>
              </a:spcBef>
            </a:pPr>
            <a:r>
              <a:rPr sz="800" dirty="0">
                <a:latin typeface="Wingdings"/>
                <a:cs typeface="Wingdings"/>
              </a:rPr>
              <a:t></a:t>
            </a:r>
            <a:endParaRPr sz="800">
              <a:latin typeface="Wingdings"/>
              <a:cs typeface="Wingdings"/>
            </a:endParaRPr>
          </a:p>
        </p:txBody>
      </p:sp>
      <p:sp>
        <p:nvSpPr>
          <p:cNvPr id="19" name="object 19"/>
          <p:cNvSpPr txBox="1"/>
          <p:nvPr/>
        </p:nvSpPr>
        <p:spPr>
          <a:xfrm>
            <a:off x="8605266" y="1624534"/>
            <a:ext cx="102235" cy="147955"/>
          </a:xfrm>
          <a:prstGeom prst="rect">
            <a:avLst/>
          </a:prstGeom>
        </p:spPr>
        <p:txBody>
          <a:bodyPr vert="horz" wrap="square" lIns="0" tIns="13335" rIns="0" bIns="0" rtlCol="0">
            <a:spAutoFit/>
          </a:bodyPr>
          <a:lstStyle/>
          <a:p>
            <a:pPr marL="12700">
              <a:lnSpc>
                <a:spcPct val="100000"/>
              </a:lnSpc>
              <a:spcBef>
                <a:spcPts val="105"/>
              </a:spcBef>
            </a:pPr>
            <a:r>
              <a:rPr sz="800" dirty="0">
                <a:latin typeface="Wingdings"/>
                <a:cs typeface="Wingdings"/>
              </a:rPr>
              <a:t></a:t>
            </a:r>
            <a:endParaRPr sz="800">
              <a:latin typeface="Wingdings"/>
              <a:cs typeface="Wingdings"/>
            </a:endParaRPr>
          </a:p>
        </p:txBody>
      </p:sp>
      <p:sp>
        <p:nvSpPr>
          <p:cNvPr id="20" name="object 20"/>
          <p:cNvSpPr txBox="1"/>
          <p:nvPr/>
        </p:nvSpPr>
        <p:spPr>
          <a:xfrm>
            <a:off x="8605266" y="1868373"/>
            <a:ext cx="102235" cy="147955"/>
          </a:xfrm>
          <a:prstGeom prst="rect">
            <a:avLst/>
          </a:prstGeom>
        </p:spPr>
        <p:txBody>
          <a:bodyPr vert="horz" wrap="square" lIns="0" tIns="13335" rIns="0" bIns="0" rtlCol="0">
            <a:spAutoFit/>
          </a:bodyPr>
          <a:lstStyle/>
          <a:p>
            <a:pPr marL="12700">
              <a:lnSpc>
                <a:spcPct val="100000"/>
              </a:lnSpc>
              <a:spcBef>
                <a:spcPts val="105"/>
              </a:spcBef>
            </a:pPr>
            <a:r>
              <a:rPr sz="800" dirty="0">
                <a:latin typeface="Wingdings"/>
                <a:cs typeface="Wingdings"/>
              </a:rPr>
              <a:t></a:t>
            </a:r>
            <a:endParaRPr sz="800">
              <a:latin typeface="Wingdings"/>
              <a:cs typeface="Wingdings"/>
            </a:endParaRPr>
          </a:p>
        </p:txBody>
      </p:sp>
      <p:sp>
        <p:nvSpPr>
          <p:cNvPr id="21" name="object 21"/>
          <p:cNvSpPr txBox="1"/>
          <p:nvPr/>
        </p:nvSpPr>
        <p:spPr>
          <a:xfrm>
            <a:off x="8891778" y="1322223"/>
            <a:ext cx="2095500" cy="756920"/>
          </a:xfrm>
          <a:prstGeom prst="rect">
            <a:avLst/>
          </a:prstGeom>
        </p:spPr>
        <p:txBody>
          <a:bodyPr vert="horz" wrap="square" lIns="0" tIns="12065" rIns="0" bIns="0" rtlCol="0">
            <a:spAutoFit/>
          </a:bodyPr>
          <a:lstStyle/>
          <a:p>
            <a:pPr marL="12700">
              <a:lnSpc>
                <a:spcPct val="100000"/>
              </a:lnSpc>
              <a:spcBef>
                <a:spcPts val="95"/>
              </a:spcBef>
            </a:pPr>
            <a:r>
              <a:rPr sz="1600" spc="20" dirty="0">
                <a:latin typeface="Trebuchet MS"/>
                <a:cs typeface="Trebuchet MS"/>
              </a:rPr>
              <a:t>User </a:t>
            </a:r>
            <a:r>
              <a:rPr sz="1600" spc="5" dirty="0">
                <a:latin typeface="Trebuchet MS"/>
                <a:cs typeface="Trebuchet MS"/>
              </a:rPr>
              <a:t>behavior</a:t>
            </a:r>
            <a:r>
              <a:rPr sz="1600" dirty="0">
                <a:latin typeface="Trebuchet MS"/>
                <a:cs typeface="Trebuchet MS"/>
              </a:rPr>
              <a:t> </a:t>
            </a:r>
            <a:r>
              <a:rPr sz="1600" spc="10" dirty="0">
                <a:latin typeface="Trebuchet MS"/>
                <a:cs typeface="Trebuchet MS"/>
              </a:rPr>
              <a:t>analysis</a:t>
            </a:r>
            <a:endParaRPr sz="1600" dirty="0">
              <a:latin typeface="Trebuchet MS"/>
              <a:cs typeface="Trebuchet MS"/>
            </a:endParaRPr>
          </a:p>
          <a:p>
            <a:pPr marL="12700" marR="517525">
              <a:lnSpc>
                <a:spcPct val="100000"/>
              </a:lnSpc>
              <a:spcBef>
                <a:spcPts val="5"/>
              </a:spcBef>
            </a:pPr>
            <a:r>
              <a:rPr sz="1600" spc="-20" dirty="0">
                <a:latin typeface="Trebuchet MS"/>
                <a:cs typeface="Trebuchet MS"/>
              </a:rPr>
              <a:t>Interest </a:t>
            </a:r>
            <a:r>
              <a:rPr lang="en-US" sz="1600" spc="-10" dirty="0" smtClean="0">
                <a:latin typeface="Trebuchet MS"/>
                <a:cs typeface="Trebuchet MS"/>
              </a:rPr>
              <a:t>analysis</a:t>
            </a:r>
            <a:r>
              <a:rPr sz="1600" spc="-10" dirty="0" smtClean="0">
                <a:latin typeface="Trebuchet MS"/>
                <a:cs typeface="Trebuchet MS"/>
              </a:rPr>
              <a:t>  </a:t>
            </a:r>
            <a:r>
              <a:rPr sz="1600" spc="20" dirty="0">
                <a:latin typeface="Trebuchet MS"/>
                <a:cs typeface="Trebuchet MS"/>
              </a:rPr>
              <a:t>Area </a:t>
            </a:r>
            <a:r>
              <a:rPr sz="1600" dirty="0">
                <a:latin typeface="Trebuchet MS"/>
                <a:cs typeface="Trebuchet MS"/>
              </a:rPr>
              <a:t>display</a:t>
            </a:r>
          </a:p>
        </p:txBody>
      </p:sp>
      <p:sp>
        <p:nvSpPr>
          <p:cNvPr id="22" name="object 22"/>
          <p:cNvSpPr txBox="1"/>
          <p:nvPr/>
        </p:nvSpPr>
        <p:spPr>
          <a:xfrm>
            <a:off x="5203064" y="3721557"/>
            <a:ext cx="1403985" cy="513080"/>
          </a:xfrm>
          <a:prstGeom prst="rect">
            <a:avLst/>
          </a:prstGeom>
        </p:spPr>
        <p:txBody>
          <a:bodyPr vert="horz" wrap="square" lIns="0" tIns="12065" rIns="0" bIns="0" rtlCol="0">
            <a:spAutoFit/>
          </a:bodyPr>
          <a:lstStyle/>
          <a:p>
            <a:pPr marL="12700" marR="5080" indent="467359">
              <a:lnSpc>
                <a:spcPct val="100000"/>
              </a:lnSpc>
              <a:spcBef>
                <a:spcPts val="95"/>
              </a:spcBef>
            </a:pPr>
            <a:r>
              <a:rPr sz="1600" spc="45" dirty="0">
                <a:solidFill>
                  <a:srgbClr val="FFFFFF"/>
                </a:solidFill>
                <a:latin typeface="Trebuchet MS"/>
                <a:cs typeface="Trebuchet MS"/>
              </a:rPr>
              <a:t>Data  </a:t>
            </a:r>
            <a:r>
              <a:rPr sz="1600" spc="70" dirty="0">
                <a:solidFill>
                  <a:srgbClr val="FFFFFF"/>
                </a:solidFill>
                <a:latin typeface="Trebuchet MS"/>
                <a:cs typeface="Trebuchet MS"/>
              </a:rPr>
              <a:t>sum</a:t>
            </a:r>
            <a:r>
              <a:rPr sz="1600" spc="90" dirty="0">
                <a:solidFill>
                  <a:srgbClr val="FFFFFF"/>
                </a:solidFill>
                <a:latin typeface="Trebuchet MS"/>
                <a:cs typeface="Trebuchet MS"/>
              </a:rPr>
              <a:t>m</a:t>
            </a:r>
            <a:r>
              <a:rPr sz="1600" spc="40" dirty="0">
                <a:solidFill>
                  <a:srgbClr val="FFFFFF"/>
                </a:solidFill>
                <a:latin typeface="Trebuchet MS"/>
                <a:cs typeface="Trebuchet MS"/>
              </a:rPr>
              <a:t>a</a:t>
            </a:r>
            <a:r>
              <a:rPr sz="1600" spc="-15" dirty="0">
                <a:solidFill>
                  <a:srgbClr val="FFFFFF"/>
                </a:solidFill>
                <a:latin typeface="Trebuchet MS"/>
                <a:cs typeface="Trebuchet MS"/>
              </a:rPr>
              <a:t>riz</a:t>
            </a:r>
            <a:r>
              <a:rPr sz="1600" spc="-10" dirty="0">
                <a:solidFill>
                  <a:srgbClr val="FFFFFF"/>
                </a:solidFill>
                <a:latin typeface="Trebuchet MS"/>
                <a:cs typeface="Trebuchet MS"/>
              </a:rPr>
              <a:t>a</a:t>
            </a:r>
            <a:r>
              <a:rPr sz="1600" spc="-5" dirty="0">
                <a:solidFill>
                  <a:srgbClr val="FFFFFF"/>
                </a:solidFill>
                <a:latin typeface="Trebuchet MS"/>
                <a:cs typeface="Trebuchet MS"/>
              </a:rPr>
              <a:t>tion</a:t>
            </a:r>
            <a:endParaRPr sz="1600">
              <a:latin typeface="Trebuchet MS"/>
              <a:cs typeface="Trebuchet MS"/>
            </a:endParaRPr>
          </a:p>
        </p:txBody>
      </p:sp>
      <p:grpSp>
        <p:nvGrpSpPr>
          <p:cNvPr id="23" name="object 23"/>
          <p:cNvGrpSpPr/>
          <p:nvPr/>
        </p:nvGrpSpPr>
        <p:grpSpPr>
          <a:xfrm>
            <a:off x="4347463" y="4512310"/>
            <a:ext cx="4544695" cy="1050290"/>
            <a:chOff x="2574035" y="4869179"/>
            <a:chExt cx="4544695" cy="1050290"/>
          </a:xfrm>
        </p:grpSpPr>
        <p:sp>
          <p:nvSpPr>
            <p:cNvPr id="24" name="object 24"/>
            <p:cNvSpPr/>
            <p:nvPr/>
          </p:nvSpPr>
          <p:spPr>
            <a:xfrm>
              <a:off x="3800855" y="4895087"/>
              <a:ext cx="3317748" cy="943356"/>
            </a:xfrm>
            <a:prstGeom prst="rect">
              <a:avLst/>
            </a:prstGeom>
            <a:blipFill>
              <a:blip r:embed="rId9" cstate="print"/>
              <a:stretch>
                <a:fillRect/>
              </a:stretch>
            </a:blipFill>
          </p:spPr>
          <p:txBody>
            <a:bodyPr wrap="square" lIns="0" tIns="0" rIns="0" bIns="0" rtlCol="0"/>
            <a:lstStyle/>
            <a:p>
              <a:endParaRPr/>
            </a:p>
          </p:txBody>
        </p:sp>
        <p:sp>
          <p:nvSpPr>
            <p:cNvPr id="25" name="object 25"/>
            <p:cNvSpPr/>
            <p:nvPr/>
          </p:nvSpPr>
          <p:spPr>
            <a:xfrm>
              <a:off x="2574035" y="4869179"/>
              <a:ext cx="1498091" cy="1050036"/>
            </a:xfrm>
            <a:prstGeom prst="rect">
              <a:avLst/>
            </a:prstGeom>
            <a:blipFill>
              <a:blip r:embed="rId10" cstate="print"/>
              <a:stretch>
                <a:fillRect/>
              </a:stretch>
            </a:blipFill>
          </p:spPr>
          <p:txBody>
            <a:bodyPr wrap="square" lIns="0" tIns="0" rIns="0" bIns="0" rtlCol="0"/>
            <a:lstStyle/>
            <a:p>
              <a:endParaRPr/>
            </a:p>
          </p:txBody>
        </p:sp>
        <p:sp>
          <p:nvSpPr>
            <p:cNvPr id="26" name="object 26"/>
            <p:cNvSpPr/>
            <p:nvPr/>
          </p:nvSpPr>
          <p:spPr>
            <a:xfrm>
              <a:off x="2647187" y="5035295"/>
              <a:ext cx="1351788" cy="777239"/>
            </a:xfrm>
            <a:prstGeom prst="rect">
              <a:avLst/>
            </a:prstGeom>
            <a:blipFill>
              <a:blip r:embed="rId11" cstate="print"/>
              <a:stretch>
                <a:fillRect/>
              </a:stretch>
            </a:blipFill>
          </p:spPr>
          <p:txBody>
            <a:bodyPr wrap="square" lIns="0" tIns="0" rIns="0" bIns="0" rtlCol="0"/>
            <a:lstStyle/>
            <a:p>
              <a:endParaRPr/>
            </a:p>
          </p:txBody>
        </p:sp>
        <p:sp>
          <p:nvSpPr>
            <p:cNvPr id="27" name="object 27"/>
            <p:cNvSpPr/>
            <p:nvPr/>
          </p:nvSpPr>
          <p:spPr>
            <a:xfrm>
              <a:off x="2599943" y="4895087"/>
              <a:ext cx="1391920" cy="943610"/>
            </a:xfrm>
            <a:custGeom>
              <a:avLst/>
              <a:gdLst/>
              <a:ahLst/>
              <a:cxnLst/>
              <a:rect l="l" t="t" r="r" b="b"/>
              <a:pathLst>
                <a:path w="1391920" h="943610">
                  <a:moveTo>
                    <a:pt x="1271016" y="0"/>
                  </a:moveTo>
                  <a:lnTo>
                    <a:pt x="120395" y="0"/>
                  </a:lnTo>
                  <a:lnTo>
                    <a:pt x="73509" y="9453"/>
                  </a:lnTo>
                  <a:lnTo>
                    <a:pt x="35242" y="35242"/>
                  </a:lnTo>
                  <a:lnTo>
                    <a:pt x="9453" y="73509"/>
                  </a:lnTo>
                  <a:lnTo>
                    <a:pt x="0" y="120395"/>
                  </a:lnTo>
                  <a:lnTo>
                    <a:pt x="0" y="822985"/>
                  </a:lnTo>
                  <a:lnTo>
                    <a:pt x="9453" y="869836"/>
                  </a:lnTo>
                  <a:lnTo>
                    <a:pt x="35242" y="908097"/>
                  </a:lnTo>
                  <a:lnTo>
                    <a:pt x="73509" y="933895"/>
                  </a:lnTo>
                  <a:lnTo>
                    <a:pt x="120395" y="943356"/>
                  </a:lnTo>
                  <a:lnTo>
                    <a:pt x="1271016" y="943356"/>
                  </a:lnTo>
                  <a:lnTo>
                    <a:pt x="1317902" y="933895"/>
                  </a:lnTo>
                  <a:lnTo>
                    <a:pt x="1356169" y="908097"/>
                  </a:lnTo>
                  <a:lnTo>
                    <a:pt x="1381958" y="869836"/>
                  </a:lnTo>
                  <a:lnTo>
                    <a:pt x="1391411" y="822985"/>
                  </a:lnTo>
                  <a:lnTo>
                    <a:pt x="1391411" y="120395"/>
                  </a:lnTo>
                  <a:lnTo>
                    <a:pt x="1381958" y="73509"/>
                  </a:lnTo>
                  <a:lnTo>
                    <a:pt x="1356169" y="35242"/>
                  </a:lnTo>
                  <a:lnTo>
                    <a:pt x="1317902" y="9453"/>
                  </a:lnTo>
                  <a:lnTo>
                    <a:pt x="1271016" y="0"/>
                  </a:lnTo>
                  <a:close/>
                </a:path>
              </a:pathLst>
            </a:custGeom>
            <a:solidFill>
              <a:srgbClr val="4AACC5"/>
            </a:solidFill>
          </p:spPr>
          <p:txBody>
            <a:bodyPr wrap="square" lIns="0" tIns="0" rIns="0" bIns="0" rtlCol="0"/>
            <a:lstStyle/>
            <a:p>
              <a:endParaRPr/>
            </a:p>
          </p:txBody>
        </p:sp>
      </p:grpSp>
      <p:sp>
        <p:nvSpPr>
          <p:cNvPr id="28" name="object 28"/>
          <p:cNvSpPr txBox="1"/>
          <p:nvPr/>
        </p:nvSpPr>
        <p:spPr>
          <a:xfrm>
            <a:off x="4604132" y="4870654"/>
            <a:ext cx="1028065" cy="513080"/>
          </a:xfrm>
          <a:prstGeom prst="rect">
            <a:avLst/>
          </a:prstGeom>
        </p:spPr>
        <p:txBody>
          <a:bodyPr vert="horz" wrap="square" lIns="0" tIns="12065" rIns="0" bIns="0" rtlCol="0">
            <a:spAutoFit/>
          </a:bodyPr>
          <a:lstStyle/>
          <a:p>
            <a:pPr marL="12700" marR="5080" indent="277495">
              <a:lnSpc>
                <a:spcPct val="100000"/>
              </a:lnSpc>
              <a:spcBef>
                <a:spcPts val="95"/>
              </a:spcBef>
            </a:pPr>
            <a:r>
              <a:rPr sz="1600" spc="45" dirty="0">
                <a:solidFill>
                  <a:srgbClr val="FFFFFF"/>
                </a:solidFill>
                <a:latin typeface="Trebuchet MS"/>
                <a:cs typeface="Trebuchet MS"/>
              </a:rPr>
              <a:t>Data  </a:t>
            </a:r>
            <a:r>
              <a:rPr sz="1600" spc="25" dirty="0">
                <a:solidFill>
                  <a:srgbClr val="FFFFFF"/>
                </a:solidFill>
                <a:latin typeface="Trebuchet MS"/>
                <a:cs typeface="Trebuchet MS"/>
              </a:rPr>
              <a:t>war</a:t>
            </a:r>
            <a:r>
              <a:rPr sz="1600" spc="5" dirty="0">
                <a:solidFill>
                  <a:srgbClr val="FFFFFF"/>
                </a:solidFill>
                <a:latin typeface="Trebuchet MS"/>
                <a:cs typeface="Trebuchet MS"/>
              </a:rPr>
              <a:t>e</a:t>
            </a:r>
            <a:r>
              <a:rPr sz="1600" spc="10" dirty="0">
                <a:solidFill>
                  <a:srgbClr val="FFFFFF"/>
                </a:solidFill>
                <a:latin typeface="Trebuchet MS"/>
                <a:cs typeface="Trebuchet MS"/>
              </a:rPr>
              <a:t>h</a:t>
            </a:r>
            <a:r>
              <a:rPr sz="1600" spc="60" dirty="0">
                <a:solidFill>
                  <a:srgbClr val="FFFFFF"/>
                </a:solidFill>
                <a:latin typeface="Trebuchet MS"/>
                <a:cs typeface="Trebuchet MS"/>
              </a:rPr>
              <a:t>o</a:t>
            </a:r>
            <a:r>
              <a:rPr sz="1600" spc="15" dirty="0">
                <a:solidFill>
                  <a:srgbClr val="FFFFFF"/>
                </a:solidFill>
                <a:latin typeface="Trebuchet MS"/>
                <a:cs typeface="Trebuchet MS"/>
              </a:rPr>
              <a:t>use</a:t>
            </a:r>
            <a:endParaRPr sz="1600" dirty="0">
              <a:latin typeface="Trebuchet MS"/>
              <a:cs typeface="Trebuchet MS"/>
            </a:endParaRPr>
          </a:p>
        </p:txBody>
      </p:sp>
      <p:sp>
        <p:nvSpPr>
          <p:cNvPr id="29" name="object 29"/>
          <p:cNvSpPr txBox="1"/>
          <p:nvPr/>
        </p:nvSpPr>
        <p:spPr>
          <a:xfrm>
            <a:off x="5868163" y="4799025"/>
            <a:ext cx="102235" cy="147955"/>
          </a:xfrm>
          <a:prstGeom prst="rect">
            <a:avLst/>
          </a:prstGeom>
        </p:spPr>
        <p:txBody>
          <a:bodyPr vert="horz" wrap="square" lIns="0" tIns="12700" rIns="0" bIns="0" rtlCol="0">
            <a:spAutoFit/>
          </a:bodyPr>
          <a:lstStyle/>
          <a:p>
            <a:pPr marL="12700">
              <a:lnSpc>
                <a:spcPct val="100000"/>
              </a:lnSpc>
              <a:spcBef>
                <a:spcPts val="100"/>
              </a:spcBef>
            </a:pPr>
            <a:r>
              <a:rPr sz="800" dirty="0">
                <a:latin typeface="Wingdings"/>
                <a:cs typeface="Wingdings"/>
              </a:rPr>
              <a:t></a:t>
            </a:r>
            <a:endParaRPr sz="800">
              <a:latin typeface="Wingdings"/>
              <a:cs typeface="Wingdings"/>
            </a:endParaRPr>
          </a:p>
        </p:txBody>
      </p:sp>
      <p:sp>
        <p:nvSpPr>
          <p:cNvPr id="30" name="object 30"/>
          <p:cNvSpPr txBox="1"/>
          <p:nvPr/>
        </p:nvSpPr>
        <p:spPr>
          <a:xfrm>
            <a:off x="5868163" y="5042865"/>
            <a:ext cx="102235" cy="147955"/>
          </a:xfrm>
          <a:prstGeom prst="rect">
            <a:avLst/>
          </a:prstGeom>
        </p:spPr>
        <p:txBody>
          <a:bodyPr vert="horz" wrap="square" lIns="0" tIns="12700" rIns="0" bIns="0" rtlCol="0">
            <a:spAutoFit/>
          </a:bodyPr>
          <a:lstStyle/>
          <a:p>
            <a:pPr marL="12700">
              <a:lnSpc>
                <a:spcPct val="100000"/>
              </a:lnSpc>
              <a:spcBef>
                <a:spcPts val="100"/>
              </a:spcBef>
            </a:pPr>
            <a:r>
              <a:rPr sz="800" dirty="0">
                <a:latin typeface="Wingdings"/>
                <a:cs typeface="Wingdings"/>
              </a:rPr>
              <a:t></a:t>
            </a:r>
            <a:endParaRPr sz="800">
              <a:latin typeface="Wingdings"/>
              <a:cs typeface="Wingdings"/>
            </a:endParaRPr>
          </a:p>
        </p:txBody>
      </p:sp>
      <p:sp>
        <p:nvSpPr>
          <p:cNvPr id="31" name="object 31"/>
          <p:cNvSpPr txBox="1"/>
          <p:nvPr/>
        </p:nvSpPr>
        <p:spPr>
          <a:xfrm>
            <a:off x="5868163" y="5286756"/>
            <a:ext cx="102235" cy="147955"/>
          </a:xfrm>
          <a:prstGeom prst="rect">
            <a:avLst/>
          </a:prstGeom>
        </p:spPr>
        <p:txBody>
          <a:bodyPr vert="horz" wrap="square" lIns="0" tIns="12700" rIns="0" bIns="0" rtlCol="0">
            <a:spAutoFit/>
          </a:bodyPr>
          <a:lstStyle/>
          <a:p>
            <a:pPr marL="12700">
              <a:lnSpc>
                <a:spcPct val="100000"/>
              </a:lnSpc>
              <a:spcBef>
                <a:spcPts val="100"/>
              </a:spcBef>
            </a:pPr>
            <a:r>
              <a:rPr sz="800" dirty="0">
                <a:latin typeface="Wingdings"/>
                <a:cs typeface="Wingdings"/>
              </a:rPr>
              <a:t></a:t>
            </a:r>
            <a:endParaRPr sz="800">
              <a:latin typeface="Wingdings"/>
              <a:cs typeface="Wingdings"/>
            </a:endParaRPr>
          </a:p>
        </p:txBody>
      </p:sp>
      <p:sp>
        <p:nvSpPr>
          <p:cNvPr id="32" name="object 32"/>
          <p:cNvSpPr txBox="1"/>
          <p:nvPr/>
        </p:nvSpPr>
        <p:spPr>
          <a:xfrm>
            <a:off x="6154675" y="4741113"/>
            <a:ext cx="1924685" cy="756920"/>
          </a:xfrm>
          <a:prstGeom prst="rect">
            <a:avLst/>
          </a:prstGeom>
        </p:spPr>
        <p:txBody>
          <a:bodyPr vert="horz" wrap="square" lIns="0" tIns="12065" rIns="0" bIns="0" rtlCol="0">
            <a:spAutoFit/>
          </a:bodyPr>
          <a:lstStyle/>
          <a:p>
            <a:pPr marL="12700" marR="473709">
              <a:lnSpc>
                <a:spcPct val="100000"/>
              </a:lnSpc>
              <a:spcBef>
                <a:spcPts val="95"/>
              </a:spcBef>
            </a:pPr>
            <a:r>
              <a:rPr sz="1600" spc="45" dirty="0">
                <a:latin typeface="Trebuchet MS"/>
                <a:cs typeface="Trebuchet MS"/>
              </a:rPr>
              <a:t>Data</a:t>
            </a:r>
            <a:r>
              <a:rPr sz="1600" spc="-35" dirty="0">
                <a:latin typeface="Trebuchet MS"/>
                <a:cs typeface="Trebuchet MS"/>
              </a:rPr>
              <a:t> </a:t>
            </a:r>
            <a:r>
              <a:rPr sz="1600" spc="-20" dirty="0">
                <a:latin typeface="Trebuchet MS"/>
                <a:cs typeface="Trebuchet MS"/>
              </a:rPr>
              <a:t>extraction  </a:t>
            </a:r>
            <a:r>
              <a:rPr sz="1600" spc="45" dirty="0">
                <a:latin typeface="Trebuchet MS"/>
                <a:cs typeface="Trebuchet MS"/>
              </a:rPr>
              <a:t>Data</a:t>
            </a:r>
            <a:r>
              <a:rPr sz="1600" spc="15" dirty="0">
                <a:latin typeface="Trebuchet MS"/>
                <a:cs typeface="Trebuchet MS"/>
              </a:rPr>
              <a:t> </a:t>
            </a:r>
            <a:r>
              <a:rPr sz="1600" spc="25" dirty="0">
                <a:latin typeface="Trebuchet MS"/>
                <a:cs typeface="Trebuchet MS"/>
              </a:rPr>
              <a:t>loading</a:t>
            </a:r>
            <a:endParaRPr sz="1600">
              <a:latin typeface="Trebuchet MS"/>
              <a:cs typeface="Trebuchet MS"/>
            </a:endParaRPr>
          </a:p>
          <a:p>
            <a:pPr marL="12700">
              <a:lnSpc>
                <a:spcPct val="100000"/>
              </a:lnSpc>
            </a:pPr>
            <a:r>
              <a:rPr sz="1600" spc="45" dirty="0">
                <a:latin typeface="Trebuchet MS"/>
                <a:cs typeface="Trebuchet MS"/>
              </a:rPr>
              <a:t>Data</a:t>
            </a:r>
            <a:r>
              <a:rPr sz="1600" spc="-35" dirty="0">
                <a:latin typeface="Trebuchet MS"/>
                <a:cs typeface="Trebuchet MS"/>
              </a:rPr>
              <a:t> </a:t>
            </a:r>
            <a:r>
              <a:rPr sz="1600" spc="15" dirty="0">
                <a:latin typeface="Trebuchet MS"/>
                <a:cs typeface="Trebuchet MS"/>
              </a:rPr>
              <a:t>transformation</a:t>
            </a:r>
            <a:endParaRPr sz="1600">
              <a:latin typeface="Trebuchet MS"/>
              <a:cs typeface="Trebuchet MS"/>
            </a:endParaRPr>
          </a:p>
        </p:txBody>
      </p:sp>
      <p:sp>
        <p:nvSpPr>
          <p:cNvPr id="33" name="object 33"/>
          <p:cNvSpPr txBox="1">
            <a:spLocks noGrp="1"/>
          </p:cNvSpPr>
          <p:nvPr>
            <p:ph type="title"/>
          </p:nvPr>
        </p:nvSpPr>
        <p:spPr>
          <a:xfrm>
            <a:off x="1662619" y="626794"/>
            <a:ext cx="8205344" cy="567463"/>
          </a:xfrm>
          <a:prstGeom prst="rect">
            <a:avLst/>
          </a:prstGeom>
        </p:spPr>
        <p:txBody>
          <a:bodyPr vert="horz" wrap="square" lIns="0" tIns="13335" rIns="0" bIns="0" rtlCol="0">
            <a:spAutoFit/>
          </a:bodyPr>
          <a:lstStyle/>
          <a:p>
            <a:pPr marL="12700">
              <a:lnSpc>
                <a:spcPct val="100000"/>
              </a:lnSpc>
              <a:spcBef>
                <a:spcPts val="105"/>
              </a:spcBef>
            </a:pPr>
            <a:r>
              <a:rPr spc="10" dirty="0"/>
              <a:t>Application </a:t>
            </a:r>
            <a:r>
              <a:rPr spc="25" dirty="0"/>
              <a:t>Scenarios </a:t>
            </a:r>
            <a:r>
              <a:rPr spc="30" dirty="0"/>
              <a:t>of</a:t>
            </a:r>
            <a:r>
              <a:rPr spc="5" dirty="0"/>
              <a:t> </a:t>
            </a:r>
            <a:r>
              <a:rPr spc="40" dirty="0"/>
              <a:t>Hive</a:t>
            </a:r>
          </a:p>
        </p:txBody>
      </p:sp>
      <p:grpSp>
        <p:nvGrpSpPr>
          <p:cNvPr id="34" name="object 34"/>
          <p:cNvGrpSpPr/>
          <p:nvPr/>
        </p:nvGrpSpPr>
        <p:grpSpPr>
          <a:xfrm>
            <a:off x="7114033" y="1217879"/>
            <a:ext cx="1496695" cy="1051560"/>
            <a:chOff x="5292852" y="1455419"/>
            <a:chExt cx="1496695" cy="1051560"/>
          </a:xfrm>
        </p:grpSpPr>
        <p:sp>
          <p:nvSpPr>
            <p:cNvPr id="35" name="object 35"/>
            <p:cNvSpPr/>
            <p:nvPr/>
          </p:nvSpPr>
          <p:spPr>
            <a:xfrm>
              <a:off x="5292852" y="1455419"/>
              <a:ext cx="1496568" cy="1051560"/>
            </a:xfrm>
            <a:prstGeom prst="rect">
              <a:avLst/>
            </a:prstGeom>
            <a:blipFill>
              <a:blip r:embed="rId12" cstate="print"/>
              <a:stretch>
                <a:fillRect/>
              </a:stretch>
            </a:blipFill>
          </p:spPr>
          <p:txBody>
            <a:bodyPr wrap="square" lIns="0" tIns="0" rIns="0" bIns="0" rtlCol="0"/>
            <a:lstStyle/>
            <a:p>
              <a:endParaRPr/>
            </a:p>
          </p:txBody>
        </p:sp>
        <p:sp>
          <p:nvSpPr>
            <p:cNvPr id="36" name="object 36"/>
            <p:cNvSpPr/>
            <p:nvPr/>
          </p:nvSpPr>
          <p:spPr>
            <a:xfrm>
              <a:off x="5544312" y="1623059"/>
              <a:ext cx="992124" cy="777239"/>
            </a:xfrm>
            <a:prstGeom prst="rect">
              <a:avLst/>
            </a:prstGeom>
            <a:blipFill>
              <a:blip r:embed="rId13" cstate="print"/>
              <a:stretch>
                <a:fillRect/>
              </a:stretch>
            </a:blipFill>
          </p:spPr>
          <p:txBody>
            <a:bodyPr wrap="square" lIns="0" tIns="0" rIns="0" bIns="0" rtlCol="0"/>
            <a:lstStyle/>
            <a:p>
              <a:endParaRPr/>
            </a:p>
          </p:txBody>
        </p:sp>
        <p:sp>
          <p:nvSpPr>
            <p:cNvPr id="37" name="object 37"/>
            <p:cNvSpPr/>
            <p:nvPr/>
          </p:nvSpPr>
          <p:spPr>
            <a:xfrm>
              <a:off x="5318760" y="1481327"/>
              <a:ext cx="1390015" cy="944880"/>
            </a:xfrm>
            <a:custGeom>
              <a:avLst/>
              <a:gdLst/>
              <a:ahLst/>
              <a:cxnLst/>
              <a:rect l="l" t="t" r="r" b="b"/>
              <a:pathLst>
                <a:path w="1390015" h="944880">
                  <a:moveTo>
                    <a:pt x="1269364" y="0"/>
                  </a:moveTo>
                  <a:lnTo>
                    <a:pt x="120523" y="0"/>
                  </a:lnTo>
                  <a:lnTo>
                    <a:pt x="73616" y="9473"/>
                  </a:lnTo>
                  <a:lnTo>
                    <a:pt x="35306" y="35305"/>
                  </a:lnTo>
                  <a:lnTo>
                    <a:pt x="9473" y="73616"/>
                  </a:lnTo>
                  <a:lnTo>
                    <a:pt x="0" y="120523"/>
                  </a:lnTo>
                  <a:lnTo>
                    <a:pt x="0" y="824357"/>
                  </a:lnTo>
                  <a:lnTo>
                    <a:pt x="9473" y="871263"/>
                  </a:lnTo>
                  <a:lnTo>
                    <a:pt x="35305" y="909574"/>
                  </a:lnTo>
                  <a:lnTo>
                    <a:pt x="73616" y="935406"/>
                  </a:lnTo>
                  <a:lnTo>
                    <a:pt x="120523" y="944880"/>
                  </a:lnTo>
                  <a:lnTo>
                    <a:pt x="1269364" y="944880"/>
                  </a:lnTo>
                  <a:lnTo>
                    <a:pt x="1316271" y="935406"/>
                  </a:lnTo>
                  <a:lnTo>
                    <a:pt x="1354582" y="909574"/>
                  </a:lnTo>
                  <a:lnTo>
                    <a:pt x="1380414" y="871263"/>
                  </a:lnTo>
                  <a:lnTo>
                    <a:pt x="1389888" y="824357"/>
                  </a:lnTo>
                  <a:lnTo>
                    <a:pt x="1389888" y="120523"/>
                  </a:lnTo>
                  <a:lnTo>
                    <a:pt x="1380414" y="73616"/>
                  </a:lnTo>
                  <a:lnTo>
                    <a:pt x="1354581" y="35306"/>
                  </a:lnTo>
                  <a:lnTo>
                    <a:pt x="1316271" y="9473"/>
                  </a:lnTo>
                  <a:lnTo>
                    <a:pt x="1269364" y="0"/>
                  </a:lnTo>
                  <a:close/>
                </a:path>
              </a:pathLst>
            </a:custGeom>
            <a:solidFill>
              <a:srgbClr val="9BBA58"/>
            </a:solidFill>
          </p:spPr>
          <p:txBody>
            <a:bodyPr wrap="square" lIns="0" tIns="0" rIns="0" bIns="0" rtlCol="0"/>
            <a:lstStyle/>
            <a:p>
              <a:endParaRPr/>
            </a:p>
          </p:txBody>
        </p:sp>
      </p:grpSp>
      <p:sp>
        <p:nvSpPr>
          <p:cNvPr id="38" name="object 38"/>
          <p:cNvSpPr txBox="1"/>
          <p:nvPr/>
        </p:nvSpPr>
        <p:spPr>
          <a:xfrm>
            <a:off x="7501256" y="1457274"/>
            <a:ext cx="666115" cy="513080"/>
          </a:xfrm>
          <a:prstGeom prst="rect">
            <a:avLst/>
          </a:prstGeom>
        </p:spPr>
        <p:txBody>
          <a:bodyPr vert="horz" wrap="square" lIns="0" tIns="12065" rIns="0" bIns="0" rtlCol="0">
            <a:spAutoFit/>
          </a:bodyPr>
          <a:lstStyle/>
          <a:p>
            <a:pPr marL="12700" marR="5080" indent="99060">
              <a:lnSpc>
                <a:spcPct val="100000"/>
              </a:lnSpc>
              <a:spcBef>
                <a:spcPts val="95"/>
              </a:spcBef>
            </a:pPr>
            <a:r>
              <a:rPr sz="1600" spc="45" dirty="0">
                <a:solidFill>
                  <a:srgbClr val="FFFFFF"/>
                </a:solidFill>
                <a:latin typeface="Trebuchet MS"/>
                <a:cs typeface="Trebuchet MS"/>
              </a:rPr>
              <a:t>Data  </a:t>
            </a:r>
            <a:r>
              <a:rPr sz="1600" spc="20" dirty="0">
                <a:solidFill>
                  <a:srgbClr val="FFFFFF"/>
                </a:solidFill>
                <a:latin typeface="Trebuchet MS"/>
                <a:cs typeface="Trebuchet MS"/>
              </a:rPr>
              <a:t>mini</a:t>
            </a:r>
            <a:r>
              <a:rPr sz="1600" spc="25" dirty="0">
                <a:solidFill>
                  <a:srgbClr val="FFFFFF"/>
                </a:solidFill>
                <a:latin typeface="Trebuchet MS"/>
                <a:cs typeface="Trebuchet MS"/>
              </a:rPr>
              <a:t>n</a:t>
            </a:r>
            <a:r>
              <a:rPr sz="1600" spc="110" dirty="0">
                <a:solidFill>
                  <a:srgbClr val="FFFFFF"/>
                </a:solidFill>
                <a:latin typeface="Trebuchet MS"/>
                <a:cs typeface="Trebuchet MS"/>
              </a:rPr>
              <a:t>g</a:t>
            </a:r>
            <a:endParaRPr sz="1600">
              <a:latin typeface="Trebuchet MS"/>
              <a:cs typeface="Trebuchet MS"/>
            </a:endParaRPr>
          </a:p>
        </p:txBody>
      </p:sp>
      <p:sp>
        <p:nvSpPr>
          <p:cNvPr id="39" name="object 39"/>
          <p:cNvSpPr txBox="1"/>
          <p:nvPr/>
        </p:nvSpPr>
        <p:spPr>
          <a:xfrm>
            <a:off x="6845301" y="3775532"/>
            <a:ext cx="102235" cy="147955"/>
          </a:xfrm>
          <a:prstGeom prst="rect">
            <a:avLst/>
          </a:prstGeom>
        </p:spPr>
        <p:txBody>
          <a:bodyPr vert="horz" wrap="square" lIns="0" tIns="12700" rIns="0" bIns="0" rtlCol="0">
            <a:spAutoFit/>
          </a:bodyPr>
          <a:lstStyle/>
          <a:p>
            <a:pPr marL="12700">
              <a:lnSpc>
                <a:spcPct val="100000"/>
              </a:lnSpc>
              <a:spcBef>
                <a:spcPts val="100"/>
              </a:spcBef>
            </a:pPr>
            <a:r>
              <a:rPr sz="800" dirty="0">
                <a:latin typeface="Wingdings"/>
                <a:cs typeface="Wingdings"/>
              </a:rPr>
              <a:t></a:t>
            </a:r>
            <a:endParaRPr sz="800">
              <a:latin typeface="Wingdings"/>
              <a:cs typeface="Wingdings"/>
            </a:endParaRPr>
          </a:p>
        </p:txBody>
      </p:sp>
      <p:sp>
        <p:nvSpPr>
          <p:cNvPr id="40" name="object 40"/>
          <p:cNvSpPr txBox="1"/>
          <p:nvPr/>
        </p:nvSpPr>
        <p:spPr>
          <a:xfrm>
            <a:off x="6845301" y="4019068"/>
            <a:ext cx="102235" cy="148590"/>
          </a:xfrm>
          <a:prstGeom prst="rect">
            <a:avLst/>
          </a:prstGeom>
        </p:spPr>
        <p:txBody>
          <a:bodyPr vert="horz" wrap="square" lIns="0" tIns="13335" rIns="0" bIns="0" rtlCol="0">
            <a:spAutoFit/>
          </a:bodyPr>
          <a:lstStyle/>
          <a:p>
            <a:pPr marL="12700">
              <a:lnSpc>
                <a:spcPct val="100000"/>
              </a:lnSpc>
              <a:spcBef>
                <a:spcPts val="105"/>
              </a:spcBef>
            </a:pPr>
            <a:r>
              <a:rPr sz="800" dirty="0">
                <a:latin typeface="Wingdings"/>
                <a:cs typeface="Wingdings"/>
              </a:rPr>
              <a:t></a:t>
            </a:r>
            <a:endParaRPr sz="800">
              <a:latin typeface="Wingdings"/>
              <a:cs typeface="Wingdings"/>
            </a:endParaRPr>
          </a:p>
        </p:txBody>
      </p:sp>
      <p:sp>
        <p:nvSpPr>
          <p:cNvPr id="41" name="object 41"/>
          <p:cNvSpPr txBox="1"/>
          <p:nvPr/>
        </p:nvSpPr>
        <p:spPr>
          <a:xfrm>
            <a:off x="7131813" y="3717316"/>
            <a:ext cx="2249170" cy="513715"/>
          </a:xfrm>
          <a:prstGeom prst="rect">
            <a:avLst/>
          </a:prstGeom>
        </p:spPr>
        <p:txBody>
          <a:bodyPr vert="horz" wrap="square" lIns="0" tIns="12065" rIns="0" bIns="0" rtlCol="0">
            <a:spAutoFit/>
          </a:bodyPr>
          <a:lstStyle/>
          <a:p>
            <a:pPr marL="12700">
              <a:lnSpc>
                <a:spcPct val="100000"/>
              </a:lnSpc>
              <a:spcBef>
                <a:spcPts val="95"/>
              </a:spcBef>
            </a:pPr>
            <a:r>
              <a:rPr sz="1600" spc="-5" dirty="0">
                <a:latin typeface="Trebuchet MS"/>
                <a:cs typeface="Trebuchet MS"/>
              </a:rPr>
              <a:t>Daily/Weekly </a:t>
            </a:r>
            <a:r>
              <a:rPr sz="1600" spc="5" dirty="0">
                <a:latin typeface="Trebuchet MS"/>
                <a:cs typeface="Trebuchet MS"/>
              </a:rPr>
              <a:t>user</a:t>
            </a:r>
            <a:r>
              <a:rPr sz="1600" spc="75" dirty="0">
                <a:latin typeface="Trebuchet MS"/>
                <a:cs typeface="Trebuchet MS"/>
              </a:rPr>
              <a:t> </a:t>
            </a:r>
            <a:r>
              <a:rPr sz="1600" spc="-30" dirty="0">
                <a:latin typeface="Trebuchet MS"/>
                <a:cs typeface="Trebuchet MS"/>
              </a:rPr>
              <a:t>clicks</a:t>
            </a:r>
            <a:endParaRPr sz="1600">
              <a:latin typeface="Trebuchet MS"/>
              <a:cs typeface="Trebuchet MS"/>
            </a:endParaRPr>
          </a:p>
          <a:p>
            <a:pPr marL="12700">
              <a:lnSpc>
                <a:spcPct val="100000"/>
              </a:lnSpc>
              <a:spcBef>
                <a:spcPts val="5"/>
              </a:spcBef>
            </a:pPr>
            <a:r>
              <a:rPr sz="1600" spc="-30" dirty="0">
                <a:latin typeface="Trebuchet MS"/>
                <a:cs typeface="Trebuchet MS"/>
              </a:rPr>
              <a:t>Traffic</a:t>
            </a:r>
            <a:r>
              <a:rPr sz="1600" spc="15" dirty="0">
                <a:latin typeface="Trebuchet MS"/>
                <a:cs typeface="Trebuchet MS"/>
              </a:rPr>
              <a:t> </a:t>
            </a:r>
            <a:r>
              <a:rPr sz="1600" spc="-30" dirty="0">
                <a:latin typeface="Trebuchet MS"/>
                <a:cs typeface="Trebuchet MS"/>
              </a:rPr>
              <a:t>statistics</a:t>
            </a:r>
            <a:endParaRPr sz="1600">
              <a:latin typeface="Trebuchet MS"/>
              <a:cs typeface="Trebuchet MS"/>
            </a:endParaRPr>
          </a:p>
        </p:txBody>
      </p:sp>
      <p:sp>
        <p:nvSpPr>
          <p:cNvPr id="46" name="object 2"/>
          <p:cNvSpPr txBox="1"/>
          <p:nvPr/>
        </p:nvSpPr>
        <p:spPr>
          <a:xfrm>
            <a:off x="1217184" y="5595874"/>
            <a:ext cx="10302161" cy="1240244"/>
          </a:xfrm>
          <a:prstGeom prst="rect">
            <a:avLst/>
          </a:prstGeom>
        </p:spPr>
        <p:txBody>
          <a:bodyPr vert="horz" wrap="square" lIns="0" tIns="9049" rIns="0" bIns="0" rtlCol="0">
            <a:spAutoFit/>
          </a:bodyPr>
          <a:lstStyle/>
          <a:p>
            <a:pPr marL="138113" marR="29528" indent="-128588" algn="just">
              <a:buFont typeface="Wingdings"/>
              <a:buChar char=""/>
              <a:tabLst>
                <a:tab pos="138113" algn="l"/>
              </a:tabLst>
            </a:pPr>
            <a:r>
              <a:rPr sz="2000" spc="26" dirty="0" smtClean="0">
                <a:latin typeface="UKIJ CJK"/>
                <a:cs typeface="UKIJ CJK"/>
              </a:rPr>
              <a:t>The </a:t>
            </a:r>
            <a:r>
              <a:rPr sz="2000" spc="19" dirty="0">
                <a:latin typeface="UKIJ CJK"/>
                <a:cs typeface="UKIJ CJK"/>
              </a:rPr>
              <a:t>query process </a:t>
            </a:r>
            <a:r>
              <a:rPr sz="2000" spc="30" dirty="0">
                <a:latin typeface="UKIJ CJK"/>
                <a:cs typeface="UKIJ CJK"/>
              </a:rPr>
              <a:t>of Hive </a:t>
            </a:r>
            <a:r>
              <a:rPr sz="2000" spc="15" dirty="0">
                <a:latin typeface="UKIJ CJK"/>
                <a:cs typeface="UKIJ CJK"/>
              </a:rPr>
              <a:t>strictly </a:t>
            </a:r>
            <a:r>
              <a:rPr sz="2000" spc="19" dirty="0">
                <a:latin typeface="UKIJ CJK"/>
                <a:cs typeface="UKIJ CJK"/>
              </a:rPr>
              <a:t>follows </a:t>
            </a:r>
            <a:r>
              <a:rPr sz="2000" spc="23" dirty="0">
                <a:latin typeface="UKIJ CJK"/>
                <a:cs typeface="UKIJ CJK"/>
              </a:rPr>
              <a:t>the </a:t>
            </a:r>
            <a:r>
              <a:rPr sz="2000" spc="26" dirty="0">
                <a:latin typeface="UKIJ CJK"/>
                <a:cs typeface="UKIJ CJK"/>
              </a:rPr>
              <a:t>job </a:t>
            </a:r>
            <a:r>
              <a:rPr sz="2000" spc="23" dirty="0">
                <a:latin typeface="UKIJ CJK"/>
                <a:cs typeface="UKIJ CJK"/>
              </a:rPr>
              <a:t>execution </a:t>
            </a:r>
            <a:r>
              <a:rPr sz="2000" spc="30" dirty="0">
                <a:latin typeface="UKIJ CJK"/>
                <a:cs typeface="UKIJ CJK"/>
              </a:rPr>
              <a:t>model of  </a:t>
            </a:r>
            <a:r>
              <a:rPr sz="2000" spc="41" dirty="0">
                <a:latin typeface="UKIJ CJK"/>
                <a:cs typeface="UKIJ CJK"/>
              </a:rPr>
              <a:t>Hadoop </a:t>
            </a:r>
            <a:r>
              <a:rPr sz="2000" spc="26" dirty="0">
                <a:latin typeface="UKIJ CJK"/>
                <a:cs typeface="UKIJ CJK"/>
              </a:rPr>
              <a:t>MapReduce. </a:t>
            </a:r>
            <a:r>
              <a:rPr sz="2000" spc="30" dirty="0">
                <a:latin typeface="UKIJ CJK"/>
                <a:cs typeface="UKIJ CJK"/>
              </a:rPr>
              <a:t>Hive </a:t>
            </a:r>
            <a:r>
              <a:rPr sz="2000" spc="11" dirty="0">
                <a:latin typeface="UKIJ CJK"/>
                <a:cs typeface="UKIJ CJK"/>
              </a:rPr>
              <a:t>uses </a:t>
            </a:r>
            <a:r>
              <a:rPr sz="2000" spc="19" dirty="0">
                <a:latin typeface="UKIJ CJK"/>
                <a:cs typeface="UKIJ CJK"/>
              </a:rPr>
              <a:t>an </a:t>
            </a:r>
            <a:r>
              <a:rPr sz="2000" spc="11" dirty="0">
                <a:latin typeface="UKIJ CJK"/>
                <a:cs typeface="UKIJ CJK"/>
              </a:rPr>
              <a:t>interpreter </a:t>
            </a:r>
            <a:r>
              <a:rPr sz="2000" spc="34" dirty="0">
                <a:latin typeface="UKIJ CJK"/>
                <a:cs typeface="UKIJ CJK"/>
              </a:rPr>
              <a:t>to </a:t>
            </a:r>
            <a:r>
              <a:rPr sz="2000" spc="11" dirty="0">
                <a:latin typeface="UKIJ CJK"/>
                <a:cs typeface="UKIJ CJK"/>
              </a:rPr>
              <a:t>translate </a:t>
            </a:r>
            <a:r>
              <a:rPr sz="2000" spc="30" dirty="0">
                <a:latin typeface="UKIJ CJK"/>
                <a:cs typeface="UKIJ CJK"/>
              </a:rPr>
              <a:t>HiveQL  </a:t>
            </a:r>
            <a:r>
              <a:rPr sz="2000" spc="19" dirty="0">
                <a:latin typeface="UKIJ CJK"/>
                <a:cs typeface="UKIJ CJK"/>
              </a:rPr>
              <a:t>statements </a:t>
            </a:r>
            <a:r>
              <a:rPr sz="2000" spc="34" dirty="0">
                <a:latin typeface="UKIJ CJK"/>
                <a:cs typeface="UKIJ CJK"/>
              </a:rPr>
              <a:t>to MapReduce </a:t>
            </a:r>
            <a:r>
              <a:rPr sz="2000" spc="23" dirty="0">
                <a:latin typeface="UKIJ CJK"/>
                <a:cs typeface="UKIJ CJK"/>
              </a:rPr>
              <a:t>jobs </a:t>
            </a:r>
            <a:r>
              <a:rPr sz="2000" spc="26" dirty="0">
                <a:latin typeface="UKIJ CJK"/>
                <a:cs typeface="UKIJ CJK"/>
              </a:rPr>
              <a:t>and </a:t>
            </a:r>
            <a:r>
              <a:rPr sz="2000" spc="19" dirty="0">
                <a:latin typeface="UKIJ CJK"/>
                <a:cs typeface="UKIJ CJK"/>
              </a:rPr>
              <a:t>submits </a:t>
            </a:r>
            <a:r>
              <a:rPr sz="2000" spc="23" dirty="0">
                <a:latin typeface="UKIJ CJK"/>
                <a:cs typeface="UKIJ CJK"/>
              </a:rPr>
              <a:t>the jobs </a:t>
            </a:r>
            <a:r>
              <a:rPr sz="2000" spc="34" dirty="0">
                <a:latin typeface="UKIJ CJK"/>
                <a:cs typeface="UKIJ CJK"/>
              </a:rPr>
              <a:t>to </a:t>
            </a:r>
            <a:r>
              <a:rPr sz="2000" spc="15" dirty="0">
                <a:latin typeface="UKIJ CJK"/>
                <a:cs typeface="UKIJ CJK"/>
              </a:rPr>
              <a:t>a </a:t>
            </a:r>
            <a:r>
              <a:rPr sz="2000" spc="38" dirty="0">
                <a:latin typeface="UKIJ CJK"/>
                <a:cs typeface="UKIJ CJK"/>
              </a:rPr>
              <a:t>Hadoop </a:t>
            </a:r>
            <a:r>
              <a:rPr sz="2000" spc="4" dirty="0">
                <a:latin typeface="UKIJ CJK"/>
                <a:cs typeface="UKIJ CJK"/>
              </a:rPr>
              <a:t>cluster.  </a:t>
            </a:r>
            <a:r>
              <a:rPr sz="2000" spc="41" dirty="0">
                <a:latin typeface="UKIJ CJK"/>
                <a:cs typeface="UKIJ CJK"/>
              </a:rPr>
              <a:t>Hadoop </a:t>
            </a:r>
            <a:r>
              <a:rPr sz="2000" spc="19" dirty="0">
                <a:latin typeface="UKIJ CJK"/>
                <a:cs typeface="UKIJ CJK"/>
              </a:rPr>
              <a:t>monitors </a:t>
            </a:r>
            <a:r>
              <a:rPr sz="2000" spc="23" dirty="0">
                <a:latin typeface="UKIJ CJK"/>
                <a:cs typeface="UKIJ CJK"/>
              </a:rPr>
              <a:t>the </a:t>
            </a:r>
            <a:r>
              <a:rPr sz="2000" spc="26" dirty="0">
                <a:latin typeface="UKIJ CJK"/>
                <a:cs typeface="UKIJ CJK"/>
              </a:rPr>
              <a:t>job </a:t>
            </a:r>
            <a:r>
              <a:rPr sz="2000" spc="23" dirty="0">
                <a:latin typeface="UKIJ CJK"/>
                <a:cs typeface="UKIJ CJK"/>
              </a:rPr>
              <a:t>execution </a:t>
            </a:r>
            <a:r>
              <a:rPr sz="2000" spc="19" dirty="0">
                <a:latin typeface="UKIJ CJK"/>
                <a:cs typeface="UKIJ CJK"/>
              </a:rPr>
              <a:t>process </a:t>
            </a:r>
            <a:r>
              <a:rPr sz="2000" spc="26" dirty="0">
                <a:latin typeface="UKIJ CJK"/>
                <a:cs typeface="UKIJ CJK"/>
              </a:rPr>
              <a:t>and </a:t>
            </a:r>
            <a:r>
              <a:rPr sz="2000" spc="8" dirty="0">
                <a:latin typeface="UKIJ CJK"/>
                <a:cs typeface="UKIJ CJK"/>
              </a:rPr>
              <a:t>returns </a:t>
            </a:r>
            <a:r>
              <a:rPr sz="2000" spc="23" dirty="0">
                <a:latin typeface="UKIJ CJK"/>
                <a:cs typeface="UKIJ CJK"/>
              </a:rPr>
              <a:t>the execution  </a:t>
            </a:r>
            <a:r>
              <a:rPr sz="2000" spc="8" dirty="0">
                <a:latin typeface="UKIJ CJK"/>
                <a:cs typeface="UKIJ CJK"/>
              </a:rPr>
              <a:t>results </a:t>
            </a:r>
            <a:r>
              <a:rPr sz="2000" spc="34" dirty="0">
                <a:latin typeface="UKIJ CJK"/>
                <a:cs typeface="UKIJ CJK"/>
              </a:rPr>
              <a:t>to</a:t>
            </a:r>
            <a:r>
              <a:rPr sz="2000" spc="53" dirty="0">
                <a:latin typeface="UKIJ CJK"/>
                <a:cs typeface="UKIJ CJK"/>
              </a:rPr>
              <a:t> </a:t>
            </a:r>
            <a:r>
              <a:rPr sz="2000" spc="4" dirty="0">
                <a:latin typeface="UKIJ CJK"/>
                <a:cs typeface="UKIJ CJK"/>
              </a:rPr>
              <a:t>users</a:t>
            </a:r>
            <a:r>
              <a:rPr sz="2000" spc="4" dirty="0" smtClean="0">
                <a:latin typeface="UKIJ CJK"/>
                <a:cs typeface="UKIJ CJK"/>
              </a:rPr>
              <a:t>.</a:t>
            </a:r>
            <a:endParaRPr sz="2000" dirty="0">
              <a:latin typeface="UKIJ CJK"/>
              <a:cs typeface="UKIJ CJK"/>
            </a:endParaRPr>
          </a:p>
        </p:txBody>
      </p:sp>
      <p:sp>
        <p:nvSpPr>
          <p:cNvPr id="47" name="object 2"/>
          <p:cNvSpPr txBox="1"/>
          <p:nvPr/>
        </p:nvSpPr>
        <p:spPr>
          <a:xfrm>
            <a:off x="1217184" y="1775918"/>
            <a:ext cx="3458454" cy="2163573"/>
          </a:xfrm>
          <a:prstGeom prst="rect">
            <a:avLst/>
          </a:prstGeom>
        </p:spPr>
        <p:txBody>
          <a:bodyPr vert="horz" wrap="square" lIns="0" tIns="9049" rIns="0" bIns="0" rtlCol="0">
            <a:spAutoFit/>
          </a:bodyPr>
          <a:lstStyle/>
          <a:p>
            <a:pPr marL="138113" marR="26194" indent="-128588" algn="just">
              <a:buFont typeface="Wingdings"/>
              <a:buChar char=""/>
              <a:tabLst>
                <a:tab pos="138113" algn="l"/>
              </a:tabLst>
            </a:pPr>
            <a:r>
              <a:rPr sz="2000" spc="30" dirty="0" smtClean="0">
                <a:latin typeface="UKIJ CJK"/>
                <a:cs typeface="UKIJ CJK"/>
              </a:rPr>
              <a:t>Hive </a:t>
            </a:r>
            <a:r>
              <a:rPr sz="2000" spc="4" dirty="0">
                <a:latin typeface="UKIJ CJK"/>
                <a:cs typeface="UKIJ CJK"/>
              </a:rPr>
              <a:t>is </a:t>
            </a:r>
            <a:r>
              <a:rPr sz="2000" u="sng" spc="30" dirty="0">
                <a:latin typeface="UKIJ CJK"/>
                <a:cs typeface="UKIJ CJK"/>
              </a:rPr>
              <a:t>not </a:t>
            </a:r>
            <a:r>
              <a:rPr sz="2000" u="sng" spc="34" dirty="0">
                <a:latin typeface="UKIJ CJK"/>
                <a:cs typeface="UKIJ CJK"/>
              </a:rPr>
              <a:t>designed </a:t>
            </a:r>
            <a:r>
              <a:rPr sz="2000" u="sng" spc="11" dirty="0">
                <a:latin typeface="UKIJ CJK"/>
                <a:cs typeface="UKIJ CJK"/>
              </a:rPr>
              <a:t>for </a:t>
            </a:r>
            <a:r>
              <a:rPr sz="2000" u="sng" spc="23" dirty="0">
                <a:latin typeface="UKIJ CJK"/>
                <a:cs typeface="UKIJ CJK"/>
              </a:rPr>
              <a:t>OLTP</a:t>
            </a:r>
            <a:r>
              <a:rPr sz="2000" spc="23" dirty="0">
                <a:latin typeface="UKIJ CJK"/>
                <a:cs typeface="UKIJ CJK"/>
              </a:rPr>
              <a:t>. </a:t>
            </a:r>
            <a:r>
              <a:rPr sz="2000" spc="15" dirty="0">
                <a:latin typeface="UKIJ CJK"/>
                <a:cs typeface="UKIJ CJK"/>
              </a:rPr>
              <a:t>Therefore, </a:t>
            </a:r>
            <a:r>
              <a:rPr sz="2000" u="sng" spc="30" dirty="0">
                <a:latin typeface="UKIJ CJK"/>
                <a:cs typeface="UKIJ CJK"/>
              </a:rPr>
              <a:t>Hive does not </a:t>
            </a:r>
            <a:r>
              <a:rPr sz="2000" u="sng" spc="23" dirty="0">
                <a:latin typeface="UKIJ CJK"/>
                <a:cs typeface="UKIJ CJK"/>
              </a:rPr>
              <a:t>support </a:t>
            </a:r>
            <a:r>
              <a:rPr sz="2000" u="sng" spc="19" dirty="0">
                <a:latin typeface="UKIJ CJK"/>
                <a:cs typeface="UKIJ CJK"/>
              </a:rPr>
              <a:t>real-time  </a:t>
            </a:r>
            <a:r>
              <a:rPr sz="2000" u="sng" spc="19" dirty="0" smtClean="0">
                <a:latin typeface="UKIJ CJK"/>
                <a:cs typeface="UKIJ CJK"/>
              </a:rPr>
              <a:t>query</a:t>
            </a:r>
            <a:r>
              <a:rPr sz="2000" spc="15" dirty="0" smtClean="0">
                <a:latin typeface="UKIJ CJK"/>
                <a:cs typeface="UKIJ CJK"/>
              </a:rPr>
              <a:t>. </a:t>
            </a:r>
            <a:r>
              <a:rPr sz="2000" spc="30" dirty="0">
                <a:latin typeface="UKIJ CJK"/>
                <a:cs typeface="UKIJ CJK"/>
              </a:rPr>
              <a:t>Hive </a:t>
            </a:r>
            <a:r>
              <a:rPr sz="2000" spc="4" dirty="0">
                <a:latin typeface="UKIJ CJK"/>
                <a:cs typeface="UKIJ CJK"/>
              </a:rPr>
              <a:t>is </a:t>
            </a:r>
            <a:r>
              <a:rPr sz="2000" u="sng" spc="26" dirty="0">
                <a:latin typeface="UKIJ CJK"/>
                <a:cs typeface="UKIJ CJK"/>
              </a:rPr>
              <a:t>most </a:t>
            </a:r>
            <a:r>
              <a:rPr sz="2000" u="sng" spc="19" dirty="0">
                <a:latin typeface="UKIJ CJK"/>
                <a:cs typeface="UKIJ CJK"/>
              </a:rPr>
              <a:t>applicable </a:t>
            </a:r>
            <a:r>
              <a:rPr sz="2000" u="sng" spc="34" dirty="0">
                <a:latin typeface="UKIJ CJK"/>
                <a:cs typeface="UKIJ CJK"/>
              </a:rPr>
              <a:t>to </a:t>
            </a:r>
            <a:r>
              <a:rPr sz="2000" u="sng" spc="26" dirty="0">
                <a:latin typeface="UKIJ CJK"/>
                <a:cs typeface="UKIJ CJK"/>
              </a:rPr>
              <a:t>batch  processing </a:t>
            </a:r>
            <a:r>
              <a:rPr sz="2000" u="sng" spc="23" dirty="0">
                <a:latin typeface="UKIJ CJK"/>
                <a:cs typeface="UKIJ CJK"/>
              </a:rPr>
              <a:t>jobs </a:t>
            </a:r>
            <a:r>
              <a:rPr sz="2000" u="sng" spc="30" dirty="0">
                <a:latin typeface="UKIJ CJK"/>
                <a:cs typeface="UKIJ CJK"/>
              </a:rPr>
              <a:t>of </a:t>
            </a:r>
            <a:r>
              <a:rPr sz="2000" u="sng" spc="23" dirty="0">
                <a:latin typeface="UKIJ CJK"/>
                <a:cs typeface="UKIJ CJK"/>
              </a:rPr>
              <a:t>large data </a:t>
            </a:r>
            <a:r>
              <a:rPr sz="2000" u="sng" spc="11" dirty="0">
                <a:latin typeface="UKIJ CJK"/>
                <a:cs typeface="UKIJ CJK"/>
              </a:rPr>
              <a:t>sets</a:t>
            </a:r>
            <a:r>
              <a:rPr sz="2000" spc="11" dirty="0">
                <a:latin typeface="UKIJ CJK"/>
                <a:cs typeface="UKIJ CJK"/>
              </a:rPr>
              <a:t>, for </a:t>
            </a:r>
            <a:r>
              <a:rPr sz="2000" spc="15" dirty="0">
                <a:latin typeface="UKIJ CJK"/>
                <a:cs typeface="UKIJ CJK"/>
              </a:rPr>
              <a:t>example, </a:t>
            </a:r>
            <a:r>
              <a:rPr sz="2000" spc="23" dirty="0">
                <a:latin typeface="UKIJ CJK"/>
                <a:cs typeface="UKIJ CJK"/>
              </a:rPr>
              <a:t>network </a:t>
            </a:r>
            <a:r>
              <a:rPr sz="2000" spc="45" dirty="0">
                <a:latin typeface="UKIJ CJK"/>
                <a:cs typeface="UKIJ CJK"/>
              </a:rPr>
              <a:t>log</a:t>
            </a:r>
            <a:r>
              <a:rPr sz="2000" spc="176" dirty="0">
                <a:latin typeface="UKIJ CJK"/>
                <a:cs typeface="UKIJ CJK"/>
              </a:rPr>
              <a:t> </a:t>
            </a:r>
            <a:r>
              <a:rPr sz="2000" spc="8" dirty="0">
                <a:latin typeface="UKIJ CJK"/>
                <a:cs typeface="UKIJ CJK"/>
              </a:rPr>
              <a:t>analysis.</a:t>
            </a:r>
            <a:endParaRPr sz="2000" dirty="0">
              <a:latin typeface="UKIJ CJK"/>
              <a:cs typeface="UKIJ CJK"/>
            </a:endParaRPr>
          </a:p>
        </p:txBody>
      </p:sp>
    </p:spTree>
    <p:extLst>
      <p:ext uri="{BB962C8B-B14F-4D97-AF65-F5344CB8AC3E}">
        <p14:creationId xmlns:p14="http://schemas.microsoft.com/office/powerpoint/2010/main" val="22169799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600200" y="685800"/>
            <a:ext cx="10058400" cy="966290"/>
          </a:xfrm>
          <a:prstGeom prst="rect">
            <a:avLst/>
          </a:prstGeom>
        </p:spPr>
        <p:txBody>
          <a:bodyPr vert="horz" wrap="square" lIns="0" tIns="67945" rIns="0" bIns="0" rtlCol="0">
            <a:spAutoFit/>
          </a:bodyPr>
          <a:lstStyle/>
          <a:p>
            <a:pPr marL="12700" marR="5080" algn="ctr">
              <a:lnSpc>
                <a:spcPts val="3460"/>
              </a:lnSpc>
              <a:spcBef>
                <a:spcPts val="535"/>
              </a:spcBef>
            </a:pPr>
            <a:r>
              <a:rPr spc="65" dirty="0"/>
              <a:t>Comparison </a:t>
            </a:r>
            <a:r>
              <a:rPr spc="10" dirty="0"/>
              <a:t>Between </a:t>
            </a:r>
            <a:r>
              <a:rPr spc="40" dirty="0"/>
              <a:t>Hive </a:t>
            </a:r>
            <a:r>
              <a:rPr spc="85" dirty="0"/>
              <a:t>and </a:t>
            </a:r>
            <a:r>
              <a:rPr dirty="0"/>
              <a:t>Traditional </a:t>
            </a:r>
            <a:r>
              <a:rPr spc="100" dirty="0"/>
              <a:t>Data  </a:t>
            </a:r>
            <a:r>
              <a:rPr spc="75" dirty="0"/>
              <a:t>Warehouses</a:t>
            </a:r>
            <a:r>
              <a:rPr spc="15" dirty="0"/>
              <a:t> </a:t>
            </a:r>
            <a:r>
              <a:rPr spc="130" dirty="0"/>
              <a:t>(1)</a:t>
            </a:r>
          </a:p>
        </p:txBody>
      </p:sp>
      <p:graphicFrame>
        <p:nvGraphicFramePr>
          <p:cNvPr id="3" name="object 3"/>
          <p:cNvGraphicFramePr>
            <a:graphicFrameLocks noGrp="1"/>
          </p:cNvGraphicFramePr>
          <p:nvPr>
            <p:extLst>
              <p:ext uri="{D42A27DB-BD31-4B8C-83A1-F6EECF244321}">
                <p14:modId xmlns:p14="http://schemas.microsoft.com/office/powerpoint/2010/main" val="1646756813"/>
              </p:ext>
            </p:extLst>
          </p:nvPr>
        </p:nvGraphicFramePr>
        <p:xfrm>
          <a:off x="464457" y="1828800"/>
          <a:ext cx="11506200" cy="4636579"/>
        </p:xfrm>
        <a:graphic>
          <a:graphicData uri="http://schemas.openxmlformats.org/drawingml/2006/table">
            <a:tbl>
              <a:tblPr firstRow="1" bandRow="1">
                <a:tableStyleId>{2D5ABB26-0587-4C30-8999-92F81FD0307C}</a:tableStyleId>
              </a:tblPr>
              <a:tblGrid>
                <a:gridCol w="1541015">
                  <a:extLst>
                    <a:ext uri="{9D8B030D-6E8A-4147-A177-3AD203B41FA5}">
                      <a16:colId xmlns:a16="http://schemas.microsoft.com/office/drawing/2014/main" val="20000"/>
                    </a:ext>
                  </a:extLst>
                </a:gridCol>
                <a:gridCol w="4311846">
                  <a:extLst>
                    <a:ext uri="{9D8B030D-6E8A-4147-A177-3AD203B41FA5}">
                      <a16:colId xmlns:a16="http://schemas.microsoft.com/office/drawing/2014/main" val="20001"/>
                    </a:ext>
                  </a:extLst>
                </a:gridCol>
                <a:gridCol w="5653339">
                  <a:extLst>
                    <a:ext uri="{9D8B030D-6E8A-4147-A177-3AD203B41FA5}">
                      <a16:colId xmlns:a16="http://schemas.microsoft.com/office/drawing/2014/main" val="20002"/>
                    </a:ext>
                  </a:extLst>
                </a:gridCol>
              </a:tblGrid>
              <a:tr h="424018">
                <a:tc>
                  <a:txBody>
                    <a:bodyPr/>
                    <a:lstStyle/>
                    <a:p>
                      <a:pPr>
                        <a:lnSpc>
                          <a:spcPct val="100000"/>
                        </a:lnSpc>
                      </a:pPr>
                      <a:endParaRPr sz="1500">
                        <a:latin typeface="Times New Roman"/>
                        <a:cs typeface="Times New Roman"/>
                      </a:endParaRPr>
                    </a:p>
                  </a:txBody>
                  <a:tcPr marL="0" marR="0" marT="0" marB="0">
                    <a:lnL w="28575">
                      <a:solidFill>
                        <a:srgbClr val="000000"/>
                      </a:solidFill>
                      <a:prstDash val="solid"/>
                    </a:lnL>
                    <a:lnR w="12700">
                      <a:solidFill>
                        <a:srgbClr val="000000"/>
                      </a:solidFill>
                      <a:prstDash val="solid"/>
                    </a:lnR>
                    <a:lnT w="28575">
                      <a:solidFill>
                        <a:srgbClr val="000000"/>
                      </a:solidFill>
                      <a:prstDash val="solid"/>
                    </a:lnT>
                    <a:lnB w="12700">
                      <a:solidFill>
                        <a:srgbClr val="000000"/>
                      </a:solidFill>
                      <a:prstDash val="solid"/>
                    </a:lnB>
                    <a:solidFill>
                      <a:srgbClr val="D9D9D9"/>
                    </a:solidFill>
                  </a:tcPr>
                </a:tc>
                <a:tc>
                  <a:txBody>
                    <a:bodyPr/>
                    <a:lstStyle/>
                    <a:p>
                      <a:pPr algn="ctr">
                        <a:lnSpc>
                          <a:spcPct val="100000"/>
                        </a:lnSpc>
                        <a:spcBef>
                          <a:spcPts val="575"/>
                        </a:spcBef>
                      </a:pPr>
                      <a:r>
                        <a:rPr sz="1600" b="1" spc="25" dirty="0">
                          <a:latin typeface="Trebuchet MS"/>
                          <a:cs typeface="Trebuchet MS"/>
                        </a:rPr>
                        <a:t>Hive</a:t>
                      </a:r>
                      <a:endParaRPr sz="1600">
                        <a:latin typeface="Trebuchet MS"/>
                        <a:cs typeface="Trebuchet MS"/>
                      </a:endParaRPr>
                    </a:p>
                  </a:txBody>
                  <a:tcPr marL="0" marR="0" marT="73025" marB="0">
                    <a:lnL w="12700">
                      <a:solidFill>
                        <a:srgbClr val="000000"/>
                      </a:solidFill>
                      <a:prstDash val="solid"/>
                    </a:lnL>
                    <a:lnR w="12700">
                      <a:solidFill>
                        <a:srgbClr val="000000"/>
                      </a:solidFill>
                      <a:prstDash val="solid"/>
                    </a:lnR>
                    <a:lnT w="28575">
                      <a:solidFill>
                        <a:srgbClr val="000000"/>
                      </a:solidFill>
                      <a:prstDash val="solid"/>
                    </a:lnT>
                    <a:lnB w="12700">
                      <a:solidFill>
                        <a:srgbClr val="000000"/>
                      </a:solidFill>
                      <a:prstDash val="solid"/>
                    </a:lnB>
                    <a:solidFill>
                      <a:srgbClr val="D9D9D9"/>
                    </a:solidFill>
                  </a:tcPr>
                </a:tc>
                <a:tc>
                  <a:txBody>
                    <a:bodyPr/>
                    <a:lstStyle/>
                    <a:p>
                      <a:pPr algn="ctr">
                        <a:lnSpc>
                          <a:spcPct val="100000"/>
                        </a:lnSpc>
                        <a:spcBef>
                          <a:spcPts val="575"/>
                        </a:spcBef>
                      </a:pPr>
                      <a:r>
                        <a:rPr sz="1600" b="1" spc="25" dirty="0">
                          <a:latin typeface="Trebuchet MS"/>
                          <a:cs typeface="Trebuchet MS"/>
                        </a:rPr>
                        <a:t>Conventional </a:t>
                      </a:r>
                      <a:r>
                        <a:rPr sz="1600" b="1" spc="75" dirty="0">
                          <a:latin typeface="Trebuchet MS"/>
                          <a:cs typeface="Trebuchet MS"/>
                        </a:rPr>
                        <a:t>Data</a:t>
                      </a:r>
                      <a:r>
                        <a:rPr sz="1600" b="1" spc="20" dirty="0">
                          <a:latin typeface="Trebuchet MS"/>
                          <a:cs typeface="Trebuchet MS"/>
                        </a:rPr>
                        <a:t> </a:t>
                      </a:r>
                      <a:r>
                        <a:rPr sz="1600" b="1" spc="40" dirty="0">
                          <a:latin typeface="Trebuchet MS"/>
                          <a:cs typeface="Trebuchet MS"/>
                        </a:rPr>
                        <a:t>Warehouse</a:t>
                      </a:r>
                      <a:endParaRPr sz="1600">
                        <a:latin typeface="Trebuchet MS"/>
                        <a:cs typeface="Trebuchet MS"/>
                      </a:endParaRPr>
                    </a:p>
                  </a:txBody>
                  <a:tcPr marL="0" marR="0" marT="73025" marB="0">
                    <a:lnL w="12700">
                      <a:solidFill>
                        <a:srgbClr val="000000"/>
                      </a:solidFill>
                      <a:prstDash val="solid"/>
                    </a:lnL>
                    <a:lnR w="28575">
                      <a:solidFill>
                        <a:srgbClr val="000000"/>
                      </a:solidFill>
                      <a:prstDash val="solid"/>
                    </a:lnR>
                    <a:lnT w="28575">
                      <a:solidFill>
                        <a:srgbClr val="000000"/>
                      </a:solidFill>
                      <a:prstDash val="solid"/>
                    </a:lnT>
                    <a:lnB w="12700">
                      <a:solidFill>
                        <a:srgbClr val="000000"/>
                      </a:solidFill>
                      <a:prstDash val="solid"/>
                    </a:lnB>
                    <a:solidFill>
                      <a:srgbClr val="D9D9D9"/>
                    </a:solidFill>
                  </a:tcPr>
                </a:tc>
                <a:extLst>
                  <a:ext uri="{0D108BD9-81ED-4DB2-BD59-A6C34878D82A}">
                    <a16:rowId xmlns:a16="http://schemas.microsoft.com/office/drawing/2014/main" val="10000"/>
                  </a:ext>
                </a:extLst>
              </a:tr>
              <a:tr h="1055835">
                <a:tc>
                  <a:txBody>
                    <a:bodyPr/>
                    <a:lstStyle/>
                    <a:p>
                      <a:pPr>
                        <a:lnSpc>
                          <a:spcPct val="100000"/>
                        </a:lnSpc>
                        <a:spcBef>
                          <a:spcPts val="25"/>
                        </a:spcBef>
                      </a:pPr>
                      <a:endParaRPr sz="2500">
                        <a:latin typeface="Times New Roman"/>
                        <a:cs typeface="Times New Roman"/>
                      </a:endParaRPr>
                    </a:p>
                    <a:p>
                      <a:pPr marL="90170">
                        <a:lnSpc>
                          <a:spcPct val="100000"/>
                        </a:lnSpc>
                      </a:pPr>
                      <a:r>
                        <a:rPr sz="1600" b="1" spc="40" dirty="0">
                          <a:latin typeface="Trebuchet MS"/>
                          <a:cs typeface="Trebuchet MS"/>
                        </a:rPr>
                        <a:t>Storage</a:t>
                      </a:r>
                      <a:endParaRPr sz="1600">
                        <a:latin typeface="Trebuchet MS"/>
                        <a:cs typeface="Trebuchet MS"/>
                      </a:endParaRPr>
                    </a:p>
                  </a:txBody>
                  <a:tcPr marL="0" marR="0" marT="3175" marB="0">
                    <a:lnL w="28575">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900">
                        <a:latin typeface="Times New Roman"/>
                        <a:cs typeface="Times New Roman"/>
                      </a:endParaRPr>
                    </a:p>
                    <a:p>
                      <a:pPr marL="90170">
                        <a:lnSpc>
                          <a:spcPct val="100000"/>
                        </a:lnSpc>
                      </a:pPr>
                      <a:r>
                        <a:rPr sz="1400" spc="90" dirty="0">
                          <a:latin typeface="Trebuchet MS"/>
                          <a:cs typeface="Trebuchet MS"/>
                        </a:rPr>
                        <a:t>HDFS </a:t>
                      </a:r>
                      <a:r>
                        <a:rPr sz="1400" spc="-10" dirty="0">
                          <a:latin typeface="Trebuchet MS"/>
                          <a:cs typeface="Trebuchet MS"/>
                        </a:rPr>
                        <a:t>is </a:t>
                      </a:r>
                      <a:r>
                        <a:rPr sz="1400" spc="15" dirty="0">
                          <a:latin typeface="Trebuchet MS"/>
                          <a:cs typeface="Trebuchet MS"/>
                        </a:rPr>
                        <a:t>used </a:t>
                      </a:r>
                      <a:r>
                        <a:rPr sz="1400" spc="5" dirty="0">
                          <a:latin typeface="Trebuchet MS"/>
                          <a:cs typeface="Trebuchet MS"/>
                        </a:rPr>
                        <a:t>to </a:t>
                      </a:r>
                      <a:r>
                        <a:rPr sz="1400" spc="-5" dirty="0">
                          <a:latin typeface="Trebuchet MS"/>
                          <a:cs typeface="Trebuchet MS"/>
                        </a:rPr>
                        <a:t>store </a:t>
                      </a:r>
                      <a:r>
                        <a:rPr sz="1400" spc="-30" dirty="0">
                          <a:latin typeface="Trebuchet MS"/>
                          <a:cs typeface="Trebuchet MS"/>
                        </a:rPr>
                        <a:t>data.</a:t>
                      </a:r>
                      <a:r>
                        <a:rPr sz="1400" spc="-60" dirty="0">
                          <a:latin typeface="Trebuchet MS"/>
                          <a:cs typeface="Trebuchet MS"/>
                        </a:rPr>
                        <a:t> </a:t>
                      </a:r>
                      <a:r>
                        <a:rPr sz="1400" spc="-25" dirty="0">
                          <a:latin typeface="Trebuchet MS"/>
                          <a:cs typeface="Trebuchet MS"/>
                        </a:rPr>
                        <a:t>Theoretically,</a:t>
                      </a:r>
                      <a:endParaRPr sz="1400">
                        <a:latin typeface="Trebuchet MS"/>
                        <a:cs typeface="Trebuchet MS"/>
                      </a:endParaRPr>
                    </a:p>
                    <a:p>
                      <a:pPr marL="90170">
                        <a:lnSpc>
                          <a:spcPct val="100000"/>
                        </a:lnSpc>
                        <a:spcBef>
                          <a:spcPts val="5"/>
                        </a:spcBef>
                      </a:pPr>
                      <a:r>
                        <a:rPr sz="1400" spc="-15" dirty="0">
                          <a:latin typeface="Trebuchet MS"/>
                          <a:cs typeface="Trebuchet MS"/>
                        </a:rPr>
                        <a:t>infinite </a:t>
                      </a:r>
                      <a:r>
                        <a:rPr sz="1400" spc="15" dirty="0">
                          <a:latin typeface="Trebuchet MS"/>
                          <a:cs typeface="Trebuchet MS"/>
                        </a:rPr>
                        <a:t>expansion </a:t>
                      </a:r>
                      <a:r>
                        <a:rPr sz="1400" spc="-10" dirty="0">
                          <a:latin typeface="Trebuchet MS"/>
                          <a:cs typeface="Trebuchet MS"/>
                        </a:rPr>
                        <a:t>is</a:t>
                      </a:r>
                      <a:r>
                        <a:rPr sz="1400" dirty="0">
                          <a:latin typeface="Trebuchet MS"/>
                          <a:cs typeface="Trebuchet MS"/>
                        </a:rPr>
                        <a:t> </a:t>
                      </a:r>
                      <a:r>
                        <a:rPr sz="1400" spc="-20" dirty="0">
                          <a:latin typeface="Trebuchet MS"/>
                          <a:cs typeface="Trebuchet MS"/>
                        </a:rPr>
                        <a:t>possible.</a:t>
                      </a:r>
                      <a:endParaRPr sz="1400">
                        <a:latin typeface="Trebuchet MS"/>
                        <a:cs typeface="Trebuchet MS"/>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0805" marR="210185" algn="just">
                        <a:lnSpc>
                          <a:spcPct val="100000"/>
                        </a:lnSpc>
                        <a:spcBef>
                          <a:spcPts val="505"/>
                        </a:spcBef>
                      </a:pPr>
                      <a:r>
                        <a:rPr sz="1400" spc="-5" dirty="0">
                          <a:latin typeface="Trebuchet MS"/>
                          <a:cs typeface="Trebuchet MS"/>
                        </a:rPr>
                        <a:t>Clusters are </a:t>
                      </a:r>
                      <a:r>
                        <a:rPr sz="1400" spc="15" dirty="0">
                          <a:latin typeface="Trebuchet MS"/>
                          <a:cs typeface="Trebuchet MS"/>
                        </a:rPr>
                        <a:t>used </a:t>
                      </a:r>
                      <a:r>
                        <a:rPr sz="1400" spc="5" dirty="0">
                          <a:latin typeface="Trebuchet MS"/>
                          <a:cs typeface="Trebuchet MS"/>
                        </a:rPr>
                        <a:t>to </a:t>
                      </a:r>
                      <a:r>
                        <a:rPr sz="1400" spc="-5" dirty="0">
                          <a:latin typeface="Trebuchet MS"/>
                          <a:cs typeface="Trebuchet MS"/>
                        </a:rPr>
                        <a:t>store </a:t>
                      </a:r>
                      <a:r>
                        <a:rPr sz="1400" spc="-25" dirty="0">
                          <a:latin typeface="Trebuchet MS"/>
                          <a:cs typeface="Trebuchet MS"/>
                        </a:rPr>
                        <a:t>data, </a:t>
                      </a:r>
                      <a:r>
                        <a:rPr sz="1400" spc="15" dirty="0">
                          <a:latin typeface="Trebuchet MS"/>
                          <a:cs typeface="Trebuchet MS"/>
                        </a:rPr>
                        <a:t>which </a:t>
                      </a:r>
                      <a:r>
                        <a:rPr sz="1400" spc="10" dirty="0">
                          <a:latin typeface="Trebuchet MS"/>
                          <a:cs typeface="Trebuchet MS"/>
                        </a:rPr>
                        <a:t>have </a:t>
                      </a:r>
                      <a:r>
                        <a:rPr sz="1400" spc="40" dirty="0">
                          <a:latin typeface="Trebuchet MS"/>
                          <a:cs typeface="Trebuchet MS"/>
                        </a:rPr>
                        <a:t>a </a:t>
                      </a:r>
                      <a:r>
                        <a:rPr sz="1400" spc="-15" dirty="0">
                          <a:latin typeface="Trebuchet MS"/>
                          <a:cs typeface="Trebuchet MS"/>
                        </a:rPr>
                        <a:t>capacity </a:t>
                      </a:r>
                      <a:r>
                        <a:rPr sz="1400" spc="10" dirty="0">
                          <a:latin typeface="Trebuchet MS"/>
                          <a:cs typeface="Trebuchet MS"/>
                        </a:rPr>
                        <a:t>upper  </a:t>
                      </a:r>
                      <a:r>
                        <a:rPr sz="1400" spc="-40" dirty="0">
                          <a:latin typeface="Trebuchet MS"/>
                          <a:cs typeface="Trebuchet MS"/>
                        </a:rPr>
                        <a:t>limit. </a:t>
                      </a:r>
                      <a:r>
                        <a:rPr sz="1400" spc="30" dirty="0">
                          <a:latin typeface="Trebuchet MS"/>
                          <a:cs typeface="Trebuchet MS"/>
                        </a:rPr>
                        <a:t>With </a:t>
                      </a:r>
                      <a:r>
                        <a:rPr sz="1400" spc="-10" dirty="0">
                          <a:latin typeface="Trebuchet MS"/>
                          <a:cs typeface="Trebuchet MS"/>
                        </a:rPr>
                        <a:t>the increase </a:t>
                      </a:r>
                      <a:r>
                        <a:rPr sz="1400" spc="10" dirty="0">
                          <a:latin typeface="Trebuchet MS"/>
                          <a:cs typeface="Trebuchet MS"/>
                        </a:rPr>
                        <a:t>of </a:t>
                      </a:r>
                      <a:r>
                        <a:rPr sz="1400" spc="-30" dirty="0">
                          <a:latin typeface="Trebuchet MS"/>
                          <a:cs typeface="Trebuchet MS"/>
                        </a:rPr>
                        <a:t>capacity, </a:t>
                      </a:r>
                      <a:r>
                        <a:rPr sz="1400" spc="-10" dirty="0">
                          <a:latin typeface="Trebuchet MS"/>
                          <a:cs typeface="Trebuchet MS"/>
                        </a:rPr>
                        <a:t>the </a:t>
                      </a:r>
                      <a:r>
                        <a:rPr sz="1400" spc="25" dirty="0">
                          <a:latin typeface="Trebuchet MS"/>
                          <a:cs typeface="Trebuchet MS"/>
                        </a:rPr>
                        <a:t>computing </a:t>
                      </a:r>
                      <a:r>
                        <a:rPr sz="1400" spc="5" dirty="0">
                          <a:latin typeface="Trebuchet MS"/>
                          <a:cs typeface="Trebuchet MS"/>
                        </a:rPr>
                        <a:t>speed  </a:t>
                      </a:r>
                      <a:r>
                        <a:rPr sz="1400" spc="-5" dirty="0">
                          <a:latin typeface="Trebuchet MS"/>
                          <a:cs typeface="Trebuchet MS"/>
                        </a:rPr>
                        <a:t>decreases </a:t>
                      </a:r>
                      <a:r>
                        <a:rPr sz="1400" spc="-15" dirty="0">
                          <a:latin typeface="Trebuchet MS"/>
                          <a:cs typeface="Trebuchet MS"/>
                        </a:rPr>
                        <a:t>sharply. </a:t>
                      </a:r>
                      <a:r>
                        <a:rPr sz="1400" spc="-25" dirty="0">
                          <a:latin typeface="Trebuchet MS"/>
                          <a:cs typeface="Trebuchet MS"/>
                        </a:rPr>
                        <a:t>Therefore, </a:t>
                      </a:r>
                      <a:r>
                        <a:rPr sz="1400" spc="15" dirty="0">
                          <a:latin typeface="Trebuchet MS"/>
                          <a:cs typeface="Trebuchet MS"/>
                        </a:rPr>
                        <a:t>data </a:t>
                      </a:r>
                      <a:r>
                        <a:rPr sz="1400" spc="20" dirty="0">
                          <a:latin typeface="Trebuchet MS"/>
                          <a:cs typeface="Trebuchet MS"/>
                        </a:rPr>
                        <a:t>warehouses </a:t>
                      </a:r>
                      <a:r>
                        <a:rPr sz="1400" spc="-5" dirty="0">
                          <a:latin typeface="Trebuchet MS"/>
                          <a:cs typeface="Trebuchet MS"/>
                        </a:rPr>
                        <a:t>are applicable  </a:t>
                      </a:r>
                      <a:r>
                        <a:rPr sz="1400" spc="15" dirty="0">
                          <a:latin typeface="Trebuchet MS"/>
                          <a:cs typeface="Trebuchet MS"/>
                        </a:rPr>
                        <a:t>only </a:t>
                      </a:r>
                      <a:r>
                        <a:rPr sz="1400" dirty="0">
                          <a:latin typeface="Trebuchet MS"/>
                          <a:cs typeface="Trebuchet MS"/>
                        </a:rPr>
                        <a:t>to </a:t>
                      </a:r>
                      <a:r>
                        <a:rPr sz="1400" spc="5" dirty="0">
                          <a:latin typeface="Trebuchet MS"/>
                          <a:cs typeface="Trebuchet MS"/>
                        </a:rPr>
                        <a:t>commercial </a:t>
                      </a:r>
                      <a:r>
                        <a:rPr sz="1400" dirty="0">
                          <a:latin typeface="Trebuchet MS"/>
                          <a:cs typeface="Trebuchet MS"/>
                        </a:rPr>
                        <a:t>applications </a:t>
                      </a:r>
                      <a:r>
                        <a:rPr sz="1400" spc="5" dirty="0">
                          <a:latin typeface="Trebuchet MS"/>
                          <a:cs typeface="Trebuchet MS"/>
                        </a:rPr>
                        <a:t>with </a:t>
                      </a:r>
                      <a:r>
                        <a:rPr sz="1400" spc="20" dirty="0">
                          <a:latin typeface="Trebuchet MS"/>
                          <a:cs typeface="Trebuchet MS"/>
                        </a:rPr>
                        <a:t>small </a:t>
                      </a:r>
                      <a:r>
                        <a:rPr sz="1400" spc="15" dirty="0">
                          <a:latin typeface="Trebuchet MS"/>
                          <a:cs typeface="Trebuchet MS"/>
                        </a:rPr>
                        <a:t>data</a:t>
                      </a:r>
                      <a:r>
                        <a:rPr sz="1400" spc="-20" dirty="0">
                          <a:latin typeface="Trebuchet MS"/>
                          <a:cs typeface="Trebuchet MS"/>
                        </a:rPr>
                        <a:t> </a:t>
                      </a:r>
                      <a:r>
                        <a:rPr sz="1400" spc="-5" dirty="0">
                          <a:latin typeface="Trebuchet MS"/>
                          <a:cs typeface="Trebuchet MS"/>
                        </a:rPr>
                        <a:t>volumes.</a:t>
                      </a:r>
                      <a:endParaRPr sz="1400" dirty="0">
                        <a:latin typeface="Trebuchet MS"/>
                        <a:cs typeface="Trebuchet MS"/>
                      </a:endParaRPr>
                    </a:p>
                  </a:txBody>
                  <a:tcPr marL="0" marR="0" marT="64135" marB="0">
                    <a:lnL w="12700">
                      <a:solidFill>
                        <a:srgbClr val="000000"/>
                      </a:solidFill>
                      <a:prstDash val="solid"/>
                    </a:lnL>
                    <a:lnR w="28575">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745703">
                <a:tc>
                  <a:txBody>
                    <a:bodyPr/>
                    <a:lstStyle/>
                    <a:p>
                      <a:pPr marL="90170" marR="391795">
                        <a:lnSpc>
                          <a:spcPct val="100000"/>
                        </a:lnSpc>
                        <a:spcBef>
                          <a:spcPts val="800"/>
                        </a:spcBef>
                      </a:pPr>
                      <a:r>
                        <a:rPr sz="1600" b="1" dirty="0">
                          <a:latin typeface="Trebuchet MS"/>
                          <a:cs typeface="Trebuchet MS"/>
                        </a:rPr>
                        <a:t>Ex</a:t>
                      </a:r>
                      <a:r>
                        <a:rPr sz="1600" b="1" spc="-5" dirty="0">
                          <a:latin typeface="Trebuchet MS"/>
                          <a:cs typeface="Trebuchet MS"/>
                        </a:rPr>
                        <a:t>e</a:t>
                      </a:r>
                      <a:r>
                        <a:rPr sz="1600" b="1" dirty="0">
                          <a:latin typeface="Trebuchet MS"/>
                          <a:cs typeface="Trebuchet MS"/>
                        </a:rPr>
                        <a:t>cut</a:t>
                      </a:r>
                      <a:r>
                        <a:rPr sz="1600" b="1" spc="5" dirty="0">
                          <a:latin typeface="Trebuchet MS"/>
                          <a:cs typeface="Trebuchet MS"/>
                        </a:rPr>
                        <a:t>i</a:t>
                      </a:r>
                      <a:r>
                        <a:rPr sz="1600" b="1" spc="-5" dirty="0">
                          <a:latin typeface="Trebuchet MS"/>
                          <a:cs typeface="Trebuchet MS"/>
                        </a:rPr>
                        <a:t>on  </a:t>
                      </a:r>
                      <a:r>
                        <a:rPr sz="1600" b="1" spc="30" dirty="0">
                          <a:latin typeface="Trebuchet MS"/>
                          <a:cs typeface="Trebuchet MS"/>
                        </a:rPr>
                        <a:t>engine</a:t>
                      </a:r>
                      <a:endParaRPr sz="1600">
                        <a:latin typeface="Trebuchet MS"/>
                        <a:cs typeface="Trebuchet MS"/>
                      </a:endParaRPr>
                    </a:p>
                  </a:txBody>
                  <a:tcPr marL="0" marR="0" marT="101600" marB="0">
                    <a:lnL w="28575">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spcBef>
                          <a:spcPts val="50"/>
                        </a:spcBef>
                      </a:pPr>
                      <a:endParaRPr sz="1600" dirty="0">
                        <a:latin typeface="Times New Roman"/>
                        <a:cs typeface="Times New Roman"/>
                      </a:endParaRPr>
                    </a:p>
                    <a:p>
                      <a:pPr marL="90170">
                        <a:lnSpc>
                          <a:spcPct val="100000"/>
                        </a:lnSpc>
                      </a:pPr>
                      <a:r>
                        <a:rPr sz="1400" spc="-20" dirty="0">
                          <a:latin typeface="Trebuchet MS"/>
                          <a:cs typeface="Trebuchet MS"/>
                        </a:rPr>
                        <a:t>Tez</a:t>
                      </a:r>
                      <a:r>
                        <a:rPr sz="1400" spc="-5" dirty="0">
                          <a:latin typeface="Trebuchet MS"/>
                          <a:cs typeface="Trebuchet MS"/>
                        </a:rPr>
                        <a:t> </a:t>
                      </a:r>
                      <a:r>
                        <a:rPr sz="1400" spc="5" dirty="0">
                          <a:latin typeface="Trebuchet MS"/>
                          <a:cs typeface="Trebuchet MS"/>
                        </a:rPr>
                        <a:t>(default</a:t>
                      </a:r>
                      <a:r>
                        <a:rPr sz="1400" spc="5" dirty="0" smtClean="0">
                          <a:latin typeface="Trebuchet MS"/>
                          <a:cs typeface="Trebuchet MS"/>
                        </a:rPr>
                        <a:t>)</a:t>
                      </a:r>
                      <a:r>
                        <a:rPr lang="en-US" sz="1400" spc="5" dirty="0" smtClean="0">
                          <a:latin typeface="Trebuchet MS"/>
                          <a:cs typeface="Trebuchet MS"/>
                        </a:rPr>
                        <a:t>/MR/</a:t>
                      </a:r>
                      <a:r>
                        <a:rPr lang="en-US" sz="1400" spc="5" dirty="0" err="1" smtClean="0">
                          <a:latin typeface="Trebuchet MS"/>
                          <a:cs typeface="Trebuchet MS"/>
                        </a:rPr>
                        <a:t>Sprk</a:t>
                      </a:r>
                      <a:endParaRPr sz="1400" dirty="0">
                        <a:latin typeface="Trebuchet MS"/>
                        <a:cs typeface="Trebuchet MS"/>
                      </a:endParaRPr>
                    </a:p>
                  </a:txBody>
                  <a:tcPr marL="0" marR="0" marT="63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0805" marR="216535" algn="just">
                        <a:lnSpc>
                          <a:spcPct val="100000"/>
                        </a:lnSpc>
                        <a:spcBef>
                          <a:spcPts val="1050"/>
                        </a:spcBef>
                      </a:pPr>
                      <a:r>
                        <a:rPr sz="1400" spc="30" dirty="0">
                          <a:latin typeface="Trebuchet MS"/>
                          <a:cs typeface="Trebuchet MS"/>
                        </a:rPr>
                        <a:t>You </a:t>
                      </a:r>
                      <a:r>
                        <a:rPr sz="1400" spc="10" dirty="0">
                          <a:latin typeface="Trebuchet MS"/>
                          <a:cs typeface="Trebuchet MS"/>
                        </a:rPr>
                        <a:t>can </a:t>
                      </a:r>
                      <a:r>
                        <a:rPr sz="1400" spc="-30" dirty="0">
                          <a:latin typeface="Trebuchet MS"/>
                          <a:cs typeface="Trebuchet MS"/>
                        </a:rPr>
                        <a:t>select </a:t>
                      </a:r>
                      <a:r>
                        <a:rPr sz="1400" spc="25" dirty="0">
                          <a:latin typeface="Trebuchet MS"/>
                          <a:cs typeface="Trebuchet MS"/>
                        </a:rPr>
                        <a:t>more </a:t>
                      </a:r>
                      <a:r>
                        <a:rPr sz="1400" spc="-30" dirty="0">
                          <a:latin typeface="Trebuchet MS"/>
                          <a:cs typeface="Trebuchet MS"/>
                        </a:rPr>
                        <a:t>efficient </a:t>
                      </a:r>
                      <a:r>
                        <a:rPr sz="1400" spc="20" dirty="0">
                          <a:latin typeface="Trebuchet MS"/>
                          <a:cs typeface="Trebuchet MS"/>
                        </a:rPr>
                        <a:t>algorithms </a:t>
                      </a:r>
                      <a:r>
                        <a:rPr sz="1400" spc="5" dirty="0">
                          <a:latin typeface="Trebuchet MS"/>
                          <a:cs typeface="Trebuchet MS"/>
                        </a:rPr>
                        <a:t>to </a:t>
                      </a:r>
                      <a:r>
                        <a:rPr sz="1400" spc="10" dirty="0">
                          <a:latin typeface="Trebuchet MS"/>
                          <a:cs typeface="Trebuchet MS"/>
                        </a:rPr>
                        <a:t>perform </a:t>
                      </a:r>
                      <a:r>
                        <a:rPr sz="1400" spc="-30" dirty="0">
                          <a:latin typeface="Trebuchet MS"/>
                          <a:cs typeface="Trebuchet MS"/>
                        </a:rPr>
                        <a:t>queries,  </a:t>
                      </a:r>
                      <a:r>
                        <a:rPr sz="1400" spc="15" dirty="0">
                          <a:latin typeface="Trebuchet MS"/>
                          <a:cs typeface="Trebuchet MS"/>
                        </a:rPr>
                        <a:t>or </a:t>
                      </a:r>
                      <a:r>
                        <a:rPr sz="1400" dirty="0">
                          <a:latin typeface="Trebuchet MS"/>
                          <a:cs typeface="Trebuchet MS"/>
                        </a:rPr>
                        <a:t>take </a:t>
                      </a:r>
                      <a:r>
                        <a:rPr sz="1400" spc="25" dirty="0">
                          <a:latin typeface="Trebuchet MS"/>
                          <a:cs typeface="Trebuchet MS"/>
                        </a:rPr>
                        <a:t>more </a:t>
                      </a:r>
                      <a:r>
                        <a:rPr sz="1400" spc="5" dirty="0">
                          <a:latin typeface="Trebuchet MS"/>
                          <a:cs typeface="Trebuchet MS"/>
                        </a:rPr>
                        <a:t>optimization </a:t>
                      </a:r>
                      <a:r>
                        <a:rPr sz="1400" spc="20" dirty="0">
                          <a:latin typeface="Trebuchet MS"/>
                          <a:cs typeface="Trebuchet MS"/>
                        </a:rPr>
                        <a:t>measures </a:t>
                      </a:r>
                      <a:r>
                        <a:rPr sz="1400" spc="5" dirty="0">
                          <a:latin typeface="Trebuchet MS"/>
                          <a:cs typeface="Trebuchet MS"/>
                        </a:rPr>
                        <a:t>to </a:t>
                      </a:r>
                      <a:r>
                        <a:rPr sz="1400" dirty="0">
                          <a:latin typeface="Trebuchet MS"/>
                          <a:cs typeface="Trebuchet MS"/>
                        </a:rPr>
                        <a:t>speed </a:t>
                      </a:r>
                      <a:r>
                        <a:rPr sz="1400" spc="35" dirty="0">
                          <a:latin typeface="Trebuchet MS"/>
                          <a:cs typeface="Trebuchet MS"/>
                        </a:rPr>
                        <a:t>up </a:t>
                      </a:r>
                      <a:r>
                        <a:rPr sz="1400" spc="-10" dirty="0">
                          <a:latin typeface="Trebuchet MS"/>
                          <a:cs typeface="Trebuchet MS"/>
                        </a:rPr>
                        <a:t>the </a:t>
                      </a:r>
                      <a:r>
                        <a:rPr sz="1400" spc="-30" dirty="0">
                          <a:latin typeface="Trebuchet MS"/>
                          <a:cs typeface="Trebuchet MS"/>
                        </a:rPr>
                        <a:t>queries.</a:t>
                      </a:r>
                      <a:endParaRPr sz="1400" dirty="0">
                        <a:latin typeface="Trebuchet MS"/>
                        <a:cs typeface="Trebuchet MS"/>
                      </a:endParaRPr>
                    </a:p>
                  </a:txBody>
                  <a:tcPr marL="0" marR="0" marT="133350" marB="0">
                    <a:lnL w="12700">
                      <a:solidFill>
                        <a:srgbClr val="000000"/>
                      </a:solidFill>
                      <a:prstDash val="solid"/>
                    </a:lnL>
                    <a:lnR w="28575">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r h="648124">
                <a:tc>
                  <a:txBody>
                    <a:bodyPr/>
                    <a:lstStyle/>
                    <a:p>
                      <a:pPr marL="90170" marR="578485">
                        <a:lnSpc>
                          <a:spcPct val="100000"/>
                        </a:lnSpc>
                        <a:spcBef>
                          <a:spcPts val="445"/>
                        </a:spcBef>
                      </a:pPr>
                      <a:r>
                        <a:rPr sz="1600" b="1" spc="60" dirty="0">
                          <a:latin typeface="Trebuchet MS"/>
                          <a:cs typeface="Trebuchet MS"/>
                        </a:rPr>
                        <a:t>Usage  </a:t>
                      </a:r>
                      <a:r>
                        <a:rPr sz="1600" b="1" spc="-5" dirty="0">
                          <a:latin typeface="Trebuchet MS"/>
                          <a:cs typeface="Trebuchet MS"/>
                        </a:rPr>
                        <a:t>M</a:t>
                      </a:r>
                      <a:r>
                        <a:rPr sz="1600" b="1" spc="-10" dirty="0">
                          <a:latin typeface="Trebuchet MS"/>
                          <a:cs typeface="Trebuchet MS"/>
                        </a:rPr>
                        <a:t>e</a:t>
                      </a:r>
                      <a:r>
                        <a:rPr sz="1600" b="1" dirty="0">
                          <a:latin typeface="Trebuchet MS"/>
                          <a:cs typeface="Trebuchet MS"/>
                        </a:rPr>
                        <a:t>t</a:t>
                      </a:r>
                      <a:r>
                        <a:rPr sz="1600" b="1" spc="5" dirty="0">
                          <a:latin typeface="Trebuchet MS"/>
                          <a:cs typeface="Trebuchet MS"/>
                        </a:rPr>
                        <a:t>h</a:t>
                      </a:r>
                      <a:r>
                        <a:rPr sz="1600" b="1" spc="-5" dirty="0">
                          <a:latin typeface="Trebuchet MS"/>
                          <a:cs typeface="Trebuchet MS"/>
                        </a:rPr>
                        <a:t>od</a:t>
                      </a:r>
                      <a:endParaRPr sz="1600">
                        <a:latin typeface="Trebuchet MS"/>
                        <a:cs typeface="Trebuchet MS"/>
                      </a:endParaRPr>
                    </a:p>
                  </a:txBody>
                  <a:tcPr marL="0" marR="0" marT="56515" marB="0">
                    <a:lnL w="28575">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spcBef>
                          <a:spcPts val="35"/>
                        </a:spcBef>
                      </a:pPr>
                      <a:endParaRPr sz="1300">
                        <a:latin typeface="Times New Roman"/>
                        <a:cs typeface="Times New Roman"/>
                      </a:endParaRPr>
                    </a:p>
                    <a:p>
                      <a:pPr marL="90170">
                        <a:lnSpc>
                          <a:spcPct val="100000"/>
                        </a:lnSpc>
                      </a:pPr>
                      <a:r>
                        <a:rPr sz="1400" spc="95" dirty="0">
                          <a:latin typeface="Trebuchet MS"/>
                          <a:cs typeface="Trebuchet MS"/>
                        </a:rPr>
                        <a:t>HQL</a:t>
                      </a:r>
                      <a:r>
                        <a:rPr sz="1400" spc="5" dirty="0">
                          <a:latin typeface="Trebuchet MS"/>
                          <a:cs typeface="Trebuchet MS"/>
                        </a:rPr>
                        <a:t> </a:t>
                      </a:r>
                      <a:r>
                        <a:rPr sz="1400" spc="30" dirty="0">
                          <a:latin typeface="Trebuchet MS"/>
                          <a:cs typeface="Trebuchet MS"/>
                        </a:rPr>
                        <a:t>(SQL-like)</a:t>
                      </a:r>
                      <a:endParaRPr sz="1400">
                        <a:latin typeface="Trebuchet MS"/>
                        <a:cs typeface="Trebuchet MS"/>
                      </a:endParaRPr>
                    </a:p>
                  </a:txBody>
                  <a:tcPr marL="0" marR="0" marT="44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spcBef>
                          <a:spcPts val="35"/>
                        </a:spcBef>
                      </a:pPr>
                      <a:endParaRPr sz="1300" dirty="0">
                        <a:latin typeface="Times New Roman"/>
                        <a:cs typeface="Times New Roman"/>
                      </a:endParaRPr>
                    </a:p>
                    <a:p>
                      <a:pPr marL="90805">
                        <a:lnSpc>
                          <a:spcPct val="100000"/>
                        </a:lnSpc>
                      </a:pPr>
                      <a:r>
                        <a:rPr sz="1400" spc="70" dirty="0">
                          <a:latin typeface="Trebuchet MS"/>
                          <a:cs typeface="Trebuchet MS"/>
                        </a:rPr>
                        <a:t>SQL</a:t>
                      </a:r>
                      <a:endParaRPr sz="1400" dirty="0">
                        <a:latin typeface="Trebuchet MS"/>
                        <a:cs typeface="Trebuchet MS"/>
                      </a:endParaRPr>
                    </a:p>
                  </a:txBody>
                  <a:tcPr marL="0" marR="0" marT="4445" marB="0">
                    <a:lnL w="12700">
                      <a:solidFill>
                        <a:srgbClr val="000000"/>
                      </a:solidFill>
                      <a:prstDash val="solid"/>
                    </a:lnL>
                    <a:lnR w="28575">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3"/>
                  </a:ext>
                </a:extLst>
              </a:tr>
              <a:tr h="707106">
                <a:tc>
                  <a:txBody>
                    <a:bodyPr/>
                    <a:lstStyle/>
                    <a:p>
                      <a:pPr>
                        <a:lnSpc>
                          <a:spcPct val="100000"/>
                        </a:lnSpc>
                        <a:spcBef>
                          <a:spcPts val="10"/>
                        </a:spcBef>
                      </a:pPr>
                      <a:endParaRPr sz="1400">
                        <a:latin typeface="Times New Roman"/>
                        <a:cs typeface="Times New Roman"/>
                      </a:endParaRPr>
                    </a:p>
                    <a:p>
                      <a:pPr marL="90170">
                        <a:lnSpc>
                          <a:spcPct val="100000"/>
                        </a:lnSpc>
                      </a:pPr>
                      <a:r>
                        <a:rPr sz="1600" b="1" spc="-10" dirty="0">
                          <a:latin typeface="Trebuchet MS"/>
                          <a:cs typeface="Trebuchet MS"/>
                        </a:rPr>
                        <a:t>Flexibility</a:t>
                      </a:r>
                      <a:endParaRPr sz="1600">
                        <a:latin typeface="Trebuchet MS"/>
                        <a:cs typeface="Trebuchet MS"/>
                      </a:endParaRPr>
                    </a:p>
                  </a:txBody>
                  <a:tcPr marL="0" marR="0" marT="1270" marB="0">
                    <a:lnL w="28575">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0170" marR="597535">
                        <a:lnSpc>
                          <a:spcPct val="100000"/>
                        </a:lnSpc>
                        <a:spcBef>
                          <a:spcPts val="910"/>
                        </a:spcBef>
                      </a:pPr>
                      <a:r>
                        <a:rPr sz="1400" spc="40" dirty="0">
                          <a:latin typeface="Trebuchet MS"/>
                          <a:cs typeface="Trebuchet MS"/>
                        </a:rPr>
                        <a:t>Metadata </a:t>
                      </a:r>
                      <a:r>
                        <a:rPr sz="1400" spc="15" dirty="0">
                          <a:latin typeface="Trebuchet MS"/>
                          <a:cs typeface="Trebuchet MS"/>
                        </a:rPr>
                        <a:t>storage </a:t>
                      </a:r>
                      <a:r>
                        <a:rPr sz="1400" spc="-10" dirty="0">
                          <a:latin typeface="Trebuchet MS"/>
                          <a:cs typeface="Trebuchet MS"/>
                        </a:rPr>
                        <a:t>is </a:t>
                      </a:r>
                      <a:r>
                        <a:rPr sz="1400" spc="5" dirty="0">
                          <a:latin typeface="Trebuchet MS"/>
                          <a:cs typeface="Trebuchet MS"/>
                        </a:rPr>
                        <a:t>independent </a:t>
                      </a:r>
                      <a:r>
                        <a:rPr sz="1400" spc="10" dirty="0">
                          <a:latin typeface="Trebuchet MS"/>
                          <a:cs typeface="Trebuchet MS"/>
                        </a:rPr>
                        <a:t>of</a:t>
                      </a:r>
                      <a:r>
                        <a:rPr sz="1400" spc="-75" dirty="0">
                          <a:latin typeface="Trebuchet MS"/>
                          <a:cs typeface="Trebuchet MS"/>
                        </a:rPr>
                        <a:t> </a:t>
                      </a:r>
                      <a:r>
                        <a:rPr sz="1400" spc="15" dirty="0">
                          <a:latin typeface="Trebuchet MS"/>
                          <a:cs typeface="Trebuchet MS"/>
                        </a:rPr>
                        <a:t>data  </a:t>
                      </a:r>
                      <a:r>
                        <a:rPr sz="1400" spc="-10" dirty="0">
                          <a:latin typeface="Trebuchet MS"/>
                          <a:cs typeface="Trebuchet MS"/>
                        </a:rPr>
                        <a:t>storage, </a:t>
                      </a:r>
                      <a:r>
                        <a:rPr sz="1400" spc="15" dirty="0">
                          <a:latin typeface="Trebuchet MS"/>
                          <a:cs typeface="Trebuchet MS"/>
                        </a:rPr>
                        <a:t>decoupling metadata </a:t>
                      </a:r>
                      <a:r>
                        <a:rPr sz="1400" spc="35" dirty="0">
                          <a:latin typeface="Trebuchet MS"/>
                          <a:cs typeface="Trebuchet MS"/>
                        </a:rPr>
                        <a:t>and</a:t>
                      </a:r>
                      <a:r>
                        <a:rPr sz="1400" spc="-50" dirty="0">
                          <a:latin typeface="Trebuchet MS"/>
                          <a:cs typeface="Trebuchet MS"/>
                        </a:rPr>
                        <a:t> </a:t>
                      </a:r>
                      <a:r>
                        <a:rPr sz="1400" spc="-30" dirty="0">
                          <a:latin typeface="Trebuchet MS"/>
                          <a:cs typeface="Trebuchet MS"/>
                        </a:rPr>
                        <a:t>data.</a:t>
                      </a:r>
                      <a:endParaRPr sz="1400">
                        <a:latin typeface="Trebuchet MS"/>
                        <a:cs typeface="Trebuchet MS"/>
                      </a:endParaRPr>
                    </a:p>
                  </a:txBody>
                  <a:tcPr marL="0" marR="0" marT="11557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spcBef>
                          <a:spcPts val="25"/>
                        </a:spcBef>
                      </a:pPr>
                      <a:endParaRPr sz="1500">
                        <a:latin typeface="Times New Roman"/>
                        <a:cs typeface="Times New Roman"/>
                      </a:endParaRPr>
                    </a:p>
                    <a:p>
                      <a:pPr marL="90805">
                        <a:lnSpc>
                          <a:spcPct val="100000"/>
                        </a:lnSpc>
                      </a:pPr>
                      <a:r>
                        <a:rPr sz="1400" spc="35" dirty="0">
                          <a:latin typeface="Trebuchet MS"/>
                          <a:cs typeface="Trebuchet MS"/>
                        </a:rPr>
                        <a:t>Low </a:t>
                      </a:r>
                      <a:r>
                        <a:rPr sz="1400" spc="-40" dirty="0">
                          <a:latin typeface="Trebuchet MS"/>
                          <a:cs typeface="Trebuchet MS"/>
                        </a:rPr>
                        <a:t>flexibility. </a:t>
                      </a:r>
                      <a:r>
                        <a:rPr sz="1400" spc="45" dirty="0">
                          <a:latin typeface="Trebuchet MS"/>
                          <a:cs typeface="Trebuchet MS"/>
                        </a:rPr>
                        <a:t>Data </a:t>
                      </a:r>
                      <a:r>
                        <a:rPr sz="1400" spc="10" dirty="0">
                          <a:latin typeface="Trebuchet MS"/>
                          <a:cs typeface="Trebuchet MS"/>
                        </a:rPr>
                        <a:t>can </a:t>
                      </a:r>
                      <a:r>
                        <a:rPr sz="1400" dirty="0">
                          <a:latin typeface="Trebuchet MS"/>
                          <a:cs typeface="Trebuchet MS"/>
                        </a:rPr>
                        <a:t>be </a:t>
                      </a:r>
                      <a:r>
                        <a:rPr sz="1400" spc="15" dirty="0">
                          <a:latin typeface="Trebuchet MS"/>
                          <a:cs typeface="Trebuchet MS"/>
                        </a:rPr>
                        <a:t>used </a:t>
                      </a:r>
                      <a:r>
                        <a:rPr sz="1400" dirty="0">
                          <a:latin typeface="Trebuchet MS"/>
                          <a:cs typeface="Trebuchet MS"/>
                        </a:rPr>
                        <a:t>for </a:t>
                      </a:r>
                      <a:r>
                        <a:rPr sz="1400" spc="-10" dirty="0">
                          <a:latin typeface="Trebuchet MS"/>
                          <a:cs typeface="Trebuchet MS"/>
                        </a:rPr>
                        <a:t>limited</a:t>
                      </a:r>
                      <a:r>
                        <a:rPr sz="1400" spc="-45" dirty="0">
                          <a:latin typeface="Trebuchet MS"/>
                          <a:cs typeface="Trebuchet MS"/>
                        </a:rPr>
                        <a:t> </a:t>
                      </a:r>
                      <a:r>
                        <a:rPr sz="1400" spc="-10" dirty="0">
                          <a:latin typeface="Trebuchet MS"/>
                          <a:cs typeface="Trebuchet MS"/>
                        </a:rPr>
                        <a:t>purposes.</a:t>
                      </a:r>
                      <a:endParaRPr sz="1400">
                        <a:latin typeface="Trebuchet MS"/>
                        <a:cs typeface="Trebuchet MS"/>
                      </a:endParaRPr>
                    </a:p>
                  </a:txBody>
                  <a:tcPr marL="0" marR="0" marT="3175" marB="0">
                    <a:lnL w="12700">
                      <a:solidFill>
                        <a:srgbClr val="000000"/>
                      </a:solidFill>
                      <a:prstDash val="solid"/>
                    </a:lnL>
                    <a:lnR w="28575">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4"/>
                  </a:ext>
                </a:extLst>
              </a:tr>
              <a:tr h="1055793">
                <a:tc>
                  <a:txBody>
                    <a:bodyPr/>
                    <a:lstStyle/>
                    <a:p>
                      <a:pPr>
                        <a:lnSpc>
                          <a:spcPct val="100000"/>
                        </a:lnSpc>
                        <a:spcBef>
                          <a:spcPts val="45"/>
                        </a:spcBef>
                      </a:pPr>
                      <a:endParaRPr sz="1650">
                        <a:latin typeface="Times New Roman"/>
                        <a:cs typeface="Times New Roman"/>
                      </a:endParaRPr>
                    </a:p>
                    <a:p>
                      <a:pPr marL="90170">
                        <a:lnSpc>
                          <a:spcPct val="100000"/>
                        </a:lnSpc>
                      </a:pPr>
                      <a:r>
                        <a:rPr sz="1600" b="1" spc="30" dirty="0">
                          <a:latin typeface="Trebuchet MS"/>
                          <a:cs typeface="Trebuchet MS"/>
                        </a:rPr>
                        <a:t>Analysis</a:t>
                      </a:r>
                      <a:endParaRPr sz="1600">
                        <a:latin typeface="Trebuchet MS"/>
                        <a:cs typeface="Trebuchet MS"/>
                      </a:endParaRPr>
                    </a:p>
                    <a:p>
                      <a:pPr marL="90170">
                        <a:lnSpc>
                          <a:spcPct val="100000"/>
                        </a:lnSpc>
                        <a:spcBef>
                          <a:spcPts val="5"/>
                        </a:spcBef>
                      </a:pPr>
                      <a:r>
                        <a:rPr sz="1600" b="1" spc="5" dirty="0">
                          <a:latin typeface="Trebuchet MS"/>
                          <a:cs typeface="Trebuchet MS"/>
                        </a:rPr>
                        <a:t>speed</a:t>
                      </a:r>
                      <a:endParaRPr sz="1600">
                        <a:latin typeface="Trebuchet MS"/>
                        <a:cs typeface="Trebuchet MS"/>
                      </a:endParaRPr>
                    </a:p>
                  </a:txBody>
                  <a:tcPr marL="0" marR="0" marT="5715" marB="0">
                    <a:lnL w="28575">
                      <a:solidFill>
                        <a:srgbClr val="000000"/>
                      </a:solidFill>
                      <a:prstDash val="solid"/>
                    </a:lnL>
                    <a:lnR w="12700">
                      <a:solidFill>
                        <a:srgbClr val="000000"/>
                      </a:solidFill>
                      <a:prstDash val="solid"/>
                    </a:lnR>
                    <a:lnT w="12700">
                      <a:solidFill>
                        <a:srgbClr val="000000"/>
                      </a:solidFill>
                      <a:prstDash val="solid"/>
                    </a:lnT>
                    <a:lnB w="28575">
                      <a:solidFill>
                        <a:srgbClr val="000000"/>
                      </a:solidFill>
                      <a:prstDash val="solid"/>
                    </a:lnB>
                  </a:tcPr>
                </a:tc>
                <a:tc>
                  <a:txBody>
                    <a:bodyPr/>
                    <a:lstStyle/>
                    <a:p>
                      <a:pPr marL="90170" marR="110489" algn="just">
                        <a:lnSpc>
                          <a:spcPct val="100000"/>
                        </a:lnSpc>
                        <a:spcBef>
                          <a:spcPts val="515"/>
                        </a:spcBef>
                      </a:pPr>
                      <a:r>
                        <a:rPr sz="1400" spc="35" dirty="0">
                          <a:latin typeface="Trebuchet MS"/>
                          <a:cs typeface="Trebuchet MS"/>
                        </a:rPr>
                        <a:t>Computing </a:t>
                      </a:r>
                      <a:r>
                        <a:rPr sz="1400" spc="15" dirty="0">
                          <a:latin typeface="Trebuchet MS"/>
                          <a:cs typeface="Trebuchet MS"/>
                        </a:rPr>
                        <a:t>depends </a:t>
                      </a:r>
                      <a:r>
                        <a:rPr sz="1400" spc="50" dirty="0">
                          <a:latin typeface="Trebuchet MS"/>
                          <a:cs typeface="Trebuchet MS"/>
                        </a:rPr>
                        <a:t>on </a:t>
                      </a:r>
                      <a:r>
                        <a:rPr sz="1400" spc="-10" dirty="0">
                          <a:latin typeface="Trebuchet MS"/>
                          <a:cs typeface="Trebuchet MS"/>
                        </a:rPr>
                        <a:t>the </a:t>
                      </a:r>
                      <a:r>
                        <a:rPr sz="1400" spc="-15" dirty="0">
                          <a:latin typeface="Trebuchet MS"/>
                          <a:cs typeface="Trebuchet MS"/>
                        </a:rPr>
                        <a:t>cluster scale </a:t>
                      </a:r>
                      <a:r>
                        <a:rPr sz="1400" spc="35" dirty="0">
                          <a:latin typeface="Trebuchet MS"/>
                          <a:cs typeface="Trebuchet MS"/>
                        </a:rPr>
                        <a:t>and  </a:t>
                      </a:r>
                      <a:r>
                        <a:rPr sz="1400" spc="-10" dirty="0">
                          <a:latin typeface="Trebuchet MS"/>
                          <a:cs typeface="Trebuchet MS"/>
                        </a:rPr>
                        <a:t>the </a:t>
                      </a:r>
                      <a:r>
                        <a:rPr sz="1400" spc="-15" dirty="0">
                          <a:latin typeface="Trebuchet MS"/>
                          <a:cs typeface="Trebuchet MS"/>
                        </a:rPr>
                        <a:t>cluster </a:t>
                      </a:r>
                      <a:r>
                        <a:rPr sz="1400" spc="-10" dirty="0">
                          <a:latin typeface="Trebuchet MS"/>
                          <a:cs typeface="Trebuchet MS"/>
                        </a:rPr>
                        <a:t>is </a:t>
                      </a:r>
                      <a:r>
                        <a:rPr sz="1400" spc="5" dirty="0">
                          <a:latin typeface="Trebuchet MS"/>
                          <a:cs typeface="Trebuchet MS"/>
                        </a:rPr>
                        <a:t>easy to </a:t>
                      </a:r>
                      <a:r>
                        <a:rPr sz="1400" spc="-15" dirty="0">
                          <a:latin typeface="Trebuchet MS"/>
                          <a:cs typeface="Trebuchet MS"/>
                        </a:rPr>
                        <a:t>expand. </a:t>
                      </a:r>
                      <a:r>
                        <a:rPr sz="1400" spc="30" dirty="0">
                          <a:latin typeface="Trebuchet MS"/>
                          <a:cs typeface="Trebuchet MS"/>
                        </a:rPr>
                        <a:t>In </a:t>
                      </a:r>
                      <a:r>
                        <a:rPr sz="1400" spc="-10" dirty="0">
                          <a:latin typeface="Trebuchet MS"/>
                          <a:cs typeface="Trebuchet MS"/>
                        </a:rPr>
                        <a:t>the </a:t>
                      </a:r>
                      <a:r>
                        <a:rPr sz="1400" spc="-5" dirty="0">
                          <a:latin typeface="Trebuchet MS"/>
                          <a:cs typeface="Trebuchet MS"/>
                        </a:rPr>
                        <a:t>case </a:t>
                      </a:r>
                      <a:r>
                        <a:rPr sz="1400" spc="10" dirty="0">
                          <a:latin typeface="Trebuchet MS"/>
                          <a:cs typeface="Trebuchet MS"/>
                        </a:rPr>
                        <a:t>of </a:t>
                      </a:r>
                      <a:r>
                        <a:rPr sz="1400" spc="40" dirty="0">
                          <a:latin typeface="Trebuchet MS"/>
                          <a:cs typeface="Trebuchet MS"/>
                        </a:rPr>
                        <a:t>a  </a:t>
                      </a:r>
                      <a:r>
                        <a:rPr sz="1400" spc="10" dirty="0">
                          <a:latin typeface="Trebuchet MS"/>
                          <a:cs typeface="Trebuchet MS"/>
                        </a:rPr>
                        <a:t>large </a:t>
                      </a:r>
                      <a:r>
                        <a:rPr sz="1400" spc="40" dirty="0">
                          <a:latin typeface="Trebuchet MS"/>
                          <a:cs typeface="Trebuchet MS"/>
                        </a:rPr>
                        <a:t>amount </a:t>
                      </a:r>
                      <a:r>
                        <a:rPr sz="1400" spc="10" dirty="0">
                          <a:latin typeface="Trebuchet MS"/>
                          <a:cs typeface="Trebuchet MS"/>
                        </a:rPr>
                        <a:t>of </a:t>
                      </a:r>
                      <a:r>
                        <a:rPr sz="1400" spc="-25" dirty="0">
                          <a:latin typeface="Trebuchet MS"/>
                          <a:cs typeface="Trebuchet MS"/>
                        </a:rPr>
                        <a:t>data, </a:t>
                      </a:r>
                      <a:r>
                        <a:rPr sz="1400" spc="25" dirty="0">
                          <a:latin typeface="Trebuchet MS"/>
                          <a:cs typeface="Trebuchet MS"/>
                        </a:rPr>
                        <a:t>computing </a:t>
                      </a:r>
                      <a:r>
                        <a:rPr sz="1400" spc="-10" dirty="0">
                          <a:latin typeface="Trebuchet MS"/>
                          <a:cs typeface="Trebuchet MS"/>
                        </a:rPr>
                        <a:t>is </a:t>
                      </a:r>
                      <a:r>
                        <a:rPr sz="1400" spc="40" dirty="0">
                          <a:latin typeface="Trebuchet MS"/>
                          <a:cs typeface="Trebuchet MS"/>
                        </a:rPr>
                        <a:t>much  </a:t>
                      </a:r>
                      <a:r>
                        <a:rPr sz="1400" spc="-15" dirty="0">
                          <a:latin typeface="Trebuchet MS"/>
                          <a:cs typeface="Trebuchet MS"/>
                        </a:rPr>
                        <a:t>faster </a:t>
                      </a:r>
                      <a:r>
                        <a:rPr sz="1400" spc="20" dirty="0">
                          <a:latin typeface="Trebuchet MS"/>
                          <a:cs typeface="Trebuchet MS"/>
                        </a:rPr>
                        <a:t>than </a:t>
                      </a:r>
                      <a:r>
                        <a:rPr sz="1400" spc="-5" dirty="0">
                          <a:latin typeface="Trebuchet MS"/>
                          <a:cs typeface="Trebuchet MS"/>
                        </a:rPr>
                        <a:t>that </a:t>
                      </a:r>
                      <a:r>
                        <a:rPr sz="1400" spc="10" dirty="0">
                          <a:latin typeface="Trebuchet MS"/>
                          <a:cs typeface="Trebuchet MS"/>
                        </a:rPr>
                        <a:t>of </a:t>
                      </a:r>
                      <a:r>
                        <a:rPr sz="1400" spc="40" dirty="0">
                          <a:latin typeface="Trebuchet MS"/>
                          <a:cs typeface="Trebuchet MS"/>
                        </a:rPr>
                        <a:t>a </a:t>
                      </a:r>
                      <a:r>
                        <a:rPr sz="1400" spc="55" dirty="0">
                          <a:latin typeface="Trebuchet MS"/>
                          <a:cs typeface="Trebuchet MS"/>
                        </a:rPr>
                        <a:t>common </a:t>
                      </a:r>
                      <a:r>
                        <a:rPr sz="1400" spc="15" dirty="0">
                          <a:latin typeface="Trebuchet MS"/>
                          <a:cs typeface="Trebuchet MS"/>
                        </a:rPr>
                        <a:t>data</a:t>
                      </a:r>
                      <a:r>
                        <a:rPr sz="1400" spc="-35" dirty="0">
                          <a:latin typeface="Trebuchet MS"/>
                          <a:cs typeface="Trebuchet MS"/>
                        </a:rPr>
                        <a:t> </a:t>
                      </a:r>
                      <a:r>
                        <a:rPr sz="1400" spc="-5" dirty="0">
                          <a:latin typeface="Trebuchet MS"/>
                          <a:cs typeface="Trebuchet MS"/>
                        </a:rPr>
                        <a:t>warehouse.</a:t>
                      </a:r>
                      <a:endParaRPr sz="1400" dirty="0">
                        <a:latin typeface="Trebuchet MS"/>
                        <a:cs typeface="Trebuchet MS"/>
                      </a:endParaRPr>
                    </a:p>
                  </a:txBody>
                  <a:tcPr marL="0" marR="0" marT="65404" marB="0">
                    <a:lnL w="12700">
                      <a:solidFill>
                        <a:srgbClr val="000000"/>
                      </a:solidFill>
                      <a:prstDash val="solid"/>
                    </a:lnL>
                    <a:lnR w="12700">
                      <a:solidFill>
                        <a:srgbClr val="000000"/>
                      </a:solidFill>
                      <a:prstDash val="solid"/>
                    </a:lnR>
                    <a:lnT w="12700">
                      <a:solidFill>
                        <a:srgbClr val="000000"/>
                      </a:solidFill>
                      <a:prstDash val="solid"/>
                    </a:lnT>
                    <a:lnB w="28575">
                      <a:solidFill>
                        <a:srgbClr val="000000"/>
                      </a:solidFill>
                      <a:prstDash val="solid"/>
                    </a:lnB>
                  </a:tcPr>
                </a:tc>
                <a:tc>
                  <a:txBody>
                    <a:bodyPr/>
                    <a:lstStyle/>
                    <a:p>
                      <a:pPr marL="90805" marR="262255" algn="just">
                        <a:lnSpc>
                          <a:spcPct val="100000"/>
                        </a:lnSpc>
                        <a:spcBef>
                          <a:spcPts val="1350"/>
                        </a:spcBef>
                      </a:pPr>
                      <a:r>
                        <a:rPr sz="1400" spc="55" dirty="0">
                          <a:latin typeface="Trebuchet MS"/>
                          <a:cs typeface="Trebuchet MS"/>
                        </a:rPr>
                        <a:t>When </a:t>
                      </a:r>
                      <a:r>
                        <a:rPr sz="1400" spc="-10" dirty="0">
                          <a:latin typeface="Trebuchet MS"/>
                          <a:cs typeface="Trebuchet MS"/>
                        </a:rPr>
                        <a:t>the </a:t>
                      </a:r>
                      <a:r>
                        <a:rPr sz="1400" spc="10" dirty="0">
                          <a:latin typeface="Trebuchet MS"/>
                          <a:cs typeface="Trebuchet MS"/>
                        </a:rPr>
                        <a:t>data </a:t>
                      </a:r>
                      <a:r>
                        <a:rPr sz="1400" spc="20" dirty="0">
                          <a:latin typeface="Trebuchet MS"/>
                          <a:cs typeface="Trebuchet MS"/>
                        </a:rPr>
                        <a:t>volume </a:t>
                      </a:r>
                      <a:r>
                        <a:rPr sz="1400" spc="-10" dirty="0">
                          <a:latin typeface="Trebuchet MS"/>
                          <a:cs typeface="Trebuchet MS"/>
                        </a:rPr>
                        <a:t>is </a:t>
                      </a:r>
                      <a:r>
                        <a:rPr sz="1400" spc="-15" dirty="0">
                          <a:latin typeface="Trebuchet MS"/>
                          <a:cs typeface="Trebuchet MS"/>
                        </a:rPr>
                        <a:t>small, </a:t>
                      </a:r>
                      <a:r>
                        <a:rPr sz="1400" spc="-10" dirty="0">
                          <a:latin typeface="Trebuchet MS"/>
                          <a:cs typeface="Trebuchet MS"/>
                        </a:rPr>
                        <a:t>the </a:t>
                      </a:r>
                      <a:r>
                        <a:rPr sz="1400" spc="10" dirty="0">
                          <a:latin typeface="Trebuchet MS"/>
                          <a:cs typeface="Trebuchet MS"/>
                        </a:rPr>
                        <a:t>data processing </a:t>
                      </a:r>
                      <a:r>
                        <a:rPr sz="1400" dirty="0">
                          <a:latin typeface="Trebuchet MS"/>
                          <a:cs typeface="Trebuchet MS"/>
                        </a:rPr>
                        <a:t>speed </a:t>
                      </a:r>
                      <a:r>
                        <a:rPr sz="1400" spc="-10" dirty="0">
                          <a:latin typeface="Trebuchet MS"/>
                          <a:cs typeface="Trebuchet MS"/>
                        </a:rPr>
                        <a:t>is  high. </a:t>
                      </a:r>
                      <a:r>
                        <a:rPr sz="1400" spc="55" dirty="0">
                          <a:latin typeface="Trebuchet MS"/>
                          <a:cs typeface="Trebuchet MS"/>
                        </a:rPr>
                        <a:t>When </a:t>
                      </a:r>
                      <a:r>
                        <a:rPr sz="1400" spc="-10" dirty="0">
                          <a:latin typeface="Trebuchet MS"/>
                          <a:cs typeface="Trebuchet MS"/>
                        </a:rPr>
                        <a:t>the </a:t>
                      </a:r>
                      <a:r>
                        <a:rPr sz="1400" spc="10" dirty="0">
                          <a:latin typeface="Trebuchet MS"/>
                          <a:cs typeface="Trebuchet MS"/>
                        </a:rPr>
                        <a:t>data </a:t>
                      </a:r>
                      <a:r>
                        <a:rPr sz="1400" spc="20" dirty="0">
                          <a:latin typeface="Trebuchet MS"/>
                          <a:cs typeface="Trebuchet MS"/>
                        </a:rPr>
                        <a:t>volume </a:t>
                      </a:r>
                      <a:r>
                        <a:rPr sz="1400" spc="-10" dirty="0">
                          <a:latin typeface="Trebuchet MS"/>
                          <a:cs typeface="Trebuchet MS"/>
                        </a:rPr>
                        <a:t>is </a:t>
                      </a:r>
                      <a:r>
                        <a:rPr sz="1400" spc="-20" dirty="0">
                          <a:latin typeface="Trebuchet MS"/>
                          <a:cs typeface="Trebuchet MS"/>
                        </a:rPr>
                        <a:t>large, </a:t>
                      </a:r>
                      <a:r>
                        <a:rPr sz="1400" spc="-10" dirty="0">
                          <a:latin typeface="Trebuchet MS"/>
                          <a:cs typeface="Trebuchet MS"/>
                        </a:rPr>
                        <a:t>the </a:t>
                      </a:r>
                      <a:r>
                        <a:rPr sz="1400" dirty="0">
                          <a:latin typeface="Trebuchet MS"/>
                          <a:cs typeface="Trebuchet MS"/>
                        </a:rPr>
                        <a:t>speed </a:t>
                      </a:r>
                      <a:r>
                        <a:rPr sz="1400" spc="-5" dirty="0">
                          <a:latin typeface="Trebuchet MS"/>
                          <a:cs typeface="Trebuchet MS"/>
                        </a:rPr>
                        <a:t>decreases  </a:t>
                      </a:r>
                      <a:r>
                        <a:rPr sz="1400" spc="-20" dirty="0">
                          <a:latin typeface="Trebuchet MS"/>
                          <a:cs typeface="Trebuchet MS"/>
                        </a:rPr>
                        <a:t>sharply.</a:t>
                      </a:r>
                      <a:endParaRPr sz="1400" dirty="0">
                        <a:latin typeface="Trebuchet MS"/>
                        <a:cs typeface="Trebuchet MS"/>
                      </a:endParaRPr>
                    </a:p>
                  </a:txBody>
                  <a:tcPr marL="0" marR="0" marT="171450" marB="0">
                    <a:lnL w="12700">
                      <a:solidFill>
                        <a:srgbClr val="000000"/>
                      </a:solidFill>
                      <a:prstDash val="solid"/>
                    </a:lnL>
                    <a:lnR w="28575">
                      <a:solidFill>
                        <a:srgbClr val="000000"/>
                      </a:solidFill>
                      <a:prstDash val="solid"/>
                    </a:lnR>
                    <a:lnT w="12700">
                      <a:solidFill>
                        <a:srgbClr val="000000"/>
                      </a:solidFill>
                      <a:prstDash val="solid"/>
                    </a:lnT>
                    <a:lnB w="28575">
                      <a:solidFill>
                        <a:srgbClr val="000000"/>
                      </a:solidFill>
                      <a:prstDash val="solid"/>
                    </a:lnB>
                  </a:tcPr>
                </a:tc>
                <a:extLst>
                  <a:ext uri="{0D108BD9-81ED-4DB2-BD59-A6C34878D82A}">
                    <a16:rowId xmlns:a16="http://schemas.microsoft.com/office/drawing/2014/main" val="10005"/>
                  </a:ext>
                </a:extLst>
              </a:tr>
            </a:tbl>
          </a:graphicData>
        </a:graphic>
      </p:graphicFrame>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717231" y="624110"/>
            <a:ext cx="9787382" cy="966290"/>
          </a:xfrm>
          <a:prstGeom prst="rect">
            <a:avLst/>
          </a:prstGeom>
        </p:spPr>
        <p:txBody>
          <a:bodyPr vert="horz" wrap="square" lIns="0" tIns="67945" rIns="0" bIns="0" rtlCol="0">
            <a:spAutoFit/>
          </a:bodyPr>
          <a:lstStyle/>
          <a:p>
            <a:pPr marL="12700" marR="5080" algn="ctr">
              <a:lnSpc>
                <a:spcPts val="3460"/>
              </a:lnSpc>
              <a:spcBef>
                <a:spcPts val="535"/>
              </a:spcBef>
            </a:pPr>
            <a:r>
              <a:rPr spc="65" dirty="0"/>
              <a:t>Comparison </a:t>
            </a:r>
            <a:r>
              <a:rPr spc="10" dirty="0"/>
              <a:t>Between </a:t>
            </a:r>
            <a:r>
              <a:rPr spc="40" dirty="0"/>
              <a:t>Hive </a:t>
            </a:r>
            <a:r>
              <a:rPr spc="85" dirty="0"/>
              <a:t>and </a:t>
            </a:r>
            <a:r>
              <a:rPr dirty="0"/>
              <a:t>Traditional </a:t>
            </a:r>
            <a:r>
              <a:rPr spc="100" dirty="0"/>
              <a:t>Data  </a:t>
            </a:r>
            <a:r>
              <a:rPr spc="75" dirty="0"/>
              <a:t>Warehouses</a:t>
            </a:r>
            <a:r>
              <a:rPr spc="15" dirty="0"/>
              <a:t> </a:t>
            </a:r>
            <a:r>
              <a:rPr spc="130" dirty="0"/>
              <a:t>(2)</a:t>
            </a:r>
          </a:p>
        </p:txBody>
      </p:sp>
      <p:graphicFrame>
        <p:nvGraphicFramePr>
          <p:cNvPr id="3" name="object 3"/>
          <p:cNvGraphicFramePr>
            <a:graphicFrameLocks noGrp="1"/>
          </p:cNvGraphicFramePr>
          <p:nvPr>
            <p:extLst>
              <p:ext uri="{D42A27DB-BD31-4B8C-83A1-F6EECF244321}">
                <p14:modId xmlns:p14="http://schemas.microsoft.com/office/powerpoint/2010/main" val="2838265131"/>
              </p:ext>
            </p:extLst>
          </p:nvPr>
        </p:nvGraphicFramePr>
        <p:xfrm>
          <a:off x="1371601" y="1806511"/>
          <a:ext cx="10133012" cy="4518089"/>
        </p:xfrm>
        <a:graphic>
          <a:graphicData uri="http://schemas.openxmlformats.org/drawingml/2006/table">
            <a:tbl>
              <a:tblPr firstRow="1" bandRow="1">
                <a:tableStyleId>{2D5ABB26-0587-4C30-8999-92F81FD0307C}</a:tableStyleId>
              </a:tblPr>
              <a:tblGrid>
                <a:gridCol w="1861482">
                  <a:extLst>
                    <a:ext uri="{9D8B030D-6E8A-4147-A177-3AD203B41FA5}">
                      <a16:colId xmlns:a16="http://schemas.microsoft.com/office/drawing/2014/main" val="20000"/>
                    </a:ext>
                  </a:extLst>
                </a:gridCol>
                <a:gridCol w="4113262">
                  <a:extLst>
                    <a:ext uri="{9D8B030D-6E8A-4147-A177-3AD203B41FA5}">
                      <a16:colId xmlns:a16="http://schemas.microsoft.com/office/drawing/2014/main" val="20001"/>
                    </a:ext>
                  </a:extLst>
                </a:gridCol>
                <a:gridCol w="4158268">
                  <a:extLst>
                    <a:ext uri="{9D8B030D-6E8A-4147-A177-3AD203B41FA5}">
                      <a16:colId xmlns:a16="http://schemas.microsoft.com/office/drawing/2014/main" val="20002"/>
                    </a:ext>
                  </a:extLst>
                </a:gridCol>
              </a:tblGrid>
              <a:tr h="484752">
                <a:tc>
                  <a:txBody>
                    <a:bodyPr/>
                    <a:lstStyle/>
                    <a:p>
                      <a:pPr>
                        <a:lnSpc>
                          <a:spcPct val="100000"/>
                        </a:lnSpc>
                      </a:pPr>
                      <a:endParaRPr sz="1500">
                        <a:latin typeface="Times New Roman"/>
                        <a:cs typeface="Times New Roman"/>
                      </a:endParaRPr>
                    </a:p>
                  </a:txBody>
                  <a:tcPr marL="0" marR="0" marT="0" marB="0">
                    <a:lnL w="28575">
                      <a:solidFill>
                        <a:srgbClr val="000000"/>
                      </a:solidFill>
                      <a:prstDash val="solid"/>
                    </a:lnL>
                    <a:lnR w="12700">
                      <a:solidFill>
                        <a:srgbClr val="000000"/>
                      </a:solidFill>
                      <a:prstDash val="solid"/>
                    </a:lnR>
                    <a:lnT w="28575">
                      <a:solidFill>
                        <a:srgbClr val="000000"/>
                      </a:solidFill>
                      <a:prstDash val="solid"/>
                    </a:lnT>
                    <a:lnB w="12700">
                      <a:solidFill>
                        <a:srgbClr val="000000"/>
                      </a:solidFill>
                      <a:prstDash val="solid"/>
                    </a:lnB>
                    <a:solidFill>
                      <a:srgbClr val="D9D9D9"/>
                    </a:solidFill>
                  </a:tcPr>
                </a:tc>
                <a:tc>
                  <a:txBody>
                    <a:bodyPr/>
                    <a:lstStyle/>
                    <a:p>
                      <a:pPr algn="ctr">
                        <a:lnSpc>
                          <a:spcPct val="100000"/>
                        </a:lnSpc>
                        <a:spcBef>
                          <a:spcPts val="665"/>
                        </a:spcBef>
                      </a:pPr>
                      <a:r>
                        <a:rPr sz="1600" b="1" spc="25" dirty="0">
                          <a:latin typeface="Trebuchet MS"/>
                          <a:cs typeface="Trebuchet MS"/>
                        </a:rPr>
                        <a:t>Hive</a:t>
                      </a:r>
                      <a:endParaRPr sz="1600">
                        <a:latin typeface="Trebuchet MS"/>
                        <a:cs typeface="Trebuchet MS"/>
                      </a:endParaRPr>
                    </a:p>
                  </a:txBody>
                  <a:tcPr marL="0" marR="0" marT="84455" marB="0">
                    <a:lnL w="12700">
                      <a:solidFill>
                        <a:srgbClr val="000000"/>
                      </a:solidFill>
                      <a:prstDash val="solid"/>
                    </a:lnL>
                    <a:lnR w="12700">
                      <a:solidFill>
                        <a:srgbClr val="000000"/>
                      </a:solidFill>
                      <a:prstDash val="solid"/>
                    </a:lnR>
                    <a:lnT w="28575">
                      <a:solidFill>
                        <a:srgbClr val="000000"/>
                      </a:solidFill>
                      <a:prstDash val="solid"/>
                    </a:lnT>
                    <a:lnB w="12700">
                      <a:solidFill>
                        <a:srgbClr val="000000"/>
                      </a:solidFill>
                      <a:prstDash val="solid"/>
                    </a:lnB>
                    <a:solidFill>
                      <a:srgbClr val="D9D9D9"/>
                    </a:solidFill>
                  </a:tcPr>
                </a:tc>
                <a:tc>
                  <a:txBody>
                    <a:bodyPr/>
                    <a:lstStyle/>
                    <a:p>
                      <a:pPr marL="293370">
                        <a:lnSpc>
                          <a:spcPct val="100000"/>
                        </a:lnSpc>
                        <a:spcBef>
                          <a:spcPts val="665"/>
                        </a:spcBef>
                      </a:pPr>
                      <a:r>
                        <a:rPr sz="1600" b="1" spc="25" dirty="0">
                          <a:latin typeface="Trebuchet MS"/>
                          <a:cs typeface="Trebuchet MS"/>
                        </a:rPr>
                        <a:t>Conventional </a:t>
                      </a:r>
                      <a:r>
                        <a:rPr sz="1600" b="1" spc="75" dirty="0">
                          <a:latin typeface="Trebuchet MS"/>
                          <a:cs typeface="Trebuchet MS"/>
                        </a:rPr>
                        <a:t>Data</a:t>
                      </a:r>
                      <a:r>
                        <a:rPr sz="1600" b="1" spc="10" dirty="0">
                          <a:latin typeface="Trebuchet MS"/>
                          <a:cs typeface="Trebuchet MS"/>
                        </a:rPr>
                        <a:t> </a:t>
                      </a:r>
                      <a:r>
                        <a:rPr sz="1600" b="1" spc="40" dirty="0">
                          <a:latin typeface="Trebuchet MS"/>
                          <a:cs typeface="Trebuchet MS"/>
                        </a:rPr>
                        <a:t>Warehouse</a:t>
                      </a:r>
                      <a:endParaRPr sz="1600">
                        <a:latin typeface="Trebuchet MS"/>
                        <a:cs typeface="Trebuchet MS"/>
                      </a:endParaRPr>
                    </a:p>
                  </a:txBody>
                  <a:tcPr marL="0" marR="0" marT="84455" marB="0">
                    <a:lnL w="12700">
                      <a:solidFill>
                        <a:srgbClr val="000000"/>
                      </a:solidFill>
                      <a:prstDash val="solid"/>
                    </a:lnL>
                    <a:lnR w="28575">
                      <a:solidFill>
                        <a:srgbClr val="000000"/>
                      </a:solidFill>
                      <a:prstDash val="solid"/>
                    </a:lnR>
                    <a:lnT w="28575">
                      <a:solidFill>
                        <a:srgbClr val="000000"/>
                      </a:solidFill>
                      <a:prstDash val="solid"/>
                    </a:lnT>
                    <a:lnB w="12700">
                      <a:solidFill>
                        <a:srgbClr val="000000"/>
                      </a:solidFill>
                      <a:prstDash val="solid"/>
                    </a:lnB>
                    <a:solidFill>
                      <a:srgbClr val="D9D9D9"/>
                    </a:solidFill>
                  </a:tcPr>
                </a:tc>
                <a:extLst>
                  <a:ext uri="{0D108BD9-81ED-4DB2-BD59-A6C34878D82A}">
                    <a16:rowId xmlns:a16="http://schemas.microsoft.com/office/drawing/2014/main" val="10000"/>
                  </a:ext>
                </a:extLst>
              </a:tr>
              <a:tr h="781998">
                <a:tc>
                  <a:txBody>
                    <a:bodyPr/>
                    <a:lstStyle/>
                    <a:p>
                      <a:pPr>
                        <a:lnSpc>
                          <a:spcPct val="100000"/>
                        </a:lnSpc>
                        <a:spcBef>
                          <a:spcPts val="10"/>
                        </a:spcBef>
                      </a:pPr>
                      <a:endParaRPr sz="1450">
                        <a:latin typeface="Times New Roman"/>
                        <a:cs typeface="Times New Roman"/>
                      </a:endParaRPr>
                    </a:p>
                    <a:p>
                      <a:pPr marL="90170">
                        <a:lnSpc>
                          <a:spcPct val="100000"/>
                        </a:lnSpc>
                        <a:spcBef>
                          <a:spcPts val="5"/>
                        </a:spcBef>
                      </a:pPr>
                      <a:r>
                        <a:rPr sz="1600" b="1" spc="15" dirty="0">
                          <a:latin typeface="Trebuchet MS"/>
                          <a:cs typeface="Trebuchet MS"/>
                        </a:rPr>
                        <a:t>Index</a:t>
                      </a:r>
                      <a:endParaRPr sz="1600">
                        <a:latin typeface="Trebuchet MS"/>
                        <a:cs typeface="Trebuchet MS"/>
                      </a:endParaRPr>
                    </a:p>
                  </a:txBody>
                  <a:tcPr marL="0" marR="0" marT="1270" marB="0">
                    <a:lnL w="28575">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spcBef>
                          <a:spcPts val="25"/>
                        </a:spcBef>
                      </a:pPr>
                      <a:endParaRPr sz="1550">
                        <a:latin typeface="Times New Roman"/>
                        <a:cs typeface="Times New Roman"/>
                      </a:endParaRPr>
                    </a:p>
                    <a:p>
                      <a:pPr marL="90170">
                        <a:lnSpc>
                          <a:spcPct val="100000"/>
                        </a:lnSpc>
                      </a:pPr>
                      <a:r>
                        <a:rPr sz="1400" spc="35" dirty="0">
                          <a:latin typeface="Trebuchet MS"/>
                          <a:cs typeface="Trebuchet MS"/>
                        </a:rPr>
                        <a:t>Low</a:t>
                      </a:r>
                      <a:r>
                        <a:rPr sz="1400" dirty="0">
                          <a:latin typeface="Trebuchet MS"/>
                          <a:cs typeface="Trebuchet MS"/>
                        </a:rPr>
                        <a:t> </a:t>
                      </a:r>
                      <a:r>
                        <a:rPr sz="1400" spc="-30" dirty="0">
                          <a:latin typeface="Trebuchet MS"/>
                          <a:cs typeface="Trebuchet MS"/>
                        </a:rPr>
                        <a:t>efficiency</a:t>
                      </a:r>
                      <a:endParaRPr sz="1400">
                        <a:latin typeface="Trebuchet MS"/>
                        <a:cs typeface="Trebuchet MS"/>
                      </a:endParaRPr>
                    </a:p>
                  </a:txBody>
                  <a:tcPr marL="0" marR="0" marT="31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spcBef>
                          <a:spcPts val="25"/>
                        </a:spcBef>
                      </a:pPr>
                      <a:endParaRPr sz="1550" dirty="0">
                        <a:latin typeface="Times New Roman"/>
                        <a:cs typeface="Times New Roman"/>
                      </a:endParaRPr>
                    </a:p>
                    <a:p>
                      <a:pPr marL="90170">
                        <a:lnSpc>
                          <a:spcPct val="100000"/>
                        </a:lnSpc>
                      </a:pPr>
                      <a:r>
                        <a:rPr sz="1400" spc="60" dirty="0">
                          <a:latin typeface="Trebuchet MS"/>
                          <a:cs typeface="Trebuchet MS"/>
                        </a:rPr>
                        <a:t>High</a:t>
                      </a:r>
                      <a:r>
                        <a:rPr sz="1400" spc="20" dirty="0">
                          <a:latin typeface="Trebuchet MS"/>
                          <a:cs typeface="Trebuchet MS"/>
                        </a:rPr>
                        <a:t> </a:t>
                      </a:r>
                      <a:r>
                        <a:rPr sz="1400" spc="-30" dirty="0">
                          <a:latin typeface="Trebuchet MS"/>
                          <a:cs typeface="Trebuchet MS"/>
                        </a:rPr>
                        <a:t>efficiency</a:t>
                      </a:r>
                      <a:endParaRPr sz="1400" dirty="0">
                        <a:latin typeface="Trebuchet MS"/>
                        <a:cs typeface="Trebuchet MS"/>
                      </a:endParaRPr>
                    </a:p>
                  </a:txBody>
                  <a:tcPr marL="0" marR="0" marT="3175" marB="0">
                    <a:lnL w="12700">
                      <a:solidFill>
                        <a:srgbClr val="000000"/>
                      </a:solidFill>
                      <a:prstDash val="solid"/>
                    </a:lnL>
                    <a:lnR w="28575">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943975">
                <a:tc>
                  <a:txBody>
                    <a:bodyPr/>
                    <a:lstStyle/>
                    <a:p>
                      <a:pPr>
                        <a:lnSpc>
                          <a:spcPct val="100000"/>
                        </a:lnSpc>
                        <a:spcBef>
                          <a:spcPts val="50"/>
                        </a:spcBef>
                      </a:pPr>
                      <a:endParaRPr sz="1900">
                        <a:latin typeface="Times New Roman"/>
                        <a:cs typeface="Times New Roman"/>
                      </a:endParaRPr>
                    </a:p>
                    <a:p>
                      <a:pPr marL="90170">
                        <a:lnSpc>
                          <a:spcPct val="100000"/>
                        </a:lnSpc>
                      </a:pPr>
                      <a:r>
                        <a:rPr sz="1600" b="1" spc="15" dirty="0">
                          <a:latin typeface="Trebuchet MS"/>
                          <a:cs typeface="Trebuchet MS"/>
                        </a:rPr>
                        <a:t>Ease </a:t>
                      </a:r>
                      <a:r>
                        <a:rPr sz="1600" b="1" spc="35" dirty="0">
                          <a:latin typeface="Trebuchet MS"/>
                          <a:cs typeface="Trebuchet MS"/>
                        </a:rPr>
                        <a:t>of</a:t>
                      </a:r>
                      <a:r>
                        <a:rPr sz="1600" b="1" spc="-5" dirty="0">
                          <a:latin typeface="Trebuchet MS"/>
                          <a:cs typeface="Trebuchet MS"/>
                        </a:rPr>
                        <a:t> </a:t>
                      </a:r>
                      <a:r>
                        <a:rPr sz="1600" b="1" spc="10" dirty="0">
                          <a:latin typeface="Trebuchet MS"/>
                          <a:cs typeface="Trebuchet MS"/>
                        </a:rPr>
                        <a:t>use</a:t>
                      </a:r>
                      <a:endParaRPr sz="1600">
                        <a:latin typeface="Trebuchet MS"/>
                        <a:cs typeface="Trebuchet MS"/>
                      </a:endParaRPr>
                    </a:p>
                  </a:txBody>
                  <a:tcPr marL="0" marR="0" marT="6350" marB="0">
                    <a:lnL w="28575">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0170" marR="344805" algn="just">
                        <a:lnSpc>
                          <a:spcPct val="100000"/>
                        </a:lnSpc>
                        <a:spcBef>
                          <a:spcPts val="680"/>
                        </a:spcBef>
                      </a:pPr>
                      <a:r>
                        <a:rPr sz="1400" dirty="0">
                          <a:latin typeface="Trebuchet MS"/>
                          <a:cs typeface="Trebuchet MS"/>
                        </a:rPr>
                        <a:t>Self-developed application </a:t>
                      </a:r>
                      <a:r>
                        <a:rPr sz="1400" spc="20" dirty="0">
                          <a:latin typeface="Trebuchet MS"/>
                          <a:cs typeface="Trebuchet MS"/>
                        </a:rPr>
                        <a:t>models </a:t>
                      </a:r>
                      <a:r>
                        <a:rPr sz="1400" spc="-5" dirty="0">
                          <a:latin typeface="Trebuchet MS"/>
                          <a:cs typeface="Trebuchet MS"/>
                        </a:rPr>
                        <a:t>are  </a:t>
                      </a:r>
                      <a:r>
                        <a:rPr sz="1400" spc="-25" dirty="0">
                          <a:latin typeface="Trebuchet MS"/>
                          <a:cs typeface="Trebuchet MS"/>
                        </a:rPr>
                        <a:t>needed, </a:t>
                      </a:r>
                      <a:r>
                        <a:rPr sz="1400" spc="10" dirty="0">
                          <a:latin typeface="Trebuchet MS"/>
                          <a:cs typeface="Trebuchet MS"/>
                        </a:rPr>
                        <a:t>featuring </a:t>
                      </a:r>
                      <a:r>
                        <a:rPr sz="1400" spc="40" dirty="0">
                          <a:latin typeface="Trebuchet MS"/>
                          <a:cs typeface="Trebuchet MS"/>
                        </a:rPr>
                        <a:t>high </a:t>
                      </a:r>
                      <a:r>
                        <a:rPr sz="1400" spc="-25" dirty="0">
                          <a:latin typeface="Trebuchet MS"/>
                          <a:cs typeface="Trebuchet MS"/>
                        </a:rPr>
                        <a:t>flexibility </a:t>
                      </a:r>
                      <a:r>
                        <a:rPr sz="1400" spc="5" dirty="0">
                          <a:latin typeface="Trebuchet MS"/>
                          <a:cs typeface="Trebuchet MS"/>
                        </a:rPr>
                        <a:t>but  </a:t>
                      </a:r>
                      <a:r>
                        <a:rPr sz="1400" dirty="0">
                          <a:latin typeface="Trebuchet MS"/>
                          <a:cs typeface="Trebuchet MS"/>
                        </a:rPr>
                        <a:t>delivering </a:t>
                      </a:r>
                      <a:r>
                        <a:rPr sz="1400" spc="25" dirty="0">
                          <a:latin typeface="Trebuchet MS"/>
                          <a:cs typeface="Trebuchet MS"/>
                        </a:rPr>
                        <a:t>low</a:t>
                      </a:r>
                      <a:r>
                        <a:rPr sz="1400" dirty="0">
                          <a:latin typeface="Trebuchet MS"/>
                          <a:cs typeface="Trebuchet MS"/>
                        </a:rPr>
                        <a:t> </a:t>
                      </a:r>
                      <a:r>
                        <a:rPr sz="1400" spc="-25" dirty="0">
                          <a:latin typeface="Trebuchet MS"/>
                          <a:cs typeface="Trebuchet MS"/>
                        </a:rPr>
                        <a:t>usability.</a:t>
                      </a:r>
                      <a:endParaRPr sz="1400" dirty="0">
                        <a:latin typeface="Trebuchet MS"/>
                        <a:cs typeface="Trebuchet MS"/>
                      </a:endParaRPr>
                    </a:p>
                  </a:txBody>
                  <a:tcPr marL="0" marR="0" marT="863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spcBef>
                          <a:spcPts val="25"/>
                        </a:spcBef>
                      </a:pPr>
                      <a:endParaRPr sz="1300" dirty="0">
                        <a:latin typeface="Times New Roman"/>
                        <a:cs typeface="Times New Roman"/>
                      </a:endParaRPr>
                    </a:p>
                    <a:p>
                      <a:pPr marL="90170">
                        <a:lnSpc>
                          <a:spcPct val="100000"/>
                        </a:lnSpc>
                      </a:pPr>
                      <a:r>
                        <a:rPr sz="1400" spc="95" dirty="0">
                          <a:latin typeface="Trebuchet MS"/>
                          <a:cs typeface="Trebuchet MS"/>
                        </a:rPr>
                        <a:t>A </a:t>
                      </a:r>
                      <a:r>
                        <a:rPr sz="1400" spc="-20" dirty="0">
                          <a:latin typeface="Trebuchet MS"/>
                          <a:cs typeface="Trebuchet MS"/>
                        </a:rPr>
                        <a:t>set </a:t>
                      </a:r>
                      <a:r>
                        <a:rPr sz="1400" spc="10" dirty="0">
                          <a:latin typeface="Trebuchet MS"/>
                          <a:cs typeface="Trebuchet MS"/>
                        </a:rPr>
                        <a:t>of </a:t>
                      </a:r>
                      <a:r>
                        <a:rPr sz="1400" spc="15" dirty="0">
                          <a:latin typeface="Trebuchet MS"/>
                          <a:cs typeface="Trebuchet MS"/>
                        </a:rPr>
                        <a:t>mature </a:t>
                      </a:r>
                      <a:r>
                        <a:rPr sz="1400" spc="-5" dirty="0">
                          <a:latin typeface="Trebuchet MS"/>
                          <a:cs typeface="Trebuchet MS"/>
                        </a:rPr>
                        <a:t>report </a:t>
                      </a:r>
                      <a:r>
                        <a:rPr sz="1400" spc="10" dirty="0">
                          <a:latin typeface="Trebuchet MS"/>
                          <a:cs typeface="Trebuchet MS"/>
                        </a:rPr>
                        <a:t>solutions</a:t>
                      </a:r>
                      <a:r>
                        <a:rPr sz="1400" spc="-25" dirty="0">
                          <a:latin typeface="Trebuchet MS"/>
                          <a:cs typeface="Trebuchet MS"/>
                        </a:rPr>
                        <a:t> </a:t>
                      </a:r>
                      <a:r>
                        <a:rPr sz="1400" spc="-5" dirty="0" smtClean="0">
                          <a:latin typeface="Trebuchet MS"/>
                          <a:cs typeface="Trebuchet MS"/>
                        </a:rPr>
                        <a:t>are</a:t>
                      </a:r>
                      <a:r>
                        <a:rPr lang="en-US" sz="1400" spc="0" baseline="0" dirty="0" smtClean="0">
                          <a:latin typeface="Trebuchet MS"/>
                          <a:cs typeface="Trebuchet MS"/>
                        </a:rPr>
                        <a:t> </a:t>
                      </a:r>
                      <a:r>
                        <a:rPr sz="1400" dirty="0" smtClean="0">
                          <a:latin typeface="Trebuchet MS"/>
                          <a:cs typeface="Trebuchet MS"/>
                        </a:rPr>
                        <a:t>integrated </a:t>
                      </a:r>
                      <a:r>
                        <a:rPr sz="1400" spc="5" dirty="0">
                          <a:latin typeface="Trebuchet MS"/>
                          <a:cs typeface="Trebuchet MS"/>
                        </a:rPr>
                        <a:t>to </a:t>
                      </a:r>
                      <a:r>
                        <a:rPr sz="1400" spc="-25" dirty="0">
                          <a:latin typeface="Trebuchet MS"/>
                          <a:cs typeface="Trebuchet MS"/>
                        </a:rPr>
                        <a:t>facilitate </a:t>
                      </a:r>
                      <a:r>
                        <a:rPr sz="1400" spc="15" dirty="0">
                          <a:latin typeface="Trebuchet MS"/>
                          <a:cs typeface="Trebuchet MS"/>
                        </a:rPr>
                        <a:t>data</a:t>
                      </a:r>
                      <a:r>
                        <a:rPr sz="1400" spc="-5" dirty="0">
                          <a:latin typeface="Trebuchet MS"/>
                          <a:cs typeface="Trebuchet MS"/>
                        </a:rPr>
                        <a:t> </a:t>
                      </a:r>
                      <a:r>
                        <a:rPr sz="1400" spc="-15" dirty="0">
                          <a:latin typeface="Trebuchet MS"/>
                          <a:cs typeface="Trebuchet MS"/>
                        </a:rPr>
                        <a:t>analysis</a:t>
                      </a:r>
                      <a:r>
                        <a:rPr sz="1400" spc="-15" dirty="0" smtClean="0">
                          <a:latin typeface="Trebuchet MS"/>
                          <a:cs typeface="Trebuchet MS"/>
                        </a:rPr>
                        <a:t>.</a:t>
                      </a:r>
                      <a:r>
                        <a:rPr lang="en-US" sz="1400" spc="-15" dirty="0" smtClean="0">
                          <a:latin typeface="Trebuchet MS"/>
                          <a:cs typeface="Trebuchet MS"/>
                        </a:rPr>
                        <a:t> (</a:t>
                      </a:r>
                      <a:r>
                        <a:rPr lang="en-US" sz="1400" spc="-15" dirty="0" err="1" smtClean="0">
                          <a:latin typeface="Trebuchet MS"/>
                          <a:cs typeface="Trebuchet MS"/>
                        </a:rPr>
                        <a:t>eg</a:t>
                      </a:r>
                      <a:r>
                        <a:rPr lang="en-US" sz="1400" spc="-15" dirty="0" smtClean="0">
                          <a:latin typeface="Trebuchet MS"/>
                          <a:cs typeface="Trebuchet MS"/>
                        </a:rPr>
                        <a:t>. MS </a:t>
                      </a:r>
                      <a:r>
                        <a:rPr lang="en-US" sz="1400" spc="-15" smtClean="0">
                          <a:latin typeface="Trebuchet MS"/>
                          <a:cs typeface="Trebuchet MS"/>
                        </a:rPr>
                        <a:t>reporting </a:t>
                      </a:r>
                      <a:r>
                        <a:rPr lang="en-US" sz="1400" spc="-15" smtClean="0">
                          <a:latin typeface="Trebuchet MS"/>
                          <a:cs typeface="Trebuchet MS"/>
                        </a:rPr>
                        <a:t>service, </a:t>
                      </a:r>
                      <a:r>
                        <a:rPr lang="en-US" sz="1400" spc="-15" dirty="0" smtClean="0">
                          <a:latin typeface="Trebuchet MS"/>
                          <a:cs typeface="Trebuchet MS"/>
                        </a:rPr>
                        <a:t>Bi reports…..)</a:t>
                      </a:r>
                      <a:endParaRPr sz="1400" dirty="0">
                        <a:latin typeface="Trebuchet MS"/>
                        <a:cs typeface="Trebuchet MS"/>
                      </a:endParaRPr>
                    </a:p>
                  </a:txBody>
                  <a:tcPr marL="0" marR="0" marT="3175" marB="0">
                    <a:lnL w="12700">
                      <a:solidFill>
                        <a:srgbClr val="000000"/>
                      </a:solidFill>
                      <a:prstDash val="solid"/>
                    </a:lnL>
                    <a:lnR w="28575">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r h="944120">
                <a:tc>
                  <a:txBody>
                    <a:bodyPr/>
                    <a:lstStyle/>
                    <a:p>
                      <a:pPr>
                        <a:lnSpc>
                          <a:spcPct val="100000"/>
                        </a:lnSpc>
                        <a:spcBef>
                          <a:spcPts val="50"/>
                        </a:spcBef>
                      </a:pPr>
                      <a:endParaRPr sz="1900">
                        <a:latin typeface="Times New Roman"/>
                        <a:cs typeface="Times New Roman"/>
                      </a:endParaRPr>
                    </a:p>
                    <a:p>
                      <a:pPr marL="90170">
                        <a:lnSpc>
                          <a:spcPct val="100000"/>
                        </a:lnSpc>
                      </a:pPr>
                      <a:r>
                        <a:rPr sz="1600" b="1" spc="10" dirty="0">
                          <a:latin typeface="Trebuchet MS"/>
                          <a:cs typeface="Trebuchet MS"/>
                        </a:rPr>
                        <a:t>Reliability</a:t>
                      </a:r>
                      <a:endParaRPr sz="1600">
                        <a:latin typeface="Trebuchet MS"/>
                        <a:cs typeface="Trebuchet MS"/>
                      </a:endParaRPr>
                    </a:p>
                  </a:txBody>
                  <a:tcPr marL="0" marR="0" marT="6350" marB="0">
                    <a:lnL w="28575">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spcBef>
                          <a:spcPts val="30"/>
                        </a:spcBef>
                      </a:pPr>
                      <a:endParaRPr sz="1300" dirty="0">
                        <a:latin typeface="Times New Roman"/>
                        <a:cs typeface="Times New Roman"/>
                      </a:endParaRPr>
                    </a:p>
                    <a:p>
                      <a:pPr marL="90170" marR="214629" algn="just">
                        <a:lnSpc>
                          <a:spcPct val="100000"/>
                        </a:lnSpc>
                      </a:pPr>
                      <a:r>
                        <a:rPr sz="1400" spc="45" dirty="0">
                          <a:latin typeface="Trebuchet MS"/>
                          <a:cs typeface="Trebuchet MS"/>
                        </a:rPr>
                        <a:t>Data </a:t>
                      </a:r>
                      <a:r>
                        <a:rPr sz="1400" spc="-10" dirty="0">
                          <a:latin typeface="Trebuchet MS"/>
                          <a:cs typeface="Trebuchet MS"/>
                        </a:rPr>
                        <a:t>is </a:t>
                      </a:r>
                      <a:r>
                        <a:rPr sz="1400" dirty="0">
                          <a:latin typeface="Trebuchet MS"/>
                          <a:cs typeface="Trebuchet MS"/>
                        </a:rPr>
                        <a:t>stored </a:t>
                      </a:r>
                      <a:r>
                        <a:rPr sz="1400" spc="5" dirty="0">
                          <a:latin typeface="Trebuchet MS"/>
                          <a:cs typeface="Trebuchet MS"/>
                        </a:rPr>
                        <a:t>in </a:t>
                      </a:r>
                      <a:r>
                        <a:rPr sz="1400" spc="35" dirty="0">
                          <a:latin typeface="Trebuchet MS"/>
                          <a:cs typeface="Trebuchet MS"/>
                        </a:rPr>
                        <a:t>HDFS, </a:t>
                      </a:r>
                      <a:r>
                        <a:rPr sz="1400" spc="20" dirty="0">
                          <a:latin typeface="Trebuchet MS"/>
                          <a:cs typeface="Trebuchet MS"/>
                        </a:rPr>
                        <a:t>implementing  </a:t>
                      </a:r>
                      <a:r>
                        <a:rPr sz="1400" spc="40" dirty="0">
                          <a:latin typeface="Trebuchet MS"/>
                          <a:cs typeface="Trebuchet MS"/>
                        </a:rPr>
                        <a:t>high </a:t>
                      </a:r>
                      <a:r>
                        <a:rPr sz="1400" spc="15" dirty="0">
                          <a:latin typeface="Trebuchet MS"/>
                          <a:cs typeface="Trebuchet MS"/>
                        </a:rPr>
                        <a:t>data </a:t>
                      </a:r>
                      <a:r>
                        <a:rPr sz="1400" spc="-20" dirty="0">
                          <a:latin typeface="Trebuchet MS"/>
                          <a:cs typeface="Trebuchet MS"/>
                        </a:rPr>
                        <a:t>reliability </a:t>
                      </a:r>
                      <a:r>
                        <a:rPr sz="1400" spc="35" dirty="0">
                          <a:latin typeface="Trebuchet MS"/>
                          <a:cs typeface="Trebuchet MS"/>
                        </a:rPr>
                        <a:t>and </a:t>
                      </a:r>
                      <a:r>
                        <a:rPr sz="1400" spc="-5" dirty="0">
                          <a:latin typeface="Trebuchet MS"/>
                          <a:cs typeface="Trebuchet MS"/>
                        </a:rPr>
                        <a:t>fault</a:t>
                      </a:r>
                      <a:r>
                        <a:rPr sz="1400" spc="-80" dirty="0">
                          <a:latin typeface="Trebuchet MS"/>
                          <a:cs typeface="Trebuchet MS"/>
                        </a:rPr>
                        <a:t> </a:t>
                      </a:r>
                      <a:r>
                        <a:rPr sz="1400" spc="-25" dirty="0">
                          <a:latin typeface="Trebuchet MS"/>
                          <a:cs typeface="Trebuchet MS"/>
                        </a:rPr>
                        <a:t>tolerance.</a:t>
                      </a:r>
                      <a:endParaRPr sz="1400" dirty="0">
                        <a:latin typeface="Trebuchet MS"/>
                        <a:cs typeface="Trebuchet MS"/>
                      </a:endParaRPr>
                    </a:p>
                  </a:txBody>
                  <a:tcPr marL="0" marR="0" marT="38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0170" marR="202565" algn="just">
                        <a:lnSpc>
                          <a:spcPct val="100000"/>
                        </a:lnSpc>
                        <a:spcBef>
                          <a:spcPts val="685"/>
                        </a:spcBef>
                      </a:pPr>
                      <a:r>
                        <a:rPr sz="1400" spc="-5" dirty="0">
                          <a:latin typeface="Trebuchet MS"/>
                          <a:cs typeface="Trebuchet MS"/>
                        </a:rPr>
                        <a:t>The </a:t>
                      </a:r>
                      <a:r>
                        <a:rPr sz="1400" spc="-20" dirty="0">
                          <a:latin typeface="Trebuchet MS"/>
                          <a:cs typeface="Trebuchet MS"/>
                        </a:rPr>
                        <a:t>reliability </a:t>
                      </a:r>
                      <a:r>
                        <a:rPr sz="1400" spc="-10" dirty="0">
                          <a:latin typeface="Trebuchet MS"/>
                          <a:cs typeface="Trebuchet MS"/>
                        </a:rPr>
                        <a:t>is </a:t>
                      </a:r>
                      <a:r>
                        <a:rPr sz="1400" spc="-25" dirty="0">
                          <a:latin typeface="Trebuchet MS"/>
                          <a:cs typeface="Trebuchet MS"/>
                        </a:rPr>
                        <a:t>low. </a:t>
                      </a:r>
                      <a:r>
                        <a:rPr sz="1400" spc="-10" dirty="0">
                          <a:latin typeface="Trebuchet MS"/>
                          <a:cs typeface="Trebuchet MS"/>
                        </a:rPr>
                        <a:t>If </a:t>
                      </a:r>
                      <a:r>
                        <a:rPr sz="1400" spc="40" dirty="0">
                          <a:latin typeface="Trebuchet MS"/>
                          <a:cs typeface="Trebuchet MS"/>
                        </a:rPr>
                        <a:t>a </a:t>
                      </a:r>
                      <a:r>
                        <a:rPr sz="1400" dirty="0">
                          <a:latin typeface="Trebuchet MS"/>
                          <a:cs typeface="Trebuchet MS"/>
                        </a:rPr>
                        <a:t>query </a:t>
                      </a:r>
                      <a:r>
                        <a:rPr sz="1400" spc="-40" dirty="0">
                          <a:latin typeface="Trebuchet MS"/>
                          <a:cs typeface="Trebuchet MS"/>
                        </a:rPr>
                        <a:t>fails, </a:t>
                      </a:r>
                      <a:r>
                        <a:rPr sz="1400" spc="35" dirty="0">
                          <a:latin typeface="Trebuchet MS"/>
                          <a:cs typeface="Trebuchet MS"/>
                        </a:rPr>
                        <a:t>you  </a:t>
                      </a:r>
                      <a:r>
                        <a:rPr sz="1400" spc="-10" dirty="0">
                          <a:latin typeface="Trebuchet MS"/>
                          <a:cs typeface="Trebuchet MS"/>
                        </a:rPr>
                        <a:t>start the </a:t>
                      </a:r>
                      <a:r>
                        <a:rPr sz="1400" spc="10" dirty="0">
                          <a:latin typeface="Trebuchet MS"/>
                          <a:cs typeface="Trebuchet MS"/>
                        </a:rPr>
                        <a:t>task </a:t>
                      </a:r>
                      <a:r>
                        <a:rPr sz="1400" spc="-5" dirty="0">
                          <a:latin typeface="Trebuchet MS"/>
                          <a:cs typeface="Trebuchet MS"/>
                        </a:rPr>
                        <a:t>again. The </a:t>
                      </a:r>
                      <a:r>
                        <a:rPr sz="1400" spc="10" dirty="0">
                          <a:latin typeface="Trebuchet MS"/>
                          <a:cs typeface="Trebuchet MS"/>
                        </a:rPr>
                        <a:t>data </a:t>
                      </a:r>
                      <a:r>
                        <a:rPr sz="1400" spc="-10" dirty="0">
                          <a:latin typeface="Trebuchet MS"/>
                          <a:cs typeface="Trebuchet MS"/>
                        </a:rPr>
                        <a:t>fault  </a:t>
                      </a:r>
                      <a:r>
                        <a:rPr sz="1400" spc="-5" dirty="0">
                          <a:latin typeface="Trebuchet MS"/>
                          <a:cs typeface="Trebuchet MS"/>
                        </a:rPr>
                        <a:t>tolerance </a:t>
                      </a:r>
                      <a:r>
                        <a:rPr sz="1400" spc="10" dirty="0">
                          <a:latin typeface="Trebuchet MS"/>
                          <a:cs typeface="Trebuchet MS"/>
                        </a:rPr>
                        <a:t>depends </a:t>
                      </a:r>
                      <a:r>
                        <a:rPr sz="1400" spc="50" dirty="0">
                          <a:latin typeface="Trebuchet MS"/>
                          <a:cs typeface="Trebuchet MS"/>
                        </a:rPr>
                        <a:t>on </a:t>
                      </a:r>
                      <a:r>
                        <a:rPr sz="1400" spc="15" dirty="0" smtClean="0">
                          <a:latin typeface="Trebuchet MS"/>
                          <a:cs typeface="Trebuchet MS"/>
                        </a:rPr>
                        <a:t>hardware</a:t>
                      </a:r>
                      <a:r>
                        <a:rPr sz="1400" spc="20" dirty="0" smtClean="0">
                          <a:latin typeface="Trebuchet MS"/>
                          <a:cs typeface="Trebuchet MS"/>
                        </a:rPr>
                        <a:t>.</a:t>
                      </a:r>
                      <a:endParaRPr sz="1400" dirty="0">
                        <a:latin typeface="Trebuchet MS"/>
                        <a:cs typeface="Trebuchet MS"/>
                      </a:endParaRPr>
                    </a:p>
                  </a:txBody>
                  <a:tcPr marL="0" marR="0" marT="86995" marB="0">
                    <a:lnL w="12700">
                      <a:solidFill>
                        <a:srgbClr val="000000"/>
                      </a:solidFill>
                      <a:prstDash val="solid"/>
                    </a:lnL>
                    <a:lnR w="28575">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3"/>
                  </a:ext>
                </a:extLst>
              </a:tr>
              <a:tr h="908908">
                <a:tc>
                  <a:txBody>
                    <a:bodyPr/>
                    <a:lstStyle/>
                    <a:p>
                      <a:pPr marL="90170" marR="252095">
                        <a:lnSpc>
                          <a:spcPct val="100000"/>
                        </a:lnSpc>
                        <a:spcBef>
                          <a:spcPts val="1160"/>
                        </a:spcBef>
                      </a:pPr>
                      <a:r>
                        <a:rPr sz="1600" b="1" dirty="0">
                          <a:latin typeface="Trebuchet MS"/>
                          <a:cs typeface="Trebuchet MS"/>
                        </a:rPr>
                        <a:t>Env</a:t>
                      </a:r>
                      <a:r>
                        <a:rPr sz="1600" b="1" spc="5" dirty="0">
                          <a:latin typeface="Trebuchet MS"/>
                          <a:cs typeface="Trebuchet MS"/>
                        </a:rPr>
                        <a:t>i</a:t>
                      </a:r>
                      <a:r>
                        <a:rPr sz="1600" b="1" dirty="0">
                          <a:latin typeface="Trebuchet MS"/>
                          <a:cs typeface="Trebuchet MS"/>
                        </a:rPr>
                        <a:t>ro</a:t>
                      </a:r>
                      <a:r>
                        <a:rPr sz="1600" b="1" spc="5" dirty="0">
                          <a:latin typeface="Trebuchet MS"/>
                          <a:cs typeface="Trebuchet MS"/>
                        </a:rPr>
                        <a:t>n</a:t>
                      </a:r>
                      <a:r>
                        <a:rPr sz="1600" b="1" dirty="0">
                          <a:latin typeface="Trebuchet MS"/>
                          <a:cs typeface="Trebuchet MS"/>
                        </a:rPr>
                        <a:t>m</a:t>
                      </a:r>
                      <a:r>
                        <a:rPr sz="1600" b="1" spc="-10" dirty="0">
                          <a:latin typeface="Trebuchet MS"/>
                          <a:cs typeface="Trebuchet MS"/>
                        </a:rPr>
                        <a:t>e</a:t>
                      </a:r>
                      <a:r>
                        <a:rPr sz="1600" b="1" dirty="0">
                          <a:latin typeface="Trebuchet MS"/>
                          <a:cs typeface="Trebuchet MS"/>
                        </a:rPr>
                        <a:t>nt  dependency</a:t>
                      </a:r>
                      <a:endParaRPr sz="1600">
                        <a:latin typeface="Trebuchet MS"/>
                        <a:cs typeface="Trebuchet MS"/>
                      </a:endParaRPr>
                    </a:p>
                  </a:txBody>
                  <a:tcPr marL="0" marR="0" marT="147320" marB="0">
                    <a:lnL w="28575">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0170" marR="85725" algn="just">
                        <a:lnSpc>
                          <a:spcPct val="100000"/>
                        </a:lnSpc>
                        <a:spcBef>
                          <a:spcPts val="1405"/>
                        </a:spcBef>
                      </a:pPr>
                      <a:r>
                        <a:rPr sz="1400" spc="35" dirty="0">
                          <a:latin typeface="Trebuchet MS"/>
                          <a:cs typeface="Trebuchet MS"/>
                        </a:rPr>
                        <a:t>Low </a:t>
                      </a:r>
                      <a:r>
                        <a:rPr sz="1400" dirty="0">
                          <a:latin typeface="Trebuchet MS"/>
                          <a:cs typeface="Trebuchet MS"/>
                        </a:rPr>
                        <a:t>dependency </a:t>
                      </a:r>
                      <a:r>
                        <a:rPr sz="1400" spc="50" dirty="0">
                          <a:latin typeface="Trebuchet MS"/>
                          <a:cs typeface="Trebuchet MS"/>
                        </a:rPr>
                        <a:t>on </a:t>
                      </a:r>
                      <a:r>
                        <a:rPr sz="1400" spc="-5" dirty="0">
                          <a:latin typeface="Trebuchet MS"/>
                          <a:cs typeface="Trebuchet MS"/>
                        </a:rPr>
                        <a:t>hardware, </a:t>
                      </a:r>
                      <a:r>
                        <a:rPr sz="1400" spc="-10" dirty="0">
                          <a:latin typeface="Trebuchet MS"/>
                          <a:cs typeface="Trebuchet MS"/>
                        </a:rPr>
                        <a:t>applicable  </a:t>
                      </a:r>
                      <a:r>
                        <a:rPr sz="1400" spc="5" dirty="0">
                          <a:latin typeface="Trebuchet MS"/>
                          <a:cs typeface="Trebuchet MS"/>
                        </a:rPr>
                        <a:t>to </a:t>
                      </a:r>
                      <a:r>
                        <a:rPr sz="1400" spc="50" dirty="0">
                          <a:latin typeface="Trebuchet MS"/>
                          <a:cs typeface="Trebuchet MS"/>
                        </a:rPr>
                        <a:t>common</a:t>
                      </a:r>
                      <a:r>
                        <a:rPr sz="1400" spc="-5" dirty="0">
                          <a:latin typeface="Trebuchet MS"/>
                          <a:cs typeface="Trebuchet MS"/>
                        </a:rPr>
                        <a:t> </a:t>
                      </a:r>
                      <a:r>
                        <a:rPr sz="1400" spc="20" dirty="0" smtClean="0">
                          <a:latin typeface="Trebuchet MS"/>
                          <a:cs typeface="Trebuchet MS"/>
                        </a:rPr>
                        <a:t>machines</a:t>
                      </a:r>
                      <a:r>
                        <a:rPr lang="en-US" sz="1400" spc="20" dirty="0" smtClean="0">
                          <a:latin typeface="Trebuchet MS"/>
                          <a:cs typeface="Trebuchet MS"/>
                        </a:rPr>
                        <a:t>.</a:t>
                      </a:r>
                      <a:endParaRPr sz="1400" dirty="0">
                        <a:latin typeface="Trebuchet MS"/>
                        <a:cs typeface="Trebuchet MS"/>
                      </a:endParaRPr>
                    </a:p>
                  </a:txBody>
                  <a:tcPr marL="0" marR="0" marT="1784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0170" marR="265430" algn="just">
                        <a:lnSpc>
                          <a:spcPct val="100000"/>
                        </a:lnSpc>
                        <a:spcBef>
                          <a:spcPts val="1405"/>
                        </a:spcBef>
                      </a:pPr>
                      <a:r>
                        <a:rPr sz="1400" spc="35" dirty="0">
                          <a:latin typeface="Trebuchet MS"/>
                          <a:cs typeface="Trebuchet MS"/>
                        </a:rPr>
                        <a:t>Highly </a:t>
                      </a:r>
                      <a:r>
                        <a:rPr sz="1400" spc="5" dirty="0">
                          <a:latin typeface="Trebuchet MS"/>
                          <a:cs typeface="Trebuchet MS"/>
                        </a:rPr>
                        <a:t>dependent </a:t>
                      </a:r>
                      <a:r>
                        <a:rPr sz="1400" spc="50" dirty="0">
                          <a:latin typeface="Trebuchet MS"/>
                          <a:cs typeface="Trebuchet MS"/>
                        </a:rPr>
                        <a:t>on</a:t>
                      </a:r>
                      <a:r>
                        <a:rPr sz="1400" spc="-35" dirty="0">
                          <a:latin typeface="Trebuchet MS"/>
                          <a:cs typeface="Trebuchet MS"/>
                        </a:rPr>
                        <a:t> </a:t>
                      </a:r>
                      <a:r>
                        <a:rPr sz="1400" spc="15" dirty="0">
                          <a:latin typeface="Trebuchet MS"/>
                          <a:cs typeface="Trebuchet MS"/>
                        </a:rPr>
                        <a:t>high-performance  business</a:t>
                      </a:r>
                      <a:r>
                        <a:rPr sz="1400" spc="-5" dirty="0">
                          <a:latin typeface="Trebuchet MS"/>
                          <a:cs typeface="Trebuchet MS"/>
                        </a:rPr>
                        <a:t> </a:t>
                      </a:r>
                      <a:r>
                        <a:rPr sz="1400" spc="-10" dirty="0">
                          <a:latin typeface="Trebuchet MS"/>
                          <a:cs typeface="Trebuchet MS"/>
                        </a:rPr>
                        <a:t>servers</a:t>
                      </a:r>
                      <a:endParaRPr sz="1400" dirty="0">
                        <a:latin typeface="Trebuchet MS"/>
                        <a:cs typeface="Trebuchet MS"/>
                      </a:endParaRPr>
                    </a:p>
                  </a:txBody>
                  <a:tcPr marL="0" marR="0" marT="178435" marB="0">
                    <a:lnL w="12700">
                      <a:solidFill>
                        <a:srgbClr val="000000"/>
                      </a:solidFill>
                      <a:prstDash val="solid"/>
                    </a:lnL>
                    <a:lnR w="28575">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4"/>
                  </a:ext>
                </a:extLst>
              </a:tr>
              <a:tr h="454336">
                <a:tc>
                  <a:txBody>
                    <a:bodyPr/>
                    <a:lstStyle/>
                    <a:p>
                      <a:pPr marL="90170">
                        <a:lnSpc>
                          <a:spcPct val="100000"/>
                        </a:lnSpc>
                        <a:spcBef>
                          <a:spcPts val="570"/>
                        </a:spcBef>
                      </a:pPr>
                      <a:r>
                        <a:rPr sz="1600" b="1" spc="-25" dirty="0">
                          <a:latin typeface="Trebuchet MS"/>
                          <a:cs typeface="Trebuchet MS"/>
                        </a:rPr>
                        <a:t>Price</a:t>
                      </a:r>
                      <a:endParaRPr sz="1600">
                        <a:latin typeface="Trebuchet MS"/>
                        <a:cs typeface="Trebuchet MS"/>
                      </a:endParaRPr>
                    </a:p>
                  </a:txBody>
                  <a:tcPr marL="0" marR="0" marT="72390" marB="0">
                    <a:lnL w="28575">
                      <a:solidFill>
                        <a:srgbClr val="000000"/>
                      </a:solidFill>
                      <a:prstDash val="solid"/>
                    </a:lnL>
                    <a:lnR w="12700">
                      <a:solidFill>
                        <a:srgbClr val="000000"/>
                      </a:solidFill>
                      <a:prstDash val="solid"/>
                    </a:lnR>
                    <a:lnT w="12700">
                      <a:solidFill>
                        <a:srgbClr val="000000"/>
                      </a:solidFill>
                      <a:prstDash val="solid"/>
                    </a:lnT>
                    <a:lnB w="28575">
                      <a:solidFill>
                        <a:srgbClr val="000000"/>
                      </a:solidFill>
                      <a:prstDash val="solid"/>
                    </a:lnB>
                  </a:tcPr>
                </a:tc>
                <a:tc>
                  <a:txBody>
                    <a:bodyPr/>
                    <a:lstStyle/>
                    <a:p>
                      <a:pPr marL="90170">
                        <a:lnSpc>
                          <a:spcPct val="100000"/>
                        </a:lnSpc>
                        <a:spcBef>
                          <a:spcPts val="695"/>
                        </a:spcBef>
                      </a:pPr>
                      <a:r>
                        <a:rPr sz="1400" spc="20" dirty="0">
                          <a:latin typeface="Trebuchet MS"/>
                          <a:cs typeface="Trebuchet MS"/>
                        </a:rPr>
                        <a:t>Open-source </a:t>
                      </a:r>
                      <a:r>
                        <a:rPr sz="1400" spc="-20" dirty="0">
                          <a:latin typeface="Trebuchet MS"/>
                          <a:cs typeface="Trebuchet MS"/>
                        </a:rPr>
                        <a:t>product, </a:t>
                      </a:r>
                      <a:r>
                        <a:rPr sz="1400" spc="-30" dirty="0">
                          <a:latin typeface="Trebuchet MS"/>
                          <a:cs typeface="Trebuchet MS"/>
                        </a:rPr>
                        <a:t>free </a:t>
                      </a:r>
                      <a:r>
                        <a:rPr sz="1400" spc="10" dirty="0">
                          <a:latin typeface="Trebuchet MS"/>
                          <a:cs typeface="Trebuchet MS"/>
                        </a:rPr>
                        <a:t>of</a:t>
                      </a:r>
                      <a:r>
                        <a:rPr sz="1400" spc="55" dirty="0">
                          <a:latin typeface="Trebuchet MS"/>
                          <a:cs typeface="Trebuchet MS"/>
                        </a:rPr>
                        <a:t> </a:t>
                      </a:r>
                      <a:r>
                        <a:rPr sz="1400" spc="10" dirty="0">
                          <a:latin typeface="Trebuchet MS"/>
                          <a:cs typeface="Trebuchet MS"/>
                        </a:rPr>
                        <a:t>charge</a:t>
                      </a:r>
                      <a:endParaRPr sz="1400" dirty="0">
                        <a:latin typeface="Trebuchet MS"/>
                        <a:cs typeface="Trebuchet MS"/>
                      </a:endParaRPr>
                    </a:p>
                  </a:txBody>
                  <a:tcPr marL="0" marR="0" marT="88265" marB="0">
                    <a:lnL w="12700">
                      <a:solidFill>
                        <a:srgbClr val="000000"/>
                      </a:solidFill>
                      <a:prstDash val="solid"/>
                    </a:lnL>
                    <a:lnR w="12700">
                      <a:solidFill>
                        <a:srgbClr val="000000"/>
                      </a:solidFill>
                      <a:prstDash val="solid"/>
                    </a:lnR>
                    <a:lnT w="12700">
                      <a:solidFill>
                        <a:srgbClr val="000000"/>
                      </a:solidFill>
                      <a:prstDash val="solid"/>
                    </a:lnT>
                    <a:lnB w="28575">
                      <a:solidFill>
                        <a:srgbClr val="000000"/>
                      </a:solidFill>
                      <a:prstDash val="solid"/>
                    </a:lnB>
                  </a:tcPr>
                </a:tc>
                <a:tc>
                  <a:txBody>
                    <a:bodyPr/>
                    <a:lstStyle/>
                    <a:p>
                      <a:pPr marL="90170">
                        <a:lnSpc>
                          <a:spcPct val="100000"/>
                        </a:lnSpc>
                        <a:spcBef>
                          <a:spcPts val="695"/>
                        </a:spcBef>
                      </a:pPr>
                      <a:r>
                        <a:rPr sz="1400" dirty="0">
                          <a:latin typeface="Trebuchet MS"/>
                          <a:cs typeface="Trebuchet MS"/>
                        </a:rPr>
                        <a:t>Expensive </a:t>
                      </a:r>
                      <a:r>
                        <a:rPr sz="1400" spc="5" dirty="0">
                          <a:latin typeface="Trebuchet MS"/>
                          <a:cs typeface="Trebuchet MS"/>
                        </a:rPr>
                        <a:t>in commercial</a:t>
                      </a:r>
                      <a:r>
                        <a:rPr sz="1400" spc="-35" dirty="0">
                          <a:latin typeface="Trebuchet MS"/>
                          <a:cs typeface="Trebuchet MS"/>
                        </a:rPr>
                        <a:t> </a:t>
                      </a:r>
                      <a:r>
                        <a:rPr sz="1400" spc="10" dirty="0">
                          <a:latin typeface="Trebuchet MS"/>
                          <a:cs typeface="Trebuchet MS"/>
                        </a:rPr>
                        <a:t>use</a:t>
                      </a:r>
                      <a:endParaRPr sz="1400" dirty="0">
                        <a:latin typeface="Trebuchet MS"/>
                        <a:cs typeface="Trebuchet MS"/>
                      </a:endParaRPr>
                    </a:p>
                  </a:txBody>
                  <a:tcPr marL="0" marR="0" marT="88265" marB="0">
                    <a:lnL w="12700">
                      <a:solidFill>
                        <a:srgbClr val="000000"/>
                      </a:solidFill>
                      <a:prstDash val="solid"/>
                    </a:lnL>
                    <a:lnR w="28575">
                      <a:solidFill>
                        <a:srgbClr val="000000"/>
                      </a:solidFill>
                      <a:prstDash val="solid"/>
                    </a:lnR>
                    <a:lnT w="12700">
                      <a:solidFill>
                        <a:srgbClr val="000000"/>
                      </a:solidFill>
                      <a:prstDash val="solid"/>
                    </a:lnT>
                    <a:lnB w="28575">
                      <a:solidFill>
                        <a:srgbClr val="000000"/>
                      </a:solidFill>
                      <a:prstDash val="solid"/>
                    </a:lnB>
                  </a:tcPr>
                </a:tc>
                <a:extLst>
                  <a:ext uri="{0D108BD9-81ED-4DB2-BD59-A6C34878D82A}">
                    <a16:rowId xmlns:a16="http://schemas.microsoft.com/office/drawing/2014/main" val="10005"/>
                  </a:ext>
                </a:extLst>
              </a:tr>
            </a:tbl>
          </a:graphicData>
        </a:graphic>
      </p:graphicFrame>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828800" y="702550"/>
            <a:ext cx="7264602" cy="567463"/>
          </a:xfrm>
          <a:prstGeom prst="rect">
            <a:avLst/>
          </a:prstGeom>
        </p:spPr>
        <p:txBody>
          <a:bodyPr vert="horz" wrap="square" lIns="0" tIns="13335" rIns="0" bIns="0" rtlCol="0">
            <a:spAutoFit/>
          </a:bodyPr>
          <a:lstStyle/>
          <a:p>
            <a:pPr marL="12700">
              <a:lnSpc>
                <a:spcPct val="100000"/>
              </a:lnSpc>
              <a:spcBef>
                <a:spcPts val="105"/>
              </a:spcBef>
            </a:pPr>
            <a:r>
              <a:rPr spc="70" dirty="0"/>
              <a:t>Advantages </a:t>
            </a:r>
            <a:r>
              <a:rPr spc="30" dirty="0"/>
              <a:t>of</a:t>
            </a:r>
            <a:r>
              <a:rPr spc="-90" dirty="0"/>
              <a:t> </a:t>
            </a:r>
            <a:r>
              <a:rPr spc="40" dirty="0"/>
              <a:t>Hive</a:t>
            </a:r>
          </a:p>
        </p:txBody>
      </p:sp>
      <p:grpSp>
        <p:nvGrpSpPr>
          <p:cNvPr id="3" name="object 3"/>
          <p:cNvGrpSpPr/>
          <p:nvPr/>
        </p:nvGrpSpPr>
        <p:grpSpPr>
          <a:xfrm>
            <a:off x="4191000" y="3048699"/>
            <a:ext cx="1818639" cy="3340100"/>
            <a:chOff x="2296667" y="2423858"/>
            <a:chExt cx="1818639" cy="3340100"/>
          </a:xfrm>
        </p:grpSpPr>
        <p:sp>
          <p:nvSpPr>
            <p:cNvPr id="4" name="object 4"/>
            <p:cNvSpPr/>
            <p:nvPr/>
          </p:nvSpPr>
          <p:spPr>
            <a:xfrm>
              <a:off x="3204971" y="2467355"/>
              <a:ext cx="10795" cy="407670"/>
            </a:xfrm>
            <a:custGeom>
              <a:avLst/>
              <a:gdLst/>
              <a:ahLst/>
              <a:cxnLst/>
              <a:rect l="l" t="t" r="r" b="b"/>
              <a:pathLst>
                <a:path w="10794" h="407669">
                  <a:moveTo>
                    <a:pt x="5397" y="-38100"/>
                  </a:moveTo>
                  <a:lnTo>
                    <a:pt x="5397" y="445770"/>
                  </a:lnTo>
                </a:path>
              </a:pathLst>
            </a:custGeom>
            <a:ln w="86994">
              <a:solidFill>
                <a:srgbClr val="BEBEBE"/>
              </a:solidFill>
            </a:ln>
          </p:spPr>
          <p:txBody>
            <a:bodyPr wrap="square" lIns="0" tIns="0" rIns="0" bIns="0" rtlCol="0"/>
            <a:lstStyle/>
            <a:p>
              <a:endParaRPr/>
            </a:p>
          </p:txBody>
        </p:sp>
        <p:sp>
          <p:nvSpPr>
            <p:cNvPr id="5" name="object 5"/>
            <p:cNvSpPr/>
            <p:nvPr/>
          </p:nvSpPr>
          <p:spPr>
            <a:xfrm>
              <a:off x="2334767" y="2875787"/>
              <a:ext cx="1742439" cy="2849880"/>
            </a:xfrm>
            <a:custGeom>
              <a:avLst/>
              <a:gdLst/>
              <a:ahLst/>
              <a:cxnLst/>
              <a:rect l="l" t="t" r="r" b="b"/>
              <a:pathLst>
                <a:path w="1742439" h="2849879">
                  <a:moveTo>
                    <a:pt x="1451609" y="0"/>
                  </a:moveTo>
                  <a:lnTo>
                    <a:pt x="290321" y="0"/>
                  </a:lnTo>
                  <a:lnTo>
                    <a:pt x="243215" y="3798"/>
                  </a:lnTo>
                  <a:lnTo>
                    <a:pt x="198534" y="14794"/>
                  </a:lnTo>
                  <a:lnTo>
                    <a:pt x="156875" y="32393"/>
                  </a:lnTo>
                  <a:lnTo>
                    <a:pt x="118835" y="55997"/>
                  </a:lnTo>
                  <a:lnTo>
                    <a:pt x="85010" y="85010"/>
                  </a:lnTo>
                  <a:lnTo>
                    <a:pt x="55997" y="118835"/>
                  </a:lnTo>
                  <a:lnTo>
                    <a:pt x="32393" y="156875"/>
                  </a:lnTo>
                  <a:lnTo>
                    <a:pt x="14794" y="198534"/>
                  </a:lnTo>
                  <a:lnTo>
                    <a:pt x="3798" y="243215"/>
                  </a:lnTo>
                  <a:lnTo>
                    <a:pt x="0" y="290322"/>
                  </a:lnTo>
                  <a:lnTo>
                    <a:pt x="0" y="2559558"/>
                  </a:lnTo>
                  <a:lnTo>
                    <a:pt x="3798" y="2606649"/>
                  </a:lnTo>
                  <a:lnTo>
                    <a:pt x="14794" y="2651321"/>
                  </a:lnTo>
                  <a:lnTo>
                    <a:pt x="32393" y="2692976"/>
                  </a:lnTo>
                  <a:lnTo>
                    <a:pt x="55997" y="2731017"/>
                  </a:lnTo>
                  <a:lnTo>
                    <a:pt x="85010" y="2764845"/>
                  </a:lnTo>
                  <a:lnTo>
                    <a:pt x="118835" y="2793863"/>
                  </a:lnTo>
                  <a:lnTo>
                    <a:pt x="156875" y="2817474"/>
                  </a:lnTo>
                  <a:lnTo>
                    <a:pt x="198534" y="2835078"/>
                  </a:lnTo>
                  <a:lnTo>
                    <a:pt x="243215" y="2846080"/>
                  </a:lnTo>
                  <a:lnTo>
                    <a:pt x="290321" y="2849880"/>
                  </a:lnTo>
                  <a:lnTo>
                    <a:pt x="1451609" y="2849880"/>
                  </a:lnTo>
                  <a:lnTo>
                    <a:pt x="1498716" y="2846080"/>
                  </a:lnTo>
                  <a:lnTo>
                    <a:pt x="1543397" y="2835078"/>
                  </a:lnTo>
                  <a:lnTo>
                    <a:pt x="1585056" y="2817474"/>
                  </a:lnTo>
                  <a:lnTo>
                    <a:pt x="1623096" y="2793863"/>
                  </a:lnTo>
                  <a:lnTo>
                    <a:pt x="1656921" y="2764845"/>
                  </a:lnTo>
                  <a:lnTo>
                    <a:pt x="1685934" y="2731017"/>
                  </a:lnTo>
                  <a:lnTo>
                    <a:pt x="1709538" y="2692976"/>
                  </a:lnTo>
                  <a:lnTo>
                    <a:pt x="1727137" y="2651321"/>
                  </a:lnTo>
                  <a:lnTo>
                    <a:pt x="1738133" y="2606649"/>
                  </a:lnTo>
                  <a:lnTo>
                    <a:pt x="1741932" y="2559558"/>
                  </a:lnTo>
                  <a:lnTo>
                    <a:pt x="1741932" y="290322"/>
                  </a:lnTo>
                  <a:lnTo>
                    <a:pt x="1738133" y="243215"/>
                  </a:lnTo>
                  <a:lnTo>
                    <a:pt x="1727137" y="198534"/>
                  </a:lnTo>
                  <a:lnTo>
                    <a:pt x="1709538" y="156875"/>
                  </a:lnTo>
                  <a:lnTo>
                    <a:pt x="1685934" y="118835"/>
                  </a:lnTo>
                  <a:lnTo>
                    <a:pt x="1656921" y="85010"/>
                  </a:lnTo>
                  <a:lnTo>
                    <a:pt x="1623096" y="55997"/>
                  </a:lnTo>
                  <a:lnTo>
                    <a:pt x="1585056" y="32393"/>
                  </a:lnTo>
                  <a:lnTo>
                    <a:pt x="1543397" y="14794"/>
                  </a:lnTo>
                  <a:lnTo>
                    <a:pt x="1498716" y="3798"/>
                  </a:lnTo>
                  <a:lnTo>
                    <a:pt x="1451609" y="0"/>
                  </a:lnTo>
                  <a:close/>
                </a:path>
              </a:pathLst>
            </a:custGeom>
            <a:solidFill>
              <a:srgbClr val="FFFFFF"/>
            </a:solidFill>
          </p:spPr>
          <p:txBody>
            <a:bodyPr wrap="square" lIns="0" tIns="0" rIns="0" bIns="0" rtlCol="0"/>
            <a:lstStyle/>
            <a:p>
              <a:endParaRPr/>
            </a:p>
          </p:txBody>
        </p:sp>
        <p:sp>
          <p:nvSpPr>
            <p:cNvPr id="6" name="object 6"/>
            <p:cNvSpPr/>
            <p:nvPr/>
          </p:nvSpPr>
          <p:spPr>
            <a:xfrm>
              <a:off x="2334767" y="2875787"/>
              <a:ext cx="1742439" cy="2849880"/>
            </a:xfrm>
            <a:custGeom>
              <a:avLst/>
              <a:gdLst/>
              <a:ahLst/>
              <a:cxnLst/>
              <a:rect l="l" t="t" r="r" b="b"/>
              <a:pathLst>
                <a:path w="1742439" h="2849879">
                  <a:moveTo>
                    <a:pt x="0" y="290322"/>
                  </a:moveTo>
                  <a:lnTo>
                    <a:pt x="3798" y="243215"/>
                  </a:lnTo>
                  <a:lnTo>
                    <a:pt x="14794" y="198534"/>
                  </a:lnTo>
                  <a:lnTo>
                    <a:pt x="32393" y="156875"/>
                  </a:lnTo>
                  <a:lnTo>
                    <a:pt x="55997" y="118835"/>
                  </a:lnTo>
                  <a:lnTo>
                    <a:pt x="85010" y="85010"/>
                  </a:lnTo>
                  <a:lnTo>
                    <a:pt x="118835" y="55997"/>
                  </a:lnTo>
                  <a:lnTo>
                    <a:pt x="156875" y="32393"/>
                  </a:lnTo>
                  <a:lnTo>
                    <a:pt x="198534" y="14794"/>
                  </a:lnTo>
                  <a:lnTo>
                    <a:pt x="243215" y="3798"/>
                  </a:lnTo>
                  <a:lnTo>
                    <a:pt x="290321" y="0"/>
                  </a:lnTo>
                  <a:lnTo>
                    <a:pt x="1451609" y="0"/>
                  </a:lnTo>
                  <a:lnTo>
                    <a:pt x="1498716" y="3798"/>
                  </a:lnTo>
                  <a:lnTo>
                    <a:pt x="1543397" y="14794"/>
                  </a:lnTo>
                  <a:lnTo>
                    <a:pt x="1585056" y="32393"/>
                  </a:lnTo>
                  <a:lnTo>
                    <a:pt x="1623096" y="55997"/>
                  </a:lnTo>
                  <a:lnTo>
                    <a:pt x="1656921" y="85010"/>
                  </a:lnTo>
                  <a:lnTo>
                    <a:pt x="1685934" y="118835"/>
                  </a:lnTo>
                  <a:lnTo>
                    <a:pt x="1709538" y="156875"/>
                  </a:lnTo>
                  <a:lnTo>
                    <a:pt x="1727137" y="198534"/>
                  </a:lnTo>
                  <a:lnTo>
                    <a:pt x="1738133" y="243215"/>
                  </a:lnTo>
                  <a:lnTo>
                    <a:pt x="1741932" y="290322"/>
                  </a:lnTo>
                  <a:lnTo>
                    <a:pt x="1741932" y="2559558"/>
                  </a:lnTo>
                  <a:lnTo>
                    <a:pt x="1738133" y="2606649"/>
                  </a:lnTo>
                  <a:lnTo>
                    <a:pt x="1727137" y="2651321"/>
                  </a:lnTo>
                  <a:lnTo>
                    <a:pt x="1709538" y="2692976"/>
                  </a:lnTo>
                  <a:lnTo>
                    <a:pt x="1685934" y="2731017"/>
                  </a:lnTo>
                  <a:lnTo>
                    <a:pt x="1656921" y="2764845"/>
                  </a:lnTo>
                  <a:lnTo>
                    <a:pt x="1623096" y="2793863"/>
                  </a:lnTo>
                  <a:lnTo>
                    <a:pt x="1585056" y="2817474"/>
                  </a:lnTo>
                  <a:lnTo>
                    <a:pt x="1543397" y="2835078"/>
                  </a:lnTo>
                  <a:lnTo>
                    <a:pt x="1498716" y="2846080"/>
                  </a:lnTo>
                  <a:lnTo>
                    <a:pt x="1451609" y="2849880"/>
                  </a:lnTo>
                  <a:lnTo>
                    <a:pt x="290321" y="2849880"/>
                  </a:lnTo>
                  <a:lnTo>
                    <a:pt x="243215" y="2846080"/>
                  </a:lnTo>
                  <a:lnTo>
                    <a:pt x="198534" y="2835078"/>
                  </a:lnTo>
                  <a:lnTo>
                    <a:pt x="156875" y="2817474"/>
                  </a:lnTo>
                  <a:lnTo>
                    <a:pt x="118835" y="2793863"/>
                  </a:lnTo>
                  <a:lnTo>
                    <a:pt x="85010" y="2764845"/>
                  </a:lnTo>
                  <a:lnTo>
                    <a:pt x="55997" y="2731017"/>
                  </a:lnTo>
                  <a:lnTo>
                    <a:pt x="32393" y="2692976"/>
                  </a:lnTo>
                  <a:lnTo>
                    <a:pt x="14794" y="2651321"/>
                  </a:lnTo>
                  <a:lnTo>
                    <a:pt x="3798" y="2606649"/>
                  </a:lnTo>
                  <a:lnTo>
                    <a:pt x="0" y="2559558"/>
                  </a:lnTo>
                  <a:lnTo>
                    <a:pt x="0" y="290322"/>
                  </a:lnTo>
                  <a:close/>
                </a:path>
              </a:pathLst>
            </a:custGeom>
            <a:ln w="76199">
              <a:solidFill>
                <a:srgbClr val="BEBEBE"/>
              </a:solidFill>
            </a:ln>
          </p:spPr>
          <p:txBody>
            <a:bodyPr wrap="square" lIns="0" tIns="0" rIns="0" bIns="0" rtlCol="0"/>
            <a:lstStyle/>
            <a:p>
              <a:endParaRPr/>
            </a:p>
          </p:txBody>
        </p:sp>
        <p:sp>
          <p:nvSpPr>
            <p:cNvPr id="7" name="object 7"/>
            <p:cNvSpPr/>
            <p:nvPr/>
          </p:nvSpPr>
          <p:spPr>
            <a:xfrm>
              <a:off x="2415539" y="2947415"/>
              <a:ext cx="1580515" cy="684530"/>
            </a:xfrm>
            <a:custGeom>
              <a:avLst/>
              <a:gdLst/>
              <a:ahLst/>
              <a:cxnLst/>
              <a:rect l="l" t="t" r="r" b="b"/>
              <a:pathLst>
                <a:path w="1580514" h="684529">
                  <a:moveTo>
                    <a:pt x="1412748" y="0"/>
                  </a:moveTo>
                  <a:lnTo>
                    <a:pt x="167640" y="0"/>
                  </a:lnTo>
                  <a:lnTo>
                    <a:pt x="123075" y="5988"/>
                  </a:lnTo>
                  <a:lnTo>
                    <a:pt x="83029" y="22888"/>
                  </a:lnTo>
                  <a:lnTo>
                    <a:pt x="49101" y="49101"/>
                  </a:lnTo>
                  <a:lnTo>
                    <a:pt x="22888" y="83029"/>
                  </a:lnTo>
                  <a:lnTo>
                    <a:pt x="5988" y="123075"/>
                  </a:lnTo>
                  <a:lnTo>
                    <a:pt x="0" y="167639"/>
                  </a:lnTo>
                  <a:lnTo>
                    <a:pt x="0" y="516636"/>
                  </a:lnTo>
                  <a:lnTo>
                    <a:pt x="5988" y="561200"/>
                  </a:lnTo>
                  <a:lnTo>
                    <a:pt x="22888" y="601246"/>
                  </a:lnTo>
                  <a:lnTo>
                    <a:pt x="49101" y="635174"/>
                  </a:lnTo>
                  <a:lnTo>
                    <a:pt x="83029" y="661387"/>
                  </a:lnTo>
                  <a:lnTo>
                    <a:pt x="123075" y="678287"/>
                  </a:lnTo>
                  <a:lnTo>
                    <a:pt x="167640" y="684276"/>
                  </a:lnTo>
                  <a:lnTo>
                    <a:pt x="1412748" y="684276"/>
                  </a:lnTo>
                  <a:lnTo>
                    <a:pt x="1457312" y="678287"/>
                  </a:lnTo>
                  <a:lnTo>
                    <a:pt x="1497358" y="661387"/>
                  </a:lnTo>
                  <a:lnTo>
                    <a:pt x="1531286" y="635174"/>
                  </a:lnTo>
                  <a:lnTo>
                    <a:pt x="1557499" y="601246"/>
                  </a:lnTo>
                  <a:lnTo>
                    <a:pt x="1574399" y="561200"/>
                  </a:lnTo>
                  <a:lnTo>
                    <a:pt x="1580388" y="516636"/>
                  </a:lnTo>
                  <a:lnTo>
                    <a:pt x="1580388" y="167639"/>
                  </a:lnTo>
                  <a:lnTo>
                    <a:pt x="1574399" y="123075"/>
                  </a:lnTo>
                  <a:lnTo>
                    <a:pt x="1557499" y="83029"/>
                  </a:lnTo>
                  <a:lnTo>
                    <a:pt x="1531286" y="49101"/>
                  </a:lnTo>
                  <a:lnTo>
                    <a:pt x="1497358" y="22888"/>
                  </a:lnTo>
                  <a:lnTo>
                    <a:pt x="1457312" y="5988"/>
                  </a:lnTo>
                  <a:lnTo>
                    <a:pt x="1412748" y="0"/>
                  </a:lnTo>
                  <a:close/>
                </a:path>
              </a:pathLst>
            </a:custGeom>
            <a:solidFill>
              <a:srgbClr val="4F81BC"/>
            </a:solidFill>
          </p:spPr>
          <p:txBody>
            <a:bodyPr wrap="square" lIns="0" tIns="0" rIns="0" bIns="0" rtlCol="0"/>
            <a:lstStyle/>
            <a:p>
              <a:endParaRPr/>
            </a:p>
          </p:txBody>
        </p:sp>
      </p:grpSp>
      <p:sp>
        <p:nvSpPr>
          <p:cNvPr id="8" name="object 8"/>
          <p:cNvSpPr txBox="1"/>
          <p:nvPr/>
        </p:nvSpPr>
        <p:spPr>
          <a:xfrm>
            <a:off x="4360546" y="4333113"/>
            <a:ext cx="1478915" cy="1520190"/>
          </a:xfrm>
          <a:prstGeom prst="rect">
            <a:avLst/>
          </a:prstGeom>
        </p:spPr>
        <p:txBody>
          <a:bodyPr vert="horz" wrap="square" lIns="0" tIns="12700" rIns="0" bIns="0" rtlCol="0">
            <a:spAutoFit/>
          </a:bodyPr>
          <a:lstStyle/>
          <a:p>
            <a:pPr marL="355600" marR="29209" indent="-343535">
              <a:lnSpc>
                <a:spcPct val="100000"/>
              </a:lnSpc>
              <a:spcBef>
                <a:spcPts val="100"/>
              </a:spcBef>
              <a:buAutoNum type="arabicPeriod"/>
              <a:tabLst>
                <a:tab pos="355600" algn="l"/>
                <a:tab pos="356235" algn="l"/>
              </a:tabLst>
            </a:pPr>
            <a:r>
              <a:rPr sz="1400" spc="-10" dirty="0">
                <a:latin typeface="Trebuchet MS"/>
                <a:cs typeface="Trebuchet MS"/>
              </a:rPr>
              <a:t>Cluster  </a:t>
            </a:r>
            <a:r>
              <a:rPr sz="1400" spc="10" dirty="0">
                <a:latin typeface="Trebuchet MS"/>
                <a:cs typeface="Trebuchet MS"/>
              </a:rPr>
              <a:t>deployment  of</a:t>
            </a:r>
            <a:r>
              <a:rPr sz="1400" spc="-30" dirty="0">
                <a:latin typeface="Trebuchet MS"/>
                <a:cs typeface="Trebuchet MS"/>
              </a:rPr>
              <a:t> </a:t>
            </a:r>
            <a:r>
              <a:rPr sz="1400" dirty="0">
                <a:latin typeface="Trebuchet MS"/>
                <a:cs typeface="Trebuchet MS"/>
              </a:rPr>
              <a:t>HiveServer</a:t>
            </a:r>
            <a:endParaRPr sz="1400">
              <a:latin typeface="Trebuchet MS"/>
              <a:cs typeface="Trebuchet MS"/>
            </a:endParaRPr>
          </a:p>
          <a:p>
            <a:pPr marL="355600" marR="192405" indent="-343535">
              <a:lnSpc>
                <a:spcPct val="100000"/>
              </a:lnSpc>
              <a:buAutoNum type="arabicPeriod"/>
              <a:tabLst>
                <a:tab pos="355600" algn="l"/>
                <a:tab pos="356235" algn="l"/>
              </a:tabLst>
            </a:pPr>
            <a:r>
              <a:rPr sz="1400" spc="35" dirty="0">
                <a:latin typeface="Trebuchet MS"/>
                <a:cs typeface="Trebuchet MS"/>
              </a:rPr>
              <a:t>Double  </a:t>
            </a:r>
            <a:r>
              <a:rPr sz="1400" spc="295" dirty="0">
                <a:latin typeface="Trebuchet MS"/>
                <a:cs typeface="Trebuchet MS"/>
              </a:rPr>
              <a:t>M</a:t>
            </a:r>
            <a:r>
              <a:rPr sz="1400" spc="-45" dirty="0">
                <a:latin typeface="Trebuchet MS"/>
                <a:cs typeface="Trebuchet MS"/>
              </a:rPr>
              <a:t>e</a:t>
            </a:r>
            <a:r>
              <a:rPr sz="1400" spc="-25" dirty="0">
                <a:latin typeface="Trebuchet MS"/>
                <a:cs typeface="Trebuchet MS"/>
              </a:rPr>
              <a:t>t</a:t>
            </a:r>
            <a:r>
              <a:rPr sz="1400" spc="5" dirty="0">
                <a:latin typeface="Trebuchet MS"/>
                <a:cs typeface="Trebuchet MS"/>
              </a:rPr>
              <a:t>aStor</a:t>
            </a:r>
            <a:r>
              <a:rPr sz="1400" spc="15" dirty="0">
                <a:latin typeface="Trebuchet MS"/>
                <a:cs typeface="Trebuchet MS"/>
              </a:rPr>
              <a:t>e</a:t>
            </a:r>
            <a:r>
              <a:rPr sz="1400" spc="25" dirty="0">
                <a:latin typeface="Trebuchet MS"/>
                <a:cs typeface="Trebuchet MS"/>
              </a:rPr>
              <a:t>s</a:t>
            </a:r>
            <a:endParaRPr sz="1400">
              <a:latin typeface="Trebuchet MS"/>
              <a:cs typeface="Trebuchet MS"/>
            </a:endParaRPr>
          </a:p>
          <a:p>
            <a:pPr marL="355600" marR="5080" indent="-343535">
              <a:lnSpc>
                <a:spcPct val="100000"/>
              </a:lnSpc>
              <a:spcBef>
                <a:spcPts val="5"/>
              </a:spcBef>
              <a:buAutoNum type="arabicPeriod"/>
              <a:tabLst>
                <a:tab pos="355600" algn="l"/>
                <a:tab pos="356235" algn="l"/>
              </a:tabLst>
            </a:pPr>
            <a:r>
              <a:rPr sz="1400" spc="5" dirty="0">
                <a:latin typeface="Trebuchet MS"/>
                <a:cs typeface="Trebuchet MS"/>
              </a:rPr>
              <a:t>Timeout</a:t>
            </a:r>
            <a:r>
              <a:rPr sz="1400" spc="-50" dirty="0">
                <a:latin typeface="Trebuchet MS"/>
                <a:cs typeface="Trebuchet MS"/>
              </a:rPr>
              <a:t> </a:t>
            </a:r>
            <a:r>
              <a:rPr sz="1400" spc="-20" dirty="0">
                <a:latin typeface="Trebuchet MS"/>
                <a:cs typeface="Trebuchet MS"/>
              </a:rPr>
              <a:t>retry  </a:t>
            </a:r>
            <a:r>
              <a:rPr sz="1400" spc="25" dirty="0">
                <a:latin typeface="Trebuchet MS"/>
                <a:cs typeface="Trebuchet MS"/>
              </a:rPr>
              <a:t>mechanism</a:t>
            </a:r>
            <a:endParaRPr sz="1400">
              <a:latin typeface="Trebuchet MS"/>
              <a:cs typeface="Trebuchet MS"/>
            </a:endParaRPr>
          </a:p>
        </p:txBody>
      </p:sp>
      <p:sp>
        <p:nvSpPr>
          <p:cNvPr id="9" name="object 9"/>
          <p:cNvSpPr txBox="1"/>
          <p:nvPr/>
        </p:nvSpPr>
        <p:spPr>
          <a:xfrm>
            <a:off x="4433443" y="3594354"/>
            <a:ext cx="1365885" cy="666115"/>
          </a:xfrm>
          <a:prstGeom prst="rect">
            <a:avLst/>
          </a:prstGeom>
        </p:spPr>
        <p:txBody>
          <a:bodyPr vert="horz" wrap="square" lIns="0" tIns="13335" rIns="0" bIns="0" rtlCol="0">
            <a:spAutoFit/>
          </a:bodyPr>
          <a:lstStyle/>
          <a:p>
            <a:pPr marL="521334" marR="9525" indent="-502920">
              <a:lnSpc>
                <a:spcPct val="100000"/>
              </a:lnSpc>
              <a:spcBef>
                <a:spcPts val="105"/>
              </a:spcBef>
            </a:pPr>
            <a:r>
              <a:rPr sz="1400" b="1" spc="75" dirty="0">
                <a:solidFill>
                  <a:srgbClr val="FFFFFF"/>
                </a:solidFill>
                <a:latin typeface="Trebuchet MS"/>
                <a:cs typeface="Trebuchet MS"/>
              </a:rPr>
              <a:t>High</a:t>
            </a:r>
            <a:r>
              <a:rPr sz="1400" b="1" spc="-60" dirty="0">
                <a:solidFill>
                  <a:srgbClr val="FFFFFF"/>
                </a:solidFill>
                <a:latin typeface="Trebuchet MS"/>
                <a:cs typeface="Trebuchet MS"/>
              </a:rPr>
              <a:t> </a:t>
            </a:r>
            <a:r>
              <a:rPr sz="1400" b="1" spc="15" dirty="0">
                <a:solidFill>
                  <a:srgbClr val="FFFFFF"/>
                </a:solidFill>
                <a:latin typeface="Trebuchet MS"/>
                <a:cs typeface="Trebuchet MS"/>
              </a:rPr>
              <a:t>Reliability  </a:t>
            </a:r>
            <a:r>
              <a:rPr sz="1400" b="1" spc="50" dirty="0">
                <a:solidFill>
                  <a:srgbClr val="FFFFFF"/>
                </a:solidFill>
                <a:latin typeface="Trebuchet MS"/>
                <a:cs typeface="Trebuchet MS"/>
              </a:rPr>
              <a:t>and</a:t>
            </a:r>
            <a:endParaRPr sz="1400">
              <a:latin typeface="Trebuchet MS"/>
              <a:cs typeface="Trebuchet MS"/>
            </a:endParaRPr>
          </a:p>
          <a:p>
            <a:pPr marL="12700">
              <a:lnSpc>
                <a:spcPct val="100000"/>
              </a:lnSpc>
            </a:pPr>
            <a:r>
              <a:rPr sz="1400" b="1" spc="15" dirty="0">
                <a:solidFill>
                  <a:srgbClr val="FFFFFF"/>
                </a:solidFill>
                <a:latin typeface="Trebuchet MS"/>
                <a:cs typeface="Trebuchet MS"/>
              </a:rPr>
              <a:t>Fault</a:t>
            </a:r>
            <a:r>
              <a:rPr sz="1400" b="1" spc="-20" dirty="0">
                <a:solidFill>
                  <a:srgbClr val="FFFFFF"/>
                </a:solidFill>
                <a:latin typeface="Trebuchet MS"/>
                <a:cs typeface="Trebuchet MS"/>
              </a:rPr>
              <a:t> </a:t>
            </a:r>
            <a:r>
              <a:rPr sz="1400" b="1" spc="5" dirty="0">
                <a:solidFill>
                  <a:srgbClr val="FFFFFF"/>
                </a:solidFill>
                <a:latin typeface="Trebuchet MS"/>
                <a:cs typeface="Trebuchet MS"/>
              </a:rPr>
              <a:t>Tolerance</a:t>
            </a:r>
            <a:endParaRPr sz="1400">
              <a:latin typeface="Trebuchet MS"/>
              <a:cs typeface="Trebuchet MS"/>
            </a:endParaRPr>
          </a:p>
        </p:txBody>
      </p:sp>
      <p:sp>
        <p:nvSpPr>
          <p:cNvPr id="10" name="object 10"/>
          <p:cNvSpPr txBox="1"/>
          <p:nvPr/>
        </p:nvSpPr>
        <p:spPr>
          <a:xfrm>
            <a:off x="4437127" y="5863844"/>
            <a:ext cx="230504" cy="452120"/>
          </a:xfrm>
          <a:prstGeom prst="rect">
            <a:avLst/>
          </a:prstGeom>
        </p:spPr>
        <p:txBody>
          <a:bodyPr vert="horz" wrap="square" lIns="0" tIns="12065" rIns="0" bIns="0" rtlCol="0">
            <a:spAutoFit/>
          </a:bodyPr>
          <a:lstStyle/>
          <a:p>
            <a:pPr marL="12700">
              <a:lnSpc>
                <a:spcPct val="100000"/>
              </a:lnSpc>
              <a:spcBef>
                <a:spcPts val="95"/>
              </a:spcBef>
            </a:pPr>
            <a:r>
              <a:rPr sz="2800" b="1" spc="-30" dirty="0">
                <a:solidFill>
                  <a:srgbClr val="BEBEBE"/>
                </a:solidFill>
                <a:latin typeface="Trebuchet MS"/>
                <a:cs typeface="Trebuchet MS"/>
              </a:rPr>
              <a:t>1</a:t>
            </a:r>
            <a:endParaRPr sz="2800">
              <a:latin typeface="Trebuchet MS"/>
              <a:cs typeface="Trebuchet MS"/>
            </a:endParaRPr>
          </a:p>
        </p:txBody>
      </p:sp>
      <p:grpSp>
        <p:nvGrpSpPr>
          <p:cNvPr id="11" name="object 11"/>
          <p:cNvGrpSpPr/>
          <p:nvPr/>
        </p:nvGrpSpPr>
        <p:grpSpPr>
          <a:xfrm>
            <a:off x="6163056" y="3474720"/>
            <a:ext cx="1818639" cy="2926080"/>
            <a:chOff x="4268723" y="2849879"/>
            <a:chExt cx="1818639" cy="2926080"/>
          </a:xfrm>
        </p:grpSpPr>
        <p:sp>
          <p:nvSpPr>
            <p:cNvPr id="12" name="object 12"/>
            <p:cNvSpPr/>
            <p:nvPr/>
          </p:nvSpPr>
          <p:spPr>
            <a:xfrm>
              <a:off x="4306823" y="2887979"/>
              <a:ext cx="1742439" cy="2849880"/>
            </a:xfrm>
            <a:custGeom>
              <a:avLst/>
              <a:gdLst/>
              <a:ahLst/>
              <a:cxnLst/>
              <a:rect l="l" t="t" r="r" b="b"/>
              <a:pathLst>
                <a:path w="1742439" h="2849879">
                  <a:moveTo>
                    <a:pt x="0" y="290322"/>
                  </a:moveTo>
                  <a:lnTo>
                    <a:pt x="3798" y="243215"/>
                  </a:lnTo>
                  <a:lnTo>
                    <a:pt x="14794" y="198534"/>
                  </a:lnTo>
                  <a:lnTo>
                    <a:pt x="32393" y="156875"/>
                  </a:lnTo>
                  <a:lnTo>
                    <a:pt x="55997" y="118835"/>
                  </a:lnTo>
                  <a:lnTo>
                    <a:pt x="85010" y="85010"/>
                  </a:lnTo>
                  <a:lnTo>
                    <a:pt x="118835" y="55997"/>
                  </a:lnTo>
                  <a:lnTo>
                    <a:pt x="156875" y="32393"/>
                  </a:lnTo>
                  <a:lnTo>
                    <a:pt x="198534" y="14794"/>
                  </a:lnTo>
                  <a:lnTo>
                    <a:pt x="243215" y="3798"/>
                  </a:lnTo>
                  <a:lnTo>
                    <a:pt x="290322" y="0"/>
                  </a:lnTo>
                  <a:lnTo>
                    <a:pt x="1451610" y="0"/>
                  </a:lnTo>
                  <a:lnTo>
                    <a:pt x="1498685" y="3798"/>
                  </a:lnTo>
                  <a:lnTo>
                    <a:pt x="1543348" y="14794"/>
                  </a:lnTo>
                  <a:lnTo>
                    <a:pt x="1585000" y="32393"/>
                  </a:lnTo>
                  <a:lnTo>
                    <a:pt x="1623041" y="55997"/>
                  </a:lnTo>
                  <a:lnTo>
                    <a:pt x="1656873" y="85010"/>
                  </a:lnTo>
                  <a:lnTo>
                    <a:pt x="1685897" y="118835"/>
                  </a:lnTo>
                  <a:lnTo>
                    <a:pt x="1709514" y="156875"/>
                  </a:lnTo>
                  <a:lnTo>
                    <a:pt x="1727124" y="198534"/>
                  </a:lnTo>
                  <a:lnTo>
                    <a:pt x="1738130" y="243215"/>
                  </a:lnTo>
                  <a:lnTo>
                    <a:pt x="1741931" y="290322"/>
                  </a:lnTo>
                  <a:lnTo>
                    <a:pt x="1741931" y="2559558"/>
                  </a:lnTo>
                  <a:lnTo>
                    <a:pt x="1738130" y="2606649"/>
                  </a:lnTo>
                  <a:lnTo>
                    <a:pt x="1727124" y="2651321"/>
                  </a:lnTo>
                  <a:lnTo>
                    <a:pt x="1709514" y="2692976"/>
                  </a:lnTo>
                  <a:lnTo>
                    <a:pt x="1685897" y="2731017"/>
                  </a:lnTo>
                  <a:lnTo>
                    <a:pt x="1656873" y="2764845"/>
                  </a:lnTo>
                  <a:lnTo>
                    <a:pt x="1623041" y="2793863"/>
                  </a:lnTo>
                  <a:lnTo>
                    <a:pt x="1585000" y="2817474"/>
                  </a:lnTo>
                  <a:lnTo>
                    <a:pt x="1543348" y="2835078"/>
                  </a:lnTo>
                  <a:lnTo>
                    <a:pt x="1498685" y="2846080"/>
                  </a:lnTo>
                  <a:lnTo>
                    <a:pt x="1451610" y="2849880"/>
                  </a:lnTo>
                  <a:lnTo>
                    <a:pt x="290322" y="2849880"/>
                  </a:lnTo>
                  <a:lnTo>
                    <a:pt x="243215" y="2846080"/>
                  </a:lnTo>
                  <a:lnTo>
                    <a:pt x="198534" y="2835078"/>
                  </a:lnTo>
                  <a:lnTo>
                    <a:pt x="156875" y="2817474"/>
                  </a:lnTo>
                  <a:lnTo>
                    <a:pt x="118835" y="2793863"/>
                  </a:lnTo>
                  <a:lnTo>
                    <a:pt x="85010" y="2764845"/>
                  </a:lnTo>
                  <a:lnTo>
                    <a:pt x="55997" y="2731017"/>
                  </a:lnTo>
                  <a:lnTo>
                    <a:pt x="32393" y="2692976"/>
                  </a:lnTo>
                  <a:lnTo>
                    <a:pt x="14794" y="2651321"/>
                  </a:lnTo>
                  <a:lnTo>
                    <a:pt x="3798" y="2606649"/>
                  </a:lnTo>
                  <a:lnTo>
                    <a:pt x="0" y="2559558"/>
                  </a:lnTo>
                  <a:lnTo>
                    <a:pt x="0" y="290322"/>
                  </a:lnTo>
                  <a:close/>
                </a:path>
              </a:pathLst>
            </a:custGeom>
            <a:ln w="76200">
              <a:solidFill>
                <a:srgbClr val="BEBEBE"/>
              </a:solidFill>
            </a:ln>
          </p:spPr>
          <p:txBody>
            <a:bodyPr wrap="square" lIns="0" tIns="0" rIns="0" bIns="0" rtlCol="0"/>
            <a:lstStyle/>
            <a:p>
              <a:endParaRPr/>
            </a:p>
          </p:txBody>
        </p:sp>
        <p:sp>
          <p:nvSpPr>
            <p:cNvPr id="13" name="object 13"/>
            <p:cNvSpPr/>
            <p:nvPr/>
          </p:nvSpPr>
          <p:spPr>
            <a:xfrm>
              <a:off x="4387595" y="2955035"/>
              <a:ext cx="1580515" cy="668020"/>
            </a:xfrm>
            <a:custGeom>
              <a:avLst/>
              <a:gdLst/>
              <a:ahLst/>
              <a:cxnLst/>
              <a:rect l="l" t="t" r="r" b="b"/>
              <a:pathLst>
                <a:path w="1580514" h="668020">
                  <a:moveTo>
                    <a:pt x="1416812" y="0"/>
                  </a:moveTo>
                  <a:lnTo>
                    <a:pt x="163575" y="0"/>
                  </a:lnTo>
                  <a:lnTo>
                    <a:pt x="120106" y="5846"/>
                  </a:lnTo>
                  <a:lnTo>
                    <a:pt x="81035" y="22342"/>
                  </a:lnTo>
                  <a:lnTo>
                    <a:pt x="47926" y="47926"/>
                  </a:lnTo>
                  <a:lnTo>
                    <a:pt x="22342" y="81035"/>
                  </a:lnTo>
                  <a:lnTo>
                    <a:pt x="5846" y="120106"/>
                  </a:lnTo>
                  <a:lnTo>
                    <a:pt x="0" y="163575"/>
                  </a:lnTo>
                  <a:lnTo>
                    <a:pt x="0" y="503936"/>
                  </a:lnTo>
                  <a:lnTo>
                    <a:pt x="5846" y="547405"/>
                  </a:lnTo>
                  <a:lnTo>
                    <a:pt x="22342" y="586476"/>
                  </a:lnTo>
                  <a:lnTo>
                    <a:pt x="47926" y="619585"/>
                  </a:lnTo>
                  <a:lnTo>
                    <a:pt x="81035" y="645169"/>
                  </a:lnTo>
                  <a:lnTo>
                    <a:pt x="120106" y="661665"/>
                  </a:lnTo>
                  <a:lnTo>
                    <a:pt x="163575" y="667512"/>
                  </a:lnTo>
                  <a:lnTo>
                    <a:pt x="1416812" y="667512"/>
                  </a:lnTo>
                  <a:lnTo>
                    <a:pt x="1460281" y="661665"/>
                  </a:lnTo>
                  <a:lnTo>
                    <a:pt x="1499352" y="645169"/>
                  </a:lnTo>
                  <a:lnTo>
                    <a:pt x="1532461" y="619585"/>
                  </a:lnTo>
                  <a:lnTo>
                    <a:pt x="1558045" y="586476"/>
                  </a:lnTo>
                  <a:lnTo>
                    <a:pt x="1574541" y="547405"/>
                  </a:lnTo>
                  <a:lnTo>
                    <a:pt x="1580388" y="503936"/>
                  </a:lnTo>
                  <a:lnTo>
                    <a:pt x="1580388" y="163575"/>
                  </a:lnTo>
                  <a:lnTo>
                    <a:pt x="1574541" y="120106"/>
                  </a:lnTo>
                  <a:lnTo>
                    <a:pt x="1558045" y="81035"/>
                  </a:lnTo>
                  <a:lnTo>
                    <a:pt x="1532461" y="47926"/>
                  </a:lnTo>
                  <a:lnTo>
                    <a:pt x="1499352" y="22342"/>
                  </a:lnTo>
                  <a:lnTo>
                    <a:pt x="1460281" y="5846"/>
                  </a:lnTo>
                  <a:lnTo>
                    <a:pt x="1416812" y="0"/>
                  </a:lnTo>
                  <a:close/>
                </a:path>
              </a:pathLst>
            </a:custGeom>
            <a:solidFill>
              <a:srgbClr val="9BBA58"/>
            </a:solidFill>
          </p:spPr>
          <p:txBody>
            <a:bodyPr wrap="square" lIns="0" tIns="0" rIns="0" bIns="0" rtlCol="0"/>
            <a:lstStyle/>
            <a:p>
              <a:endParaRPr/>
            </a:p>
          </p:txBody>
        </p:sp>
      </p:grpSp>
      <p:sp>
        <p:nvSpPr>
          <p:cNvPr id="14" name="object 14"/>
          <p:cNvSpPr txBox="1"/>
          <p:nvPr/>
        </p:nvSpPr>
        <p:spPr>
          <a:xfrm>
            <a:off x="6688329" y="3786633"/>
            <a:ext cx="747395" cy="239395"/>
          </a:xfrm>
          <a:prstGeom prst="rect">
            <a:avLst/>
          </a:prstGeom>
        </p:spPr>
        <p:txBody>
          <a:bodyPr vert="horz" wrap="square" lIns="0" tIns="13335" rIns="0" bIns="0" rtlCol="0">
            <a:spAutoFit/>
          </a:bodyPr>
          <a:lstStyle/>
          <a:p>
            <a:pPr marL="12700">
              <a:lnSpc>
                <a:spcPct val="100000"/>
              </a:lnSpc>
              <a:spcBef>
                <a:spcPts val="105"/>
              </a:spcBef>
            </a:pPr>
            <a:r>
              <a:rPr sz="1400" b="1" spc="30" dirty="0">
                <a:solidFill>
                  <a:srgbClr val="FFFFFF"/>
                </a:solidFill>
                <a:latin typeface="Trebuchet MS"/>
                <a:cs typeface="Trebuchet MS"/>
              </a:rPr>
              <a:t>SQL-like</a:t>
            </a:r>
            <a:endParaRPr sz="1400">
              <a:latin typeface="Trebuchet MS"/>
              <a:cs typeface="Trebuchet MS"/>
            </a:endParaRPr>
          </a:p>
        </p:txBody>
      </p:sp>
      <p:sp>
        <p:nvSpPr>
          <p:cNvPr id="15" name="object 15"/>
          <p:cNvSpPr txBox="1"/>
          <p:nvPr/>
        </p:nvSpPr>
        <p:spPr>
          <a:xfrm>
            <a:off x="6412230" y="5866283"/>
            <a:ext cx="230504" cy="452120"/>
          </a:xfrm>
          <a:prstGeom prst="rect">
            <a:avLst/>
          </a:prstGeom>
        </p:spPr>
        <p:txBody>
          <a:bodyPr vert="horz" wrap="square" lIns="0" tIns="12065" rIns="0" bIns="0" rtlCol="0">
            <a:spAutoFit/>
          </a:bodyPr>
          <a:lstStyle/>
          <a:p>
            <a:pPr marL="12700">
              <a:lnSpc>
                <a:spcPct val="100000"/>
              </a:lnSpc>
              <a:spcBef>
                <a:spcPts val="95"/>
              </a:spcBef>
            </a:pPr>
            <a:r>
              <a:rPr sz="2800" b="1" spc="-30" dirty="0">
                <a:solidFill>
                  <a:srgbClr val="BEBEBE"/>
                </a:solidFill>
                <a:latin typeface="Trebuchet MS"/>
                <a:cs typeface="Trebuchet MS"/>
              </a:rPr>
              <a:t>2</a:t>
            </a:r>
            <a:endParaRPr sz="2800">
              <a:latin typeface="Trebuchet MS"/>
              <a:cs typeface="Trebuchet MS"/>
            </a:endParaRPr>
          </a:p>
        </p:txBody>
      </p:sp>
      <p:grpSp>
        <p:nvGrpSpPr>
          <p:cNvPr id="16" name="object 16"/>
          <p:cNvGrpSpPr/>
          <p:nvPr/>
        </p:nvGrpSpPr>
        <p:grpSpPr>
          <a:xfrm>
            <a:off x="8043673" y="3474720"/>
            <a:ext cx="1816735" cy="2926080"/>
            <a:chOff x="6149340" y="2849879"/>
            <a:chExt cx="1816735" cy="2926080"/>
          </a:xfrm>
        </p:grpSpPr>
        <p:sp>
          <p:nvSpPr>
            <p:cNvPr id="17" name="object 17"/>
            <p:cNvSpPr/>
            <p:nvPr/>
          </p:nvSpPr>
          <p:spPr>
            <a:xfrm>
              <a:off x="6187440" y="2887979"/>
              <a:ext cx="1740535" cy="2849880"/>
            </a:xfrm>
            <a:custGeom>
              <a:avLst/>
              <a:gdLst/>
              <a:ahLst/>
              <a:cxnLst/>
              <a:rect l="l" t="t" r="r" b="b"/>
              <a:pathLst>
                <a:path w="1740534" h="2849879">
                  <a:moveTo>
                    <a:pt x="0" y="290068"/>
                  </a:moveTo>
                  <a:lnTo>
                    <a:pt x="3797" y="243030"/>
                  </a:lnTo>
                  <a:lnTo>
                    <a:pt x="14792" y="198404"/>
                  </a:lnTo>
                  <a:lnTo>
                    <a:pt x="32386" y="156788"/>
                  </a:lnTo>
                  <a:lnTo>
                    <a:pt x="55981" y="118780"/>
                  </a:lnTo>
                  <a:lnTo>
                    <a:pt x="84978" y="84978"/>
                  </a:lnTo>
                  <a:lnTo>
                    <a:pt x="118780" y="55981"/>
                  </a:lnTo>
                  <a:lnTo>
                    <a:pt x="156788" y="32386"/>
                  </a:lnTo>
                  <a:lnTo>
                    <a:pt x="198404" y="14792"/>
                  </a:lnTo>
                  <a:lnTo>
                    <a:pt x="243030" y="3797"/>
                  </a:lnTo>
                  <a:lnTo>
                    <a:pt x="290068" y="0"/>
                  </a:lnTo>
                  <a:lnTo>
                    <a:pt x="1450339" y="0"/>
                  </a:lnTo>
                  <a:lnTo>
                    <a:pt x="1497377" y="3797"/>
                  </a:lnTo>
                  <a:lnTo>
                    <a:pt x="1542003" y="14792"/>
                  </a:lnTo>
                  <a:lnTo>
                    <a:pt x="1583619" y="32386"/>
                  </a:lnTo>
                  <a:lnTo>
                    <a:pt x="1621627" y="55981"/>
                  </a:lnTo>
                  <a:lnTo>
                    <a:pt x="1655429" y="84978"/>
                  </a:lnTo>
                  <a:lnTo>
                    <a:pt x="1684426" y="118780"/>
                  </a:lnTo>
                  <a:lnTo>
                    <a:pt x="1708021" y="156788"/>
                  </a:lnTo>
                  <a:lnTo>
                    <a:pt x="1725615" y="198404"/>
                  </a:lnTo>
                  <a:lnTo>
                    <a:pt x="1736610" y="243030"/>
                  </a:lnTo>
                  <a:lnTo>
                    <a:pt x="1740408" y="290068"/>
                  </a:lnTo>
                  <a:lnTo>
                    <a:pt x="1740408" y="2559812"/>
                  </a:lnTo>
                  <a:lnTo>
                    <a:pt x="1736610" y="2606861"/>
                  </a:lnTo>
                  <a:lnTo>
                    <a:pt x="1725615" y="2651495"/>
                  </a:lnTo>
                  <a:lnTo>
                    <a:pt x="1708021" y="2693113"/>
                  </a:lnTo>
                  <a:lnTo>
                    <a:pt x="1684426" y="2731121"/>
                  </a:lnTo>
                  <a:lnTo>
                    <a:pt x="1655429" y="2764920"/>
                  </a:lnTo>
                  <a:lnTo>
                    <a:pt x="1621627" y="2793913"/>
                  </a:lnTo>
                  <a:lnTo>
                    <a:pt x="1583619" y="2817502"/>
                  </a:lnTo>
                  <a:lnTo>
                    <a:pt x="1542003" y="2835091"/>
                  </a:lnTo>
                  <a:lnTo>
                    <a:pt x="1497377" y="2846083"/>
                  </a:lnTo>
                  <a:lnTo>
                    <a:pt x="1450339" y="2849880"/>
                  </a:lnTo>
                  <a:lnTo>
                    <a:pt x="290068" y="2849880"/>
                  </a:lnTo>
                  <a:lnTo>
                    <a:pt x="243030" y="2846083"/>
                  </a:lnTo>
                  <a:lnTo>
                    <a:pt x="198404" y="2835091"/>
                  </a:lnTo>
                  <a:lnTo>
                    <a:pt x="156788" y="2817502"/>
                  </a:lnTo>
                  <a:lnTo>
                    <a:pt x="118780" y="2793913"/>
                  </a:lnTo>
                  <a:lnTo>
                    <a:pt x="84978" y="2764920"/>
                  </a:lnTo>
                  <a:lnTo>
                    <a:pt x="55981" y="2731121"/>
                  </a:lnTo>
                  <a:lnTo>
                    <a:pt x="32386" y="2693113"/>
                  </a:lnTo>
                  <a:lnTo>
                    <a:pt x="14792" y="2651495"/>
                  </a:lnTo>
                  <a:lnTo>
                    <a:pt x="3797" y="2606861"/>
                  </a:lnTo>
                  <a:lnTo>
                    <a:pt x="0" y="2559812"/>
                  </a:lnTo>
                  <a:lnTo>
                    <a:pt x="0" y="290068"/>
                  </a:lnTo>
                  <a:close/>
                </a:path>
              </a:pathLst>
            </a:custGeom>
            <a:ln w="76199">
              <a:solidFill>
                <a:srgbClr val="BEBEBE"/>
              </a:solidFill>
            </a:ln>
          </p:spPr>
          <p:txBody>
            <a:bodyPr wrap="square" lIns="0" tIns="0" rIns="0" bIns="0" rtlCol="0"/>
            <a:lstStyle/>
            <a:p>
              <a:endParaRPr/>
            </a:p>
          </p:txBody>
        </p:sp>
        <p:sp>
          <p:nvSpPr>
            <p:cNvPr id="18" name="object 18"/>
            <p:cNvSpPr/>
            <p:nvPr/>
          </p:nvSpPr>
          <p:spPr>
            <a:xfrm>
              <a:off x="6268212" y="2964179"/>
              <a:ext cx="1580515" cy="650875"/>
            </a:xfrm>
            <a:custGeom>
              <a:avLst/>
              <a:gdLst/>
              <a:ahLst/>
              <a:cxnLst/>
              <a:rect l="l" t="t" r="r" b="b"/>
              <a:pathLst>
                <a:path w="1580515" h="650875">
                  <a:moveTo>
                    <a:pt x="1420876" y="0"/>
                  </a:moveTo>
                  <a:lnTo>
                    <a:pt x="159512" y="0"/>
                  </a:lnTo>
                  <a:lnTo>
                    <a:pt x="109077" y="8128"/>
                  </a:lnTo>
                  <a:lnTo>
                    <a:pt x="65288" y="30764"/>
                  </a:lnTo>
                  <a:lnTo>
                    <a:pt x="30764" y="65288"/>
                  </a:lnTo>
                  <a:lnTo>
                    <a:pt x="8127" y="109077"/>
                  </a:lnTo>
                  <a:lnTo>
                    <a:pt x="0" y="159512"/>
                  </a:lnTo>
                  <a:lnTo>
                    <a:pt x="0" y="491236"/>
                  </a:lnTo>
                  <a:lnTo>
                    <a:pt x="8128" y="541670"/>
                  </a:lnTo>
                  <a:lnTo>
                    <a:pt x="30764" y="585459"/>
                  </a:lnTo>
                  <a:lnTo>
                    <a:pt x="65288" y="619983"/>
                  </a:lnTo>
                  <a:lnTo>
                    <a:pt x="109077" y="642620"/>
                  </a:lnTo>
                  <a:lnTo>
                    <a:pt x="159512" y="650748"/>
                  </a:lnTo>
                  <a:lnTo>
                    <a:pt x="1420876" y="650748"/>
                  </a:lnTo>
                  <a:lnTo>
                    <a:pt x="1471310" y="642619"/>
                  </a:lnTo>
                  <a:lnTo>
                    <a:pt x="1515099" y="619983"/>
                  </a:lnTo>
                  <a:lnTo>
                    <a:pt x="1549623" y="585459"/>
                  </a:lnTo>
                  <a:lnTo>
                    <a:pt x="1572260" y="541670"/>
                  </a:lnTo>
                  <a:lnTo>
                    <a:pt x="1580388" y="491236"/>
                  </a:lnTo>
                  <a:lnTo>
                    <a:pt x="1580388" y="159512"/>
                  </a:lnTo>
                  <a:lnTo>
                    <a:pt x="1572260" y="109077"/>
                  </a:lnTo>
                  <a:lnTo>
                    <a:pt x="1549623" y="65288"/>
                  </a:lnTo>
                  <a:lnTo>
                    <a:pt x="1515099" y="30764"/>
                  </a:lnTo>
                  <a:lnTo>
                    <a:pt x="1471310" y="8127"/>
                  </a:lnTo>
                  <a:lnTo>
                    <a:pt x="1420876" y="0"/>
                  </a:lnTo>
                  <a:close/>
                </a:path>
              </a:pathLst>
            </a:custGeom>
            <a:solidFill>
              <a:srgbClr val="F79546"/>
            </a:solidFill>
          </p:spPr>
          <p:txBody>
            <a:bodyPr wrap="square" lIns="0" tIns="0" rIns="0" bIns="0" rtlCol="0"/>
            <a:lstStyle/>
            <a:p>
              <a:endParaRPr/>
            </a:p>
          </p:txBody>
        </p:sp>
      </p:grpSp>
      <p:sp>
        <p:nvSpPr>
          <p:cNvPr id="19" name="object 19"/>
          <p:cNvSpPr txBox="1"/>
          <p:nvPr/>
        </p:nvSpPr>
        <p:spPr>
          <a:xfrm>
            <a:off x="8487284" y="3786633"/>
            <a:ext cx="909955" cy="239395"/>
          </a:xfrm>
          <a:prstGeom prst="rect">
            <a:avLst/>
          </a:prstGeom>
        </p:spPr>
        <p:txBody>
          <a:bodyPr vert="horz" wrap="square" lIns="0" tIns="13335" rIns="0" bIns="0" rtlCol="0">
            <a:spAutoFit/>
          </a:bodyPr>
          <a:lstStyle/>
          <a:p>
            <a:pPr marL="12700">
              <a:lnSpc>
                <a:spcPct val="100000"/>
              </a:lnSpc>
              <a:spcBef>
                <a:spcPts val="105"/>
              </a:spcBef>
            </a:pPr>
            <a:r>
              <a:rPr sz="1400" b="1" spc="15" dirty="0">
                <a:solidFill>
                  <a:srgbClr val="FFFFFF"/>
                </a:solidFill>
                <a:latin typeface="Trebuchet MS"/>
                <a:cs typeface="Trebuchet MS"/>
              </a:rPr>
              <a:t>Scalability</a:t>
            </a:r>
            <a:endParaRPr sz="1400">
              <a:latin typeface="Trebuchet MS"/>
              <a:cs typeface="Trebuchet MS"/>
            </a:endParaRPr>
          </a:p>
        </p:txBody>
      </p:sp>
      <p:sp>
        <p:nvSpPr>
          <p:cNvPr id="20" name="object 20"/>
          <p:cNvSpPr txBox="1"/>
          <p:nvPr/>
        </p:nvSpPr>
        <p:spPr>
          <a:xfrm>
            <a:off x="8293100" y="5866283"/>
            <a:ext cx="230504" cy="452120"/>
          </a:xfrm>
          <a:prstGeom prst="rect">
            <a:avLst/>
          </a:prstGeom>
        </p:spPr>
        <p:txBody>
          <a:bodyPr vert="horz" wrap="square" lIns="0" tIns="12065" rIns="0" bIns="0" rtlCol="0">
            <a:spAutoFit/>
          </a:bodyPr>
          <a:lstStyle/>
          <a:p>
            <a:pPr marL="12700">
              <a:lnSpc>
                <a:spcPct val="100000"/>
              </a:lnSpc>
              <a:spcBef>
                <a:spcPts val="95"/>
              </a:spcBef>
            </a:pPr>
            <a:r>
              <a:rPr sz="2800" b="1" spc="-30" dirty="0">
                <a:solidFill>
                  <a:srgbClr val="BEBEBE"/>
                </a:solidFill>
                <a:latin typeface="Trebuchet MS"/>
                <a:cs typeface="Trebuchet MS"/>
              </a:rPr>
              <a:t>3</a:t>
            </a:r>
            <a:endParaRPr sz="2800">
              <a:latin typeface="Trebuchet MS"/>
              <a:cs typeface="Trebuchet MS"/>
            </a:endParaRPr>
          </a:p>
        </p:txBody>
      </p:sp>
      <p:grpSp>
        <p:nvGrpSpPr>
          <p:cNvPr id="21" name="object 21"/>
          <p:cNvGrpSpPr/>
          <p:nvPr/>
        </p:nvGrpSpPr>
        <p:grpSpPr>
          <a:xfrm>
            <a:off x="9976104" y="3462529"/>
            <a:ext cx="1816735" cy="2926080"/>
            <a:chOff x="8081771" y="2837688"/>
            <a:chExt cx="1816735" cy="2926080"/>
          </a:xfrm>
        </p:grpSpPr>
        <p:sp>
          <p:nvSpPr>
            <p:cNvPr id="22" name="object 22"/>
            <p:cNvSpPr/>
            <p:nvPr/>
          </p:nvSpPr>
          <p:spPr>
            <a:xfrm>
              <a:off x="8119871" y="2875788"/>
              <a:ext cx="1740535" cy="2849880"/>
            </a:xfrm>
            <a:custGeom>
              <a:avLst/>
              <a:gdLst/>
              <a:ahLst/>
              <a:cxnLst/>
              <a:rect l="l" t="t" r="r" b="b"/>
              <a:pathLst>
                <a:path w="1740534" h="2849879">
                  <a:moveTo>
                    <a:pt x="0" y="290067"/>
                  </a:moveTo>
                  <a:lnTo>
                    <a:pt x="3797" y="243030"/>
                  </a:lnTo>
                  <a:lnTo>
                    <a:pt x="14792" y="198404"/>
                  </a:lnTo>
                  <a:lnTo>
                    <a:pt x="32386" y="156788"/>
                  </a:lnTo>
                  <a:lnTo>
                    <a:pt x="55981" y="118780"/>
                  </a:lnTo>
                  <a:lnTo>
                    <a:pt x="84978" y="84978"/>
                  </a:lnTo>
                  <a:lnTo>
                    <a:pt x="118780" y="55981"/>
                  </a:lnTo>
                  <a:lnTo>
                    <a:pt x="156788" y="32386"/>
                  </a:lnTo>
                  <a:lnTo>
                    <a:pt x="198404" y="14792"/>
                  </a:lnTo>
                  <a:lnTo>
                    <a:pt x="243030" y="3797"/>
                  </a:lnTo>
                  <a:lnTo>
                    <a:pt x="290068" y="0"/>
                  </a:lnTo>
                  <a:lnTo>
                    <a:pt x="1450339" y="0"/>
                  </a:lnTo>
                  <a:lnTo>
                    <a:pt x="1497377" y="3797"/>
                  </a:lnTo>
                  <a:lnTo>
                    <a:pt x="1542003" y="14792"/>
                  </a:lnTo>
                  <a:lnTo>
                    <a:pt x="1583619" y="32386"/>
                  </a:lnTo>
                  <a:lnTo>
                    <a:pt x="1621627" y="55981"/>
                  </a:lnTo>
                  <a:lnTo>
                    <a:pt x="1655429" y="84978"/>
                  </a:lnTo>
                  <a:lnTo>
                    <a:pt x="1684426" y="118780"/>
                  </a:lnTo>
                  <a:lnTo>
                    <a:pt x="1708021" y="156788"/>
                  </a:lnTo>
                  <a:lnTo>
                    <a:pt x="1725615" y="198404"/>
                  </a:lnTo>
                  <a:lnTo>
                    <a:pt x="1736610" y="243030"/>
                  </a:lnTo>
                  <a:lnTo>
                    <a:pt x="1740407" y="290067"/>
                  </a:lnTo>
                  <a:lnTo>
                    <a:pt x="1740407" y="2559812"/>
                  </a:lnTo>
                  <a:lnTo>
                    <a:pt x="1736610" y="2606861"/>
                  </a:lnTo>
                  <a:lnTo>
                    <a:pt x="1725615" y="2651495"/>
                  </a:lnTo>
                  <a:lnTo>
                    <a:pt x="1708021" y="2693113"/>
                  </a:lnTo>
                  <a:lnTo>
                    <a:pt x="1684426" y="2731121"/>
                  </a:lnTo>
                  <a:lnTo>
                    <a:pt x="1655429" y="2764920"/>
                  </a:lnTo>
                  <a:lnTo>
                    <a:pt x="1621627" y="2793913"/>
                  </a:lnTo>
                  <a:lnTo>
                    <a:pt x="1583619" y="2817502"/>
                  </a:lnTo>
                  <a:lnTo>
                    <a:pt x="1542003" y="2835091"/>
                  </a:lnTo>
                  <a:lnTo>
                    <a:pt x="1497377" y="2846083"/>
                  </a:lnTo>
                  <a:lnTo>
                    <a:pt x="1450339" y="2849880"/>
                  </a:lnTo>
                  <a:lnTo>
                    <a:pt x="290068" y="2849880"/>
                  </a:lnTo>
                  <a:lnTo>
                    <a:pt x="243030" y="2846083"/>
                  </a:lnTo>
                  <a:lnTo>
                    <a:pt x="198404" y="2835091"/>
                  </a:lnTo>
                  <a:lnTo>
                    <a:pt x="156788" y="2817502"/>
                  </a:lnTo>
                  <a:lnTo>
                    <a:pt x="118780" y="2793913"/>
                  </a:lnTo>
                  <a:lnTo>
                    <a:pt x="84978" y="2764920"/>
                  </a:lnTo>
                  <a:lnTo>
                    <a:pt x="55981" y="2731121"/>
                  </a:lnTo>
                  <a:lnTo>
                    <a:pt x="32386" y="2693113"/>
                  </a:lnTo>
                  <a:lnTo>
                    <a:pt x="14792" y="2651495"/>
                  </a:lnTo>
                  <a:lnTo>
                    <a:pt x="3797" y="2606861"/>
                  </a:lnTo>
                  <a:lnTo>
                    <a:pt x="0" y="2559812"/>
                  </a:lnTo>
                  <a:lnTo>
                    <a:pt x="0" y="290067"/>
                  </a:lnTo>
                  <a:close/>
                </a:path>
              </a:pathLst>
            </a:custGeom>
            <a:ln w="76200">
              <a:solidFill>
                <a:srgbClr val="BEBEBE"/>
              </a:solidFill>
            </a:ln>
          </p:spPr>
          <p:txBody>
            <a:bodyPr wrap="square" lIns="0" tIns="0" rIns="0" bIns="0" rtlCol="0"/>
            <a:lstStyle/>
            <a:p>
              <a:endParaRPr/>
            </a:p>
          </p:txBody>
        </p:sp>
        <p:sp>
          <p:nvSpPr>
            <p:cNvPr id="23" name="object 23"/>
            <p:cNvSpPr/>
            <p:nvPr/>
          </p:nvSpPr>
          <p:spPr>
            <a:xfrm>
              <a:off x="8200643" y="2955036"/>
              <a:ext cx="1579245" cy="668020"/>
            </a:xfrm>
            <a:custGeom>
              <a:avLst/>
              <a:gdLst/>
              <a:ahLst/>
              <a:cxnLst/>
              <a:rect l="l" t="t" r="r" b="b"/>
              <a:pathLst>
                <a:path w="1579245" h="668020">
                  <a:moveTo>
                    <a:pt x="1415287" y="0"/>
                  </a:moveTo>
                  <a:lnTo>
                    <a:pt x="163575" y="0"/>
                  </a:lnTo>
                  <a:lnTo>
                    <a:pt x="120106" y="5846"/>
                  </a:lnTo>
                  <a:lnTo>
                    <a:pt x="81035" y="22342"/>
                  </a:lnTo>
                  <a:lnTo>
                    <a:pt x="47926" y="47926"/>
                  </a:lnTo>
                  <a:lnTo>
                    <a:pt x="22342" y="81035"/>
                  </a:lnTo>
                  <a:lnTo>
                    <a:pt x="5846" y="120106"/>
                  </a:lnTo>
                  <a:lnTo>
                    <a:pt x="0" y="163575"/>
                  </a:lnTo>
                  <a:lnTo>
                    <a:pt x="0" y="503936"/>
                  </a:lnTo>
                  <a:lnTo>
                    <a:pt x="5846" y="547405"/>
                  </a:lnTo>
                  <a:lnTo>
                    <a:pt x="22342" y="586476"/>
                  </a:lnTo>
                  <a:lnTo>
                    <a:pt x="47926" y="619585"/>
                  </a:lnTo>
                  <a:lnTo>
                    <a:pt x="81035" y="645169"/>
                  </a:lnTo>
                  <a:lnTo>
                    <a:pt x="120106" y="661665"/>
                  </a:lnTo>
                  <a:lnTo>
                    <a:pt x="163575" y="667512"/>
                  </a:lnTo>
                  <a:lnTo>
                    <a:pt x="1415287" y="667512"/>
                  </a:lnTo>
                  <a:lnTo>
                    <a:pt x="1458757" y="661665"/>
                  </a:lnTo>
                  <a:lnTo>
                    <a:pt x="1497828" y="645169"/>
                  </a:lnTo>
                  <a:lnTo>
                    <a:pt x="1530937" y="619585"/>
                  </a:lnTo>
                  <a:lnTo>
                    <a:pt x="1556521" y="586476"/>
                  </a:lnTo>
                  <a:lnTo>
                    <a:pt x="1573017" y="547405"/>
                  </a:lnTo>
                  <a:lnTo>
                    <a:pt x="1578863" y="503936"/>
                  </a:lnTo>
                  <a:lnTo>
                    <a:pt x="1578863" y="163575"/>
                  </a:lnTo>
                  <a:lnTo>
                    <a:pt x="1573017" y="120106"/>
                  </a:lnTo>
                  <a:lnTo>
                    <a:pt x="1556521" y="81035"/>
                  </a:lnTo>
                  <a:lnTo>
                    <a:pt x="1530937" y="47926"/>
                  </a:lnTo>
                  <a:lnTo>
                    <a:pt x="1497828" y="22342"/>
                  </a:lnTo>
                  <a:lnTo>
                    <a:pt x="1458757" y="5846"/>
                  </a:lnTo>
                  <a:lnTo>
                    <a:pt x="1415287" y="0"/>
                  </a:lnTo>
                  <a:close/>
                </a:path>
              </a:pathLst>
            </a:custGeom>
            <a:solidFill>
              <a:srgbClr val="8063A1"/>
            </a:solidFill>
          </p:spPr>
          <p:txBody>
            <a:bodyPr wrap="square" lIns="0" tIns="0" rIns="0" bIns="0" rtlCol="0"/>
            <a:lstStyle/>
            <a:p>
              <a:endParaRPr/>
            </a:p>
          </p:txBody>
        </p:sp>
      </p:grpSp>
      <p:sp>
        <p:nvSpPr>
          <p:cNvPr id="24" name="object 24"/>
          <p:cNvSpPr txBox="1"/>
          <p:nvPr/>
        </p:nvSpPr>
        <p:spPr>
          <a:xfrm>
            <a:off x="10286492" y="3786633"/>
            <a:ext cx="1176020" cy="239395"/>
          </a:xfrm>
          <a:prstGeom prst="rect">
            <a:avLst/>
          </a:prstGeom>
        </p:spPr>
        <p:txBody>
          <a:bodyPr vert="horz" wrap="square" lIns="0" tIns="13335" rIns="0" bIns="0" rtlCol="0">
            <a:spAutoFit/>
          </a:bodyPr>
          <a:lstStyle/>
          <a:p>
            <a:pPr marL="12700">
              <a:lnSpc>
                <a:spcPct val="100000"/>
              </a:lnSpc>
              <a:spcBef>
                <a:spcPts val="105"/>
              </a:spcBef>
            </a:pPr>
            <a:r>
              <a:rPr sz="1400" b="1" spc="50" dirty="0">
                <a:solidFill>
                  <a:srgbClr val="FFFFFF"/>
                </a:solidFill>
                <a:latin typeface="Trebuchet MS"/>
                <a:cs typeface="Trebuchet MS"/>
              </a:rPr>
              <a:t>Multiple</a:t>
            </a:r>
            <a:r>
              <a:rPr sz="1400" b="1" spc="-25" dirty="0">
                <a:solidFill>
                  <a:srgbClr val="FFFFFF"/>
                </a:solidFill>
                <a:latin typeface="Trebuchet MS"/>
                <a:cs typeface="Trebuchet MS"/>
              </a:rPr>
              <a:t> </a:t>
            </a:r>
            <a:r>
              <a:rPr sz="1400" b="1" spc="40" dirty="0">
                <a:solidFill>
                  <a:srgbClr val="FFFFFF"/>
                </a:solidFill>
                <a:latin typeface="Trebuchet MS"/>
                <a:cs typeface="Trebuchet MS"/>
              </a:rPr>
              <a:t>APIs</a:t>
            </a:r>
            <a:endParaRPr sz="1400">
              <a:latin typeface="Trebuchet MS"/>
              <a:cs typeface="Trebuchet MS"/>
            </a:endParaRPr>
          </a:p>
        </p:txBody>
      </p:sp>
      <p:sp>
        <p:nvSpPr>
          <p:cNvPr id="25" name="object 25"/>
          <p:cNvSpPr txBox="1"/>
          <p:nvPr/>
        </p:nvSpPr>
        <p:spPr>
          <a:xfrm>
            <a:off x="10225278" y="5853481"/>
            <a:ext cx="230504" cy="452120"/>
          </a:xfrm>
          <a:prstGeom prst="rect">
            <a:avLst/>
          </a:prstGeom>
        </p:spPr>
        <p:txBody>
          <a:bodyPr vert="horz" wrap="square" lIns="0" tIns="12065" rIns="0" bIns="0" rtlCol="0">
            <a:spAutoFit/>
          </a:bodyPr>
          <a:lstStyle/>
          <a:p>
            <a:pPr marL="12700">
              <a:lnSpc>
                <a:spcPct val="100000"/>
              </a:lnSpc>
              <a:spcBef>
                <a:spcPts val="95"/>
              </a:spcBef>
            </a:pPr>
            <a:r>
              <a:rPr sz="2800" b="1" spc="-30" dirty="0">
                <a:solidFill>
                  <a:srgbClr val="BEBEBE"/>
                </a:solidFill>
                <a:latin typeface="Trebuchet MS"/>
                <a:cs typeface="Trebuchet MS"/>
              </a:rPr>
              <a:t>4</a:t>
            </a:r>
            <a:endParaRPr sz="2800">
              <a:latin typeface="Trebuchet MS"/>
              <a:cs typeface="Trebuchet MS"/>
            </a:endParaRPr>
          </a:p>
        </p:txBody>
      </p:sp>
      <p:grpSp>
        <p:nvGrpSpPr>
          <p:cNvPr id="26" name="object 26"/>
          <p:cNvGrpSpPr/>
          <p:nvPr/>
        </p:nvGrpSpPr>
        <p:grpSpPr>
          <a:xfrm>
            <a:off x="5059681" y="2019301"/>
            <a:ext cx="5789930" cy="1564640"/>
            <a:chOff x="3165348" y="1394460"/>
            <a:chExt cx="5789930" cy="1564640"/>
          </a:xfrm>
        </p:grpSpPr>
        <p:sp>
          <p:nvSpPr>
            <p:cNvPr id="27" name="object 27"/>
            <p:cNvSpPr/>
            <p:nvPr/>
          </p:nvSpPr>
          <p:spPr>
            <a:xfrm>
              <a:off x="3203448" y="2455163"/>
              <a:ext cx="5713730" cy="27305"/>
            </a:xfrm>
            <a:custGeom>
              <a:avLst/>
              <a:gdLst/>
              <a:ahLst/>
              <a:cxnLst/>
              <a:rect l="l" t="t" r="r" b="b"/>
              <a:pathLst>
                <a:path w="5713730" h="27305">
                  <a:moveTo>
                    <a:pt x="0" y="27050"/>
                  </a:moveTo>
                  <a:lnTo>
                    <a:pt x="5713603" y="0"/>
                  </a:lnTo>
                </a:path>
              </a:pathLst>
            </a:custGeom>
            <a:ln w="76200">
              <a:solidFill>
                <a:srgbClr val="BEBEBE"/>
              </a:solidFill>
            </a:ln>
          </p:spPr>
          <p:txBody>
            <a:bodyPr wrap="square" lIns="0" tIns="0" rIns="0" bIns="0" rtlCol="0"/>
            <a:lstStyle/>
            <a:p>
              <a:endParaRPr/>
            </a:p>
          </p:txBody>
        </p:sp>
        <p:sp>
          <p:nvSpPr>
            <p:cNvPr id="28" name="object 28"/>
            <p:cNvSpPr/>
            <p:nvPr/>
          </p:nvSpPr>
          <p:spPr>
            <a:xfrm>
              <a:off x="5090160" y="2506980"/>
              <a:ext cx="19050" cy="414020"/>
            </a:xfrm>
            <a:custGeom>
              <a:avLst/>
              <a:gdLst/>
              <a:ahLst/>
              <a:cxnLst/>
              <a:rect l="l" t="t" r="r" b="b"/>
              <a:pathLst>
                <a:path w="19050" h="414019">
                  <a:moveTo>
                    <a:pt x="9270" y="-38100"/>
                  </a:moveTo>
                  <a:lnTo>
                    <a:pt x="9270" y="452120"/>
                  </a:lnTo>
                </a:path>
              </a:pathLst>
            </a:custGeom>
            <a:ln w="94741">
              <a:solidFill>
                <a:srgbClr val="BEBEBE"/>
              </a:solidFill>
            </a:ln>
          </p:spPr>
          <p:txBody>
            <a:bodyPr wrap="square" lIns="0" tIns="0" rIns="0" bIns="0" rtlCol="0"/>
            <a:lstStyle/>
            <a:p>
              <a:endParaRPr/>
            </a:p>
          </p:txBody>
        </p:sp>
        <p:sp>
          <p:nvSpPr>
            <p:cNvPr id="29" name="object 29"/>
            <p:cNvSpPr/>
            <p:nvPr/>
          </p:nvSpPr>
          <p:spPr>
            <a:xfrm>
              <a:off x="7054595" y="2455163"/>
              <a:ext cx="1905" cy="433070"/>
            </a:xfrm>
            <a:custGeom>
              <a:avLst/>
              <a:gdLst/>
              <a:ahLst/>
              <a:cxnLst/>
              <a:rect l="l" t="t" r="r" b="b"/>
              <a:pathLst>
                <a:path w="1904" h="433069">
                  <a:moveTo>
                    <a:pt x="761" y="-38100"/>
                  </a:moveTo>
                  <a:lnTo>
                    <a:pt x="761" y="471170"/>
                  </a:lnTo>
                </a:path>
              </a:pathLst>
            </a:custGeom>
            <a:ln w="77724">
              <a:solidFill>
                <a:srgbClr val="BEBEBE"/>
              </a:solidFill>
            </a:ln>
          </p:spPr>
          <p:txBody>
            <a:bodyPr wrap="square" lIns="0" tIns="0" rIns="0" bIns="0" rtlCol="0"/>
            <a:lstStyle/>
            <a:p>
              <a:endParaRPr/>
            </a:p>
          </p:txBody>
        </p:sp>
        <p:sp>
          <p:nvSpPr>
            <p:cNvPr id="30" name="object 30"/>
            <p:cNvSpPr/>
            <p:nvPr/>
          </p:nvSpPr>
          <p:spPr>
            <a:xfrm>
              <a:off x="8892539" y="2456688"/>
              <a:ext cx="1905" cy="433070"/>
            </a:xfrm>
            <a:custGeom>
              <a:avLst/>
              <a:gdLst/>
              <a:ahLst/>
              <a:cxnLst/>
              <a:rect l="l" t="t" r="r" b="b"/>
              <a:pathLst>
                <a:path w="1904" h="433069">
                  <a:moveTo>
                    <a:pt x="761" y="-38100"/>
                  </a:moveTo>
                  <a:lnTo>
                    <a:pt x="761" y="471170"/>
                  </a:lnTo>
                </a:path>
              </a:pathLst>
            </a:custGeom>
            <a:ln w="77724">
              <a:solidFill>
                <a:srgbClr val="BEBEBE"/>
              </a:solidFill>
            </a:ln>
          </p:spPr>
          <p:txBody>
            <a:bodyPr wrap="square" lIns="0" tIns="0" rIns="0" bIns="0" rtlCol="0"/>
            <a:lstStyle/>
            <a:p>
              <a:endParaRPr/>
            </a:p>
          </p:txBody>
        </p:sp>
        <p:sp>
          <p:nvSpPr>
            <p:cNvPr id="31" name="object 31"/>
            <p:cNvSpPr/>
            <p:nvPr/>
          </p:nvSpPr>
          <p:spPr>
            <a:xfrm>
              <a:off x="6009132" y="2017776"/>
              <a:ext cx="0" cy="434975"/>
            </a:xfrm>
            <a:custGeom>
              <a:avLst/>
              <a:gdLst/>
              <a:ahLst/>
              <a:cxnLst/>
              <a:rect l="l" t="t" r="r" b="b"/>
              <a:pathLst>
                <a:path h="434975">
                  <a:moveTo>
                    <a:pt x="0" y="0"/>
                  </a:moveTo>
                  <a:lnTo>
                    <a:pt x="0" y="434721"/>
                  </a:lnTo>
                </a:path>
              </a:pathLst>
            </a:custGeom>
            <a:ln w="76200">
              <a:solidFill>
                <a:srgbClr val="BEBEBE"/>
              </a:solidFill>
            </a:ln>
          </p:spPr>
          <p:txBody>
            <a:bodyPr wrap="square" lIns="0" tIns="0" rIns="0" bIns="0" rtlCol="0"/>
            <a:lstStyle/>
            <a:p>
              <a:endParaRPr/>
            </a:p>
          </p:txBody>
        </p:sp>
        <p:sp>
          <p:nvSpPr>
            <p:cNvPr id="32" name="object 32"/>
            <p:cNvSpPr/>
            <p:nvPr/>
          </p:nvSpPr>
          <p:spPr>
            <a:xfrm>
              <a:off x="3973830" y="1413510"/>
              <a:ext cx="4185285" cy="617220"/>
            </a:xfrm>
            <a:custGeom>
              <a:avLst/>
              <a:gdLst/>
              <a:ahLst/>
              <a:cxnLst/>
              <a:rect l="l" t="t" r="r" b="b"/>
              <a:pathLst>
                <a:path w="4185284" h="617219">
                  <a:moveTo>
                    <a:pt x="3876294" y="0"/>
                  </a:moveTo>
                  <a:lnTo>
                    <a:pt x="308610" y="0"/>
                  </a:lnTo>
                  <a:lnTo>
                    <a:pt x="263007" y="3346"/>
                  </a:lnTo>
                  <a:lnTo>
                    <a:pt x="219481" y="13066"/>
                  </a:lnTo>
                  <a:lnTo>
                    <a:pt x="178510" y="28684"/>
                  </a:lnTo>
                  <a:lnTo>
                    <a:pt x="140571" y="49720"/>
                  </a:lnTo>
                  <a:lnTo>
                    <a:pt x="106141" y="75699"/>
                  </a:lnTo>
                  <a:lnTo>
                    <a:pt x="75699" y="106141"/>
                  </a:lnTo>
                  <a:lnTo>
                    <a:pt x="49720" y="140571"/>
                  </a:lnTo>
                  <a:lnTo>
                    <a:pt x="28684" y="178510"/>
                  </a:lnTo>
                  <a:lnTo>
                    <a:pt x="13066" y="219481"/>
                  </a:lnTo>
                  <a:lnTo>
                    <a:pt x="3346" y="263007"/>
                  </a:lnTo>
                  <a:lnTo>
                    <a:pt x="0" y="308610"/>
                  </a:lnTo>
                  <a:lnTo>
                    <a:pt x="3346" y="354212"/>
                  </a:lnTo>
                  <a:lnTo>
                    <a:pt x="13066" y="397738"/>
                  </a:lnTo>
                  <a:lnTo>
                    <a:pt x="28684" y="438709"/>
                  </a:lnTo>
                  <a:lnTo>
                    <a:pt x="49720" y="476648"/>
                  </a:lnTo>
                  <a:lnTo>
                    <a:pt x="75699" y="511078"/>
                  </a:lnTo>
                  <a:lnTo>
                    <a:pt x="106141" y="541520"/>
                  </a:lnTo>
                  <a:lnTo>
                    <a:pt x="140571" y="567499"/>
                  </a:lnTo>
                  <a:lnTo>
                    <a:pt x="178510" y="588535"/>
                  </a:lnTo>
                  <a:lnTo>
                    <a:pt x="219481" y="604153"/>
                  </a:lnTo>
                  <a:lnTo>
                    <a:pt x="263007" y="613873"/>
                  </a:lnTo>
                  <a:lnTo>
                    <a:pt x="308610" y="617219"/>
                  </a:lnTo>
                  <a:lnTo>
                    <a:pt x="3876294" y="617219"/>
                  </a:lnTo>
                  <a:lnTo>
                    <a:pt x="3921896" y="613873"/>
                  </a:lnTo>
                  <a:lnTo>
                    <a:pt x="3965422" y="604153"/>
                  </a:lnTo>
                  <a:lnTo>
                    <a:pt x="4006393" y="588535"/>
                  </a:lnTo>
                  <a:lnTo>
                    <a:pt x="4044332" y="567499"/>
                  </a:lnTo>
                  <a:lnTo>
                    <a:pt x="4078762" y="541520"/>
                  </a:lnTo>
                  <a:lnTo>
                    <a:pt x="4109204" y="511078"/>
                  </a:lnTo>
                  <a:lnTo>
                    <a:pt x="4135183" y="476648"/>
                  </a:lnTo>
                  <a:lnTo>
                    <a:pt x="4156219" y="438709"/>
                  </a:lnTo>
                  <a:lnTo>
                    <a:pt x="4171837" y="397738"/>
                  </a:lnTo>
                  <a:lnTo>
                    <a:pt x="4181557" y="354212"/>
                  </a:lnTo>
                  <a:lnTo>
                    <a:pt x="4184904" y="308610"/>
                  </a:lnTo>
                  <a:lnTo>
                    <a:pt x="4181557" y="263007"/>
                  </a:lnTo>
                  <a:lnTo>
                    <a:pt x="4171837" y="219481"/>
                  </a:lnTo>
                  <a:lnTo>
                    <a:pt x="4156219" y="178510"/>
                  </a:lnTo>
                  <a:lnTo>
                    <a:pt x="4135183" y="140571"/>
                  </a:lnTo>
                  <a:lnTo>
                    <a:pt x="4109204" y="106141"/>
                  </a:lnTo>
                  <a:lnTo>
                    <a:pt x="4078762" y="75699"/>
                  </a:lnTo>
                  <a:lnTo>
                    <a:pt x="4044332" y="49720"/>
                  </a:lnTo>
                  <a:lnTo>
                    <a:pt x="4006393" y="28684"/>
                  </a:lnTo>
                  <a:lnTo>
                    <a:pt x="3965422" y="13066"/>
                  </a:lnTo>
                  <a:lnTo>
                    <a:pt x="3921896" y="3346"/>
                  </a:lnTo>
                  <a:lnTo>
                    <a:pt x="3876294" y="0"/>
                  </a:lnTo>
                  <a:close/>
                </a:path>
              </a:pathLst>
            </a:custGeom>
            <a:solidFill>
              <a:srgbClr val="FFFFFF">
                <a:alpha val="78823"/>
              </a:srgbClr>
            </a:solidFill>
          </p:spPr>
          <p:txBody>
            <a:bodyPr wrap="square" lIns="0" tIns="0" rIns="0" bIns="0" rtlCol="0"/>
            <a:lstStyle/>
            <a:p>
              <a:endParaRPr/>
            </a:p>
          </p:txBody>
        </p:sp>
        <p:sp>
          <p:nvSpPr>
            <p:cNvPr id="33" name="object 33"/>
            <p:cNvSpPr/>
            <p:nvPr/>
          </p:nvSpPr>
          <p:spPr>
            <a:xfrm>
              <a:off x="3973830" y="1413510"/>
              <a:ext cx="4185285" cy="617220"/>
            </a:xfrm>
            <a:custGeom>
              <a:avLst/>
              <a:gdLst/>
              <a:ahLst/>
              <a:cxnLst/>
              <a:rect l="l" t="t" r="r" b="b"/>
              <a:pathLst>
                <a:path w="4185284" h="617219">
                  <a:moveTo>
                    <a:pt x="0" y="308610"/>
                  </a:moveTo>
                  <a:lnTo>
                    <a:pt x="3346" y="263007"/>
                  </a:lnTo>
                  <a:lnTo>
                    <a:pt x="13066" y="219481"/>
                  </a:lnTo>
                  <a:lnTo>
                    <a:pt x="28684" y="178510"/>
                  </a:lnTo>
                  <a:lnTo>
                    <a:pt x="49720" y="140571"/>
                  </a:lnTo>
                  <a:lnTo>
                    <a:pt x="75699" y="106141"/>
                  </a:lnTo>
                  <a:lnTo>
                    <a:pt x="106141" y="75699"/>
                  </a:lnTo>
                  <a:lnTo>
                    <a:pt x="140571" y="49720"/>
                  </a:lnTo>
                  <a:lnTo>
                    <a:pt x="178510" y="28684"/>
                  </a:lnTo>
                  <a:lnTo>
                    <a:pt x="219481" y="13066"/>
                  </a:lnTo>
                  <a:lnTo>
                    <a:pt x="263007" y="3346"/>
                  </a:lnTo>
                  <a:lnTo>
                    <a:pt x="308610" y="0"/>
                  </a:lnTo>
                  <a:lnTo>
                    <a:pt x="3876294" y="0"/>
                  </a:lnTo>
                  <a:lnTo>
                    <a:pt x="3921896" y="3346"/>
                  </a:lnTo>
                  <a:lnTo>
                    <a:pt x="3965422" y="13066"/>
                  </a:lnTo>
                  <a:lnTo>
                    <a:pt x="4006393" y="28684"/>
                  </a:lnTo>
                  <a:lnTo>
                    <a:pt x="4044332" y="49720"/>
                  </a:lnTo>
                  <a:lnTo>
                    <a:pt x="4078762" y="75699"/>
                  </a:lnTo>
                  <a:lnTo>
                    <a:pt x="4109204" y="106141"/>
                  </a:lnTo>
                  <a:lnTo>
                    <a:pt x="4135183" y="140571"/>
                  </a:lnTo>
                  <a:lnTo>
                    <a:pt x="4156219" y="178510"/>
                  </a:lnTo>
                  <a:lnTo>
                    <a:pt x="4171837" y="219481"/>
                  </a:lnTo>
                  <a:lnTo>
                    <a:pt x="4181557" y="263007"/>
                  </a:lnTo>
                  <a:lnTo>
                    <a:pt x="4184904" y="308610"/>
                  </a:lnTo>
                  <a:lnTo>
                    <a:pt x="4181557" y="354212"/>
                  </a:lnTo>
                  <a:lnTo>
                    <a:pt x="4171837" y="397738"/>
                  </a:lnTo>
                  <a:lnTo>
                    <a:pt x="4156219" y="438709"/>
                  </a:lnTo>
                  <a:lnTo>
                    <a:pt x="4135183" y="476648"/>
                  </a:lnTo>
                  <a:lnTo>
                    <a:pt x="4109204" y="511078"/>
                  </a:lnTo>
                  <a:lnTo>
                    <a:pt x="4078762" y="541520"/>
                  </a:lnTo>
                  <a:lnTo>
                    <a:pt x="4044332" y="567499"/>
                  </a:lnTo>
                  <a:lnTo>
                    <a:pt x="4006393" y="588535"/>
                  </a:lnTo>
                  <a:lnTo>
                    <a:pt x="3965422" y="604153"/>
                  </a:lnTo>
                  <a:lnTo>
                    <a:pt x="3921896" y="613873"/>
                  </a:lnTo>
                  <a:lnTo>
                    <a:pt x="3876294" y="617219"/>
                  </a:lnTo>
                  <a:lnTo>
                    <a:pt x="308610" y="617219"/>
                  </a:lnTo>
                  <a:lnTo>
                    <a:pt x="263007" y="613873"/>
                  </a:lnTo>
                  <a:lnTo>
                    <a:pt x="219481" y="604153"/>
                  </a:lnTo>
                  <a:lnTo>
                    <a:pt x="178510" y="588535"/>
                  </a:lnTo>
                  <a:lnTo>
                    <a:pt x="140571" y="567499"/>
                  </a:lnTo>
                  <a:lnTo>
                    <a:pt x="106141" y="541520"/>
                  </a:lnTo>
                  <a:lnTo>
                    <a:pt x="75699" y="511078"/>
                  </a:lnTo>
                  <a:lnTo>
                    <a:pt x="49720" y="476648"/>
                  </a:lnTo>
                  <a:lnTo>
                    <a:pt x="28684" y="438709"/>
                  </a:lnTo>
                  <a:lnTo>
                    <a:pt x="13066" y="397738"/>
                  </a:lnTo>
                  <a:lnTo>
                    <a:pt x="3346" y="354212"/>
                  </a:lnTo>
                  <a:lnTo>
                    <a:pt x="0" y="308610"/>
                  </a:lnTo>
                  <a:close/>
                </a:path>
              </a:pathLst>
            </a:custGeom>
            <a:ln w="38100">
              <a:solidFill>
                <a:srgbClr val="990000"/>
              </a:solidFill>
            </a:ln>
          </p:spPr>
          <p:txBody>
            <a:bodyPr wrap="square" lIns="0" tIns="0" rIns="0" bIns="0" rtlCol="0"/>
            <a:lstStyle/>
            <a:p>
              <a:endParaRPr/>
            </a:p>
          </p:txBody>
        </p:sp>
      </p:grpSp>
      <p:sp>
        <p:nvSpPr>
          <p:cNvPr id="34" name="object 34"/>
          <p:cNvSpPr txBox="1"/>
          <p:nvPr/>
        </p:nvSpPr>
        <p:spPr>
          <a:xfrm>
            <a:off x="7162547" y="2162938"/>
            <a:ext cx="1597660" cy="360680"/>
          </a:xfrm>
          <a:prstGeom prst="rect">
            <a:avLst/>
          </a:prstGeom>
        </p:spPr>
        <p:txBody>
          <a:bodyPr vert="horz" wrap="square" lIns="0" tIns="12065" rIns="0" bIns="0" rtlCol="0">
            <a:spAutoFit/>
          </a:bodyPr>
          <a:lstStyle/>
          <a:p>
            <a:pPr marL="12700">
              <a:lnSpc>
                <a:spcPct val="100000"/>
              </a:lnSpc>
              <a:spcBef>
                <a:spcPts val="95"/>
              </a:spcBef>
            </a:pPr>
            <a:r>
              <a:rPr sz="2200" b="1" spc="70" dirty="0">
                <a:latin typeface="Trebuchet MS"/>
                <a:cs typeface="Trebuchet MS"/>
              </a:rPr>
              <a:t>Adva</a:t>
            </a:r>
            <a:r>
              <a:rPr sz="2200" b="1" spc="75" dirty="0">
                <a:latin typeface="Trebuchet MS"/>
                <a:cs typeface="Trebuchet MS"/>
              </a:rPr>
              <a:t>ntage</a:t>
            </a:r>
            <a:r>
              <a:rPr sz="2200" b="1" spc="25" dirty="0">
                <a:latin typeface="Trebuchet MS"/>
                <a:cs typeface="Trebuchet MS"/>
              </a:rPr>
              <a:t>s</a:t>
            </a:r>
            <a:endParaRPr sz="2200">
              <a:latin typeface="Trebuchet MS"/>
              <a:cs typeface="Trebuchet MS"/>
            </a:endParaRPr>
          </a:p>
        </p:txBody>
      </p:sp>
      <p:sp>
        <p:nvSpPr>
          <p:cNvPr id="35" name="object 35"/>
          <p:cNvSpPr txBox="1"/>
          <p:nvPr/>
        </p:nvSpPr>
        <p:spPr>
          <a:xfrm>
            <a:off x="6313679" y="4333113"/>
            <a:ext cx="1506220" cy="1092835"/>
          </a:xfrm>
          <a:prstGeom prst="rect">
            <a:avLst/>
          </a:prstGeom>
        </p:spPr>
        <p:txBody>
          <a:bodyPr vert="horz" wrap="square" lIns="0" tIns="12700" rIns="0" bIns="0" rtlCol="0">
            <a:spAutoFit/>
          </a:bodyPr>
          <a:lstStyle/>
          <a:p>
            <a:pPr marL="355600" indent="-342900">
              <a:lnSpc>
                <a:spcPct val="100000"/>
              </a:lnSpc>
              <a:spcBef>
                <a:spcPts val="100"/>
              </a:spcBef>
              <a:buAutoNum type="arabicPeriod"/>
              <a:tabLst>
                <a:tab pos="354965" algn="l"/>
                <a:tab pos="355600" algn="l"/>
              </a:tabLst>
            </a:pPr>
            <a:r>
              <a:rPr sz="1400" spc="25" dirty="0">
                <a:latin typeface="Trebuchet MS"/>
                <a:cs typeface="Trebuchet MS"/>
              </a:rPr>
              <a:t>SQL-like</a:t>
            </a:r>
            <a:endParaRPr sz="1400">
              <a:latin typeface="Trebuchet MS"/>
              <a:cs typeface="Trebuchet MS"/>
            </a:endParaRPr>
          </a:p>
          <a:p>
            <a:pPr marL="355600">
              <a:lnSpc>
                <a:spcPct val="100000"/>
              </a:lnSpc>
              <a:spcBef>
                <a:spcPts val="5"/>
              </a:spcBef>
            </a:pPr>
            <a:r>
              <a:rPr sz="1400" spc="5" dirty="0">
                <a:latin typeface="Trebuchet MS"/>
                <a:cs typeface="Trebuchet MS"/>
              </a:rPr>
              <a:t>syntax</a:t>
            </a:r>
            <a:endParaRPr sz="1400">
              <a:latin typeface="Trebuchet MS"/>
              <a:cs typeface="Trebuchet MS"/>
            </a:endParaRPr>
          </a:p>
          <a:p>
            <a:pPr marL="355600" marR="5080" indent="-342900">
              <a:lnSpc>
                <a:spcPct val="100000"/>
              </a:lnSpc>
              <a:buAutoNum type="arabicPeriod" startAt="2"/>
              <a:tabLst>
                <a:tab pos="354965" algn="l"/>
                <a:tab pos="355600" algn="l"/>
              </a:tabLst>
            </a:pPr>
            <a:r>
              <a:rPr sz="1400" spc="20" dirty="0">
                <a:latin typeface="Trebuchet MS"/>
                <a:cs typeface="Trebuchet MS"/>
              </a:rPr>
              <a:t>Large</a:t>
            </a:r>
            <a:r>
              <a:rPr sz="1400" spc="-80" dirty="0">
                <a:latin typeface="Trebuchet MS"/>
                <a:cs typeface="Trebuchet MS"/>
              </a:rPr>
              <a:t> </a:t>
            </a:r>
            <a:r>
              <a:rPr sz="1400" spc="25" dirty="0">
                <a:latin typeface="Trebuchet MS"/>
                <a:cs typeface="Trebuchet MS"/>
              </a:rPr>
              <a:t>number  </a:t>
            </a:r>
            <a:r>
              <a:rPr sz="1400" spc="10" dirty="0">
                <a:latin typeface="Trebuchet MS"/>
                <a:cs typeface="Trebuchet MS"/>
              </a:rPr>
              <a:t>of </a:t>
            </a:r>
            <a:r>
              <a:rPr sz="1400" dirty="0">
                <a:latin typeface="Trebuchet MS"/>
                <a:cs typeface="Trebuchet MS"/>
              </a:rPr>
              <a:t>built-in  </a:t>
            </a:r>
            <a:r>
              <a:rPr sz="1400" spc="5" dirty="0">
                <a:latin typeface="Trebuchet MS"/>
                <a:cs typeface="Trebuchet MS"/>
              </a:rPr>
              <a:t>functions</a:t>
            </a:r>
            <a:endParaRPr sz="1400">
              <a:latin typeface="Trebuchet MS"/>
              <a:cs typeface="Trebuchet MS"/>
            </a:endParaRPr>
          </a:p>
        </p:txBody>
      </p:sp>
      <p:sp>
        <p:nvSpPr>
          <p:cNvPr id="36" name="object 36"/>
          <p:cNvSpPr txBox="1"/>
          <p:nvPr/>
        </p:nvSpPr>
        <p:spPr>
          <a:xfrm>
            <a:off x="8185531" y="4333113"/>
            <a:ext cx="1410335" cy="1092835"/>
          </a:xfrm>
          <a:prstGeom prst="rect">
            <a:avLst/>
          </a:prstGeom>
        </p:spPr>
        <p:txBody>
          <a:bodyPr vert="horz" wrap="square" lIns="0" tIns="12700" rIns="0" bIns="0" rtlCol="0">
            <a:spAutoFit/>
          </a:bodyPr>
          <a:lstStyle/>
          <a:p>
            <a:pPr marL="355600" marR="5080" indent="-342900">
              <a:lnSpc>
                <a:spcPct val="100000"/>
              </a:lnSpc>
              <a:spcBef>
                <a:spcPts val="100"/>
              </a:spcBef>
              <a:buAutoNum type="arabicPeriod"/>
              <a:tabLst>
                <a:tab pos="354965" algn="l"/>
                <a:tab pos="355600" algn="l"/>
              </a:tabLst>
            </a:pPr>
            <a:r>
              <a:rPr sz="1400" spc="105" dirty="0">
                <a:latin typeface="Trebuchet MS"/>
                <a:cs typeface="Trebuchet MS"/>
              </a:rPr>
              <a:t>U</a:t>
            </a:r>
            <a:r>
              <a:rPr sz="1400" spc="15" dirty="0">
                <a:latin typeface="Trebuchet MS"/>
                <a:cs typeface="Trebuchet MS"/>
              </a:rPr>
              <a:t>s</a:t>
            </a:r>
            <a:r>
              <a:rPr sz="1400" spc="-30" dirty="0">
                <a:latin typeface="Trebuchet MS"/>
                <a:cs typeface="Trebuchet MS"/>
              </a:rPr>
              <a:t>e</a:t>
            </a:r>
            <a:r>
              <a:rPr sz="1400" spc="-15" dirty="0">
                <a:latin typeface="Trebuchet MS"/>
                <a:cs typeface="Trebuchet MS"/>
              </a:rPr>
              <a:t>r</a:t>
            </a:r>
            <a:r>
              <a:rPr sz="1400" spc="35" dirty="0">
                <a:latin typeface="Trebuchet MS"/>
                <a:cs typeface="Trebuchet MS"/>
              </a:rPr>
              <a:t>-</a:t>
            </a:r>
            <a:r>
              <a:rPr sz="1400" spc="-5" dirty="0">
                <a:latin typeface="Trebuchet MS"/>
                <a:cs typeface="Trebuchet MS"/>
              </a:rPr>
              <a:t>defined  </a:t>
            </a:r>
            <a:r>
              <a:rPr sz="1400" spc="15" dirty="0">
                <a:latin typeface="Trebuchet MS"/>
                <a:cs typeface="Trebuchet MS"/>
              </a:rPr>
              <a:t>storage  </a:t>
            </a:r>
            <a:r>
              <a:rPr sz="1400" spc="10" dirty="0">
                <a:latin typeface="Trebuchet MS"/>
                <a:cs typeface="Trebuchet MS"/>
              </a:rPr>
              <a:t>format</a:t>
            </a:r>
            <a:endParaRPr sz="1400">
              <a:latin typeface="Trebuchet MS"/>
              <a:cs typeface="Trebuchet MS"/>
            </a:endParaRPr>
          </a:p>
          <a:p>
            <a:pPr marL="355600" marR="5080" indent="-342900">
              <a:lnSpc>
                <a:spcPct val="100000"/>
              </a:lnSpc>
              <a:buAutoNum type="arabicPeriod"/>
              <a:tabLst>
                <a:tab pos="354965" algn="l"/>
                <a:tab pos="355600" algn="l"/>
              </a:tabLst>
            </a:pPr>
            <a:r>
              <a:rPr sz="1400" spc="105" dirty="0">
                <a:latin typeface="Trebuchet MS"/>
                <a:cs typeface="Trebuchet MS"/>
              </a:rPr>
              <a:t>U</a:t>
            </a:r>
            <a:r>
              <a:rPr sz="1400" spc="15" dirty="0">
                <a:latin typeface="Trebuchet MS"/>
                <a:cs typeface="Trebuchet MS"/>
              </a:rPr>
              <a:t>s</a:t>
            </a:r>
            <a:r>
              <a:rPr sz="1400" spc="-30" dirty="0">
                <a:latin typeface="Trebuchet MS"/>
                <a:cs typeface="Trebuchet MS"/>
              </a:rPr>
              <a:t>e</a:t>
            </a:r>
            <a:r>
              <a:rPr sz="1400" spc="-15" dirty="0">
                <a:latin typeface="Trebuchet MS"/>
                <a:cs typeface="Trebuchet MS"/>
              </a:rPr>
              <a:t>r</a:t>
            </a:r>
            <a:r>
              <a:rPr sz="1400" spc="35" dirty="0">
                <a:latin typeface="Trebuchet MS"/>
                <a:cs typeface="Trebuchet MS"/>
              </a:rPr>
              <a:t>-</a:t>
            </a:r>
            <a:r>
              <a:rPr sz="1400" spc="-5" dirty="0">
                <a:latin typeface="Trebuchet MS"/>
                <a:cs typeface="Trebuchet MS"/>
              </a:rPr>
              <a:t>defined  </a:t>
            </a:r>
            <a:r>
              <a:rPr sz="1400" spc="5" dirty="0">
                <a:latin typeface="Trebuchet MS"/>
                <a:cs typeface="Trebuchet MS"/>
              </a:rPr>
              <a:t>function</a:t>
            </a:r>
            <a:endParaRPr sz="1400">
              <a:latin typeface="Trebuchet MS"/>
              <a:cs typeface="Trebuchet MS"/>
            </a:endParaRPr>
          </a:p>
        </p:txBody>
      </p:sp>
      <p:sp>
        <p:nvSpPr>
          <p:cNvPr id="37" name="object 37"/>
          <p:cNvSpPr txBox="1"/>
          <p:nvPr/>
        </p:nvSpPr>
        <p:spPr>
          <a:xfrm>
            <a:off x="10139300" y="4333113"/>
            <a:ext cx="956944" cy="879475"/>
          </a:xfrm>
          <a:prstGeom prst="rect">
            <a:avLst/>
          </a:prstGeom>
        </p:spPr>
        <p:txBody>
          <a:bodyPr vert="horz" wrap="square" lIns="0" tIns="12700" rIns="0" bIns="0" rtlCol="0">
            <a:spAutoFit/>
          </a:bodyPr>
          <a:lstStyle/>
          <a:p>
            <a:pPr marL="355600" indent="-342900">
              <a:lnSpc>
                <a:spcPct val="100000"/>
              </a:lnSpc>
              <a:spcBef>
                <a:spcPts val="100"/>
              </a:spcBef>
              <a:buAutoNum type="arabicPeriod"/>
              <a:tabLst>
                <a:tab pos="354965" algn="l"/>
                <a:tab pos="355600" algn="l"/>
              </a:tabLst>
            </a:pPr>
            <a:r>
              <a:rPr sz="1400" spc="-10" dirty="0">
                <a:latin typeface="Trebuchet MS"/>
                <a:cs typeface="Trebuchet MS"/>
              </a:rPr>
              <a:t>Beeline</a:t>
            </a:r>
            <a:endParaRPr sz="1400">
              <a:latin typeface="Trebuchet MS"/>
              <a:cs typeface="Trebuchet MS"/>
            </a:endParaRPr>
          </a:p>
          <a:p>
            <a:pPr marL="355600" indent="-342900">
              <a:lnSpc>
                <a:spcPct val="100000"/>
              </a:lnSpc>
              <a:spcBef>
                <a:spcPts val="5"/>
              </a:spcBef>
              <a:buAutoNum type="arabicPeriod"/>
              <a:tabLst>
                <a:tab pos="354965" algn="l"/>
                <a:tab pos="355600" algn="l"/>
              </a:tabLst>
            </a:pPr>
            <a:r>
              <a:rPr sz="1400" spc="5" dirty="0">
                <a:latin typeface="Trebuchet MS"/>
                <a:cs typeface="Trebuchet MS"/>
              </a:rPr>
              <a:t>JDBC</a:t>
            </a:r>
            <a:endParaRPr sz="1400">
              <a:latin typeface="Trebuchet MS"/>
              <a:cs typeface="Trebuchet MS"/>
            </a:endParaRPr>
          </a:p>
          <a:p>
            <a:pPr marL="355600" indent="-342900">
              <a:lnSpc>
                <a:spcPct val="100000"/>
              </a:lnSpc>
              <a:buAutoNum type="arabicPeriod"/>
              <a:tabLst>
                <a:tab pos="354965" algn="l"/>
                <a:tab pos="355600" algn="l"/>
              </a:tabLst>
            </a:pPr>
            <a:r>
              <a:rPr sz="1400" spc="-20" dirty="0">
                <a:latin typeface="Trebuchet MS"/>
                <a:cs typeface="Trebuchet MS"/>
              </a:rPr>
              <a:t>Thrift</a:t>
            </a:r>
            <a:endParaRPr sz="1400">
              <a:latin typeface="Trebuchet MS"/>
              <a:cs typeface="Trebuchet MS"/>
            </a:endParaRPr>
          </a:p>
          <a:p>
            <a:pPr marL="355600" indent="-342900">
              <a:lnSpc>
                <a:spcPct val="100000"/>
              </a:lnSpc>
              <a:buAutoNum type="arabicPeriod"/>
              <a:tabLst>
                <a:tab pos="354965" algn="l"/>
                <a:tab pos="355600" algn="l"/>
              </a:tabLst>
            </a:pPr>
            <a:r>
              <a:rPr sz="1400" spc="90" dirty="0">
                <a:latin typeface="Trebuchet MS"/>
                <a:cs typeface="Trebuchet MS"/>
              </a:rPr>
              <a:t>ODBC</a:t>
            </a:r>
            <a:endParaRPr sz="1400">
              <a:latin typeface="Trebuchet MS"/>
              <a:cs typeface="Trebuchet MS"/>
            </a:endParaRPr>
          </a:p>
        </p:txBody>
      </p:sp>
      <p:sp>
        <p:nvSpPr>
          <p:cNvPr id="39" name="object 2"/>
          <p:cNvSpPr txBox="1"/>
          <p:nvPr/>
        </p:nvSpPr>
        <p:spPr>
          <a:xfrm>
            <a:off x="546615" y="2354586"/>
            <a:ext cx="3594678" cy="2779126"/>
          </a:xfrm>
          <a:prstGeom prst="rect">
            <a:avLst/>
          </a:prstGeom>
        </p:spPr>
        <p:txBody>
          <a:bodyPr vert="horz" wrap="square" lIns="0" tIns="9049" rIns="0" bIns="0" rtlCol="0">
            <a:spAutoFit/>
          </a:bodyPr>
          <a:lstStyle/>
          <a:p>
            <a:pPr marL="138113" indent="-128588">
              <a:spcBef>
                <a:spcPts val="71"/>
              </a:spcBef>
              <a:buFont typeface="Wingdings"/>
              <a:buChar char=""/>
              <a:tabLst>
                <a:tab pos="138113" algn="l"/>
              </a:tabLst>
            </a:pPr>
            <a:r>
              <a:rPr sz="2000" spc="15" dirty="0">
                <a:latin typeface="UKIJ CJK"/>
                <a:cs typeface="UKIJ CJK"/>
              </a:rPr>
              <a:t>HiveServer: a </a:t>
            </a:r>
            <a:r>
              <a:rPr sz="2000" spc="19" dirty="0">
                <a:latin typeface="UKIJ CJK"/>
                <a:cs typeface="UKIJ CJK"/>
              </a:rPr>
              <a:t>process </a:t>
            </a:r>
            <a:r>
              <a:rPr sz="2000" spc="11" dirty="0">
                <a:latin typeface="UKIJ CJK"/>
                <a:cs typeface="UKIJ CJK"/>
              </a:rPr>
              <a:t>for </a:t>
            </a:r>
            <a:r>
              <a:rPr sz="2000" spc="30" dirty="0">
                <a:latin typeface="UKIJ CJK"/>
                <a:cs typeface="UKIJ CJK"/>
              </a:rPr>
              <a:t>Hive </a:t>
            </a:r>
            <a:r>
              <a:rPr sz="2000" spc="34" dirty="0">
                <a:latin typeface="UKIJ CJK"/>
                <a:cs typeface="UKIJ CJK"/>
              </a:rPr>
              <a:t>to </a:t>
            </a:r>
            <a:r>
              <a:rPr sz="2000" spc="26" dirty="0">
                <a:latin typeface="UKIJ CJK"/>
                <a:cs typeface="UKIJ CJK"/>
              </a:rPr>
              <a:t>provide </a:t>
            </a:r>
            <a:r>
              <a:rPr sz="2000" spc="11" dirty="0">
                <a:latin typeface="UKIJ CJK"/>
                <a:cs typeface="UKIJ CJK"/>
              </a:rPr>
              <a:t>external </a:t>
            </a:r>
            <a:r>
              <a:rPr sz="2000" spc="38" dirty="0">
                <a:latin typeface="UKIJ CJK"/>
                <a:cs typeface="UKIJ CJK"/>
              </a:rPr>
              <a:t>SQL</a:t>
            </a:r>
            <a:r>
              <a:rPr sz="2000" spc="113" dirty="0">
                <a:latin typeface="UKIJ CJK"/>
                <a:cs typeface="UKIJ CJK"/>
              </a:rPr>
              <a:t> </a:t>
            </a:r>
            <a:r>
              <a:rPr sz="2000" spc="11" dirty="0" smtClean="0">
                <a:latin typeface="UKIJ CJK"/>
                <a:cs typeface="UKIJ CJK"/>
              </a:rPr>
              <a:t>services</a:t>
            </a:r>
            <a:r>
              <a:rPr lang="en-US" sz="2000" spc="11" dirty="0" smtClean="0">
                <a:latin typeface="UKIJ CJK"/>
                <a:cs typeface="UKIJ CJK"/>
              </a:rPr>
              <a:t>.</a:t>
            </a:r>
            <a:endParaRPr sz="2000" dirty="0">
              <a:latin typeface="UKIJ CJK"/>
              <a:cs typeface="UKIJ CJK"/>
            </a:endParaRPr>
          </a:p>
          <a:p>
            <a:pPr marL="138113" indent="-128588">
              <a:buFont typeface="Wingdings"/>
              <a:buChar char=""/>
              <a:tabLst>
                <a:tab pos="138113" algn="l"/>
              </a:tabLst>
            </a:pPr>
            <a:r>
              <a:rPr sz="2000" spc="23" dirty="0">
                <a:latin typeface="UKIJ CJK"/>
                <a:cs typeface="UKIJ CJK"/>
              </a:rPr>
              <a:t>MetaStore: </a:t>
            </a:r>
            <a:r>
              <a:rPr sz="2000" spc="15" dirty="0">
                <a:latin typeface="UKIJ CJK"/>
                <a:cs typeface="UKIJ CJK"/>
              </a:rPr>
              <a:t>a </a:t>
            </a:r>
            <a:r>
              <a:rPr sz="2000" spc="19" dirty="0">
                <a:latin typeface="UKIJ CJK"/>
                <a:cs typeface="UKIJ CJK"/>
              </a:rPr>
              <a:t>process </a:t>
            </a:r>
            <a:r>
              <a:rPr sz="2000" spc="11" dirty="0">
                <a:latin typeface="UKIJ CJK"/>
                <a:cs typeface="UKIJ CJK"/>
              </a:rPr>
              <a:t>for </a:t>
            </a:r>
            <a:r>
              <a:rPr sz="2000" spc="30" dirty="0">
                <a:latin typeface="UKIJ CJK"/>
                <a:cs typeface="UKIJ CJK"/>
              </a:rPr>
              <a:t>Hive </a:t>
            </a:r>
            <a:r>
              <a:rPr sz="2000" spc="34" dirty="0">
                <a:latin typeface="UKIJ CJK"/>
                <a:cs typeface="UKIJ CJK"/>
              </a:rPr>
              <a:t>to </a:t>
            </a:r>
            <a:r>
              <a:rPr sz="2000" spc="26" dirty="0">
                <a:latin typeface="UKIJ CJK"/>
                <a:cs typeface="UKIJ CJK"/>
              </a:rPr>
              <a:t>provide </a:t>
            </a:r>
            <a:r>
              <a:rPr sz="2000" spc="23" dirty="0">
                <a:latin typeface="UKIJ CJK"/>
                <a:cs typeface="UKIJ CJK"/>
              </a:rPr>
              <a:t>metadata </a:t>
            </a:r>
            <a:r>
              <a:rPr sz="2000" spc="15" dirty="0">
                <a:latin typeface="UKIJ CJK"/>
                <a:cs typeface="UKIJ CJK"/>
              </a:rPr>
              <a:t>information, </a:t>
            </a:r>
            <a:r>
              <a:rPr sz="2000" spc="26" dirty="0">
                <a:latin typeface="UKIJ CJK"/>
                <a:cs typeface="UKIJ CJK"/>
              </a:rPr>
              <a:t>and </a:t>
            </a:r>
            <a:r>
              <a:rPr sz="2000" spc="19" dirty="0">
                <a:latin typeface="UKIJ CJK"/>
                <a:cs typeface="UKIJ CJK"/>
              </a:rPr>
              <a:t>can</a:t>
            </a:r>
            <a:r>
              <a:rPr sz="2000" spc="165" dirty="0">
                <a:latin typeface="UKIJ CJK"/>
                <a:cs typeface="UKIJ CJK"/>
              </a:rPr>
              <a:t> </a:t>
            </a:r>
            <a:r>
              <a:rPr sz="2000" spc="34" dirty="0" smtClean="0">
                <a:latin typeface="UKIJ CJK"/>
                <a:cs typeface="UKIJ CJK"/>
              </a:rPr>
              <a:t>be</a:t>
            </a:r>
            <a:r>
              <a:rPr lang="en-US" sz="2000" dirty="0">
                <a:latin typeface="UKIJ CJK"/>
                <a:cs typeface="UKIJ CJK"/>
              </a:rPr>
              <a:t> </a:t>
            </a:r>
            <a:r>
              <a:rPr sz="2000" spc="30" dirty="0" smtClean="0">
                <a:latin typeface="UKIJ CJK"/>
                <a:cs typeface="UKIJ CJK"/>
              </a:rPr>
              <a:t>invoked </a:t>
            </a:r>
            <a:r>
              <a:rPr sz="2000" spc="38" dirty="0">
                <a:latin typeface="UKIJ CJK"/>
                <a:cs typeface="UKIJ CJK"/>
              </a:rPr>
              <a:t>by </a:t>
            </a:r>
            <a:r>
              <a:rPr sz="2000" spc="19" dirty="0">
                <a:latin typeface="UKIJ CJK"/>
                <a:cs typeface="UKIJ CJK"/>
              </a:rPr>
              <a:t>HiveServer, </a:t>
            </a:r>
            <a:r>
              <a:rPr sz="2000" spc="23" dirty="0">
                <a:latin typeface="UKIJ CJK"/>
                <a:cs typeface="UKIJ CJK"/>
              </a:rPr>
              <a:t>SparkSQL, </a:t>
            </a:r>
            <a:r>
              <a:rPr sz="2000" spc="26" dirty="0">
                <a:latin typeface="UKIJ CJK"/>
                <a:cs typeface="UKIJ CJK"/>
              </a:rPr>
              <a:t>and</a:t>
            </a:r>
            <a:r>
              <a:rPr sz="2000" spc="19" dirty="0">
                <a:latin typeface="UKIJ CJK"/>
                <a:cs typeface="UKIJ CJK"/>
              </a:rPr>
              <a:t> </a:t>
            </a:r>
            <a:r>
              <a:rPr sz="2000" spc="23" dirty="0">
                <a:latin typeface="UKIJ CJK"/>
                <a:cs typeface="UKIJ CJK"/>
              </a:rPr>
              <a:t>Oozie.</a:t>
            </a:r>
            <a:endParaRPr sz="2000" dirty="0">
              <a:latin typeface="UKIJ CJK"/>
              <a:cs typeface="UKIJ CJK"/>
            </a:endParaRPr>
          </a:p>
          <a:p>
            <a:pPr marL="138113" indent="-128588">
              <a:spcBef>
                <a:spcPts val="4"/>
              </a:spcBef>
              <a:buFont typeface="Wingdings"/>
              <a:buChar char=""/>
              <a:tabLst>
                <a:tab pos="138113" algn="l"/>
              </a:tabLst>
            </a:pPr>
            <a:r>
              <a:rPr sz="2000" spc="8" dirty="0">
                <a:latin typeface="UKIJ CJK"/>
                <a:cs typeface="UKIJ CJK"/>
              </a:rPr>
              <a:t>Beeline: </a:t>
            </a:r>
            <a:r>
              <a:rPr sz="2000" spc="30" dirty="0">
                <a:latin typeface="UKIJ CJK"/>
                <a:cs typeface="UKIJ CJK"/>
              </a:rPr>
              <a:t>Hive </a:t>
            </a:r>
            <a:r>
              <a:rPr sz="2000" spc="8" dirty="0">
                <a:latin typeface="UKIJ CJK"/>
                <a:cs typeface="UKIJ CJK"/>
              </a:rPr>
              <a:t>CLI</a:t>
            </a:r>
            <a:r>
              <a:rPr sz="2000" spc="23" dirty="0">
                <a:latin typeface="UKIJ CJK"/>
                <a:cs typeface="UKIJ CJK"/>
              </a:rPr>
              <a:t> </a:t>
            </a:r>
            <a:r>
              <a:rPr sz="2000" spc="15" dirty="0" smtClean="0">
                <a:latin typeface="UKIJ CJK"/>
                <a:cs typeface="UKIJ CJK"/>
              </a:rPr>
              <a:t>client</a:t>
            </a:r>
            <a:endParaRPr sz="2000" dirty="0">
              <a:latin typeface="UKIJ CJK"/>
              <a:cs typeface="UKIJ CJK"/>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610398" y="713854"/>
            <a:ext cx="5725491" cy="567463"/>
          </a:xfrm>
          <a:prstGeom prst="rect">
            <a:avLst/>
          </a:prstGeom>
        </p:spPr>
        <p:txBody>
          <a:bodyPr vert="horz" wrap="square" lIns="0" tIns="13335" rIns="0" bIns="0" rtlCol="0">
            <a:spAutoFit/>
          </a:bodyPr>
          <a:lstStyle/>
          <a:p>
            <a:pPr marL="12700">
              <a:lnSpc>
                <a:spcPct val="100000"/>
              </a:lnSpc>
              <a:spcBef>
                <a:spcPts val="105"/>
              </a:spcBef>
            </a:pPr>
            <a:r>
              <a:rPr spc="70" dirty="0"/>
              <a:t>Advantages </a:t>
            </a:r>
            <a:r>
              <a:rPr spc="30" dirty="0"/>
              <a:t>of</a:t>
            </a:r>
            <a:r>
              <a:rPr spc="-90" dirty="0"/>
              <a:t> </a:t>
            </a:r>
            <a:r>
              <a:rPr spc="40" dirty="0"/>
              <a:t>Hive</a:t>
            </a:r>
          </a:p>
        </p:txBody>
      </p:sp>
      <p:grpSp>
        <p:nvGrpSpPr>
          <p:cNvPr id="3" name="object 3"/>
          <p:cNvGrpSpPr/>
          <p:nvPr/>
        </p:nvGrpSpPr>
        <p:grpSpPr>
          <a:xfrm>
            <a:off x="4303598" y="2820099"/>
            <a:ext cx="1818639" cy="3340100"/>
            <a:chOff x="2296667" y="2423858"/>
            <a:chExt cx="1818639" cy="3340100"/>
          </a:xfrm>
        </p:grpSpPr>
        <p:sp>
          <p:nvSpPr>
            <p:cNvPr id="4" name="object 4"/>
            <p:cNvSpPr/>
            <p:nvPr/>
          </p:nvSpPr>
          <p:spPr>
            <a:xfrm>
              <a:off x="3204971" y="2467355"/>
              <a:ext cx="10795" cy="407670"/>
            </a:xfrm>
            <a:custGeom>
              <a:avLst/>
              <a:gdLst/>
              <a:ahLst/>
              <a:cxnLst/>
              <a:rect l="l" t="t" r="r" b="b"/>
              <a:pathLst>
                <a:path w="10794" h="407669">
                  <a:moveTo>
                    <a:pt x="5397" y="-38100"/>
                  </a:moveTo>
                  <a:lnTo>
                    <a:pt x="5397" y="445770"/>
                  </a:lnTo>
                </a:path>
              </a:pathLst>
            </a:custGeom>
            <a:ln w="86994">
              <a:solidFill>
                <a:srgbClr val="BEBEBE"/>
              </a:solidFill>
            </a:ln>
          </p:spPr>
          <p:txBody>
            <a:bodyPr wrap="square" lIns="0" tIns="0" rIns="0" bIns="0" rtlCol="0"/>
            <a:lstStyle/>
            <a:p>
              <a:endParaRPr/>
            </a:p>
          </p:txBody>
        </p:sp>
        <p:sp>
          <p:nvSpPr>
            <p:cNvPr id="5" name="object 5"/>
            <p:cNvSpPr/>
            <p:nvPr/>
          </p:nvSpPr>
          <p:spPr>
            <a:xfrm>
              <a:off x="2334767" y="2875787"/>
              <a:ext cx="1742439" cy="2849880"/>
            </a:xfrm>
            <a:custGeom>
              <a:avLst/>
              <a:gdLst/>
              <a:ahLst/>
              <a:cxnLst/>
              <a:rect l="l" t="t" r="r" b="b"/>
              <a:pathLst>
                <a:path w="1742439" h="2849879">
                  <a:moveTo>
                    <a:pt x="1451609" y="0"/>
                  </a:moveTo>
                  <a:lnTo>
                    <a:pt x="290321" y="0"/>
                  </a:lnTo>
                  <a:lnTo>
                    <a:pt x="243215" y="3798"/>
                  </a:lnTo>
                  <a:lnTo>
                    <a:pt x="198534" y="14794"/>
                  </a:lnTo>
                  <a:lnTo>
                    <a:pt x="156875" y="32393"/>
                  </a:lnTo>
                  <a:lnTo>
                    <a:pt x="118835" y="55997"/>
                  </a:lnTo>
                  <a:lnTo>
                    <a:pt x="85010" y="85010"/>
                  </a:lnTo>
                  <a:lnTo>
                    <a:pt x="55997" y="118835"/>
                  </a:lnTo>
                  <a:lnTo>
                    <a:pt x="32393" y="156875"/>
                  </a:lnTo>
                  <a:lnTo>
                    <a:pt x="14794" y="198534"/>
                  </a:lnTo>
                  <a:lnTo>
                    <a:pt x="3798" y="243215"/>
                  </a:lnTo>
                  <a:lnTo>
                    <a:pt x="0" y="290322"/>
                  </a:lnTo>
                  <a:lnTo>
                    <a:pt x="0" y="2559558"/>
                  </a:lnTo>
                  <a:lnTo>
                    <a:pt x="3798" y="2606649"/>
                  </a:lnTo>
                  <a:lnTo>
                    <a:pt x="14794" y="2651321"/>
                  </a:lnTo>
                  <a:lnTo>
                    <a:pt x="32393" y="2692976"/>
                  </a:lnTo>
                  <a:lnTo>
                    <a:pt x="55997" y="2731017"/>
                  </a:lnTo>
                  <a:lnTo>
                    <a:pt x="85010" y="2764845"/>
                  </a:lnTo>
                  <a:lnTo>
                    <a:pt x="118835" y="2793863"/>
                  </a:lnTo>
                  <a:lnTo>
                    <a:pt x="156875" y="2817474"/>
                  </a:lnTo>
                  <a:lnTo>
                    <a:pt x="198534" y="2835078"/>
                  </a:lnTo>
                  <a:lnTo>
                    <a:pt x="243215" y="2846080"/>
                  </a:lnTo>
                  <a:lnTo>
                    <a:pt x="290321" y="2849880"/>
                  </a:lnTo>
                  <a:lnTo>
                    <a:pt x="1451609" y="2849880"/>
                  </a:lnTo>
                  <a:lnTo>
                    <a:pt x="1498716" y="2846080"/>
                  </a:lnTo>
                  <a:lnTo>
                    <a:pt x="1543397" y="2835078"/>
                  </a:lnTo>
                  <a:lnTo>
                    <a:pt x="1585056" y="2817474"/>
                  </a:lnTo>
                  <a:lnTo>
                    <a:pt x="1623096" y="2793863"/>
                  </a:lnTo>
                  <a:lnTo>
                    <a:pt x="1656921" y="2764845"/>
                  </a:lnTo>
                  <a:lnTo>
                    <a:pt x="1685934" y="2731017"/>
                  </a:lnTo>
                  <a:lnTo>
                    <a:pt x="1709538" y="2692976"/>
                  </a:lnTo>
                  <a:lnTo>
                    <a:pt x="1727137" y="2651321"/>
                  </a:lnTo>
                  <a:lnTo>
                    <a:pt x="1738133" y="2606649"/>
                  </a:lnTo>
                  <a:lnTo>
                    <a:pt x="1741932" y="2559558"/>
                  </a:lnTo>
                  <a:lnTo>
                    <a:pt x="1741932" y="290322"/>
                  </a:lnTo>
                  <a:lnTo>
                    <a:pt x="1738133" y="243215"/>
                  </a:lnTo>
                  <a:lnTo>
                    <a:pt x="1727137" y="198534"/>
                  </a:lnTo>
                  <a:lnTo>
                    <a:pt x="1709538" y="156875"/>
                  </a:lnTo>
                  <a:lnTo>
                    <a:pt x="1685934" y="118835"/>
                  </a:lnTo>
                  <a:lnTo>
                    <a:pt x="1656921" y="85010"/>
                  </a:lnTo>
                  <a:lnTo>
                    <a:pt x="1623096" y="55997"/>
                  </a:lnTo>
                  <a:lnTo>
                    <a:pt x="1585056" y="32393"/>
                  </a:lnTo>
                  <a:lnTo>
                    <a:pt x="1543397" y="14794"/>
                  </a:lnTo>
                  <a:lnTo>
                    <a:pt x="1498716" y="3798"/>
                  </a:lnTo>
                  <a:lnTo>
                    <a:pt x="1451609" y="0"/>
                  </a:lnTo>
                  <a:close/>
                </a:path>
              </a:pathLst>
            </a:custGeom>
            <a:solidFill>
              <a:srgbClr val="FFFFFF"/>
            </a:solidFill>
          </p:spPr>
          <p:txBody>
            <a:bodyPr wrap="square" lIns="0" tIns="0" rIns="0" bIns="0" rtlCol="0"/>
            <a:lstStyle/>
            <a:p>
              <a:endParaRPr/>
            </a:p>
          </p:txBody>
        </p:sp>
        <p:sp>
          <p:nvSpPr>
            <p:cNvPr id="6" name="object 6"/>
            <p:cNvSpPr/>
            <p:nvPr/>
          </p:nvSpPr>
          <p:spPr>
            <a:xfrm>
              <a:off x="2334767" y="2875787"/>
              <a:ext cx="1742439" cy="2849880"/>
            </a:xfrm>
            <a:custGeom>
              <a:avLst/>
              <a:gdLst/>
              <a:ahLst/>
              <a:cxnLst/>
              <a:rect l="l" t="t" r="r" b="b"/>
              <a:pathLst>
                <a:path w="1742439" h="2849879">
                  <a:moveTo>
                    <a:pt x="0" y="290322"/>
                  </a:moveTo>
                  <a:lnTo>
                    <a:pt x="3798" y="243215"/>
                  </a:lnTo>
                  <a:lnTo>
                    <a:pt x="14794" y="198534"/>
                  </a:lnTo>
                  <a:lnTo>
                    <a:pt x="32393" y="156875"/>
                  </a:lnTo>
                  <a:lnTo>
                    <a:pt x="55997" y="118835"/>
                  </a:lnTo>
                  <a:lnTo>
                    <a:pt x="85010" y="85010"/>
                  </a:lnTo>
                  <a:lnTo>
                    <a:pt x="118835" y="55997"/>
                  </a:lnTo>
                  <a:lnTo>
                    <a:pt x="156875" y="32393"/>
                  </a:lnTo>
                  <a:lnTo>
                    <a:pt x="198534" y="14794"/>
                  </a:lnTo>
                  <a:lnTo>
                    <a:pt x="243215" y="3798"/>
                  </a:lnTo>
                  <a:lnTo>
                    <a:pt x="290321" y="0"/>
                  </a:lnTo>
                  <a:lnTo>
                    <a:pt x="1451609" y="0"/>
                  </a:lnTo>
                  <a:lnTo>
                    <a:pt x="1498716" y="3798"/>
                  </a:lnTo>
                  <a:lnTo>
                    <a:pt x="1543397" y="14794"/>
                  </a:lnTo>
                  <a:lnTo>
                    <a:pt x="1585056" y="32393"/>
                  </a:lnTo>
                  <a:lnTo>
                    <a:pt x="1623096" y="55997"/>
                  </a:lnTo>
                  <a:lnTo>
                    <a:pt x="1656921" y="85010"/>
                  </a:lnTo>
                  <a:lnTo>
                    <a:pt x="1685934" y="118835"/>
                  </a:lnTo>
                  <a:lnTo>
                    <a:pt x="1709538" y="156875"/>
                  </a:lnTo>
                  <a:lnTo>
                    <a:pt x="1727137" y="198534"/>
                  </a:lnTo>
                  <a:lnTo>
                    <a:pt x="1738133" y="243215"/>
                  </a:lnTo>
                  <a:lnTo>
                    <a:pt x="1741932" y="290322"/>
                  </a:lnTo>
                  <a:lnTo>
                    <a:pt x="1741932" y="2559558"/>
                  </a:lnTo>
                  <a:lnTo>
                    <a:pt x="1738133" y="2606649"/>
                  </a:lnTo>
                  <a:lnTo>
                    <a:pt x="1727137" y="2651321"/>
                  </a:lnTo>
                  <a:lnTo>
                    <a:pt x="1709538" y="2692976"/>
                  </a:lnTo>
                  <a:lnTo>
                    <a:pt x="1685934" y="2731017"/>
                  </a:lnTo>
                  <a:lnTo>
                    <a:pt x="1656921" y="2764845"/>
                  </a:lnTo>
                  <a:lnTo>
                    <a:pt x="1623096" y="2793863"/>
                  </a:lnTo>
                  <a:lnTo>
                    <a:pt x="1585056" y="2817474"/>
                  </a:lnTo>
                  <a:lnTo>
                    <a:pt x="1543397" y="2835078"/>
                  </a:lnTo>
                  <a:lnTo>
                    <a:pt x="1498716" y="2846080"/>
                  </a:lnTo>
                  <a:lnTo>
                    <a:pt x="1451609" y="2849880"/>
                  </a:lnTo>
                  <a:lnTo>
                    <a:pt x="290321" y="2849880"/>
                  </a:lnTo>
                  <a:lnTo>
                    <a:pt x="243215" y="2846080"/>
                  </a:lnTo>
                  <a:lnTo>
                    <a:pt x="198534" y="2835078"/>
                  </a:lnTo>
                  <a:lnTo>
                    <a:pt x="156875" y="2817474"/>
                  </a:lnTo>
                  <a:lnTo>
                    <a:pt x="118835" y="2793863"/>
                  </a:lnTo>
                  <a:lnTo>
                    <a:pt x="85010" y="2764845"/>
                  </a:lnTo>
                  <a:lnTo>
                    <a:pt x="55997" y="2731017"/>
                  </a:lnTo>
                  <a:lnTo>
                    <a:pt x="32393" y="2692976"/>
                  </a:lnTo>
                  <a:lnTo>
                    <a:pt x="14794" y="2651321"/>
                  </a:lnTo>
                  <a:lnTo>
                    <a:pt x="3798" y="2606649"/>
                  </a:lnTo>
                  <a:lnTo>
                    <a:pt x="0" y="2559558"/>
                  </a:lnTo>
                  <a:lnTo>
                    <a:pt x="0" y="290322"/>
                  </a:lnTo>
                  <a:close/>
                </a:path>
              </a:pathLst>
            </a:custGeom>
            <a:ln w="76199">
              <a:solidFill>
                <a:srgbClr val="BEBEBE"/>
              </a:solidFill>
            </a:ln>
          </p:spPr>
          <p:txBody>
            <a:bodyPr wrap="square" lIns="0" tIns="0" rIns="0" bIns="0" rtlCol="0"/>
            <a:lstStyle/>
            <a:p>
              <a:endParaRPr/>
            </a:p>
          </p:txBody>
        </p:sp>
        <p:sp>
          <p:nvSpPr>
            <p:cNvPr id="7" name="object 7"/>
            <p:cNvSpPr/>
            <p:nvPr/>
          </p:nvSpPr>
          <p:spPr>
            <a:xfrm>
              <a:off x="2415539" y="2947415"/>
              <a:ext cx="1580515" cy="684530"/>
            </a:xfrm>
            <a:custGeom>
              <a:avLst/>
              <a:gdLst/>
              <a:ahLst/>
              <a:cxnLst/>
              <a:rect l="l" t="t" r="r" b="b"/>
              <a:pathLst>
                <a:path w="1580514" h="684529">
                  <a:moveTo>
                    <a:pt x="1412748" y="0"/>
                  </a:moveTo>
                  <a:lnTo>
                    <a:pt x="167640" y="0"/>
                  </a:lnTo>
                  <a:lnTo>
                    <a:pt x="123075" y="5988"/>
                  </a:lnTo>
                  <a:lnTo>
                    <a:pt x="83029" y="22888"/>
                  </a:lnTo>
                  <a:lnTo>
                    <a:pt x="49101" y="49101"/>
                  </a:lnTo>
                  <a:lnTo>
                    <a:pt x="22888" y="83029"/>
                  </a:lnTo>
                  <a:lnTo>
                    <a:pt x="5988" y="123075"/>
                  </a:lnTo>
                  <a:lnTo>
                    <a:pt x="0" y="167639"/>
                  </a:lnTo>
                  <a:lnTo>
                    <a:pt x="0" y="516636"/>
                  </a:lnTo>
                  <a:lnTo>
                    <a:pt x="5988" y="561200"/>
                  </a:lnTo>
                  <a:lnTo>
                    <a:pt x="22888" y="601246"/>
                  </a:lnTo>
                  <a:lnTo>
                    <a:pt x="49101" y="635174"/>
                  </a:lnTo>
                  <a:lnTo>
                    <a:pt x="83029" y="661387"/>
                  </a:lnTo>
                  <a:lnTo>
                    <a:pt x="123075" y="678287"/>
                  </a:lnTo>
                  <a:lnTo>
                    <a:pt x="167640" y="684276"/>
                  </a:lnTo>
                  <a:lnTo>
                    <a:pt x="1412748" y="684276"/>
                  </a:lnTo>
                  <a:lnTo>
                    <a:pt x="1457312" y="678287"/>
                  </a:lnTo>
                  <a:lnTo>
                    <a:pt x="1497358" y="661387"/>
                  </a:lnTo>
                  <a:lnTo>
                    <a:pt x="1531286" y="635174"/>
                  </a:lnTo>
                  <a:lnTo>
                    <a:pt x="1557499" y="601246"/>
                  </a:lnTo>
                  <a:lnTo>
                    <a:pt x="1574399" y="561200"/>
                  </a:lnTo>
                  <a:lnTo>
                    <a:pt x="1580388" y="516636"/>
                  </a:lnTo>
                  <a:lnTo>
                    <a:pt x="1580388" y="167639"/>
                  </a:lnTo>
                  <a:lnTo>
                    <a:pt x="1574399" y="123075"/>
                  </a:lnTo>
                  <a:lnTo>
                    <a:pt x="1557499" y="83029"/>
                  </a:lnTo>
                  <a:lnTo>
                    <a:pt x="1531286" y="49101"/>
                  </a:lnTo>
                  <a:lnTo>
                    <a:pt x="1497358" y="22888"/>
                  </a:lnTo>
                  <a:lnTo>
                    <a:pt x="1457312" y="5988"/>
                  </a:lnTo>
                  <a:lnTo>
                    <a:pt x="1412748" y="0"/>
                  </a:lnTo>
                  <a:close/>
                </a:path>
              </a:pathLst>
            </a:custGeom>
            <a:solidFill>
              <a:srgbClr val="4F81BC"/>
            </a:solidFill>
          </p:spPr>
          <p:txBody>
            <a:bodyPr wrap="square" lIns="0" tIns="0" rIns="0" bIns="0" rtlCol="0"/>
            <a:lstStyle/>
            <a:p>
              <a:endParaRPr/>
            </a:p>
          </p:txBody>
        </p:sp>
      </p:grpSp>
      <p:sp>
        <p:nvSpPr>
          <p:cNvPr id="8" name="object 8"/>
          <p:cNvSpPr txBox="1"/>
          <p:nvPr/>
        </p:nvSpPr>
        <p:spPr>
          <a:xfrm>
            <a:off x="4473144" y="4104513"/>
            <a:ext cx="1478915" cy="1520190"/>
          </a:xfrm>
          <a:prstGeom prst="rect">
            <a:avLst/>
          </a:prstGeom>
        </p:spPr>
        <p:txBody>
          <a:bodyPr vert="horz" wrap="square" lIns="0" tIns="12700" rIns="0" bIns="0" rtlCol="0">
            <a:spAutoFit/>
          </a:bodyPr>
          <a:lstStyle/>
          <a:p>
            <a:pPr marL="355600" marR="29209" indent="-343535">
              <a:lnSpc>
                <a:spcPct val="100000"/>
              </a:lnSpc>
              <a:spcBef>
                <a:spcPts val="100"/>
              </a:spcBef>
              <a:buAutoNum type="arabicPeriod"/>
              <a:tabLst>
                <a:tab pos="355600" algn="l"/>
                <a:tab pos="356235" algn="l"/>
              </a:tabLst>
            </a:pPr>
            <a:r>
              <a:rPr sz="1400" spc="-10" dirty="0">
                <a:latin typeface="Trebuchet MS"/>
                <a:cs typeface="Trebuchet MS"/>
              </a:rPr>
              <a:t>Cluster  </a:t>
            </a:r>
            <a:r>
              <a:rPr sz="1400" spc="10" dirty="0">
                <a:latin typeface="Trebuchet MS"/>
                <a:cs typeface="Trebuchet MS"/>
              </a:rPr>
              <a:t>deployment  of</a:t>
            </a:r>
            <a:r>
              <a:rPr sz="1400" spc="-30" dirty="0">
                <a:latin typeface="Trebuchet MS"/>
                <a:cs typeface="Trebuchet MS"/>
              </a:rPr>
              <a:t> </a:t>
            </a:r>
            <a:r>
              <a:rPr sz="1400" dirty="0">
                <a:latin typeface="Trebuchet MS"/>
                <a:cs typeface="Trebuchet MS"/>
              </a:rPr>
              <a:t>HiveServer</a:t>
            </a:r>
            <a:endParaRPr sz="1400">
              <a:latin typeface="Trebuchet MS"/>
              <a:cs typeface="Trebuchet MS"/>
            </a:endParaRPr>
          </a:p>
          <a:p>
            <a:pPr marL="355600" marR="192405" indent="-343535">
              <a:lnSpc>
                <a:spcPct val="100000"/>
              </a:lnSpc>
              <a:buAutoNum type="arabicPeriod"/>
              <a:tabLst>
                <a:tab pos="355600" algn="l"/>
                <a:tab pos="356235" algn="l"/>
              </a:tabLst>
            </a:pPr>
            <a:r>
              <a:rPr sz="1400" spc="35" dirty="0">
                <a:latin typeface="Trebuchet MS"/>
                <a:cs typeface="Trebuchet MS"/>
              </a:rPr>
              <a:t>Double  </a:t>
            </a:r>
            <a:r>
              <a:rPr sz="1400" spc="295" dirty="0">
                <a:latin typeface="Trebuchet MS"/>
                <a:cs typeface="Trebuchet MS"/>
              </a:rPr>
              <a:t>M</a:t>
            </a:r>
            <a:r>
              <a:rPr sz="1400" spc="-45" dirty="0">
                <a:latin typeface="Trebuchet MS"/>
                <a:cs typeface="Trebuchet MS"/>
              </a:rPr>
              <a:t>e</a:t>
            </a:r>
            <a:r>
              <a:rPr sz="1400" spc="-25" dirty="0">
                <a:latin typeface="Trebuchet MS"/>
                <a:cs typeface="Trebuchet MS"/>
              </a:rPr>
              <a:t>t</a:t>
            </a:r>
            <a:r>
              <a:rPr sz="1400" spc="5" dirty="0">
                <a:latin typeface="Trebuchet MS"/>
                <a:cs typeface="Trebuchet MS"/>
              </a:rPr>
              <a:t>aStor</a:t>
            </a:r>
            <a:r>
              <a:rPr sz="1400" spc="15" dirty="0">
                <a:latin typeface="Trebuchet MS"/>
                <a:cs typeface="Trebuchet MS"/>
              </a:rPr>
              <a:t>e</a:t>
            </a:r>
            <a:r>
              <a:rPr sz="1400" spc="25" dirty="0">
                <a:latin typeface="Trebuchet MS"/>
                <a:cs typeface="Trebuchet MS"/>
              </a:rPr>
              <a:t>s</a:t>
            </a:r>
            <a:endParaRPr sz="1400">
              <a:latin typeface="Trebuchet MS"/>
              <a:cs typeface="Trebuchet MS"/>
            </a:endParaRPr>
          </a:p>
          <a:p>
            <a:pPr marL="355600" marR="5080" indent="-343535">
              <a:lnSpc>
                <a:spcPct val="100000"/>
              </a:lnSpc>
              <a:spcBef>
                <a:spcPts val="5"/>
              </a:spcBef>
              <a:buAutoNum type="arabicPeriod"/>
              <a:tabLst>
                <a:tab pos="355600" algn="l"/>
                <a:tab pos="356235" algn="l"/>
              </a:tabLst>
            </a:pPr>
            <a:r>
              <a:rPr sz="1400" spc="5" dirty="0">
                <a:latin typeface="Trebuchet MS"/>
                <a:cs typeface="Trebuchet MS"/>
              </a:rPr>
              <a:t>Timeout</a:t>
            </a:r>
            <a:r>
              <a:rPr sz="1400" spc="-50" dirty="0">
                <a:latin typeface="Trebuchet MS"/>
                <a:cs typeface="Trebuchet MS"/>
              </a:rPr>
              <a:t> </a:t>
            </a:r>
            <a:r>
              <a:rPr sz="1400" spc="-20" dirty="0">
                <a:latin typeface="Trebuchet MS"/>
                <a:cs typeface="Trebuchet MS"/>
              </a:rPr>
              <a:t>retry  </a:t>
            </a:r>
            <a:r>
              <a:rPr sz="1400" spc="25" dirty="0">
                <a:latin typeface="Trebuchet MS"/>
                <a:cs typeface="Trebuchet MS"/>
              </a:rPr>
              <a:t>mechanism</a:t>
            </a:r>
            <a:endParaRPr sz="1400">
              <a:latin typeface="Trebuchet MS"/>
              <a:cs typeface="Trebuchet MS"/>
            </a:endParaRPr>
          </a:p>
        </p:txBody>
      </p:sp>
      <p:sp>
        <p:nvSpPr>
          <p:cNvPr id="9" name="object 9"/>
          <p:cNvSpPr txBox="1"/>
          <p:nvPr/>
        </p:nvSpPr>
        <p:spPr>
          <a:xfrm>
            <a:off x="4546041" y="3365754"/>
            <a:ext cx="1365885" cy="666115"/>
          </a:xfrm>
          <a:prstGeom prst="rect">
            <a:avLst/>
          </a:prstGeom>
        </p:spPr>
        <p:txBody>
          <a:bodyPr vert="horz" wrap="square" lIns="0" tIns="13335" rIns="0" bIns="0" rtlCol="0">
            <a:spAutoFit/>
          </a:bodyPr>
          <a:lstStyle/>
          <a:p>
            <a:pPr marL="521334" marR="9525" indent="-502920">
              <a:lnSpc>
                <a:spcPct val="100000"/>
              </a:lnSpc>
              <a:spcBef>
                <a:spcPts val="105"/>
              </a:spcBef>
            </a:pPr>
            <a:r>
              <a:rPr sz="1400" b="1" spc="75" dirty="0">
                <a:solidFill>
                  <a:srgbClr val="FFFFFF"/>
                </a:solidFill>
                <a:latin typeface="Trebuchet MS"/>
                <a:cs typeface="Trebuchet MS"/>
              </a:rPr>
              <a:t>High</a:t>
            </a:r>
            <a:r>
              <a:rPr sz="1400" b="1" spc="-60" dirty="0">
                <a:solidFill>
                  <a:srgbClr val="FFFFFF"/>
                </a:solidFill>
                <a:latin typeface="Trebuchet MS"/>
                <a:cs typeface="Trebuchet MS"/>
              </a:rPr>
              <a:t> </a:t>
            </a:r>
            <a:r>
              <a:rPr sz="1400" b="1" spc="15" dirty="0">
                <a:solidFill>
                  <a:srgbClr val="FFFFFF"/>
                </a:solidFill>
                <a:latin typeface="Trebuchet MS"/>
                <a:cs typeface="Trebuchet MS"/>
              </a:rPr>
              <a:t>Reliability  </a:t>
            </a:r>
            <a:r>
              <a:rPr sz="1400" b="1" spc="50" dirty="0">
                <a:solidFill>
                  <a:srgbClr val="FFFFFF"/>
                </a:solidFill>
                <a:latin typeface="Trebuchet MS"/>
                <a:cs typeface="Trebuchet MS"/>
              </a:rPr>
              <a:t>and</a:t>
            </a:r>
            <a:endParaRPr sz="1400">
              <a:latin typeface="Trebuchet MS"/>
              <a:cs typeface="Trebuchet MS"/>
            </a:endParaRPr>
          </a:p>
          <a:p>
            <a:pPr marL="12700">
              <a:lnSpc>
                <a:spcPct val="100000"/>
              </a:lnSpc>
            </a:pPr>
            <a:r>
              <a:rPr sz="1400" b="1" spc="15" dirty="0">
                <a:solidFill>
                  <a:srgbClr val="FFFFFF"/>
                </a:solidFill>
                <a:latin typeface="Trebuchet MS"/>
                <a:cs typeface="Trebuchet MS"/>
              </a:rPr>
              <a:t>Fault</a:t>
            </a:r>
            <a:r>
              <a:rPr sz="1400" b="1" spc="-20" dirty="0">
                <a:solidFill>
                  <a:srgbClr val="FFFFFF"/>
                </a:solidFill>
                <a:latin typeface="Trebuchet MS"/>
                <a:cs typeface="Trebuchet MS"/>
              </a:rPr>
              <a:t> </a:t>
            </a:r>
            <a:r>
              <a:rPr sz="1400" b="1" spc="5" dirty="0">
                <a:solidFill>
                  <a:srgbClr val="FFFFFF"/>
                </a:solidFill>
                <a:latin typeface="Trebuchet MS"/>
                <a:cs typeface="Trebuchet MS"/>
              </a:rPr>
              <a:t>Tolerance</a:t>
            </a:r>
            <a:endParaRPr sz="1400">
              <a:latin typeface="Trebuchet MS"/>
              <a:cs typeface="Trebuchet MS"/>
            </a:endParaRPr>
          </a:p>
        </p:txBody>
      </p:sp>
      <p:sp>
        <p:nvSpPr>
          <p:cNvPr id="10" name="object 10"/>
          <p:cNvSpPr txBox="1"/>
          <p:nvPr/>
        </p:nvSpPr>
        <p:spPr>
          <a:xfrm>
            <a:off x="4549725" y="5635244"/>
            <a:ext cx="230504" cy="452120"/>
          </a:xfrm>
          <a:prstGeom prst="rect">
            <a:avLst/>
          </a:prstGeom>
        </p:spPr>
        <p:txBody>
          <a:bodyPr vert="horz" wrap="square" lIns="0" tIns="12065" rIns="0" bIns="0" rtlCol="0">
            <a:spAutoFit/>
          </a:bodyPr>
          <a:lstStyle/>
          <a:p>
            <a:pPr marL="12700">
              <a:lnSpc>
                <a:spcPct val="100000"/>
              </a:lnSpc>
              <a:spcBef>
                <a:spcPts val="95"/>
              </a:spcBef>
            </a:pPr>
            <a:r>
              <a:rPr sz="2800" b="1" spc="-30" dirty="0">
                <a:solidFill>
                  <a:srgbClr val="BEBEBE"/>
                </a:solidFill>
                <a:latin typeface="Trebuchet MS"/>
                <a:cs typeface="Trebuchet MS"/>
              </a:rPr>
              <a:t>1</a:t>
            </a:r>
            <a:endParaRPr sz="2800">
              <a:latin typeface="Trebuchet MS"/>
              <a:cs typeface="Trebuchet MS"/>
            </a:endParaRPr>
          </a:p>
        </p:txBody>
      </p:sp>
      <p:grpSp>
        <p:nvGrpSpPr>
          <p:cNvPr id="11" name="object 11"/>
          <p:cNvGrpSpPr/>
          <p:nvPr/>
        </p:nvGrpSpPr>
        <p:grpSpPr>
          <a:xfrm>
            <a:off x="6275654" y="3246120"/>
            <a:ext cx="1818639" cy="2926080"/>
            <a:chOff x="4268723" y="2849879"/>
            <a:chExt cx="1818639" cy="2926080"/>
          </a:xfrm>
        </p:grpSpPr>
        <p:sp>
          <p:nvSpPr>
            <p:cNvPr id="12" name="object 12"/>
            <p:cNvSpPr/>
            <p:nvPr/>
          </p:nvSpPr>
          <p:spPr>
            <a:xfrm>
              <a:off x="4306823" y="2887979"/>
              <a:ext cx="1742439" cy="2849880"/>
            </a:xfrm>
            <a:custGeom>
              <a:avLst/>
              <a:gdLst/>
              <a:ahLst/>
              <a:cxnLst/>
              <a:rect l="l" t="t" r="r" b="b"/>
              <a:pathLst>
                <a:path w="1742439" h="2849879">
                  <a:moveTo>
                    <a:pt x="0" y="290322"/>
                  </a:moveTo>
                  <a:lnTo>
                    <a:pt x="3798" y="243215"/>
                  </a:lnTo>
                  <a:lnTo>
                    <a:pt x="14794" y="198534"/>
                  </a:lnTo>
                  <a:lnTo>
                    <a:pt x="32393" y="156875"/>
                  </a:lnTo>
                  <a:lnTo>
                    <a:pt x="55997" y="118835"/>
                  </a:lnTo>
                  <a:lnTo>
                    <a:pt x="85010" y="85010"/>
                  </a:lnTo>
                  <a:lnTo>
                    <a:pt x="118835" y="55997"/>
                  </a:lnTo>
                  <a:lnTo>
                    <a:pt x="156875" y="32393"/>
                  </a:lnTo>
                  <a:lnTo>
                    <a:pt x="198534" y="14794"/>
                  </a:lnTo>
                  <a:lnTo>
                    <a:pt x="243215" y="3798"/>
                  </a:lnTo>
                  <a:lnTo>
                    <a:pt x="290322" y="0"/>
                  </a:lnTo>
                  <a:lnTo>
                    <a:pt x="1451610" y="0"/>
                  </a:lnTo>
                  <a:lnTo>
                    <a:pt x="1498685" y="3798"/>
                  </a:lnTo>
                  <a:lnTo>
                    <a:pt x="1543348" y="14794"/>
                  </a:lnTo>
                  <a:lnTo>
                    <a:pt x="1585000" y="32393"/>
                  </a:lnTo>
                  <a:lnTo>
                    <a:pt x="1623041" y="55997"/>
                  </a:lnTo>
                  <a:lnTo>
                    <a:pt x="1656873" y="85010"/>
                  </a:lnTo>
                  <a:lnTo>
                    <a:pt x="1685897" y="118835"/>
                  </a:lnTo>
                  <a:lnTo>
                    <a:pt x="1709514" y="156875"/>
                  </a:lnTo>
                  <a:lnTo>
                    <a:pt x="1727124" y="198534"/>
                  </a:lnTo>
                  <a:lnTo>
                    <a:pt x="1738130" y="243215"/>
                  </a:lnTo>
                  <a:lnTo>
                    <a:pt x="1741931" y="290322"/>
                  </a:lnTo>
                  <a:lnTo>
                    <a:pt x="1741931" y="2559558"/>
                  </a:lnTo>
                  <a:lnTo>
                    <a:pt x="1738130" y="2606649"/>
                  </a:lnTo>
                  <a:lnTo>
                    <a:pt x="1727124" y="2651321"/>
                  </a:lnTo>
                  <a:lnTo>
                    <a:pt x="1709514" y="2692976"/>
                  </a:lnTo>
                  <a:lnTo>
                    <a:pt x="1685897" y="2731017"/>
                  </a:lnTo>
                  <a:lnTo>
                    <a:pt x="1656873" y="2764845"/>
                  </a:lnTo>
                  <a:lnTo>
                    <a:pt x="1623041" y="2793863"/>
                  </a:lnTo>
                  <a:lnTo>
                    <a:pt x="1585000" y="2817474"/>
                  </a:lnTo>
                  <a:lnTo>
                    <a:pt x="1543348" y="2835078"/>
                  </a:lnTo>
                  <a:lnTo>
                    <a:pt x="1498685" y="2846080"/>
                  </a:lnTo>
                  <a:lnTo>
                    <a:pt x="1451610" y="2849880"/>
                  </a:lnTo>
                  <a:lnTo>
                    <a:pt x="290322" y="2849880"/>
                  </a:lnTo>
                  <a:lnTo>
                    <a:pt x="243215" y="2846080"/>
                  </a:lnTo>
                  <a:lnTo>
                    <a:pt x="198534" y="2835078"/>
                  </a:lnTo>
                  <a:lnTo>
                    <a:pt x="156875" y="2817474"/>
                  </a:lnTo>
                  <a:lnTo>
                    <a:pt x="118835" y="2793863"/>
                  </a:lnTo>
                  <a:lnTo>
                    <a:pt x="85010" y="2764845"/>
                  </a:lnTo>
                  <a:lnTo>
                    <a:pt x="55997" y="2731017"/>
                  </a:lnTo>
                  <a:lnTo>
                    <a:pt x="32393" y="2692976"/>
                  </a:lnTo>
                  <a:lnTo>
                    <a:pt x="14794" y="2651321"/>
                  </a:lnTo>
                  <a:lnTo>
                    <a:pt x="3798" y="2606649"/>
                  </a:lnTo>
                  <a:lnTo>
                    <a:pt x="0" y="2559558"/>
                  </a:lnTo>
                  <a:lnTo>
                    <a:pt x="0" y="290322"/>
                  </a:lnTo>
                  <a:close/>
                </a:path>
              </a:pathLst>
            </a:custGeom>
            <a:ln w="76200">
              <a:solidFill>
                <a:srgbClr val="BEBEBE"/>
              </a:solidFill>
            </a:ln>
          </p:spPr>
          <p:txBody>
            <a:bodyPr wrap="square" lIns="0" tIns="0" rIns="0" bIns="0" rtlCol="0"/>
            <a:lstStyle/>
            <a:p>
              <a:endParaRPr/>
            </a:p>
          </p:txBody>
        </p:sp>
        <p:sp>
          <p:nvSpPr>
            <p:cNvPr id="13" name="object 13"/>
            <p:cNvSpPr/>
            <p:nvPr/>
          </p:nvSpPr>
          <p:spPr>
            <a:xfrm>
              <a:off x="4387595" y="2955035"/>
              <a:ext cx="1580515" cy="668020"/>
            </a:xfrm>
            <a:custGeom>
              <a:avLst/>
              <a:gdLst/>
              <a:ahLst/>
              <a:cxnLst/>
              <a:rect l="l" t="t" r="r" b="b"/>
              <a:pathLst>
                <a:path w="1580514" h="668020">
                  <a:moveTo>
                    <a:pt x="1416812" y="0"/>
                  </a:moveTo>
                  <a:lnTo>
                    <a:pt x="163575" y="0"/>
                  </a:lnTo>
                  <a:lnTo>
                    <a:pt x="120106" y="5846"/>
                  </a:lnTo>
                  <a:lnTo>
                    <a:pt x="81035" y="22342"/>
                  </a:lnTo>
                  <a:lnTo>
                    <a:pt x="47926" y="47926"/>
                  </a:lnTo>
                  <a:lnTo>
                    <a:pt x="22342" y="81035"/>
                  </a:lnTo>
                  <a:lnTo>
                    <a:pt x="5846" y="120106"/>
                  </a:lnTo>
                  <a:lnTo>
                    <a:pt x="0" y="163575"/>
                  </a:lnTo>
                  <a:lnTo>
                    <a:pt x="0" y="503936"/>
                  </a:lnTo>
                  <a:lnTo>
                    <a:pt x="5846" y="547405"/>
                  </a:lnTo>
                  <a:lnTo>
                    <a:pt x="22342" y="586476"/>
                  </a:lnTo>
                  <a:lnTo>
                    <a:pt x="47926" y="619585"/>
                  </a:lnTo>
                  <a:lnTo>
                    <a:pt x="81035" y="645169"/>
                  </a:lnTo>
                  <a:lnTo>
                    <a:pt x="120106" y="661665"/>
                  </a:lnTo>
                  <a:lnTo>
                    <a:pt x="163575" y="667512"/>
                  </a:lnTo>
                  <a:lnTo>
                    <a:pt x="1416812" y="667512"/>
                  </a:lnTo>
                  <a:lnTo>
                    <a:pt x="1460281" y="661665"/>
                  </a:lnTo>
                  <a:lnTo>
                    <a:pt x="1499352" y="645169"/>
                  </a:lnTo>
                  <a:lnTo>
                    <a:pt x="1532461" y="619585"/>
                  </a:lnTo>
                  <a:lnTo>
                    <a:pt x="1558045" y="586476"/>
                  </a:lnTo>
                  <a:lnTo>
                    <a:pt x="1574541" y="547405"/>
                  </a:lnTo>
                  <a:lnTo>
                    <a:pt x="1580388" y="503936"/>
                  </a:lnTo>
                  <a:lnTo>
                    <a:pt x="1580388" y="163575"/>
                  </a:lnTo>
                  <a:lnTo>
                    <a:pt x="1574541" y="120106"/>
                  </a:lnTo>
                  <a:lnTo>
                    <a:pt x="1558045" y="81035"/>
                  </a:lnTo>
                  <a:lnTo>
                    <a:pt x="1532461" y="47926"/>
                  </a:lnTo>
                  <a:lnTo>
                    <a:pt x="1499352" y="22342"/>
                  </a:lnTo>
                  <a:lnTo>
                    <a:pt x="1460281" y="5846"/>
                  </a:lnTo>
                  <a:lnTo>
                    <a:pt x="1416812" y="0"/>
                  </a:lnTo>
                  <a:close/>
                </a:path>
              </a:pathLst>
            </a:custGeom>
            <a:solidFill>
              <a:srgbClr val="9BBA58"/>
            </a:solidFill>
          </p:spPr>
          <p:txBody>
            <a:bodyPr wrap="square" lIns="0" tIns="0" rIns="0" bIns="0" rtlCol="0"/>
            <a:lstStyle/>
            <a:p>
              <a:endParaRPr/>
            </a:p>
          </p:txBody>
        </p:sp>
      </p:grpSp>
      <p:sp>
        <p:nvSpPr>
          <p:cNvPr id="14" name="object 14"/>
          <p:cNvSpPr txBox="1"/>
          <p:nvPr/>
        </p:nvSpPr>
        <p:spPr>
          <a:xfrm>
            <a:off x="6800927" y="3558033"/>
            <a:ext cx="747395" cy="239395"/>
          </a:xfrm>
          <a:prstGeom prst="rect">
            <a:avLst/>
          </a:prstGeom>
        </p:spPr>
        <p:txBody>
          <a:bodyPr vert="horz" wrap="square" lIns="0" tIns="13335" rIns="0" bIns="0" rtlCol="0">
            <a:spAutoFit/>
          </a:bodyPr>
          <a:lstStyle/>
          <a:p>
            <a:pPr marL="12700">
              <a:lnSpc>
                <a:spcPct val="100000"/>
              </a:lnSpc>
              <a:spcBef>
                <a:spcPts val="105"/>
              </a:spcBef>
            </a:pPr>
            <a:r>
              <a:rPr sz="1400" b="1" spc="30" dirty="0">
                <a:solidFill>
                  <a:srgbClr val="FFFFFF"/>
                </a:solidFill>
                <a:latin typeface="Trebuchet MS"/>
                <a:cs typeface="Trebuchet MS"/>
              </a:rPr>
              <a:t>SQL-like</a:t>
            </a:r>
            <a:endParaRPr sz="1400">
              <a:latin typeface="Trebuchet MS"/>
              <a:cs typeface="Trebuchet MS"/>
            </a:endParaRPr>
          </a:p>
        </p:txBody>
      </p:sp>
      <p:sp>
        <p:nvSpPr>
          <p:cNvPr id="15" name="object 15"/>
          <p:cNvSpPr txBox="1"/>
          <p:nvPr/>
        </p:nvSpPr>
        <p:spPr>
          <a:xfrm>
            <a:off x="6524828" y="5637683"/>
            <a:ext cx="230504" cy="452120"/>
          </a:xfrm>
          <a:prstGeom prst="rect">
            <a:avLst/>
          </a:prstGeom>
        </p:spPr>
        <p:txBody>
          <a:bodyPr vert="horz" wrap="square" lIns="0" tIns="12065" rIns="0" bIns="0" rtlCol="0">
            <a:spAutoFit/>
          </a:bodyPr>
          <a:lstStyle/>
          <a:p>
            <a:pPr marL="12700">
              <a:lnSpc>
                <a:spcPct val="100000"/>
              </a:lnSpc>
              <a:spcBef>
                <a:spcPts val="95"/>
              </a:spcBef>
            </a:pPr>
            <a:r>
              <a:rPr sz="2800" b="1" spc="-30" dirty="0">
                <a:solidFill>
                  <a:srgbClr val="BEBEBE"/>
                </a:solidFill>
                <a:latin typeface="Trebuchet MS"/>
                <a:cs typeface="Trebuchet MS"/>
              </a:rPr>
              <a:t>2</a:t>
            </a:r>
            <a:endParaRPr sz="2800">
              <a:latin typeface="Trebuchet MS"/>
              <a:cs typeface="Trebuchet MS"/>
            </a:endParaRPr>
          </a:p>
        </p:txBody>
      </p:sp>
      <p:grpSp>
        <p:nvGrpSpPr>
          <p:cNvPr id="16" name="object 16"/>
          <p:cNvGrpSpPr/>
          <p:nvPr/>
        </p:nvGrpSpPr>
        <p:grpSpPr>
          <a:xfrm>
            <a:off x="8156271" y="3246120"/>
            <a:ext cx="1816735" cy="2926080"/>
            <a:chOff x="6149340" y="2849879"/>
            <a:chExt cx="1816735" cy="2926080"/>
          </a:xfrm>
        </p:grpSpPr>
        <p:sp>
          <p:nvSpPr>
            <p:cNvPr id="17" name="object 17"/>
            <p:cNvSpPr/>
            <p:nvPr/>
          </p:nvSpPr>
          <p:spPr>
            <a:xfrm>
              <a:off x="6187440" y="2887979"/>
              <a:ext cx="1740535" cy="2849880"/>
            </a:xfrm>
            <a:custGeom>
              <a:avLst/>
              <a:gdLst/>
              <a:ahLst/>
              <a:cxnLst/>
              <a:rect l="l" t="t" r="r" b="b"/>
              <a:pathLst>
                <a:path w="1740534" h="2849879">
                  <a:moveTo>
                    <a:pt x="0" y="290068"/>
                  </a:moveTo>
                  <a:lnTo>
                    <a:pt x="3797" y="243030"/>
                  </a:lnTo>
                  <a:lnTo>
                    <a:pt x="14792" y="198404"/>
                  </a:lnTo>
                  <a:lnTo>
                    <a:pt x="32386" y="156788"/>
                  </a:lnTo>
                  <a:lnTo>
                    <a:pt x="55981" y="118780"/>
                  </a:lnTo>
                  <a:lnTo>
                    <a:pt x="84978" y="84978"/>
                  </a:lnTo>
                  <a:lnTo>
                    <a:pt x="118780" y="55981"/>
                  </a:lnTo>
                  <a:lnTo>
                    <a:pt x="156788" y="32386"/>
                  </a:lnTo>
                  <a:lnTo>
                    <a:pt x="198404" y="14792"/>
                  </a:lnTo>
                  <a:lnTo>
                    <a:pt x="243030" y="3797"/>
                  </a:lnTo>
                  <a:lnTo>
                    <a:pt x="290068" y="0"/>
                  </a:lnTo>
                  <a:lnTo>
                    <a:pt x="1450339" y="0"/>
                  </a:lnTo>
                  <a:lnTo>
                    <a:pt x="1497377" y="3797"/>
                  </a:lnTo>
                  <a:lnTo>
                    <a:pt x="1542003" y="14792"/>
                  </a:lnTo>
                  <a:lnTo>
                    <a:pt x="1583619" y="32386"/>
                  </a:lnTo>
                  <a:lnTo>
                    <a:pt x="1621627" y="55981"/>
                  </a:lnTo>
                  <a:lnTo>
                    <a:pt x="1655429" y="84978"/>
                  </a:lnTo>
                  <a:lnTo>
                    <a:pt x="1684426" y="118780"/>
                  </a:lnTo>
                  <a:lnTo>
                    <a:pt x="1708021" y="156788"/>
                  </a:lnTo>
                  <a:lnTo>
                    <a:pt x="1725615" y="198404"/>
                  </a:lnTo>
                  <a:lnTo>
                    <a:pt x="1736610" y="243030"/>
                  </a:lnTo>
                  <a:lnTo>
                    <a:pt x="1740408" y="290068"/>
                  </a:lnTo>
                  <a:lnTo>
                    <a:pt x="1740408" y="2559812"/>
                  </a:lnTo>
                  <a:lnTo>
                    <a:pt x="1736610" y="2606861"/>
                  </a:lnTo>
                  <a:lnTo>
                    <a:pt x="1725615" y="2651495"/>
                  </a:lnTo>
                  <a:lnTo>
                    <a:pt x="1708021" y="2693113"/>
                  </a:lnTo>
                  <a:lnTo>
                    <a:pt x="1684426" y="2731121"/>
                  </a:lnTo>
                  <a:lnTo>
                    <a:pt x="1655429" y="2764920"/>
                  </a:lnTo>
                  <a:lnTo>
                    <a:pt x="1621627" y="2793913"/>
                  </a:lnTo>
                  <a:lnTo>
                    <a:pt x="1583619" y="2817502"/>
                  </a:lnTo>
                  <a:lnTo>
                    <a:pt x="1542003" y="2835091"/>
                  </a:lnTo>
                  <a:lnTo>
                    <a:pt x="1497377" y="2846083"/>
                  </a:lnTo>
                  <a:lnTo>
                    <a:pt x="1450339" y="2849880"/>
                  </a:lnTo>
                  <a:lnTo>
                    <a:pt x="290068" y="2849880"/>
                  </a:lnTo>
                  <a:lnTo>
                    <a:pt x="243030" y="2846083"/>
                  </a:lnTo>
                  <a:lnTo>
                    <a:pt x="198404" y="2835091"/>
                  </a:lnTo>
                  <a:lnTo>
                    <a:pt x="156788" y="2817502"/>
                  </a:lnTo>
                  <a:lnTo>
                    <a:pt x="118780" y="2793913"/>
                  </a:lnTo>
                  <a:lnTo>
                    <a:pt x="84978" y="2764920"/>
                  </a:lnTo>
                  <a:lnTo>
                    <a:pt x="55981" y="2731121"/>
                  </a:lnTo>
                  <a:lnTo>
                    <a:pt x="32386" y="2693113"/>
                  </a:lnTo>
                  <a:lnTo>
                    <a:pt x="14792" y="2651495"/>
                  </a:lnTo>
                  <a:lnTo>
                    <a:pt x="3797" y="2606861"/>
                  </a:lnTo>
                  <a:lnTo>
                    <a:pt x="0" y="2559812"/>
                  </a:lnTo>
                  <a:lnTo>
                    <a:pt x="0" y="290068"/>
                  </a:lnTo>
                  <a:close/>
                </a:path>
              </a:pathLst>
            </a:custGeom>
            <a:ln w="76199">
              <a:solidFill>
                <a:srgbClr val="BEBEBE"/>
              </a:solidFill>
            </a:ln>
          </p:spPr>
          <p:txBody>
            <a:bodyPr wrap="square" lIns="0" tIns="0" rIns="0" bIns="0" rtlCol="0"/>
            <a:lstStyle/>
            <a:p>
              <a:endParaRPr/>
            </a:p>
          </p:txBody>
        </p:sp>
        <p:sp>
          <p:nvSpPr>
            <p:cNvPr id="18" name="object 18"/>
            <p:cNvSpPr/>
            <p:nvPr/>
          </p:nvSpPr>
          <p:spPr>
            <a:xfrm>
              <a:off x="6268212" y="2964179"/>
              <a:ext cx="1580515" cy="650875"/>
            </a:xfrm>
            <a:custGeom>
              <a:avLst/>
              <a:gdLst/>
              <a:ahLst/>
              <a:cxnLst/>
              <a:rect l="l" t="t" r="r" b="b"/>
              <a:pathLst>
                <a:path w="1580515" h="650875">
                  <a:moveTo>
                    <a:pt x="1420876" y="0"/>
                  </a:moveTo>
                  <a:lnTo>
                    <a:pt x="159512" y="0"/>
                  </a:lnTo>
                  <a:lnTo>
                    <a:pt x="109077" y="8128"/>
                  </a:lnTo>
                  <a:lnTo>
                    <a:pt x="65288" y="30764"/>
                  </a:lnTo>
                  <a:lnTo>
                    <a:pt x="30764" y="65288"/>
                  </a:lnTo>
                  <a:lnTo>
                    <a:pt x="8127" y="109077"/>
                  </a:lnTo>
                  <a:lnTo>
                    <a:pt x="0" y="159512"/>
                  </a:lnTo>
                  <a:lnTo>
                    <a:pt x="0" y="491236"/>
                  </a:lnTo>
                  <a:lnTo>
                    <a:pt x="8128" y="541670"/>
                  </a:lnTo>
                  <a:lnTo>
                    <a:pt x="30764" y="585459"/>
                  </a:lnTo>
                  <a:lnTo>
                    <a:pt x="65288" y="619983"/>
                  </a:lnTo>
                  <a:lnTo>
                    <a:pt x="109077" y="642620"/>
                  </a:lnTo>
                  <a:lnTo>
                    <a:pt x="159512" y="650748"/>
                  </a:lnTo>
                  <a:lnTo>
                    <a:pt x="1420876" y="650748"/>
                  </a:lnTo>
                  <a:lnTo>
                    <a:pt x="1471310" y="642619"/>
                  </a:lnTo>
                  <a:lnTo>
                    <a:pt x="1515099" y="619983"/>
                  </a:lnTo>
                  <a:lnTo>
                    <a:pt x="1549623" y="585459"/>
                  </a:lnTo>
                  <a:lnTo>
                    <a:pt x="1572260" y="541670"/>
                  </a:lnTo>
                  <a:lnTo>
                    <a:pt x="1580388" y="491236"/>
                  </a:lnTo>
                  <a:lnTo>
                    <a:pt x="1580388" y="159512"/>
                  </a:lnTo>
                  <a:lnTo>
                    <a:pt x="1572260" y="109077"/>
                  </a:lnTo>
                  <a:lnTo>
                    <a:pt x="1549623" y="65288"/>
                  </a:lnTo>
                  <a:lnTo>
                    <a:pt x="1515099" y="30764"/>
                  </a:lnTo>
                  <a:lnTo>
                    <a:pt x="1471310" y="8127"/>
                  </a:lnTo>
                  <a:lnTo>
                    <a:pt x="1420876" y="0"/>
                  </a:lnTo>
                  <a:close/>
                </a:path>
              </a:pathLst>
            </a:custGeom>
            <a:solidFill>
              <a:srgbClr val="F79546"/>
            </a:solidFill>
          </p:spPr>
          <p:txBody>
            <a:bodyPr wrap="square" lIns="0" tIns="0" rIns="0" bIns="0" rtlCol="0"/>
            <a:lstStyle/>
            <a:p>
              <a:endParaRPr/>
            </a:p>
          </p:txBody>
        </p:sp>
      </p:grpSp>
      <p:sp>
        <p:nvSpPr>
          <p:cNvPr id="19" name="object 19"/>
          <p:cNvSpPr txBox="1"/>
          <p:nvPr/>
        </p:nvSpPr>
        <p:spPr>
          <a:xfrm>
            <a:off x="8599882" y="3558033"/>
            <a:ext cx="909955" cy="239395"/>
          </a:xfrm>
          <a:prstGeom prst="rect">
            <a:avLst/>
          </a:prstGeom>
        </p:spPr>
        <p:txBody>
          <a:bodyPr vert="horz" wrap="square" lIns="0" tIns="13335" rIns="0" bIns="0" rtlCol="0">
            <a:spAutoFit/>
          </a:bodyPr>
          <a:lstStyle/>
          <a:p>
            <a:pPr marL="12700">
              <a:lnSpc>
                <a:spcPct val="100000"/>
              </a:lnSpc>
              <a:spcBef>
                <a:spcPts val="105"/>
              </a:spcBef>
            </a:pPr>
            <a:r>
              <a:rPr sz="1400" b="1" spc="15" dirty="0">
                <a:solidFill>
                  <a:srgbClr val="FFFFFF"/>
                </a:solidFill>
                <a:latin typeface="Trebuchet MS"/>
                <a:cs typeface="Trebuchet MS"/>
              </a:rPr>
              <a:t>Scalability</a:t>
            </a:r>
            <a:endParaRPr sz="1400">
              <a:latin typeface="Trebuchet MS"/>
              <a:cs typeface="Trebuchet MS"/>
            </a:endParaRPr>
          </a:p>
        </p:txBody>
      </p:sp>
      <p:sp>
        <p:nvSpPr>
          <p:cNvPr id="20" name="object 20"/>
          <p:cNvSpPr txBox="1"/>
          <p:nvPr/>
        </p:nvSpPr>
        <p:spPr>
          <a:xfrm>
            <a:off x="8405698" y="5637683"/>
            <a:ext cx="230504" cy="452120"/>
          </a:xfrm>
          <a:prstGeom prst="rect">
            <a:avLst/>
          </a:prstGeom>
        </p:spPr>
        <p:txBody>
          <a:bodyPr vert="horz" wrap="square" lIns="0" tIns="12065" rIns="0" bIns="0" rtlCol="0">
            <a:spAutoFit/>
          </a:bodyPr>
          <a:lstStyle/>
          <a:p>
            <a:pPr marL="12700">
              <a:lnSpc>
                <a:spcPct val="100000"/>
              </a:lnSpc>
              <a:spcBef>
                <a:spcPts val="95"/>
              </a:spcBef>
            </a:pPr>
            <a:r>
              <a:rPr sz="2800" b="1" spc="-30" dirty="0">
                <a:solidFill>
                  <a:srgbClr val="BEBEBE"/>
                </a:solidFill>
                <a:latin typeface="Trebuchet MS"/>
                <a:cs typeface="Trebuchet MS"/>
              </a:rPr>
              <a:t>3</a:t>
            </a:r>
            <a:endParaRPr sz="2800">
              <a:latin typeface="Trebuchet MS"/>
              <a:cs typeface="Trebuchet MS"/>
            </a:endParaRPr>
          </a:p>
        </p:txBody>
      </p:sp>
      <p:grpSp>
        <p:nvGrpSpPr>
          <p:cNvPr id="21" name="object 21"/>
          <p:cNvGrpSpPr/>
          <p:nvPr/>
        </p:nvGrpSpPr>
        <p:grpSpPr>
          <a:xfrm>
            <a:off x="10088702" y="3233929"/>
            <a:ext cx="1816735" cy="2926080"/>
            <a:chOff x="8081771" y="2837688"/>
            <a:chExt cx="1816735" cy="2926080"/>
          </a:xfrm>
        </p:grpSpPr>
        <p:sp>
          <p:nvSpPr>
            <p:cNvPr id="22" name="object 22"/>
            <p:cNvSpPr/>
            <p:nvPr/>
          </p:nvSpPr>
          <p:spPr>
            <a:xfrm>
              <a:off x="8119871" y="2875788"/>
              <a:ext cx="1740535" cy="2849880"/>
            </a:xfrm>
            <a:custGeom>
              <a:avLst/>
              <a:gdLst/>
              <a:ahLst/>
              <a:cxnLst/>
              <a:rect l="l" t="t" r="r" b="b"/>
              <a:pathLst>
                <a:path w="1740534" h="2849879">
                  <a:moveTo>
                    <a:pt x="0" y="290067"/>
                  </a:moveTo>
                  <a:lnTo>
                    <a:pt x="3797" y="243030"/>
                  </a:lnTo>
                  <a:lnTo>
                    <a:pt x="14792" y="198404"/>
                  </a:lnTo>
                  <a:lnTo>
                    <a:pt x="32386" y="156788"/>
                  </a:lnTo>
                  <a:lnTo>
                    <a:pt x="55981" y="118780"/>
                  </a:lnTo>
                  <a:lnTo>
                    <a:pt x="84978" y="84978"/>
                  </a:lnTo>
                  <a:lnTo>
                    <a:pt x="118780" y="55981"/>
                  </a:lnTo>
                  <a:lnTo>
                    <a:pt x="156788" y="32386"/>
                  </a:lnTo>
                  <a:lnTo>
                    <a:pt x="198404" y="14792"/>
                  </a:lnTo>
                  <a:lnTo>
                    <a:pt x="243030" y="3797"/>
                  </a:lnTo>
                  <a:lnTo>
                    <a:pt x="290068" y="0"/>
                  </a:lnTo>
                  <a:lnTo>
                    <a:pt x="1450339" y="0"/>
                  </a:lnTo>
                  <a:lnTo>
                    <a:pt x="1497377" y="3797"/>
                  </a:lnTo>
                  <a:lnTo>
                    <a:pt x="1542003" y="14792"/>
                  </a:lnTo>
                  <a:lnTo>
                    <a:pt x="1583619" y="32386"/>
                  </a:lnTo>
                  <a:lnTo>
                    <a:pt x="1621627" y="55981"/>
                  </a:lnTo>
                  <a:lnTo>
                    <a:pt x="1655429" y="84978"/>
                  </a:lnTo>
                  <a:lnTo>
                    <a:pt x="1684426" y="118780"/>
                  </a:lnTo>
                  <a:lnTo>
                    <a:pt x="1708021" y="156788"/>
                  </a:lnTo>
                  <a:lnTo>
                    <a:pt x="1725615" y="198404"/>
                  </a:lnTo>
                  <a:lnTo>
                    <a:pt x="1736610" y="243030"/>
                  </a:lnTo>
                  <a:lnTo>
                    <a:pt x="1740407" y="290067"/>
                  </a:lnTo>
                  <a:lnTo>
                    <a:pt x="1740407" y="2559812"/>
                  </a:lnTo>
                  <a:lnTo>
                    <a:pt x="1736610" y="2606861"/>
                  </a:lnTo>
                  <a:lnTo>
                    <a:pt x="1725615" y="2651495"/>
                  </a:lnTo>
                  <a:lnTo>
                    <a:pt x="1708021" y="2693113"/>
                  </a:lnTo>
                  <a:lnTo>
                    <a:pt x="1684426" y="2731121"/>
                  </a:lnTo>
                  <a:lnTo>
                    <a:pt x="1655429" y="2764920"/>
                  </a:lnTo>
                  <a:lnTo>
                    <a:pt x="1621627" y="2793913"/>
                  </a:lnTo>
                  <a:lnTo>
                    <a:pt x="1583619" y="2817502"/>
                  </a:lnTo>
                  <a:lnTo>
                    <a:pt x="1542003" y="2835091"/>
                  </a:lnTo>
                  <a:lnTo>
                    <a:pt x="1497377" y="2846083"/>
                  </a:lnTo>
                  <a:lnTo>
                    <a:pt x="1450339" y="2849880"/>
                  </a:lnTo>
                  <a:lnTo>
                    <a:pt x="290068" y="2849880"/>
                  </a:lnTo>
                  <a:lnTo>
                    <a:pt x="243030" y="2846083"/>
                  </a:lnTo>
                  <a:lnTo>
                    <a:pt x="198404" y="2835091"/>
                  </a:lnTo>
                  <a:lnTo>
                    <a:pt x="156788" y="2817502"/>
                  </a:lnTo>
                  <a:lnTo>
                    <a:pt x="118780" y="2793913"/>
                  </a:lnTo>
                  <a:lnTo>
                    <a:pt x="84978" y="2764920"/>
                  </a:lnTo>
                  <a:lnTo>
                    <a:pt x="55981" y="2731121"/>
                  </a:lnTo>
                  <a:lnTo>
                    <a:pt x="32386" y="2693113"/>
                  </a:lnTo>
                  <a:lnTo>
                    <a:pt x="14792" y="2651495"/>
                  </a:lnTo>
                  <a:lnTo>
                    <a:pt x="3797" y="2606861"/>
                  </a:lnTo>
                  <a:lnTo>
                    <a:pt x="0" y="2559812"/>
                  </a:lnTo>
                  <a:lnTo>
                    <a:pt x="0" y="290067"/>
                  </a:lnTo>
                  <a:close/>
                </a:path>
              </a:pathLst>
            </a:custGeom>
            <a:ln w="76200">
              <a:solidFill>
                <a:srgbClr val="BEBEBE"/>
              </a:solidFill>
            </a:ln>
          </p:spPr>
          <p:txBody>
            <a:bodyPr wrap="square" lIns="0" tIns="0" rIns="0" bIns="0" rtlCol="0"/>
            <a:lstStyle/>
            <a:p>
              <a:endParaRPr/>
            </a:p>
          </p:txBody>
        </p:sp>
        <p:sp>
          <p:nvSpPr>
            <p:cNvPr id="23" name="object 23"/>
            <p:cNvSpPr/>
            <p:nvPr/>
          </p:nvSpPr>
          <p:spPr>
            <a:xfrm>
              <a:off x="8200643" y="2955036"/>
              <a:ext cx="1579245" cy="668020"/>
            </a:xfrm>
            <a:custGeom>
              <a:avLst/>
              <a:gdLst/>
              <a:ahLst/>
              <a:cxnLst/>
              <a:rect l="l" t="t" r="r" b="b"/>
              <a:pathLst>
                <a:path w="1579245" h="668020">
                  <a:moveTo>
                    <a:pt x="1415287" y="0"/>
                  </a:moveTo>
                  <a:lnTo>
                    <a:pt x="163575" y="0"/>
                  </a:lnTo>
                  <a:lnTo>
                    <a:pt x="120106" y="5846"/>
                  </a:lnTo>
                  <a:lnTo>
                    <a:pt x="81035" y="22342"/>
                  </a:lnTo>
                  <a:lnTo>
                    <a:pt x="47926" y="47926"/>
                  </a:lnTo>
                  <a:lnTo>
                    <a:pt x="22342" y="81035"/>
                  </a:lnTo>
                  <a:lnTo>
                    <a:pt x="5846" y="120106"/>
                  </a:lnTo>
                  <a:lnTo>
                    <a:pt x="0" y="163575"/>
                  </a:lnTo>
                  <a:lnTo>
                    <a:pt x="0" y="503936"/>
                  </a:lnTo>
                  <a:lnTo>
                    <a:pt x="5846" y="547405"/>
                  </a:lnTo>
                  <a:lnTo>
                    <a:pt x="22342" y="586476"/>
                  </a:lnTo>
                  <a:lnTo>
                    <a:pt x="47926" y="619585"/>
                  </a:lnTo>
                  <a:lnTo>
                    <a:pt x="81035" y="645169"/>
                  </a:lnTo>
                  <a:lnTo>
                    <a:pt x="120106" y="661665"/>
                  </a:lnTo>
                  <a:lnTo>
                    <a:pt x="163575" y="667512"/>
                  </a:lnTo>
                  <a:lnTo>
                    <a:pt x="1415287" y="667512"/>
                  </a:lnTo>
                  <a:lnTo>
                    <a:pt x="1458757" y="661665"/>
                  </a:lnTo>
                  <a:lnTo>
                    <a:pt x="1497828" y="645169"/>
                  </a:lnTo>
                  <a:lnTo>
                    <a:pt x="1530937" y="619585"/>
                  </a:lnTo>
                  <a:lnTo>
                    <a:pt x="1556521" y="586476"/>
                  </a:lnTo>
                  <a:lnTo>
                    <a:pt x="1573017" y="547405"/>
                  </a:lnTo>
                  <a:lnTo>
                    <a:pt x="1578863" y="503936"/>
                  </a:lnTo>
                  <a:lnTo>
                    <a:pt x="1578863" y="163575"/>
                  </a:lnTo>
                  <a:lnTo>
                    <a:pt x="1573017" y="120106"/>
                  </a:lnTo>
                  <a:lnTo>
                    <a:pt x="1556521" y="81035"/>
                  </a:lnTo>
                  <a:lnTo>
                    <a:pt x="1530937" y="47926"/>
                  </a:lnTo>
                  <a:lnTo>
                    <a:pt x="1497828" y="22342"/>
                  </a:lnTo>
                  <a:lnTo>
                    <a:pt x="1458757" y="5846"/>
                  </a:lnTo>
                  <a:lnTo>
                    <a:pt x="1415287" y="0"/>
                  </a:lnTo>
                  <a:close/>
                </a:path>
              </a:pathLst>
            </a:custGeom>
            <a:solidFill>
              <a:srgbClr val="8063A1"/>
            </a:solidFill>
          </p:spPr>
          <p:txBody>
            <a:bodyPr wrap="square" lIns="0" tIns="0" rIns="0" bIns="0" rtlCol="0"/>
            <a:lstStyle/>
            <a:p>
              <a:endParaRPr/>
            </a:p>
          </p:txBody>
        </p:sp>
      </p:grpSp>
      <p:sp>
        <p:nvSpPr>
          <p:cNvPr id="24" name="object 24"/>
          <p:cNvSpPr txBox="1"/>
          <p:nvPr/>
        </p:nvSpPr>
        <p:spPr>
          <a:xfrm>
            <a:off x="10399090" y="3558033"/>
            <a:ext cx="1176020" cy="239395"/>
          </a:xfrm>
          <a:prstGeom prst="rect">
            <a:avLst/>
          </a:prstGeom>
        </p:spPr>
        <p:txBody>
          <a:bodyPr vert="horz" wrap="square" lIns="0" tIns="13335" rIns="0" bIns="0" rtlCol="0">
            <a:spAutoFit/>
          </a:bodyPr>
          <a:lstStyle/>
          <a:p>
            <a:pPr marL="12700">
              <a:lnSpc>
                <a:spcPct val="100000"/>
              </a:lnSpc>
              <a:spcBef>
                <a:spcPts val="105"/>
              </a:spcBef>
            </a:pPr>
            <a:r>
              <a:rPr sz="1400" b="1" spc="50" dirty="0">
                <a:solidFill>
                  <a:srgbClr val="FFFFFF"/>
                </a:solidFill>
                <a:latin typeface="Trebuchet MS"/>
                <a:cs typeface="Trebuchet MS"/>
              </a:rPr>
              <a:t>Multiple</a:t>
            </a:r>
            <a:r>
              <a:rPr sz="1400" b="1" spc="-25" dirty="0">
                <a:solidFill>
                  <a:srgbClr val="FFFFFF"/>
                </a:solidFill>
                <a:latin typeface="Trebuchet MS"/>
                <a:cs typeface="Trebuchet MS"/>
              </a:rPr>
              <a:t> </a:t>
            </a:r>
            <a:r>
              <a:rPr sz="1400" b="1" spc="40" dirty="0">
                <a:solidFill>
                  <a:srgbClr val="FFFFFF"/>
                </a:solidFill>
                <a:latin typeface="Trebuchet MS"/>
                <a:cs typeface="Trebuchet MS"/>
              </a:rPr>
              <a:t>APIs</a:t>
            </a:r>
            <a:endParaRPr sz="1400">
              <a:latin typeface="Trebuchet MS"/>
              <a:cs typeface="Trebuchet MS"/>
            </a:endParaRPr>
          </a:p>
        </p:txBody>
      </p:sp>
      <p:sp>
        <p:nvSpPr>
          <p:cNvPr id="25" name="object 25"/>
          <p:cNvSpPr txBox="1"/>
          <p:nvPr/>
        </p:nvSpPr>
        <p:spPr>
          <a:xfrm>
            <a:off x="10337876" y="5624881"/>
            <a:ext cx="230504" cy="452120"/>
          </a:xfrm>
          <a:prstGeom prst="rect">
            <a:avLst/>
          </a:prstGeom>
        </p:spPr>
        <p:txBody>
          <a:bodyPr vert="horz" wrap="square" lIns="0" tIns="12065" rIns="0" bIns="0" rtlCol="0">
            <a:spAutoFit/>
          </a:bodyPr>
          <a:lstStyle/>
          <a:p>
            <a:pPr marL="12700">
              <a:lnSpc>
                <a:spcPct val="100000"/>
              </a:lnSpc>
              <a:spcBef>
                <a:spcPts val="95"/>
              </a:spcBef>
            </a:pPr>
            <a:r>
              <a:rPr sz="2800" b="1" spc="-30" dirty="0">
                <a:solidFill>
                  <a:srgbClr val="BEBEBE"/>
                </a:solidFill>
                <a:latin typeface="Trebuchet MS"/>
                <a:cs typeface="Trebuchet MS"/>
              </a:rPr>
              <a:t>4</a:t>
            </a:r>
            <a:endParaRPr sz="2800">
              <a:latin typeface="Trebuchet MS"/>
              <a:cs typeface="Trebuchet MS"/>
            </a:endParaRPr>
          </a:p>
        </p:txBody>
      </p:sp>
      <p:grpSp>
        <p:nvGrpSpPr>
          <p:cNvPr id="26" name="object 26"/>
          <p:cNvGrpSpPr/>
          <p:nvPr/>
        </p:nvGrpSpPr>
        <p:grpSpPr>
          <a:xfrm>
            <a:off x="5172279" y="1790701"/>
            <a:ext cx="5789930" cy="1564640"/>
            <a:chOff x="3165348" y="1394460"/>
            <a:chExt cx="5789930" cy="1564640"/>
          </a:xfrm>
        </p:grpSpPr>
        <p:sp>
          <p:nvSpPr>
            <p:cNvPr id="27" name="object 27"/>
            <p:cNvSpPr/>
            <p:nvPr/>
          </p:nvSpPr>
          <p:spPr>
            <a:xfrm>
              <a:off x="3203448" y="2455163"/>
              <a:ext cx="5713730" cy="27305"/>
            </a:xfrm>
            <a:custGeom>
              <a:avLst/>
              <a:gdLst/>
              <a:ahLst/>
              <a:cxnLst/>
              <a:rect l="l" t="t" r="r" b="b"/>
              <a:pathLst>
                <a:path w="5713730" h="27305">
                  <a:moveTo>
                    <a:pt x="0" y="27050"/>
                  </a:moveTo>
                  <a:lnTo>
                    <a:pt x="5713603" y="0"/>
                  </a:lnTo>
                </a:path>
              </a:pathLst>
            </a:custGeom>
            <a:ln w="76200">
              <a:solidFill>
                <a:srgbClr val="BEBEBE"/>
              </a:solidFill>
            </a:ln>
          </p:spPr>
          <p:txBody>
            <a:bodyPr wrap="square" lIns="0" tIns="0" rIns="0" bIns="0" rtlCol="0"/>
            <a:lstStyle/>
            <a:p>
              <a:endParaRPr/>
            </a:p>
          </p:txBody>
        </p:sp>
        <p:sp>
          <p:nvSpPr>
            <p:cNvPr id="28" name="object 28"/>
            <p:cNvSpPr/>
            <p:nvPr/>
          </p:nvSpPr>
          <p:spPr>
            <a:xfrm>
              <a:off x="5090160" y="2506980"/>
              <a:ext cx="19050" cy="414020"/>
            </a:xfrm>
            <a:custGeom>
              <a:avLst/>
              <a:gdLst/>
              <a:ahLst/>
              <a:cxnLst/>
              <a:rect l="l" t="t" r="r" b="b"/>
              <a:pathLst>
                <a:path w="19050" h="414019">
                  <a:moveTo>
                    <a:pt x="9270" y="-38100"/>
                  </a:moveTo>
                  <a:lnTo>
                    <a:pt x="9270" y="452120"/>
                  </a:lnTo>
                </a:path>
              </a:pathLst>
            </a:custGeom>
            <a:ln w="94741">
              <a:solidFill>
                <a:srgbClr val="BEBEBE"/>
              </a:solidFill>
            </a:ln>
          </p:spPr>
          <p:txBody>
            <a:bodyPr wrap="square" lIns="0" tIns="0" rIns="0" bIns="0" rtlCol="0"/>
            <a:lstStyle/>
            <a:p>
              <a:endParaRPr/>
            </a:p>
          </p:txBody>
        </p:sp>
        <p:sp>
          <p:nvSpPr>
            <p:cNvPr id="29" name="object 29"/>
            <p:cNvSpPr/>
            <p:nvPr/>
          </p:nvSpPr>
          <p:spPr>
            <a:xfrm>
              <a:off x="7054595" y="2455163"/>
              <a:ext cx="1905" cy="433070"/>
            </a:xfrm>
            <a:custGeom>
              <a:avLst/>
              <a:gdLst/>
              <a:ahLst/>
              <a:cxnLst/>
              <a:rect l="l" t="t" r="r" b="b"/>
              <a:pathLst>
                <a:path w="1904" h="433069">
                  <a:moveTo>
                    <a:pt x="761" y="-38100"/>
                  </a:moveTo>
                  <a:lnTo>
                    <a:pt x="761" y="471170"/>
                  </a:lnTo>
                </a:path>
              </a:pathLst>
            </a:custGeom>
            <a:ln w="77724">
              <a:solidFill>
                <a:srgbClr val="BEBEBE"/>
              </a:solidFill>
            </a:ln>
          </p:spPr>
          <p:txBody>
            <a:bodyPr wrap="square" lIns="0" tIns="0" rIns="0" bIns="0" rtlCol="0"/>
            <a:lstStyle/>
            <a:p>
              <a:endParaRPr/>
            </a:p>
          </p:txBody>
        </p:sp>
        <p:sp>
          <p:nvSpPr>
            <p:cNvPr id="30" name="object 30"/>
            <p:cNvSpPr/>
            <p:nvPr/>
          </p:nvSpPr>
          <p:spPr>
            <a:xfrm>
              <a:off x="8892539" y="2456688"/>
              <a:ext cx="1905" cy="433070"/>
            </a:xfrm>
            <a:custGeom>
              <a:avLst/>
              <a:gdLst/>
              <a:ahLst/>
              <a:cxnLst/>
              <a:rect l="l" t="t" r="r" b="b"/>
              <a:pathLst>
                <a:path w="1904" h="433069">
                  <a:moveTo>
                    <a:pt x="761" y="-38100"/>
                  </a:moveTo>
                  <a:lnTo>
                    <a:pt x="761" y="471170"/>
                  </a:lnTo>
                </a:path>
              </a:pathLst>
            </a:custGeom>
            <a:ln w="77724">
              <a:solidFill>
                <a:srgbClr val="BEBEBE"/>
              </a:solidFill>
            </a:ln>
          </p:spPr>
          <p:txBody>
            <a:bodyPr wrap="square" lIns="0" tIns="0" rIns="0" bIns="0" rtlCol="0"/>
            <a:lstStyle/>
            <a:p>
              <a:endParaRPr/>
            </a:p>
          </p:txBody>
        </p:sp>
        <p:sp>
          <p:nvSpPr>
            <p:cNvPr id="31" name="object 31"/>
            <p:cNvSpPr/>
            <p:nvPr/>
          </p:nvSpPr>
          <p:spPr>
            <a:xfrm>
              <a:off x="6009132" y="2017776"/>
              <a:ext cx="0" cy="434975"/>
            </a:xfrm>
            <a:custGeom>
              <a:avLst/>
              <a:gdLst/>
              <a:ahLst/>
              <a:cxnLst/>
              <a:rect l="l" t="t" r="r" b="b"/>
              <a:pathLst>
                <a:path h="434975">
                  <a:moveTo>
                    <a:pt x="0" y="0"/>
                  </a:moveTo>
                  <a:lnTo>
                    <a:pt x="0" y="434721"/>
                  </a:lnTo>
                </a:path>
              </a:pathLst>
            </a:custGeom>
            <a:ln w="76200">
              <a:solidFill>
                <a:srgbClr val="BEBEBE"/>
              </a:solidFill>
            </a:ln>
          </p:spPr>
          <p:txBody>
            <a:bodyPr wrap="square" lIns="0" tIns="0" rIns="0" bIns="0" rtlCol="0"/>
            <a:lstStyle/>
            <a:p>
              <a:endParaRPr/>
            </a:p>
          </p:txBody>
        </p:sp>
        <p:sp>
          <p:nvSpPr>
            <p:cNvPr id="32" name="object 32"/>
            <p:cNvSpPr/>
            <p:nvPr/>
          </p:nvSpPr>
          <p:spPr>
            <a:xfrm>
              <a:off x="3973830" y="1413510"/>
              <a:ext cx="4185285" cy="617220"/>
            </a:xfrm>
            <a:custGeom>
              <a:avLst/>
              <a:gdLst/>
              <a:ahLst/>
              <a:cxnLst/>
              <a:rect l="l" t="t" r="r" b="b"/>
              <a:pathLst>
                <a:path w="4185284" h="617219">
                  <a:moveTo>
                    <a:pt x="3876294" y="0"/>
                  </a:moveTo>
                  <a:lnTo>
                    <a:pt x="308610" y="0"/>
                  </a:lnTo>
                  <a:lnTo>
                    <a:pt x="263007" y="3346"/>
                  </a:lnTo>
                  <a:lnTo>
                    <a:pt x="219481" y="13066"/>
                  </a:lnTo>
                  <a:lnTo>
                    <a:pt x="178510" y="28684"/>
                  </a:lnTo>
                  <a:lnTo>
                    <a:pt x="140571" y="49720"/>
                  </a:lnTo>
                  <a:lnTo>
                    <a:pt x="106141" y="75699"/>
                  </a:lnTo>
                  <a:lnTo>
                    <a:pt x="75699" y="106141"/>
                  </a:lnTo>
                  <a:lnTo>
                    <a:pt x="49720" y="140571"/>
                  </a:lnTo>
                  <a:lnTo>
                    <a:pt x="28684" y="178510"/>
                  </a:lnTo>
                  <a:lnTo>
                    <a:pt x="13066" y="219481"/>
                  </a:lnTo>
                  <a:lnTo>
                    <a:pt x="3346" y="263007"/>
                  </a:lnTo>
                  <a:lnTo>
                    <a:pt x="0" y="308610"/>
                  </a:lnTo>
                  <a:lnTo>
                    <a:pt x="3346" y="354212"/>
                  </a:lnTo>
                  <a:lnTo>
                    <a:pt x="13066" y="397738"/>
                  </a:lnTo>
                  <a:lnTo>
                    <a:pt x="28684" y="438709"/>
                  </a:lnTo>
                  <a:lnTo>
                    <a:pt x="49720" y="476648"/>
                  </a:lnTo>
                  <a:lnTo>
                    <a:pt x="75699" y="511078"/>
                  </a:lnTo>
                  <a:lnTo>
                    <a:pt x="106141" y="541520"/>
                  </a:lnTo>
                  <a:lnTo>
                    <a:pt x="140571" y="567499"/>
                  </a:lnTo>
                  <a:lnTo>
                    <a:pt x="178510" y="588535"/>
                  </a:lnTo>
                  <a:lnTo>
                    <a:pt x="219481" y="604153"/>
                  </a:lnTo>
                  <a:lnTo>
                    <a:pt x="263007" y="613873"/>
                  </a:lnTo>
                  <a:lnTo>
                    <a:pt x="308610" y="617219"/>
                  </a:lnTo>
                  <a:lnTo>
                    <a:pt x="3876294" y="617219"/>
                  </a:lnTo>
                  <a:lnTo>
                    <a:pt x="3921896" y="613873"/>
                  </a:lnTo>
                  <a:lnTo>
                    <a:pt x="3965422" y="604153"/>
                  </a:lnTo>
                  <a:lnTo>
                    <a:pt x="4006393" y="588535"/>
                  </a:lnTo>
                  <a:lnTo>
                    <a:pt x="4044332" y="567499"/>
                  </a:lnTo>
                  <a:lnTo>
                    <a:pt x="4078762" y="541520"/>
                  </a:lnTo>
                  <a:lnTo>
                    <a:pt x="4109204" y="511078"/>
                  </a:lnTo>
                  <a:lnTo>
                    <a:pt x="4135183" y="476648"/>
                  </a:lnTo>
                  <a:lnTo>
                    <a:pt x="4156219" y="438709"/>
                  </a:lnTo>
                  <a:lnTo>
                    <a:pt x="4171837" y="397738"/>
                  </a:lnTo>
                  <a:lnTo>
                    <a:pt x="4181557" y="354212"/>
                  </a:lnTo>
                  <a:lnTo>
                    <a:pt x="4184904" y="308610"/>
                  </a:lnTo>
                  <a:lnTo>
                    <a:pt x="4181557" y="263007"/>
                  </a:lnTo>
                  <a:lnTo>
                    <a:pt x="4171837" y="219481"/>
                  </a:lnTo>
                  <a:lnTo>
                    <a:pt x="4156219" y="178510"/>
                  </a:lnTo>
                  <a:lnTo>
                    <a:pt x="4135183" y="140571"/>
                  </a:lnTo>
                  <a:lnTo>
                    <a:pt x="4109204" y="106141"/>
                  </a:lnTo>
                  <a:lnTo>
                    <a:pt x="4078762" y="75699"/>
                  </a:lnTo>
                  <a:lnTo>
                    <a:pt x="4044332" y="49720"/>
                  </a:lnTo>
                  <a:lnTo>
                    <a:pt x="4006393" y="28684"/>
                  </a:lnTo>
                  <a:lnTo>
                    <a:pt x="3965422" y="13066"/>
                  </a:lnTo>
                  <a:lnTo>
                    <a:pt x="3921896" y="3346"/>
                  </a:lnTo>
                  <a:lnTo>
                    <a:pt x="3876294" y="0"/>
                  </a:lnTo>
                  <a:close/>
                </a:path>
              </a:pathLst>
            </a:custGeom>
            <a:solidFill>
              <a:srgbClr val="FFFFFF">
                <a:alpha val="78823"/>
              </a:srgbClr>
            </a:solidFill>
          </p:spPr>
          <p:txBody>
            <a:bodyPr wrap="square" lIns="0" tIns="0" rIns="0" bIns="0" rtlCol="0"/>
            <a:lstStyle/>
            <a:p>
              <a:endParaRPr/>
            </a:p>
          </p:txBody>
        </p:sp>
        <p:sp>
          <p:nvSpPr>
            <p:cNvPr id="33" name="object 33"/>
            <p:cNvSpPr/>
            <p:nvPr/>
          </p:nvSpPr>
          <p:spPr>
            <a:xfrm>
              <a:off x="3973830" y="1413510"/>
              <a:ext cx="4185285" cy="617220"/>
            </a:xfrm>
            <a:custGeom>
              <a:avLst/>
              <a:gdLst/>
              <a:ahLst/>
              <a:cxnLst/>
              <a:rect l="l" t="t" r="r" b="b"/>
              <a:pathLst>
                <a:path w="4185284" h="617219">
                  <a:moveTo>
                    <a:pt x="0" y="308610"/>
                  </a:moveTo>
                  <a:lnTo>
                    <a:pt x="3346" y="263007"/>
                  </a:lnTo>
                  <a:lnTo>
                    <a:pt x="13066" y="219481"/>
                  </a:lnTo>
                  <a:lnTo>
                    <a:pt x="28684" y="178510"/>
                  </a:lnTo>
                  <a:lnTo>
                    <a:pt x="49720" y="140571"/>
                  </a:lnTo>
                  <a:lnTo>
                    <a:pt x="75699" y="106141"/>
                  </a:lnTo>
                  <a:lnTo>
                    <a:pt x="106141" y="75699"/>
                  </a:lnTo>
                  <a:lnTo>
                    <a:pt x="140571" y="49720"/>
                  </a:lnTo>
                  <a:lnTo>
                    <a:pt x="178510" y="28684"/>
                  </a:lnTo>
                  <a:lnTo>
                    <a:pt x="219481" y="13066"/>
                  </a:lnTo>
                  <a:lnTo>
                    <a:pt x="263007" y="3346"/>
                  </a:lnTo>
                  <a:lnTo>
                    <a:pt x="308610" y="0"/>
                  </a:lnTo>
                  <a:lnTo>
                    <a:pt x="3876294" y="0"/>
                  </a:lnTo>
                  <a:lnTo>
                    <a:pt x="3921896" y="3346"/>
                  </a:lnTo>
                  <a:lnTo>
                    <a:pt x="3965422" y="13066"/>
                  </a:lnTo>
                  <a:lnTo>
                    <a:pt x="4006393" y="28684"/>
                  </a:lnTo>
                  <a:lnTo>
                    <a:pt x="4044332" y="49720"/>
                  </a:lnTo>
                  <a:lnTo>
                    <a:pt x="4078762" y="75699"/>
                  </a:lnTo>
                  <a:lnTo>
                    <a:pt x="4109204" y="106141"/>
                  </a:lnTo>
                  <a:lnTo>
                    <a:pt x="4135183" y="140571"/>
                  </a:lnTo>
                  <a:lnTo>
                    <a:pt x="4156219" y="178510"/>
                  </a:lnTo>
                  <a:lnTo>
                    <a:pt x="4171837" y="219481"/>
                  </a:lnTo>
                  <a:lnTo>
                    <a:pt x="4181557" y="263007"/>
                  </a:lnTo>
                  <a:lnTo>
                    <a:pt x="4184904" y="308610"/>
                  </a:lnTo>
                  <a:lnTo>
                    <a:pt x="4181557" y="354212"/>
                  </a:lnTo>
                  <a:lnTo>
                    <a:pt x="4171837" y="397738"/>
                  </a:lnTo>
                  <a:lnTo>
                    <a:pt x="4156219" y="438709"/>
                  </a:lnTo>
                  <a:lnTo>
                    <a:pt x="4135183" y="476648"/>
                  </a:lnTo>
                  <a:lnTo>
                    <a:pt x="4109204" y="511078"/>
                  </a:lnTo>
                  <a:lnTo>
                    <a:pt x="4078762" y="541520"/>
                  </a:lnTo>
                  <a:lnTo>
                    <a:pt x="4044332" y="567499"/>
                  </a:lnTo>
                  <a:lnTo>
                    <a:pt x="4006393" y="588535"/>
                  </a:lnTo>
                  <a:lnTo>
                    <a:pt x="3965422" y="604153"/>
                  </a:lnTo>
                  <a:lnTo>
                    <a:pt x="3921896" y="613873"/>
                  </a:lnTo>
                  <a:lnTo>
                    <a:pt x="3876294" y="617219"/>
                  </a:lnTo>
                  <a:lnTo>
                    <a:pt x="308610" y="617219"/>
                  </a:lnTo>
                  <a:lnTo>
                    <a:pt x="263007" y="613873"/>
                  </a:lnTo>
                  <a:lnTo>
                    <a:pt x="219481" y="604153"/>
                  </a:lnTo>
                  <a:lnTo>
                    <a:pt x="178510" y="588535"/>
                  </a:lnTo>
                  <a:lnTo>
                    <a:pt x="140571" y="567499"/>
                  </a:lnTo>
                  <a:lnTo>
                    <a:pt x="106141" y="541520"/>
                  </a:lnTo>
                  <a:lnTo>
                    <a:pt x="75699" y="511078"/>
                  </a:lnTo>
                  <a:lnTo>
                    <a:pt x="49720" y="476648"/>
                  </a:lnTo>
                  <a:lnTo>
                    <a:pt x="28684" y="438709"/>
                  </a:lnTo>
                  <a:lnTo>
                    <a:pt x="13066" y="397738"/>
                  </a:lnTo>
                  <a:lnTo>
                    <a:pt x="3346" y="354212"/>
                  </a:lnTo>
                  <a:lnTo>
                    <a:pt x="0" y="308610"/>
                  </a:lnTo>
                  <a:close/>
                </a:path>
              </a:pathLst>
            </a:custGeom>
            <a:ln w="38100">
              <a:solidFill>
                <a:srgbClr val="990000"/>
              </a:solidFill>
            </a:ln>
          </p:spPr>
          <p:txBody>
            <a:bodyPr wrap="square" lIns="0" tIns="0" rIns="0" bIns="0" rtlCol="0"/>
            <a:lstStyle/>
            <a:p>
              <a:endParaRPr/>
            </a:p>
          </p:txBody>
        </p:sp>
      </p:grpSp>
      <p:sp>
        <p:nvSpPr>
          <p:cNvPr id="34" name="object 34"/>
          <p:cNvSpPr txBox="1"/>
          <p:nvPr/>
        </p:nvSpPr>
        <p:spPr>
          <a:xfrm>
            <a:off x="7275145" y="1934338"/>
            <a:ext cx="1597660" cy="360680"/>
          </a:xfrm>
          <a:prstGeom prst="rect">
            <a:avLst/>
          </a:prstGeom>
        </p:spPr>
        <p:txBody>
          <a:bodyPr vert="horz" wrap="square" lIns="0" tIns="12065" rIns="0" bIns="0" rtlCol="0">
            <a:spAutoFit/>
          </a:bodyPr>
          <a:lstStyle/>
          <a:p>
            <a:pPr marL="12700">
              <a:lnSpc>
                <a:spcPct val="100000"/>
              </a:lnSpc>
              <a:spcBef>
                <a:spcPts val="95"/>
              </a:spcBef>
            </a:pPr>
            <a:r>
              <a:rPr sz="2200" b="1" spc="70" dirty="0">
                <a:latin typeface="Trebuchet MS"/>
                <a:cs typeface="Trebuchet MS"/>
              </a:rPr>
              <a:t>Adva</a:t>
            </a:r>
            <a:r>
              <a:rPr sz="2200" b="1" spc="75" dirty="0">
                <a:latin typeface="Trebuchet MS"/>
                <a:cs typeface="Trebuchet MS"/>
              </a:rPr>
              <a:t>ntage</a:t>
            </a:r>
            <a:r>
              <a:rPr sz="2200" b="1" spc="25" dirty="0">
                <a:latin typeface="Trebuchet MS"/>
                <a:cs typeface="Trebuchet MS"/>
              </a:rPr>
              <a:t>s</a:t>
            </a:r>
            <a:endParaRPr sz="2200">
              <a:latin typeface="Trebuchet MS"/>
              <a:cs typeface="Trebuchet MS"/>
            </a:endParaRPr>
          </a:p>
        </p:txBody>
      </p:sp>
      <p:sp>
        <p:nvSpPr>
          <p:cNvPr id="35" name="object 35"/>
          <p:cNvSpPr txBox="1"/>
          <p:nvPr/>
        </p:nvSpPr>
        <p:spPr>
          <a:xfrm>
            <a:off x="6426277" y="4104513"/>
            <a:ext cx="1506220" cy="1092835"/>
          </a:xfrm>
          <a:prstGeom prst="rect">
            <a:avLst/>
          </a:prstGeom>
        </p:spPr>
        <p:txBody>
          <a:bodyPr vert="horz" wrap="square" lIns="0" tIns="12700" rIns="0" bIns="0" rtlCol="0">
            <a:spAutoFit/>
          </a:bodyPr>
          <a:lstStyle/>
          <a:p>
            <a:pPr marL="355600" indent="-342900">
              <a:lnSpc>
                <a:spcPct val="100000"/>
              </a:lnSpc>
              <a:spcBef>
                <a:spcPts val="100"/>
              </a:spcBef>
              <a:buAutoNum type="arabicPeriod"/>
              <a:tabLst>
                <a:tab pos="354965" algn="l"/>
                <a:tab pos="355600" algn="l"/>
              </a:tabLst>
            </a:pPr>
            <a:r>
              <a:rPr sz="1400" spc="25" dirty="0">
                <a:latin typeface="Trebuchet MS"/>
                <a:cs typeface="Trebuchet MS"/>
              </a:rPr>
              <a:t>SQL-like</a:t>
            </a:r>
            <a:endParaRPr sz="1400">
              <a:latin typeface="Trebuchet MS"/>
              <a:cs typeface="Trebuchet MS"/>
            </a:endParaRPr>
          </a:p>
          <a:p>
            <a:pPr marL="355600">
              <a:lnSpc>
                <a:spcPct val="100000"/>
              </a:lnSpc>
              <a:spcBef>
                <a:spcPts val="5"/>
              </a:spcBef>
            </a:pPr>
            <a:r>
              <a:rPr sz="1400" spc="5" dirty="0">
                <a:latin typeface="Trebuchet MS"/>
                <a:cs typeface="Trebuchet MS"/>
              </a:rPr>
              <a:t>syntax</a:t>
            </a:r>
            <a:endParaRPr sz="1400">
              <a:latin typeface="Trebuchet MS"/>
              <a:cs typeface="Trebuchet MS"/>
            </a:endParaRPr>
          </a:p>
          <a:p>
            <a:pPr marL="355600" marR="5080" indent="-342900">
              <a:lnSpc>
                <a:spcPct val="100000"/>
              </a:lnSpc>
              <a:buAutoNum type="arabicPeriod" startAt="2"/>
              <a:tabLst>
                <a:tab pos="354965" algn="l"/>
                <a:tab pos="355600" algn="l"/>
              </a:tabLst>
            </a:pPr>
            <a:r>
              <a:rPr sz="1400" spc="20" dirty="0">
                <a:latin typeface="Trebuchet MS"/>
                <a:cs typeface="Trebuchet MS"/>
              </a:rPr>
              <a:t>Large</a:t>
            </a:r>
            <a:r>
              <a:rPr sz="1400" spc="-80" dirty="0">
                <a:latin typeface="Trebuchet MS"/>
                <a:cs typeface="Trebuchet MS"/>
              </a:rPr>
              <a:t> </a:t>
            </a:r>
            <a:r>
              <a:rPr sz="1400" spc="25" dirty="0">
                <a:latin typeface="Trebuchet MS"/>
                <a:cs typeface="Trebuchet MS"/>
              </a:rPr>
              <a:t>number  </a:t>
            </a:r>
            <a:r>
              <a:rPr sz="1400" spc="10" dirty="0">
                <a:latin typeface="Trebuchet MS"/>
                <a:cs typeface="Trebuchet MS"/>
              </a:rPr>
              <a:t>of </a:t>
            </a:r>
            <a:r>
              <a:rPr sz="1400" dirty="0">
                <a:latin typeface="Trebuchet MS"/>
                <a:cs typeface="Trebuchet MS"/>
              </a:rPr>
              <a:t>built-in  </a:t>
            </a:r>
            <a:r>
              <a:rPr sz="1400" spc="5" dirty="0">
                <a:latin typeface="Trebuchet MS"/>
                <a:cs typeface="Trebuchet MS"/>
              </a:rPr>
              <a:t>functions</a:t>
            </a:r>
            <a:endParaRPr sz="1400">
              <a:latin typeface="Trebuchet MS"/>
              <a:cs typeface="Trebuchet MS"/>
            </a:endParaRPr>
          </a:p>
        </p:txBody>
      </p:sp>
      <p:sp>
        <p:nvSpPr>
          <p:cNvPr id="36" name="object 36"/>
          <p:cNvSpPr txBox="1"/>
          <p:nvPr/>
        </p:nvSpPr>
        <p:spPr>
          <a:xfrm>
            <a:off x="8298129" y="4104513"/>
            <a:ext cx="1410335" cy="1092835"/>
          </a:xfrm>
          <a:prstGeom prst="rect">
            <a:avLst/>
          </a:prstGeom>
        </p:spPr>
        <p:txBody>
          <a:bodyPr vert="horz" wrap="square" lIns="0" tIns="12700" rIns="0" bIns="0" rtlCol="0">
            <a:spAutoFit/>
          </a:bodyPr>
          <a:lstStyle/>
          <a:p>
            <a:pPr marL="355600" marR="5080" indent="-342900">
              <a:lnSpc>
                <a:spcPct val="100000"/>
              </a:lnSpc>
              <a:spcBef>
                <a:spcPts val="100"/>
              </a:spcBef>
              <a:buAutoNum type="arabicPeriod"/>
              <a:tabLst>
                <a:tab pos="354965" algn="l"/>
                <a:tab pos="355600" algn="l"/>
              </a:tabLst>
            </a:pPr>
            <a:r>
              <a:rPr sz="1400" spc="105" dirty="0">
                <a:latin typeface="Trebuchet MS"/>
                <a:cs typeface="Trebuchet MS"/>
              </a:rPr>
              <a:t>U</a:t>
            </a:r>
            <a:r>
              <a:rPr sz="1400" spc="15" dirty="0">
                <a:latin typeface="Trebuchet MS"/>
                <a:cs typeface="Trebuchet MS"/>
              </a:rPr>
              <a:t>s</a:t>
            </a:r>
            <a:r>
              <a:rPr sz="1400" spc="-30" dirty="0">
                <a:latin typeface="Trebuchet MS"/>
                <a:cs typeface="Trebuchet MS"/>
              </a:rPr>
              <a:t>e</a:t>
            </a:r>
            <a:r>
              <a:rPr sz="1400" spc="-15" dirty="0">
                <a:latin typeface="Trebuchet MS"/>
                <a:cs typeface="Trebuchet MS"/>
              </a:rPr>
              <a:t>r</a:t>
            </a:r>
            <a:r>
              <a:rPr sz="1400" spc="35" dirty="0">
                <a:latin typeface="Trebuchet MS"/>
                <a:cs typeface="Trebuchet MS"/>
              </a:rPr>
              <a:t>-</a:t>
            </a:r>
            <a:r>
              <a:rPr sz="1400" spc="-5" dirty="0">
                <a:latin typeface="Trebuchet MS"/>
                <a:cs typeface="Trebuchet MS"/>
              </a:rPr>
              <a:t>defined  </a:t>
            </a:r>
            <a:r>
              <a:rPr sz="1400" spc="15" dirty="0">
                <a:latin typeface="Trebuchet MS"/>
                <a:cs typeface="Trebuchet MS"/>
              </a:rPr>
              <a:t>storage  </a:t>
            </a:r>
            <a:r>
              <a:rPr sz="1400" spc="10" dirty="0">
                <a:latin typeface="Trebuchet MS"/>
                <a:cs typeface="Trebuchet MS"/>
              </a:rPr>
              <a:t>format</a:t>
            </a:r>
            <a:endParaRPr sz="1400">
              <a:latin typeface="Trebuchet MS"/>
              <a:cs typeface="Trebuchet MS"/>
            </a:endParaRPr>
          </a:p>
          <a:p>
            <a:pPr marL="355600" marR="5080" indent="-342900">
              <a:lnSpc>
                <a:spcPct val="100000"/>
              </a:lnSpc>
              <a:buAutoNum type="arabicPeriod"/>
              <a:tabLst>
                <a:tab pos="354965" algn="l"/>
                <a:tab pos="355600" algn="l"/>
              </a:tabLst>
            </a:pPr>
            <a:r>
              <a:rPr sz="1400" spc="105" dirty="0">
                <a:latin typeface="Trebuchet MS"/>
                <a:cs typeface="Trebuchet MS"/>
              </a:rPr>
              <a:t>U</a:t>
            </a:r>
            <a:r>
              <a:rPr sz="1400" spc="15" dirty="0">
                <a:latin typeface="Trebuchet MS"/>
                <a:cs typeface="Trebuchet MS"/>
              </a:rPr>
              <a:t>s</a:t>
            </a:r>
            <a:r>
              <a:rPr sz="1400" spc="-30" dirty="0">
                <a:latin typeface="Trebuchet MS"/>
                <a:cs typeface="Trebuchet MS"/>
              </a:rPr>
              <a:t>e</a:t>
            </a:r>
            <a:r>
              <a:rPr sz="1400" spc="-15" dirty="0">
                <a:latin typeface="Trebuchet MS"/>
                <a:cs typeface="Trebuchet MS"/>
              </a:rPr>
              <a:t>r</a:t>
            </a:r>
            <a:r>
              <a:rPr sz="1400" spc="35" dirty="0">
                <a:latin typeface="Trebuchet MS"/>
                <a:cs typeface="Trebuchet MS"/>
              </a:rPr>
              <a:t>-</a:t>
            </a:r>
            <a:r>
              <a:rPr sz="1400" spc="-5" dirty="0">
                <a:latin typeface="Trebuchet MS"/>
                <a:cs typeface="Trebuchet MS"/>
              </a:rPr>
              <a:t>defined  </a:t>
            </a:r>
            <a:r>
              <a:rPr sz="1400" spc="5" dirty="0">
                <a:latin typeface="Trebuchet MS"/>
                <a:cs typeface="Trebuchet MS"/>
              </a:rPr>
              <a:t>function</a:t>
            </a:r>
            <a:endParaRPr sz="1400">
              <a:latin typeface="Trebuchet MS"/>
              <a:cs typeface="Trebuchet MS"/>
            </a:endParaRPr>
          </a:p>
        </p:txBody>
      </p:sp>
      <p:sp>
        <p:nvSpPr>
          <p:cNvPr id="37" name="object 37"/>
          <p:cNvSpPr txBox="1"/>
          <p:nvPr/>
        </p:nvSpPr>
        <p:spPr>
          <a:xfrm>
            <a:off x="10251898" y="4104513"/>
            <a:ext cx="956944" cy="879475"/>
          </a:xfrm>
          <a:prstGeom prst="rect">
            <a:avLst/>
          </a:prstGeom>
        </p:spPr>
        <p:txBody>
          <a:bodyPr vert="horz" wrap="square" lIns="0" tIns="12700" rIns="0" bIns="0" rtlCol="0">
            <a:spAutoFit/>
          </a:bodyPr>
          <a:lstStyle/>
          <a:p>
            <a:pPr marL="355600" indent="-342900">
              <a:lnSpc>
                <a:spcPct val="100000"/>
              </a:lnSpc>
              <a:spcBef>
                <a:spcPts val="100"/>
              </a:spcBef>
              <a:buAutoNum type="arabicPeriod"/>
              <a:tabLst>
                <a:tab pos="354965" algn="l"/>
                <a:tab pos="355600" algn="l"/>
              </a:tabLst>
            </a:pPr>
            <a:r>
              <a:rPr sz="1400" spc="-10" dirty="0">
                <a:latin typeface="Trebuchet MS"/>
                <a:cs typeface="Trebuchet MS"/>
              </a:rPr>
              <a:t>Beeline</a:t>
            </a:r>
            <a:endParaRPr sz="1400">
              <a:latin typeface="Trebuchet MS"/>
              <a:cs typeface="Trebuchet MS"/>
            </a:endParaRPr>
          </a:p>
          <a:p>
            <a:pPr marL="355600" indent="-342900">
              <a:lnSpc>
                <a:spcPct val="100000"/>
              </a:lnSpc>
              <a:spcBef>
                <a:spcPts val="5"/>
              </a:spcBef>
              <a:buAutoNum type="arabicPeriod"/>
              <a:tabLst>
                <a:tab pos="354965" algn="l"/>
                <a:tab pos="355600" algn="l"/>
              </a:tabLst>
            </a:pPr>
            <a:r>
              <a:rPr sz="1400" spc="5" dirty="0">
                <a:latin typeface="Trebuchet MS"/>
                <a:cs typeface="Trebuchet MS"/>
              </a:rPr>
              <a:t>JDBC</a:t>
            </a:r>
            <a:endParaRPr sz="1400">
              <a:latin typeface="Trebuchet MS"/>
              <a:cs typeface="Trebuchet MS"/>
            </a:endParaRPr>
          </a:p>
          <a:p>
            <a:pPr marL="355600" indent="-342900">
              <a:lnSpc>
                <a:spcPct val="100000"/>
              </a:lnSpc>
              <a:buAutoNum type="arabicPeriod"/>
              <a:tabLst>
                <a:tab pos="354965" algn="l"/>
                <a:tab pos="355600" algn="l"/>
              </a:tabLst>
            </a:pPr>
            <a:r>
              <a:rPr sz="1400" spc="-20" dirty="0">
                <a:latin typeface="Trebuchet MS"/>
                <a:cs typeface="Trebuchet MS"/>
              </a:rPr>
              <a:t>Thrift</a:t>
            </a:r>
            <a:endParaRPr sz="1400">
              <a:latin typeface="Trebuchet MS"/>
              <a:cs typeface="Trebuchet MS"/>
            </a:endParaRPr>
          </a:p>
          <a:p>
            <a:pPr marL="355600" indent="-342900">
              <a:lnSpc>
                <a:spcPct val="100000"/>
              </a:lnSpc>
              <a:buAutoNum type="arabicPeriod"/>
              <a:tabLst>
                <a:tab pos="354965" algn="l"/>
                <a:tab pos="355600" algn="l"/>
              </a:tabLst>
            </a:pPr>
            <a:r>
              <a:rPr sz="1400" spc="90" dirty="0">
                <a:latin typeface="Trebuchet MS"/>
                <a:cs typeface="Trebuchet MS"/>
              </a:rPr>
              <a:t>ODBC</a:t>
            </a:r>
            <a:endParaRPr sz="1400">
              <a:latin typeface="Trebuchet MS"/>
              <a:cs typeface="Trebuchet MS"/>
            </a:endParaRPr>
          </a:p>
        </p:txBody>
      </p:sp>
      <p:sp>
        <p:nvSpPr>
          <p:cNvPr id="39" name="object 2"/>
          <p:cNvSpPr txBox="1"/>
          <p:nvPr/>
        </p:nvSpPr>
        <p:spPr>
          <a:xfrm>
            <a:off x="560551" y="2624247"/>
            <a:ext cx="3594678" cy="3407504"/>
          </a:xfrm>
          <a:prstGeom prst="rect">
            <a:avLst/>
          </a:prstGeom>
        </p:spPr>
        <p:txBody>
          <a:bodyPr vert="horz" wrap="square" lIns="0" tIns="9049" rIns="0" bIns="0" rtlCol="0">
            <a:spAutoFit/>
          </a:bodyPr>
          <a:lstStyle/>
          <a:p>
            <a:pPr marL="138113" indent="-128588">
              <a:buFont typeface="Wingdings"/>
              <a:buChar char=""/>
              <a:tabLst>
                <a:tab pos="138113" algn="l"/>
              </a:tabLst>
            </a:pPr>
            <a:r>
              <a:rPr lang="en-US" sz="2000" spc="38" dirty="0" smtClean="0">
                <a:latin typeface="UKIJ CJK"/>
                <a:cs typeface="UKIJ CJK"/>
              </a:rPr>
              <a:t>JDBC: </a:t>
            </a:r>
            <a:r>
              <a:rPr lang="en-US" sz="2000" spc="15" dirty="0" smtClean="0">
                <a:latin typeface="UKIJ CJK"/>
                <a:cs typeface="UKIJ CJK"/>
              </a:rPr>
              <a:t>java unified </a:t>
            </a:r>
            <a:r>
              <a:rPr lang="en-US" sz="2000" spc="23" dirty="0" smtClean="0">
                <a:latin typeface="UKIJ CJK"/>
                <a:cs typeface="UKIJ CJK"/>
              </a:rPr>
              <a:t>database</a:t>
            </a:r>
            <a:r>
              <a:rPr lang="en-US" sz="2000" spc="71" dirty="0" smtClean="0">
                <a:latin typeface="UKIJ CJK"/>
                <a:cs typeface="UKIJ CJK"/>
              </a:rPr>
              <a:t> </a:t>
            </a:r>
            <a:r>
              <a:rPr lang="en-US" sz="2000" spc="15" dirty="0" smtClean="0">
                <a:latin typeface="UKIJ CJK"/>
                <a:cs typeface="UKIJ CJK"/>
              </a:rPr>
              <a:t>interface.</a:t>
            </a:r>
            <a:endParaRPr lang="en-US" sz="2000" dirty="0" smtClean="0">
              <a:latin typeface="UKIJ CJK"/>
              <a:cs typeface="UKIJ CJK"/>
            </a:endParaRPr>
          </a:p>
          <a:p>
            <a:pPr marL="138113" indent="-128588">
              <a:buFont typeface="Wingdings"/>
              <a:buChar char=""/>
              <a:tabLst>
                <a:tab pos="138113" algn="l"/>
              </a:tabLst>
            </a:pPr>
            <a:r>
              <a:rPr lang="en-US" sz="2000" spc="8" dirty="0" smtClean="0">
                <a:latin typeface="UKIJ CJK"/>
                <a:cs typeface="UKIJ CJK"/>
              </a:rPr>
              <a:t>Thrift: </a:t>
            </a:r>
            <a:r>
              <a:rPr lang="en-US" sz="2000" spc="15" dirty="0" smtClean="0">
                <a:latin typeface="UKIJ CJK"/>
                <a:cs typeface="UKIJ CJK"/>
              </a:rPr>
              <a:t>a serialization </a:t>
            </a:r>
            <a:r>
              <a:rPr lang="en-US" sz="2000" spc="23" dirty="0" smtClean="0">
                <a:latin typeface="UKIJ CJK"/>
                <a:cs typeface="UKIJ CJK"/>
              </a:rPr>
              <a:t>communications</a:t>
            </a:r>
            <a:r>
              <a:rPr lang="en-US" sz="2000" spc="68" dirty="0" smtClean="0">
                <a:latin typeface="UKIJ CJK"/>
                <a:cs typeface="UKIJ CJK"/>
              </a:rPr>
              <a:t> </a:t>
            </a:r>
            <a:r>
              <a:rPr lang="en-US" sz="2000" spc="26" dirty="0" smtClean="0">
                <a:latin typeface="UKIJ CJK"/>
                <a:cs typeface="UKIJ CJK"/>
              </a:rPr>
              <a:t>protocol.</a:t>
            </a:r>
            <a:endParaRPr lang="en-US" sz="2000" dirty="0" smtClean="0">
              <a:latin typeface="UKIJ CJK"/>
              <a:cs typeface="UKIJ CJK"/>
            </a:endParaRPr>
          </a:p>
          <a:p>
            <a:pPr marL="138113" indent="-128588">
              <a:buFont typeface="Wingdings"/>
              <a:buChar char=""/>
              <a:tabLst>
                <a:tab pos="138113" algn="l"/>
              </a:tabLst>
            </a:pPr>
            <a:r>
              <a:rPr lang="en-US" sz="2000" spc="19" dirty="0" smtClean="0">
                <a:latin typeface="UKIJ CJK"/>
                <a:cs typeface="UKIJ CJK"/>
              </a:rPr>
              <a:t>Python: </a:t>
            </a:r>
            <a:r>
              <a:rPr lang="en-US" sz="2000" spc="15" dirty="0" smtClean="0">
                <a:latin typeface="UKIJ CJK"/>
                <a:cs typeface="UKIJ CJK"/>
              </a:rPr>
              <a:t>a </a:t>
            </a:r>
            <a:r>
              <a:rPr lang="en-US" sz="2000" spc="26" dirty="0" smtClean="0">
                <a:latin typeface="UKIJ CJK"/>
                <a:cs typeface="UKIJ CJK"/>
              </a:rPr>
              <a:t>dynamic</a:t>
            </a:r>
            <a:r>
              <a:rPr lang="en-US" sz="2000" spc="56" dirty="0" smtClean="0">
                <a:latin typeface="UKIJ CJK"/>
                <a:cs typeface="UKIJ CJK"/>
              </a:rPr>
              <a:t> </a:t>
            </a:r>
            <a:r>
              <a:rPr lang="en-US" sz="2000" spc="34" dirty="0" smtClean="0">
                <a:latin typeface="UKIJ CJK"/>
                <a:cs typeface="UKIJ CJK"/>
              </a:rPr>
              <a:t>language.</a:t>
            </a:r>
            <a:endParaRPr lang="en-US" sz="2000" dirty="0" smtClean="0">
              <a:latin typeface="UKIJ CJK"/>
              <a:cs typeface="UKIJ CJK"/>
            </a:endParaRPr>
          </a:p>
          <a:p>
            <a:pPr marL="138113" indent="-128588">
              <a:buFont typeface="Wingdings"/>
              <a:buChar char=""/>
              <a:tabLst>
                <a:tab pos="138113" algn="l"/>
              </a:tabLst>
            </a:pPr>
            <a:r>
              <a:rPr lang="en-US" sz="2000" spc="30" dirty="0" smtClean="0">
                <a:latin typeface="UKIJ CJK"/>
                <a:cs typeface="UKIJ CJK"/>
              </a:rPr>
              <a:t>ODBC: </a:t>
            </a:r>
            <a:r>
              <a:rPr lang="en-US" sz="2000" spc="15" dirty="0" smtClean="0">
                <a:latin typeface="UKIJ CJK"/>
                <a:cs typeface="UKIJ CJK"/>
              </a:rPr>
              <a:t>a </a:t>
            </a:r>
            <a:r>
              <a:rPr lang="en-US" sz="2000" spc="19" dirty="0" smtClean="0">
                <a:latin typeface="UKIJ CJK"/>
                <a:cs typeface="UKIJ CJK"/>
              </a:rPr>
              <a:t>standard </a:t>
            </a:r>
            <a:r>
              <a:rPr lang="en-US" sz="2000" spc="23" dirty="0" smtClean="0">
                <a:latin typeface="UKIJ CJK"/>
                <a:cs typeface="UKIJ CJK"/>
              </a:rPr>
              <a:t>database </a:t>
            </a:r>
            <a:r>
              <a:rPr lang="en-US" sz="2000" spc="15" dirty="0" smtClean="0">
                <a:latin typeface="UKIJ CJK"/>
                <a:cs typeface="UKIJ CJK"/>
              </a:rPr>
              <a:t>interface </a:t>
            </a:r>
            <a:r>
              <a:rPr lang="en-US" sz="2000" spc="26" dirty="0" smtClean="0">
                <a:latin typeface="UKIJ CJK"/>
                <a:cs typeface="UKIJ CJK"/>
              </a:rPr>
              <a:t>based </a:t>
            </a:r>
            <a:r>
              <a:rPr lang="en-US" sz="2000" spc="30" dirty="0" smtClean="0">
                <a:latin typeface="UKIJ CJK"/>
                <a:cs typeface="UKIJ CJK"/>
              </a:rPr>
              <a:t>on</a:t>
            </a:r>
            <a:r>
              <a:rPr lang="en-US" sz="2000" spc="120" dirty="0" smtClean="0">
                <a:latin typeface="UKIJ CJK"/>
                <a:cs typeface="UKIJ CJK"/>
              </a:rPr>
              <a:t> </a:t>
            </a:r>
            <a:r>
              <a:rPr lang="en-US" sz="2000" spc="90" dirty="0" smtClean="0">
                <a:latin typeface="UKIJ CJK"/>
                <a:cs typeface="UKIJ CJK"/>
              </a:rPr>
              <a:t>C/C++.</a:t>
            </a:r>
          </a:p>
          <a:p>
            <a:pPr marL="138113" indent="-128588">
              <a:spcBef>
                <a:spcPts val="71"/>
              </a:spcBef>
              <a:buFont typeface="Wingdings"/>
              <a:buChar char=""/>
              <a:tabLst>
                <a:tab pos="138113" algn="l"/>
              </a:tabLst>
            </a:pPr>
            <a:r>
              <a:rPr lang="en-US" sz="2000" spc="26" dirty="0" smtClean="0">
                <a:latin typeface="UKIJ CJK"/>
                <a:cs typeface="UKIJ CJK"/>
              </a:rPr>
              <a:t>The </a:t>
            </a:r>
            <a:r>
              <a:rPr lang="en-US" sz="2000" spc="15" dirty="0" smtClean="0">
                <a:latin typeface="UKIJ CJK"/>
                <a:cs typeface="UKIJ CJK"/>
              </a:rPr>
              <a:t>version </a:t>
            </a:r>
            <a:r>
              <a:rPr lang="en-US" sz="2000" spc="30" dirty="0" smtClean="0">
                <a:latin typeface="UKIJ CJK"/>
                <a:cs typeface="UKIJ CJK"/>
              </a:rPr>
              <a:t>of Hive </a:t>
            </a:r>
            <a:r>
              <a:rPr lang="en-US" sz="2000" spc="4" dirty="0" smtClean="0">
                <a:latin typeface="UKIJ CJK"/>
                <a:cs typeface="UKIJ CJK"/>
              </a:rPr>
              <a:t>is 1.2.1 </a:t>
            </a:r>
            <a:r>
              <a:rPr lang="en-US" sz="2000" spc="11" dirty="0" smtClean="0">
                <a:latin typeface="UKIJ CJK"/>
                <a:cs typeface="UKIJ CJK"/>
              </a:rPr>
              <a:t>in </a:t>
            </a:r>
            <a:r>
              <a:rPr lang="en-US" sz="2000" spc="23" dirty="0" err="1" smtClean="0">
                <a:latin typeface="UKIJ CJK"/>
                <a:cs typeface="UKIJ CJK"/>
              </a:rPr>
              <a:t>FusionInsightHD</a:t>
            </a:r>
            <a:r>
              <a:rPr lang="en-US" sz="2000" spc="86" dirty="0" smtClean="0">
                <a:latin typeface="UKIJ CJK"/>
                <a:cs typeface="UKIJ CJK"/>
              </a:rPr>
              <a:t> </a:t>
            </a:r>
            <a:r>
              <a:rPr lang="en-US" sz="2000" spc="19" dirty="0" smtClean="0">
                <a:latin typeface="UKIJ CJK"/>
                <a:cs typeface="UKIJ CJK"/>
              </a:rPr>
              <a:t>C70.</a:t>
            </a:r>
            <a:endParaRPr lang="en-US" sz="2000" dirty="0" smtClean="0">
              <a:latin typeface="UKIJ CJK"/>
              <a:cs typeface="UKIJ CJK"/>
            </a:endParaRPr>
          </a:p>
          <a:p>
            <a:pPr marL="138113" indent="-128588">
              <a:buFont typeface="Wingdings"/>
              <a:buChar char=""/>
              <a:tabLst>
                <a:tab pos="138113" algn="l"/>
              </a:tabLst>
            </a:pPr>
            <a:r>
              <a:rPr lang="en-US" sz="2000" spc="26" dirty="0" smtClean="0">
                <a:latin typeface="UKIJ CJK"/>
                <a:cs typeface="UKIJ CJK"/>
              </a:rPr>
              <a:t>UDF: User-Defined</a:t>
            </a:r>
            <a:r>
              <a:rPr lang="en-US" sz="2000" spc="41" dirty="0" smtClean="0">
                <a:latin typeface="UKIJ CJK"/>
                <a:cs typeface="UKIJ CJK"/>
              </a:rPr>
              <a:t> </a:t>
            </a:r>
            <a:r>
              <a:rPr lang="en-US" sz="2000" spc="23" dirty="0" smtClean="0">
                <a:latin typeface="UKIJ CJK"/>
                <a:cs typeface="UKIJ CJK"/>
              </a:rPr>
              <a:t>Function</a:t>
            </a:r>
            <a:endParaRPr lang="en-US" sz="2000" dirty="0" smtClean="0">
              <a:latin typeface="UKIJ CJK"/>
              <a:cs typeface="UKIJ CJK"/>
            </a:endParaRPr>
          </a:p>
          <a:p>
            <a:pPr marL="138113" indent="-128588">
              <a:buFont typeface="Wingdings"/>
              <a:buChar char=""/>
              <a:tabLst>
                <a:tab pos="138113" algn="l"/>
              </a:tabLst>
            </a:pPr>
            <a:endParaRPr sz="2000" dirty="0">
              <a:latin typeface="UKIJ CJK"/>
              <a:cs typeface="UKIJ CJK"/>
            </a:endParaRPr>
          </a:p>
        </p:txBody>
      </p:sp>
    </p:spTree>
    <p:extLst>
      <p:ext uri="{BB962C8B-B14F-4D97-AF65-F5344CB8AC3E}">
        <p14:creationId xmlns:p14="http://schemas.microsoft.com/office/powerpoint/2010/main" val="199254444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EBEBEB"/>
          </a:solidFill>
        </p:spPr>
        <p:txBody>
          <a:bodyPr wrap="square" lIns="0" tIns="0" rIns="0" bIns="0" rtlCol="0"/>
          <a:lstStyle/>
          <a:p>
            <a:endParaRPr/>
          </a:p>
        </p:txBody>
      </p:sp>
      <p:sp>
        <p:nvSpPr>
          <p:cNvPr id="3" name="object 3"/>
          <p:cNvSpPr/>
          <p:nvPr/>
        </p:nvSpPr>
        <p:spPr>
          <a:xfrm>
            <a:off x="10195559" y="6320028"/>
            <a:ext cx="1269492" cy="271272"/>
          </a:xfrm>
          <a:prstGeom prst="rect">
            <a:avLst/>
          </a:prstGeom>
          <a:blipFill>
            <a:blip r:embed="rId2" cstate="print"/>
            <a:stretch>
              <a:fillRect/>
            </a:stretch>
          </a:blipFill>
        </p:spPr>
        <p:txBody>
          <a:bodyPr wrap="square" lIns="0" tIns="0" rIns="0" bIns="0" rtlCol="0"/>
          <a:lstStyle/>
          <a:p>
            <a:endParaRPr/>
          </a:p>
        </p:txBody>
      </p:sp>
      <p:sp>
        <p:nvSpPr>
          <p:cNvPr id="4" name="object 4"/>
          <p:cNvSpPr/>
          <p:nvPr/>
        </p:nvSpPr>
        <p:spPr>
          <a:xfrm>
            <a:off x="1030986" y="1349502"/>
            <a:ext cx="2016125" cy="0"/>
          </a:xfrm>
          <a:custGeom>
            <a:avLst/>
            <a:gdLst/>
            <a:ahLst/>
            <a:cxnLst/>
            <a:rect l="l" t="t" r="r" b="b"/>
            <a:pathLst>
              <a:path w="2016125">
                <a:moveTo>
                  <a:pt x="2015997" y="0"/>
                </a:moveTo>
                <a:lnTo>
                  <a:pt x="0" y="0"/>
                </a:lnTo>
              </a:path>
            </a:pathLst>
          </a:custGeom>
          <a:ln w="28956">
            <a:solidFill>
              <a:srgbClr val="C6000A"/>
            </a:solidFill>
          </a:ln>
        </p:spPr>
        <p:txBody>
          <a:bodyPr wrap="square" lIns="0" tIns="0" rIns="0" bIns="0" rtlCol="0"/>
          <a:lstStyle/>
          <a:p>
            <a:endParaRPr/>
          </a:p>
        </p:txBody>
      </p:sp>
      <p:sp>
        <p:nvSpPr>
          <p:cNvPr id="5" name="object 5"/>
          <p:cNvSpPr txBox="1">
            <a:spLocks noGrp="1"/>
          </p:cNvSpPr>
          <p:nvPr>
            <p:ph type="title"/>
          </p:nvPr>
        </p:nvSpPr>
        <p:spPr>
          <a:xfrm>
            <a:off x="997711" y="657301"/>
            <a:ext cx="4336289" cy="635000"/>
          </a:xfrm>
          <a:prstGeom prst="rect">
            <a:avLst/>
          </a:prstGeom>
        </p:spPr>
        <p:txBody>
          <a:bodyPr vert="horz" wrap="square" lIns="0" tIns="12065" rIns="0" bIns="0" rtlCol="0">
            <a:spAutoFit/>
          </a:bodyPr>
          <a:lstStyle/>
          <a:p>
            <a:pPr marL="12700">
              <a:lnSpc>
                <a:spcPct val="100000"/>
              </a:lnSpc>
              <a:spcBef>
                <a:spcPts val="95"/>
              </a:spcBef>
            </a:pPr>
            <a:r>
              <a:rPr sz="4000" spc="40" dirty="0">
                <a:solidFill>
                  <a:srgbClr val="404040"/>
                </a:solidFill>
              </a:rPr>
              <a:t>Conte</a:t>
            </a:r>
            <a:r>
              <a:rPr sz="4000" spc="55" dirty="0">
                <a:solidFill>
                  <a:srgbClr val="404040"/>
                </a:solidFill>
              </a:rPr>
              <a:t>n</a:t>
            </a:r>
            <a:r>
              <a:rPr sz="4000" spc="-40" dirty="0">
                <a:solidFill>
                  <a:srgbClr val="404040"/>
                </a:solidFill>
              </a:rPr>
              <a:t>ts</a:t>
            </a:r>
            <a:endParaRPr sz="4000" dirty="0"/>
          </a:p>
        </p:txBody>
      </p:sp>
      <p:sp>
        <p:nvSpPr>
          <p:cNvPr id="6" name="object 6"/>
          <p:cNvSpPr txBox="1"/>
          <p:nvPr/>
        </p:nvSpPr>
        <p:spPr>
          <a:xfrm>
            <a:off x="1097991" y="2009393"/>
            <a:ext cx="4801870" cy="1500505"/>
          </a:xfrm>
          <a:prstGeom prst="rect">
            <a:avLst/>
          </a:prstGeom>
        </p:spPr>
        <p:txBody>
          <a:bodyPr vert="horz" wrap="square" lIns="0" tIns="12065" rIns="0" bIns="0" rtlCol="0">
            <a:spAutoFit/>
          </a:bodyPr>
          <a:lstStyle/>
          <a:p>
            <a:pPr marL="469900" indent="-457834">
              <a:lnSpc>
                <a:spcPct val="100000"/>
              </a:lnSpc>
              <a:spcBef>
                <a:spcPts val="95"/>
              </a:spcBef>
              <a:buAutoNum type="arabicPeriod"/>
              <a:tabLst>
                <a:tab pos="469265" algn="l"/>
                <a:tab pos="470534" algn="l"/>
              </a:tabLst>
            </a:pPr>
            <a:r>
              <a:rPr sz="2200" spc="20" dirty="0">
                <a:solidFill>
                  <a:srgbClr val="7E7E7E"/>
                </a:solidFill>
                <a:latin typeface="Trebuchet MS"/>
                <a:cs typeface="Trebuchet MS"/>
              </a:rPr>
              <a:t>Hive</a:t>
            </a:r>
            <a:r>
              <a:rPr sz="2200" spc="25" dirty="0">
                <a:solidFill>
                  <a:srgbClr val="7E7E7E"/>
                </a:solidFill>
                <a:latin typeface="Trebuchet MS"/>
                <a:cs typeface="Trebuchet MS"/>
              </a:rPr>
              <a:t> </a:t>
            </a:r>
            <a:r>
              <a:rPr sz="2200" spc="15" dirty="0">
                <a:solidFill>
                  <a:srgbClr val="7E7E7E"/>
                </a:solidFill>
                <a:latin typeface="Trebuchet MS"/>
                <a:cs typeface="Trebuchet MS"/>
              </a:rPr>
              <a:t>Overview</a:t>
            </a:r>
            <a:endParaRPr sz="2200">
              <a:latin typeface="Trebuchet MS"/>
              <a:cs typeface="Trebuchet MS"/>
            </a:endParaRPr>
          </a:p>
          <a:p>
            <a:pPr marL="469900" indent="-457834">
              <a:lnSpc>
                <a:spcPct val="100000"/>
              </a:lnSpc>
              <a:spcBef>
                <a:spcPts val="1850"/>
              </a:spcBef>
              <a:buAutoNum type="arabicPeriod"/>
              <a:tabLst>
                <a:tab pos="469265" algn="l"/>
                <a:tab pos="470534" algn="l"/>
              </a:tabLst>
            </a:pPr>
            <a:r>
              <a:rPr sz="2200" b="1" spc="40" dirty="0">
                <a:latin typeface="Trebuchet MS"/>
                <a:cs typeface="Trebuchet MS"/>
              </a:rPr>
              <a:t>Hive </a:t>
            </a:r>
            <a:r>
              <a:rPr sz="2200" b="1" spc="10" dirty="0">
                <a:latin typeface="Trebuchet MS"/>
                <a:cs typeface="Trebuchet MS"/>
              </a:rPr>
              <a:t>Functions </a:t>
            </a:r>
            <a:r>
              <a:rPr sz="2200" b="1" spc="70" dirty="0">
                <a:latin typeface="Trebuchet MS"/>
                <a:cs typeface="Trebuchet MS"/>
              </a:rPr>
              <a:t>and</a:t>
            </a:r>
            <a:r>
              <a:rPr sz="2200" b="1" spc="-40" dirty="0">
                <a:latin typeface="Trebuchet MS"/>
                <a:cs typeface="Trebuchet MS"/>
              </a:rPr>
              <a:t> </a:t>
            </a:r>
            <a:r>
              <a:rPr sz="2200" b="1" dirty="0">
                <a:latin typeface="Trebuchet MS"/>
                <a:cs typeface="Trebuchet MS"/>
              </a:rPr>
              <a:t>Architecture</a:t>
            </a:r>
            <a:endParaRPr sz="2200">
              <a:latin typeface="Trebuchet MS"/>
              <a:cs typeface="Trebuchet MS"/>
            </a:endParaRPr>
          </a:p>
          <a:p>
            <a:pPr marL="469900" indent="-457834">
              <a:lnSpc>
                <a:spcPct val="100000"/>
              </a:lnSpc>
              <a:spcBef>
                <a:spcPts val="1845"/>
              </a:spcBef>
              <a:buAutoNum type="arabicPeriod"/>
              <a:tabLst>
                <a:tab pos="469265" algn="l"/>
                <a:tab pos="470534" algn="l"/>
              </a:tabLst>
            </a:pPr>
            <a:r>
              <a:rPr sz="2200" dirty="0">
                <a:solidFill>
                  <a:srgbClr val="7E7E7E"/>
                </a:solidFill>
                <a:latin typeface="Trebuchet MS"/>
                <a:cs typeface="Trebuchet MS"/>
              </a:rPr>
              <a:t>Basic </a:t>
            </a:r>
            <a:r>
              <a:rPr sz="2200" spc="20" dirty="0">
                <a:solidFill>
                  <a:srgbClr val="7E7E7E"/>
                </a:solidFill>
                <a:latin typeface="Trebuchet MS"/>
                <a:cs typeface="Trebuchet MS"/>
              </a:rPr>
              <a:t>Hive</a:t>
            </a:r>
            <a:r>
              <a:rPr sz="2200" spc="50" dirty="0">
                <a:solidFill>
                  <a:srgbClr val="7E7E7E"/>
                </a:solidFill>
                <a:latin typeface="Trebuchet MS"/>
                <a:cs typeface="Trebuchet MS"/>
              </a:rPr>
              <a:t> </a:t>
            </a:r>
            <a:r>
              <a:rPr sz="2200" spc="30" dirty="0">
                <a:solidFill>
                  <a:srgbClr val="7E7E7E"/>
                </a:solidFill>
                <a:latin typeface="Trebuchet MS"/>
                <a:cs typeface="Trebuchet MS"/>
              </a:rPr>
              <a:t>Operations</a:t>
            </a:r>
            <a:endParaRPr sz="2200">
              <a:latin typeface="Trebuchet MS"/>
              <a:cs typeface="Trebuchet MS"/>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752600" y="509986"/>
            <a:ext cx="5945073" cy="567463"/>
          </a:xfrm>
          <a:prstGeom prst="rect">
            <a:avLst/>
          </a:prstGeom>
        </p:spPr>
        <p:txBody>
          <a:bodyPr vert="horz" wrap="square" lIns="0" tIns="13335" rIns="0" bIns="0" rtlCol="0">
            <a:spAutoFit/>
          </a:bodyPr>
          <a:lstStyle/>
          <a:p>
            <a:pPr marL="12700">
              <a:lnSpc>
                <a:spcPct val="100000"/>
              </a:lnSpc>
              <a:spcBef>
                <a:spcPts val="105"/>
              </a:spcBef>
            </a:pPr>
            <a:r>
              <a:rPr spc="40" dirty="0"/>
              <a:t>Hive</a:t>
            </a:r>
            <a:r>
              <a:rPr spc="-35" dirty="0"/>
              <a:t> </a:t>
            </a:r>
            <a:r>
              <a:rPr spc="-25" dirty="0"/>
              <a:t>Architecture</a:t>
            </a:r>
          </a:p>
        </p:txBody>
      </p:sp>
      <p:sp>
        <p:nvSpPr>
          <p:cNvPr id="3" name="object 3"/>
          <p:cNvSpPr/>
          <p:nvPr/>
        </p:nvSpPr>
        <p:spPr>
          <a:xfrm>
            <a:off x="2235707" y="2743200"/>
            <a:ext cx="6140450" cy="1079500"/>
          </a:xfrm>
          <a:custGeom>
            <a:avLst/>
            <a:gdLst/>
            <a:ahLst/>
            <a:cxnLst/>
            <a:rect l="l" t="t" r="r" b="b"/>
            <a:pathLst>
              <a:path w="6140450" h="1079500">
                <a:moveTo>
                  <a:pt x="6140196" y="0"/>
                </a:moveTo>
                <a:lnTo>
                  <a:pt x="0" y="0"/>
                </a:lnTo>
                <a:lnTo>
                  <a:pt x="0" y="1078991"/>
                </a:lnTo>
                <a:lnTo>
                  <a:pt x="6140196" y="1078991"/>
                </a:lnTo>
                <a:lnTo>
                  <a:pt x="6140196" y="0"/>
                </a:lnTo>
                <a:close/>
              </a:path>
            </a:pathLst>
          </a:custGeom>
          <a:solidFill>
            <a:srgbClr val="7E7E7E"/>
          </a:solidFill>
        </p:spPr>
        <p:txBody>
          <a:bodyPr wrap="square" lIns="0" tIns="0" rIns="0" bIns="0" rtlCol="0"/>
          <a:lstStyle/>
          <a:p>
            <a:endParaRPr/>
          </a:p>
        </p:txBody>
      </p:sp>
      <p:sp>
        <p:nvSpPr>
          <p:cNvPr id="4" name="object 4"/>
          <p:cNvSpPr txBox="1"/>
          <p:nvPr/>
        </p:nvSpPr>
        <p:spPr>
          <a:xfrm>
            <a:off x="3642867" y="2887539"/>
            <a:ext cx="3326129" cy="574040"/>
          </a:xfrm>
          <a:prstGeom prst="rect">
            <a:avLst/>
          </a:prstGeom>
        </p:spPr>
        <p:txBody>
          <a:bodyPr vert="horz" wrap="square" lIns="0" tIns="12700" rIns="0" bIns="0" rtlCol="0">
            <a:spAutoFit/>
          </a:bodyPr>
          <a:lstStyle/>
          <a:p>
            <a:pPr marL="1270" algn="ctr">
              <a:lnSpc>
                <a:spcPct val="100000"/>
              </a:lnSpc>
              <a:spcBef>
                <a:spcPts val="100"/>
              </a:spcBef>
            </a:pPr>
            <a:r>
              <a:rPr sz="1800" spc="5" dirty="0">
                <a:solidFill>
                  <a:srgbClr val="FFFFFF"/>
                </a:solidFill>
                <a:latin typeface="Trebuchet MS"/>
                <a:cs typeface="Trebuchet MS"/>
              </a:rPr>
              <a:t>Driver</a:t>
            </a:r>
            <a:endParaRPr sz="1800" dirty="0">
              <a:latin typeface="Trebuchet MS"/>
              <a:cs typeface="Trebuchet MS"/>
            </a:endParaRPr>
          </a:p>
          <a:p>
            <a:pPr algn="ctr">
              <a:lnSpc>
                <a:spcPct val="100000"/>
              </a:lnSpc>
            </a:pPr>
            <a:r>
              <a:rPr sz="1800" spc="-10" dirty="0">
                <a:solidFill>
                  <a:srgbClr val="FFFFFF"/>
                </a:solidFill>
                <a:latin typeface="Trebuchet MS"/>
                <a:cs typeface="Trebuchet MS"/>
              </a:rPr>
              <a:t>(Compiler, </a:t>
            </a:r>
            <a:r>
              <a:rPr sz="1800" spc="-15" dirty="0">
                <a:solidFill>
                  <a:srgbClr val="FFFFFF"/>
                </a:solidFill>
                <a:latin typeface="Trebuchet MS"/>
                <a:cs typeface="Trebuchet MS"/>
              </a:rPr>
              <a:t>Optimizer, </a:t>
            </a:r>
            <a:r>
              <a:rPr sz="1800" dirty="0">
                <a:solidFill>
                  <a:srgbClr val="FFFFFF"/>
                </a:solidFill>
                <a:latin typeface="Trebuchet MS"/>
                <a:cs typeface="Trebuchet MS"/>
              </a:rPr>
              <a:t>Executor)</a:t>
            </a:r>
            <a:endParaRPr sz="1800" dirty="0">
              <a:latin typeface="Trebuchet MS"/>
              <a:cs typeface="Trebuchet MS"/>
            </a:endParaRPr>
          </a:p>
        </p:txBody>
      </p:sp>
      <p:sp>
        <p:nvSpPr>
          <p:cNvPr id="5" name="object 5"/>
          <p:cNvSpPr txBox="1"/>
          <p:nvPr/>
        </p:nvSpPr>
        <p:spPr>
          <a:xfrm>
            <a:off x="8470392" y="2743200"/>
            <a:ext cx="1323340" cy="1079500"/>
          </a:xfrm>
          <a:prstGeom prst="rect">
            <a:avLst/>
          </a:prstGeom>
          <a:solidFill>
            <a:srgbClr val="45C1A3"/>
          </a:solidFill>
        </p:spPr>
        <p:txBody>
          <a:bodyPr vert="horz" wrap="square" lIns="0" tIns="5080" rIns="0" bIns="0" rtlCol="0">
            <a:spAutoFit/>
          </a:bodyPr>
          <a:lstStyle/>
          <a:p>
            <a:pPr>
              <a:lnSpc>
                <a:spcPct val="100000"/>
              </a:lnSpc>
              <a:spcBef>
                <a:spcPts val="40"/>
              </a:spcBef>
            </a:pPr>
            <a:endParaRPr sz="2650" dirty="0" smtClean="0">
              <a:latin typeface="Times New Roman"/>
              <a:cs typeface="Times New Roman"/>
            </a:endParaRPr>
          </a:p>
          <a:p>
            <a:pPr marL="121285">
              <a:lnSpc>
                <a:spcPct val="100000"/>
              </a:lnSpc>
            </a:pPr>
            <a:r>
              <a:rPr sz="1800" spc="35" dirty="0" err="1" smtClean="0">
                <a:solidFill>
                  <a:srgbClr val="FFFFFF"/>
                </a:solidFill>
                <a:latin typeface="Trebuchet MS"/>
                <a:cs typeface="Trebuchet MS"/>
              </a:rPr>
              <a:t>MetaStore</a:t>
            </a:r>
            <a:endParaRPr sz="1800" dirty="0">
              <a:latin typeface="Trebuchet MS"/>
              <a:cs typeface="Trebuchet MS"/>
            </a:endParaRPr>
          </a:p>
        </p:txBody>
      </p:sp>
      <p:grpSp>
        <p:nvGrpSpPr>
          <p:cNvPr id="6" name="object 6"/>
          <p:cNvGrpSpPr/>
          <p:nvPr/>
        </p:nvGrpSpPr>
        <p:grpSpPr>
          <a:xfrm>
            <a:off x="6312217" y="1828800"/>
            <a:ext cx="2068830" cy="890905"/>
            <a:chOff x="6312217" y="2831401"/>
            <a:chExt cx="2068830" cy="890905"/>
          </a:xfrm>
        </p:grpSpPr>
        <p:sp>
          <p:nvSpPr>
            <p:cNvPr id="7" name="object 7"/>
            <p:cNvSpPr/>
            <p:nvPr/>
          </p:nvSpPr>
          <p:spPr>
            <a:xfrm>
              <a:off x="6316979" y="2836164"/>
              <a:ext cx="2059305" cy="881380"/>
            </a:xfrm>
            <a:custGeom>
              <a:avLst/>
              <a:gdLst/>
              <a:ahLst/>
              <a:cxnLst/>
              <a:rect l="l" t="t" r="r" b="b"/>
              <a:pathLst>
                <a:path w="2059304" h="881379">
                  <a:moveTo>
                    <a:pt x="2058924" y="0"/>
                  </a:moveTo>
                  <a:lnTo>
                    <a:pt x="0" y="0"/>
                  </a:lnTo>
                  <a:lnTo>
                    <a:pt x="0" y="880872"/>
                  </a:lnTo>
                  <a:lnTo>
                    <a:pt x="2058924" y="880872"/>
                  </a:lnTo>
                  <a:lnTo>
                    <a:pt x="2058924" y="0"/>
                  </a:lnTo>
                  <a:close/>
                </a:path>
              </a:pathLst>
            </a:custGeom>
            <a:solidFill>
              <a:srgbClr val="45C1A3"/>
            </a:solidFill>
          </p:spPr>
          <p:txBody>
            <a:bodyPr wrap="square" lIns="0" tIns="0" rIns="0" bIns="0" rtlCol="0"/>
            <a:lstStyle/>
            <a:p>
              <a:endParaRPr/>
            </a:p>
          </p:txBody>
        </p:sp>
        <p:sp>
          <p:nvSpPr>
            <p:cNvPr id="8" name="object 8"/>
            <p:cNvSpPr/>
            <p:nvPr/>
          </p:nvSpPr>
          <p:spPr>
            <a:xfrm>
              <a:off x="6316979" y="2836164"/>
              <a:ext cx="2059305" cy="881380"/>
            </a:xfrm>
            <a:custGeom>
              <a:avLst/>
              <a:gdLst/>
              <a:ahLst/>
              <a:cxnLst/>
              <a:rect l="l" t="t" r="r" b="b"/>
              <a:pathLst>
                <a:path w="2059304" h="881379">
                  <a:moveTo>
                    <a:pt x="0" y="880872"/>
                  </a:moveTo>
                  <a:lnTo>
                    <a:pt x="2058924" y="880872"/>
                  </a:lnTo>
                  <a:lnTo>
                    <a:pt x="2058924" y="0"/>
                  </a:lnTo>
                  <a:lnTo>
                    <a:pt x="0" y="0"/>
                  </a:lnTo>
                  <a:lnTo>
                    <a:pt x="0" y="880872"/>
                  </a:lnTo>
                  <a:close/>
                </a:path>
              </a:pathLst>
            </a:custGeom>
            <a:ln w="9144">
              <a:solidFill>
                <a:srgbClr val="FFFFFF"/>
              </a:solidFill>
            </a:ln>
          </p:spPr>
          <p:txBody>
            <a:bodyPr wrap="square" lIns="0" tIns="0" rIns="0" bIns="0" rtlCol="0"/>
            <a:lstStyle/>
            <a:p>
              <a:endParaRPr/>
            </a:p>
          </p:txBody>
        </p:sp>
      </p:grpSp>
      <p:sp>
        <p:nvSpPr>
          <p:cNvPr id="9" name="object 9"/>
          <p:cNvSpPr txBox="1"/>
          <p:nvPr/>
        </p:nvSpPr>
        <p:spPr>
          <a:xfrm>
            <a:off x="6316979" y="1833563"/>
            <a:ext cx="2059305" cy="881380"/>
          </a:xfrm>
          <a:prstGeom prst="rect">
            <a:avLst/>
          </a:prstGeom>
        </p:spPr>
        <p:txBody>
          <a:bodyPr vert="horz" wrap="square" lIns="0" tIns="3810" rIns="0" bIns="0" rtlCol="0">
            <a:spAutoFit/>
          </a:bodyPr>
          <a:lstStyle/>
          <a:p>
            <a:pPr>
              <a:lnSpc>
                <a:spcPct val="100000"/>
              </a:lnSpc>
              <a:spcBef>
                <a:spcPts val="30"/>
              </a:spcBef>
            </a:pPr>
            <a:endParaRPr sz="1950" dirty="0">
              <a:latin typeface="Times New Roman"/>
              <a:cs typeface="Times New Roman"/>
            </a:endParaRPr>
          </a:p>
          <a:p>
            <a:pPr marL="389255">
              <a:lnSpc>
                <a:spcPct val="100000"/>
              </a:lnSpc>
            </a:pPr>
            <a:r>
              <a:rPr sz="1800" spc="-25" dirty="0">
                <a:solidFill>
                  <a:srgbClr val="FFFFFF"/>
                </a:solidFill>
                <a:latin typeface="Trebuchet MS"/>
                <a:cs typeface="Trebuchet MS"/>
              </a:rPr>
              <a:t>Thrift</a:t>
            </a:r>
            <a:r>
              <a:rPr sz="1800" spc="-65" dirty="0">
                <a:solidFill>
                  <a:srgbClr val="FFFFFF"/>
                </a:solidFill>
                <a:latin typeface="Trebuchet MS"/>
                <a:cs typeface="Trebuchet MS"/>
              </a:rPr>
              <a:t> </a:t>
            </a:r>
            <a:r>
              <a:rPr sz="1800" spc="-10" dirty="0">
                <a:solidFill>
                  <a:srgbClr val="FFFFFF"/>
                </a:solidFill>
                <a:latin typeface="Trebuchet MS"/>
                <a:cs typeface="Trebuchet MS"/>
              </a:rPr>
              <a:t>Server</a:t>
            </a:r>
            <a:endParaRPr sz="1800" dirty="0">
              <a:latin typeface="Trebuchet MS"/>
              <a:cs typeface="Trebuchet MS"/>
            </a:endParaRPr>
          </a:p>
        </p:txBody>
      </p:sp>
      <p:grpSp>
        <p:nvGrpSpPr>
          <p:cNvPr id="10" name="object 10"/>
          <p:cNvGrpSpPr/>
          <p:nvPr/>
        </p:nvGrpSpPr>
        <p:grpSpPr>
          <a:xfrm>
            <a:off x="5094541" y="1828800"/>
            <a:ext cx="1233805" cy="890905"/>
            <a:chOff x="5094541" y="2831401"/>
            <a:chExt cx="1233805" cy="890905"/>
          </a:xfrm>
        </p:grpSpPr>
        <p:sp>
          <p:nvSpPr>
            <p:cNvPr id="11" name="object 11"/>
            <p:cNvSpPr/>
            <p:nvPr/>
          </p:nvSpPr>
          <p:spPr>
            <a:xfrm>
              <a:off x="5099303" y="2836164"/>
              <a:ext cx="1224280" cy="881380"/>
            </a:xfrm>
            <a:custGeom>
              <a:avLst/>
              <a:gdLst/>
              <a:ahLst/>
              <a:cxnLst/>
              <a:rect l="l" t="t" r="r" b="b"/>
              <a:pathLst>
                <a:path w="1224279" h="881379">
                  <a:moveTo>
                    <a:pt x="1223772" y="0"/>
                  </a:moveTo>
                  <a:lnTo>
                    <a:pt x="0" y="0"/>
                  </a:lnTo>
                  <a:lnTo>
                    <a:pt x="0" y="880872"/>
                  </a:lnTo>
                  <a:lnTo>
                    <a:pt x="1223772" y="880872"/>
                  </a:lnTo>
                  <a:lnTo>
                    <a:pt x="1223772" y="0"/>
                  </a:lnTo>
                  <a:close/>
                </a:path>
              </a:pathLst>
            </a:custGeom>
            <a:solidFill>
              <a:srgbClr val="0095D5"/>
            </a:solidFill>
          </p:spPr>
          <p:txBody>
            <a:bodyPr wrap="square" lIns="0" tIns="0" rIns="0" bIns="0" rtlCol="0"/>
            <a:lstStyle/>
            <a:p>
              <a:endParaRPr/>
            </a:p>
          </p:txBody>
        </p:sp>
        <p:sp>
          <p:nvSpPr>
            <p:cNvPr id="12" name="object 12"/>
            <p:cNvSpPr/>
            <p:nvPr/>
          </p:nvSpPr>
          <p:spPr>
            <a:xfrm>
              <a:off x="5099303" y="2836164"/>
              <a:ext cx="1224280" cy="881380"/>
            </a:xfrm>
            <a:custGeom>
              <a:avLst/>
              <a:gdLst/>
              <a:ahLst/>
              <a:cxnLst/>
              <a:rect l="l" t="t" r="r" b="b"/>
              <a:pathLst>
                <a:path w="1224279" h="881379">
                  <a:moveTo>
                    <a:pt x="0" y="880872"/>
                  </a:moveTo>
                  <a:lnTo>
                    <a:pt x="1223772" y="880872"/>
                  </a:lnTo>
                  <a:lnTo>
                    <a:pt x="1223772" y="0"/>
                  </a:lnTo>
                  <a:lnTo>
                    <a:pt x="0" y="0"/>
                  </a:lnTo>
                  <a:lnTo>
                    <a:pt x="0" y="880872"/>
                  </a:lnTo>
                  <a:close/>
                </a:path>
              </a:pathLst>
            </a:custGeom>
            <a:ln w="9144">
              <a:solidFill>
                <a:srgbClr val="FFFFFF"/>
              </a:solidFill>
            </a:ln>
          </p:spPr>
          <p:txBody>
            <a:bodyPr wrap="square" lIns="0" tIns="0" rIns="0" bIns="0" rtlCol="0"/>
            <a:lstStyle/>
            <a:p>
              <a:endParaRPr/>
            </a:p>
          </p:txBody>
        </p:sp>
      </p:grpSp>
      <p:sp>
        <p:nvSpPr>
          <p:cNvPr id="13" name="object 13"/>
          <p:cNvSpPr txBox="1"/>
          <p:nvPr/>
        </p:nvSpPr>
        <p:spPr>
          <a:xfrm>
            <a:off x="5238750" y="1976945"/>
            <a:ext cx="946150" cy="574040"/>
          </a:xfrm>
          <a:prstGeom prst="rect">
            <a:avLst/>
          </a:prstGeom>
        </p:spPr>
        <p:txBody>
          <a:bodyPr vert="horz" wrap="square" lIns="0" tIns="12700" rIns="0" bIns="0" rtlCol="0">
            <a:spAutoFit/>
          </a:bodyPr>
          <a:lstStyle/>
          <a:p>
            <a:pPr marL="12700" marR="5080" indent="223520">
              <a:lnSpc>
                <a:spcPct val="100000"/>
              </a:lnSpc>
              <a:spcBef>
                <a:spcPts val="100"/>
              </a:spcBef>
            </a:pPr>
            <a:r>
              <a:rPr sz="1800" spc="65" dirty="0">
                <a:solidFill>
                  <a:srgbClr val="FFFFFF"/>
                </a:solidFill>
                <a:latin typeface="Trebuchet MS"/>
                <a:cs typeface="Trebuchet MS"/>
              </a:rPr>
              <a:t>Web  </a:t>
            </a:r>
            <a:r>
              <a:rPr sz="1800" spc="25" dirty="0">
                <a:solidFill>
                  <a:srgbClr val="FFFFFF"/>
                </a:solidFill>
                <a:latin typeface="Trebuchet MS"/>
                <a:cs typeface="Trebuchet MS"/>
              </a:rPr>
              <a:t>I</a:t>
            </a:r>
            <a:r>
              <a:rPr sz="1800" spc="55" dirty="0">
                <a:solidFill>
                  <a:srgbClr val="FFFFFF"/>
                </a:solidFill>
                <a:latin typeface="Trebuchet MS"/>
                <a:cs typeface="Trebuchet MS"/>
              </a:rPr>
              <a:t>n</a:t>
            </a:r>
            <a:r>
              <a:rPr sz="1800" spc="-45" dirty="0">
                <a:solidFill>
                  <a:srgbClr val="FFFFFF"/>
                </a:solidFill>
                <a:latin typeface="Trebuchet MS"/>
                <a:cs typeface="Trebuchet MS"/>
              </a:rPr>
              <a:t>t</a:t>
            </a:r>
            <a:r>
              <a:rPr sz="1800" spc="-65" dirty="0">
                <a:solidFill>
                  <a:srgbClr val="FFFFFF"/>
                </a:solidFill>
                <a:latin typeface="Trebuchet MS"/>
                <a:cs typeface="Trebuchet MS"/>
              </a:rPr>
              <a:t>e</a:t>
            </a:r>
            <a:r>
              <a:rPr sz="1800" spc="-20" dirty="0">
                <a:solidFill>
                  <a:srgbClr val="FFFFFF"/>
                </a:solidFill>
                <a:latin typeface="Trebuchet MS"/>
                <a:cs typeface="Trebuchet MS"/>
              </a:rPr>
              <a:t>rfac</a:t>
            </a:r>
            <a:r>
              <a:rPr sz="1800" spc="-35" dirty="0">
                <a:solidFill>
                  <a:srgbClr val="FFFFFF"/>
                </a:solidFill>
                <a:latin typeface="Trebuchet MS"/>
                <a:cs typeface="Trebuchet MS"/>
              </a:rPr>
              <a:t>e</a:t>
            </a:r>
            <a:endParaRPr sz="1800">
              <a:latin typeface="Trebuchet MS"/>
              <a:cs typeface="Trebuchet MS"/>
            </a:endParaRPr>
          </a:p>
        </p:txBody>
      </p:sp>
      <p:grpSp>
        <p:nvGrpSpPr>
          <p:cNvPr id="14" name="object 14"/>
          <p:cNvGrpSpPr/>
          <p:nvPr/>
        </p:nvGrpSpPr>
        <p:grpSpPr>
          <a:xfrm>
            <a:off x="6318503" y="1048385"/>
            <a:ext cx="2062480" cy="856615"/>
            <a:chOff x="6318503" y="1984248"/>
            <a:chExt cx="2062480" cy="856615"/>
          </a:xfrm>
        </p:grpSpPr>
        <p:sp>
          <p:nvSpPr>
            <p:cNvPr id="15" name="object 15"/>
            <p:cNvSpPr/>
            <p:nvPr/>
          </p:nvSpPr>
          <p:spPr>
            <a:xfrm>
              <a:off x="6323075" y="1988820"/>
              <a:ext cx="1036319" cy="847725"/>
            </a:xfrm>
            <a:custGeom>
              <a:avLst/>
              <a:gdLst/>
              <a:ahLst/>
              <a:cxnLst/>
              <a:rect l="l" t="t" r="r" b="b"/>
              <a:pathLst>
                <a:path w="1036320" h="847725">
                  <a:moveTo>
                    <a:pt x="1036320" y="0"/>
                  </a:moveTo>
                  <a:lnTo>
                    <a:pt x="0" y="0"/>
                  </a:lnTo>
                  <a:lnTo>
                    <a:pt x="0" y="847343"/>
                  </a:lnTo>
                  <a:lnTo>
                    <a:pt x="1036320" y="847343"/>
                  </a:lnTo>
                  <a:lnTo>
                    <a:pt x="1036320" y="0"/>
                  </a:lnTo>
                  <a:close/>
                </a:path>
              </a:pathLst>
            </a:custGeom>
            <a:solidFill>
              <a:srgbClr val="00BBF1"/>
            </a:solidFill>
          </p:spPr>
          <p:txBody>
            <a:bodyPr wrap="square" lIns="0" tIns="0" rIns="0" bIns="0" rtlCol="0"/>
            <a:lstStyle/>
            <a:p>
              <a:endParaRPr/>
            </a:p>
          </p:txBody>
        </p:sp>
        <p:sp>
          <p:nvSpPr>
            <p:cNvPr id="16" name="object 16"/>
            <p:cNvSpPr/>
            <p:nvPr/>
          </p:nvSpPr>
          <p:spPr>
            <a:xfrm>
              <a:off x="6323075" y="1988820"/>
              <a:ext cx="1036319" cy="847725"/>
            </a:xfrm>
            <a:custGeom>
              <a:avLst/>
              <a:gdLst/>
              <a:ahLst/>
              <a:cxnLst/>
              <a:rect l="l" t="t" r="r" b="b"/>
              <a:pathLst>
                <a:path w="1036320" h="847725">
                  <a:moveTo>
                    <a:pt x="0" y="847343"/>
                  </a:moveTo>
                  <a:lnTo>
                    <a:pt x="1036320" y="847343"/>
                  </a:lnTo>
                  <a:lnTo>
                    <a:pt x="1036320" y="0"/>
                  </a:lnTo>
                  <a:lnTo>
                    <a:pt x="0" y="0"/>
                  </a:lnTo>
                  <a:lnTo>
                    <a:pt x="0" y="847343"/>
                  </a:lnTo>
                  <a:close/>
                </a:path>
              </a:pathLst>
            </a:custGeom>
            <a:ln w="9144">
              <a:solidFill>
                <a:srgbClr val="FFFFFF"/>
              </a:solidFill>
            </a:ln>
          </p:spPr>
          <p:txBody>
            <a:bodyPr wrap="square" lIns="0" tIns="0" rIns="0" bIns="0" rtlCol="0"/>
            <a:lstStyle/>
            <a:p>
              <a:endParaRPr/>
            </a:p>
          </p:txBody>
        </p:sp>
        <p:sp>
          <p:nvSpPr>
            <p:cNvPr id="17" name="object 17"/>
            <p:cNvSpPr/>
            <p:nvPr/>
          </p:nvSpPr>
          <p:spPr>
            <a:xfrm>
              <a:off x="7353299" y="1988820"/>
              <a:ext cx="1022985" cy="847725"/>
            </a:xfrm>
            <a:custGeom>
              <a:avLst/>
              <a:gdLst/>
              <a:ahLst/>
              <a:cxnLst/>
              <a:rect l="l" t="t" r="r" b="b"/>
              <a:pathLst>
                <a:path w="1022984" h="847725">
                  <a:moveTo>
                    <a:pt x="1022603" y="0"/>
                  </a:moveTo>
                  <a:lnTo>
                    <a:pt x="0" y="0"/>
                  </a:lnTo>
                  <a:lnTo>
                    <a:pt x="0" y="847343"/>
                  </a:lnTo>
                  <a:lnTo>
                    <a:pt x="1022603" y="847343"/>
                  </a:lnTo>
                  <a:lnTo>
                    <a:pt x="1022603" y="0"/>
                  </a:lnTo>
                  <a:close/>
                </a:path>
              </a:pathLst>
            </a:custGeom>
            <a:solidFill>
              <a:srgbClr val="9C70AE"/>
            </a:solidFill>
          </p:spPr>
          <p:txBody>
            <a:bodyPr wrap="square" lIns="0" tIns="0" rIns="0" bIns="0" rtlCol="0"/>
            <a:lstStyle/>
            <a:p>
              <a:endParaRPr/>
            </a:p>
          </p:txBody>
        </p:sp>
        <p:sp>
          <p:nvSpPr>
            <p:cNvPr id="18" name="object 18"/>
            <p:cNvSpPr/>
            <p:nvPr/>
          </p:nvSpPr>
          <p:spPr>
            <a:xfrm>
              <a:off x="7353299" y="1988820"/>
              <a:ext cx="1022985" cy="847725"/>
            </a:xfrm>
            <a:custGeom>
              <a:avLst/>
              <a:gdLst/>
              <a:ahLst/>
              <a:cxnLst/>
              <a:rect l="l" t="t" r="r" b="b"/>
              <a:pathLst>
                <a:path w="1022984" h="847725">
                  <a:moveTo>
                    <a:pt x="0" y="847343"/>
                  </a:moveTo>
                  <a:lnTo>
                    <a:pt x="1022603" y="847343"/>
                  </a:lnTo>
                  <a:lnTo>
                    <a:pt x="1022603" y="0"/>
                  </a:lnTo>
                  <a:lnTo>
                    <a:pt x="0" y="0"/>
                  </a:lnTo>
                  <a:lnTo>
                    <a:pt x="0" y="847343"/>
                  </a:lnTo>
                  <a:close/>
                </a:path>
              </a:pathLst>
            </a:custGeom>
            <a:ln w="9144">
              <a:solidFill>
                <a:srgbClr val="FFFFFF"/>
              </a:solidFill>
            </a:ln>
          </p:spPr>
          <p:txBody>
            <a:bodyPr wrap="square" lIns="0" tIns="0" rIns="0" bIns="0" rtlCol="0"/>
            <a:lstStyle/>
            <a:p>
              <a:endParaRPr/>
            </a:p>
          </p:txBody>
        </p:sp>
      </p:grpSp>
      <p:sp>
        <p:nvSpPr>
          <p:cNvPr id="19" name="object 19"/>
          <p:cNvSpPr txBox="1"/>
          <p:nvPr/>
        </p:nvSpPr>
        <p:spPr>
          <a:xfrm>
            <a:off x="6567678" y="1316354"/>
            <a:ext cx="1808480" cy="299720"/>
          </a:xfrm>
          <a:prstGeom prst="rect">
            <a:avLst/>
          </a:prstGeom>
        </p:spPr>
        <p:txBody>
          <a:bodyPr vert="horz" wrap="square" lIns="0" tIns="12700" rIns="0" bIns="0" rtlCol="0">
            <a:spAutoFit/>
          </a:bodyPr>
          <a:lstStyle/>
          <a:p>
            <a:pPr marL="12700">
              <a:lnSpc>
                <a:spcPct val="100000"/>
              </a:lnSpc>
              <a:spcBef>
                <a:spcPts val="100"/>
              </a:spcBef>
              <a:tabLst>
                <a:tab pos="984885" algn="l"/>
              </a:tabLst>
            </a:pPr>
            <a:r>
              <a:rPr sz="1800" spc="5" dirty="0">
                <a:solidFill>
                  <a:srgbClr val="FFFFFF"/>
                </a:solidFill>
                <a:latin typeface="Trebuchet MS"/>
                <a:cs typeface="Trebuchet MS"/>
              </a:rPr>
              <a:t>JDBC	</a:t>
            </a:r>
            <a:r>
              <a:rPr sz="1800" spc="114" dirty="0">
                <a:solidFill>
                  <a:srgbClr val="FFFFFF"/>
                </a:solidFill>
                <a:latin typeface="Trebuchet MS"/>
                <a:cs typeface="Trebuchet MS"/>
              </a:rPr>
              <a:t>ODBC</a:t>
            </a:r>
            <a:endParaRPr sz="1800" dirty="0">
              <a:latin typeface="Trebuchet MS"/>
              <a:cs typeface="Trebuchet MS"/>
            </a:endParaRPr>
          </a:p>
        </p:txBody>
      </p:sp>
      <p:sp>
        <p:nvSpPr>
          <p:cNvPr id="20" name="object 20"/>
          <p:cNvSpPr/>
          <p:nvPr/>
        </p:nvSpPr>
        <p:spPr>
          <a:xfrm>
            <a:off x="1650492" y="1066800"/>
            <a:ext cx="8891270" cy="4038600"/>
          </a:xfrm>
          <a:custGeom>
            <a:avLst/>
            <a:gdLst/>
            <a:ahLst/>
            <a:cxnLst/>
            <a:rect l="l" t="t" r="r" b="b"/>
            <a:pathLst>
              <a:path w="8891270" h="4500880">
                <a:moveTo>
                  <a:pt x="0" y="46355"/>
                </a:moveTo>
                <a:lnTo>
                  <a:pt x="3653" y="28342"/>
                </a:lnTo>
                <a:lnTo>
                  <a:pt x="13604" y="13604"/>
                </a:lnTo>
                <a:lnTo>
                  <a:pt x="28342" y="3653"/>
                </a:lnTo>
                <a:lnTo>
                  <a:pt x="46355" y="0"/>
                </a:lnTo>
                <a:lnTo>
                  <a:pt x="8844661" y="0"/>
                </a:lnTo>
                <a:lnTo>
                  <a:pt x="8862673" y="3653"/>
                </a:lnTo>
                <a:lnTo>
                  <a:pt x="8877411" y="13604"/>
                </a:lnTo>
                <a:lnTo>
                  <a:pt x="8887362" y="28342"/>
                </a:lnTo>
                <a:lnTo>
                  <a:pt x="8891016" y="46355"/>
                </a:lnTo>
                <a:lnTo>
                  <a:pt x="8891016" y="4453966"/>
                </a:lnTo>
                <a:lnTo>
                  <a:pt x="8887362" y="4472029"/>
                </a:lnTo>
                <a:lnTo>
                  <a:pt x="8877411" y="4486779"/>
                </a:lnTo>
                <a:lnTo>
                  <a:pt x="8862673" y="4496725"/>
                </a:lnTo>
                <a:lnTo>
                  <a:pt x="8844661" y="4500372"/>
                </a:lnTo>
                <a:lnTo>
                  <a:pt x="46355" y="4500372"/>
                </a:lnTo>
                <a:lnTo>
                  <a:pt x="28342" y="4496725"/>
                </a:lnTo>
                <a:lnTo>
                  <a:pt x="13604" y="4486779"/>
                </a:lnTo>
                <a:lnTo>
                  <a:pt x="3653" y="4472029"/>
                </a:lnTo>
                <a:lnTo>
                  <a:pt x="0" y="4453966"/>
                </a:lnTo>
                <a:lnTo>
                  <a:pt x="0" y="46355"/>
                </a:lnTo>
                <a:close/>
              </a:path>
            </a:pathLst>
          </a:custGeom>
          <a:ln w="9144">
            <a:solidFill>
              <a:srgbClr val="D9D9D9"/>
            </a:solidFill>
          </a:ln>
        </p:spPr>
        <p:txBody>
          <a:bodyPr wrap="square" lIns="0" tIns="0" rIns="0" bIns="0" rtlCol="0"/>
          <a:lstStyle/>
          <a:p>
            <a:endParaRPr/>
          </a:p>
        </p:txBody>
      </p:sp>
      <p:sp>
        <p:nvSpPr>
          <p:cNvPr id="21" name="object 21"/>
          <p:cNvSpPr txBox="1"/>
          <p:nvPr/>
        </p:nvSpPr>
        <p:spPr>
          <a:xfrm>
            <a:off x="2291588" y="1171195"/>
            <a:ext cx="695325" cy="406400"/>
          </a:xfrm>
          <a:prstGeom prst="rect">
            <a:avLst/>
          </a:prstGeom>
        </p:spPr>
        <p:txBody>
          <a:bodyPr vert="horz" wrap="square" lIns="0" tIns="12065" rIns="0" bIns="0" rtlCol="0">
            <a:spAutoFit/>
          </a:bodyPr>
          <a:lstStyle/>
          <a:p>
            <a:pPr marL="12700">
              <a:lnSpc>
                <a:spcPct val="100000"/>
              </a:lnSpc>
              <a:spcBef>
                <a:spcPts val="95"/>
              </a:spcBef>
            </a:pPr>
            <a:r>
              <a:rPr sz="2500" b="1" spc="-5" dirty="0">
                <a:solidFill>
                  <a:srgbClr val="505050"/>
                </a:solidFill>
                <a:latin typeface="Arial"/>
                <a:cs typeface="Arial"/>
              </a:rPr>
              <a:t>Hive</a:t>
            </a:r>
            <a:endParaRPr sz="2500">
              <a:latin typeface="Arial"/>
              <a:cs typeface="Arial"/>
            </a:endParaRPr>
          </a:p>
        </p:txBody>
      </p:sp>
      <p:sp>
        <p:nvSpPr>
          <p:cNvPr id="22" name="object 22"/>
          <p:cNvSpPr txBox="1"/>
          <p:nvPr/>
        </p:nvSpPr>
        <p:spPr>
          <a:xfrm>
            <a:off x="2235452" y="3804603"/>
            <a:ext cx="1711960" cy="1080770"/>
          </a:xfrm>
          <a:prstGeom prst="rect">
            <a:avLst/>
          </a:prstGeom>
          <a:solidFill>
            <a:srgbClr val="00BBF1"/>
          </a:solidFill>
        </p:spPr>
        <p:txBody>
          <a:bodyPr vert="horz" wrap="square" lIns="0" tIns="6350" rIns="0" bIns="0" rtlCol="0">
            <a:spAutoFit/>
          </a:bodyPr>
          <a:lstStyle/>
          <a:p>
            <a:pPr>
              <a:lnSpc>
                <a:spcPct val="100000"/>
              </a:lnSpc>
              <a:spcBef>
                <a:spcPts val="50"/>
              </a:spcBef>
            </a:pPr>
            <a:endParaRPr sz="2650" dirty="0">
              <a:latin typeface="Times New Roman"/>
              <a:cs typeface="Times New Roman"/>
            </a:endParaRPr>
          </a:p>
          <a:p>
            <a:pPr marL="635" algn="ctr">
              <a:lnSpc>
                <a:spcPct val="100000"/>
              </a:lnSpc>
            </a:pPr>
            <a:r>
              <a:rPr sz="1800" spc="-30" dirty="0">
                <a:solidFill>
                  <a:srgbClr val="FFFFFF"/>
                </a:solidFill>
                <a:latin typeface="Trebuchet MS"/>
                <a:cs typeface="Trebuchet MS"/>
              </a:rPr>
              <a:t>Tez</a:t>
            </a:r>
            <a:endParaRPr sz="1800" dirty="0">
              <a:latin typeface="Trebuchet MS"/>
              <a:cs typeface="Trebuchet MS"/>
            </a:endParaRPr>
          </a:p>
        </p:txBody>
      </p:sp>
      <p:sp>
        <p:nvSpPr>
          <p:cNvPr id="23" name="object 23"/>
          <p:cNvSpPr txBox="1"/>
          <p:nvPr/>
        </p:nvSpPr>
        <p:spPr>
          <a:xfrm>
            <a:off x="4542789" y="3804603"/>
            <a:ext cx="1711960" cy="1080770"/>
          </a:xfrm>
          <a:prstGeom prst="rect">
            <a:avLst/>
          </a:prstGeom>
          <a:solidFill>
            <a:srgbClr val="00BBF1"/>
          </a:solidFill>
        </p:spPr>
        <p:txBody>
          <a:bodyPr vert="horz" wrap="square" lIns="0" tIns="6350" rIns="0" bIns="0" rtlCol="0">
            <a:spAutoFit/>
          </a:bodyPr>
          <a:lstStyle/>
          <a:p>
            <a:pPr>
              <a:lnSpc>
                <a:spcPct val="100000"/>
              </a:lnSpc>
              <a:spcBef>
                <a:spcPts val="50"/>
              </a:spcBef>
            </a:pPr>
            <a:endParaRPr sz="2650" dirty="0">
              <a:latin typeface="Times New Roman"/>
              <a:cs typeface="Times New Roman"/>
            </a:endParaRPr>
          </a:p>
          <a:p>
            <a:pPr marL="244475">
              <a:lnSpc>
                <a:spcPct val="100000"/>
              </a:lnSpc>
            </a:pPr>
            <a:r>
              <a:rPr sz="1800" spc="50" dirty="0">
                <a:solidFill>
                  <a:srgbClr val="FFFFFF"/>
                </a:solidFill>
                <a:latin typeface="Trebuchet MS"/>
                <a:cs typeface="Trebuchet MS"/>
              </a:rPr>
              <a:t>MapReduce</a:t>
            </a:r>
            <a:endParaRPr sz="1800" dirty="0">
              <a:latin typeface="Trebuchet MS"/>
              <a:cs typeface="Trebuchet MS"/>
            </a:endParaRPr>
          </a:p>
        </p:txBody>
      </p:sp>
      <p:sp>
        <p:nvSpPr>
          <p:cNvPr id="24" name="object 24"/>
          <p:cNvSpPr txBox="1"/>
          <p:nvPr/>
        </p:nvSpPr>
        <p:spPr>
          <a:xfrm>
            <a:off x="6664197" y="3804603"/>
            <a:ext cx="1711960" cy="1080770"/>
          </a:xfrm>
          <a:prstGeom prst="rect">
            <a:avLst/>
          </a:prstGeom>
          <a:solidFill>
            <a:srgbClr val="00BBF1"/>
          </a:solidFill>
        </p:spPr>
        <p:txBody>
          <a:bodyPr vert="horz" wrap="square" lIns="0" tIns="6350" rIns="0" bIns="0" rtlCol="0">
            <a:spAutoFit/>
          </a:bodyPr>
          <a:lstStyle/>
          <a:p>
            <a:pPr>
              <a:lnSpc>
                <a:spcPct val="100000"/>
              </a:lnSpc>
              <a:spcBef>
                <a:spcPts val="50"/>
              </a:spcBef>
            </a:pPr>
            <a:endParaRPr sz="2650" dirty="0">
              <a:latin typeface="Times New Roman"/>
              <a:cs typeface="Times New Roman"/>
            </a:endParaRPr>
          </a:p>
          <a:p>
            <a:pPr marL="563245">
              <a:lnSpc>
                <a:spcPct val="100000"/>
              </a:lnSpc>
            </a:pPr>
            <a:r>
              <a:rPr sz="1800" spc="35" dirty="0">
                <a:solidFill>
                  <a:srgbClr val="FFFFFF"/>
                </a:solidFill>
                <a:latin typeface="Trebuchet MS"/>
                <a:cs typeface="Trebuchet MS"/>
              </a:rPr>
              <a:t>Spark</a:t>
            </a:r>
            <a:endParaRPr sz="1800" dirty="0">
              <a:latin typeface="Trebuchet MS"/>
              <a:cs typeface="Trebuchet MS"/>
            </a:endParaRPr>
          </a:p>
        </p:txBody>
      </p:sp>
      <p:sp>
        <p:nvSpPr>
          <p:cNvPr id="26" name="object 2"/>
          <p:cNvSpPr txBox="1"/>
          <p:nvPr/>
        </p:nvSpPr>
        <p:spPr>
          <a:xfrm>
            <a:off x="715701" y="5366076"/>
            <a:ext cx="11476299" cy="932467"/>
          </a:xfrm>
          <a:prstGeom prst="rect">
            <a:avLst/>
          </a:prstGeom>
        </p:spPr>
        <p:txBody>
          <a:bodyPr vert="horz" wrap="square" lIns="0" tIns="9049" rIns="0" bIns="0" rtlCol="0">
            <a:spAutoFit/>
          </a:bodyPr>
          <a:lstStyle/>
          <a:p>
            <a:pPr marL="138113" indent="-128588">
              <a:spcBef>
                <a:spcPts val="71"/>
              </a:spcBef>
              <a:buFont typeface="Wingdings"/>
              <a:buChar char=""/>
              <a:tabLst>
                <a:tab pos="138113" algn="l"/>
              </a:tabLst>
            </a:pPr>
            <a:r>
              <a:rPr sz="2000" spc="23" dirty="0">
                <a:latin typeface="UKIJ CJK"/>
                <a:cs typeface="UKIJ CJK"/>
              </a:rPr>
              <a:t>MetaStore: </a:t>
            </a:r>
            <a:r>
              <a:rPr sz="2000" spc="15" dirty="0">
                <a:latin typeface="UKIJ CJK"/>
                <a:cs typeface="UKIJ CJK"/>
              </a:rPr>
              <a:t>stores </a:t>
            </a:r>
            <a:r>
              <a:rPr sz="2000" spc="23" dirty="0">
                <a:latin typeface="UKIJ CJK"/>
                <a:cs typeface="UKIJ CJK"/>
              </a:rPr>
              <a:t>metadata </a:t>
            </a:r>
            <a:r>
              <a:rPr sz="2000" spc="19" dirty="0">
                <a:latin typeface="UKIJ CJK"/>
                <a:cs typeface="UKIJ CJK"/>
              </a:rPr>
              <a:t>such </a:t>
            </a:r>
            <a:r>
              <a:rPr sz="2000" spc="11" dirty="0">
                <a:latin typeface="UKIJ CJK"/>
                <a:cs typeface="UKIJ CJK"/>
              </a:rPr>
              <a:t>as </a:t>
            </a:r>
            <a:r>
              <a:rPr sz="2000" spc="15" dirty="0">
                <a:latin typeface="UKIJ CJK"/>
                <a:cs typeface="UKIJ CJK"/>
              </a:rPr>
              <a:t>tables, columns, </a:t>
            </a:r>
            <a:r>
              <a:rPr sz="2000" spc="26" dirty="0">
                <a:latin typeface="UKIJ CJK"/>
                <a:cs typeface="UKIJ CJK"/>
              </a:rPr>
              <a:t>and</a:t>
            </a:r>
            <a:r>
              <a:rPr sz="2000" spc="153" dirty="0">
                <a:latin typeface="UKIJ CJK"/>
                <a:cs typeface="UKIJ CJK"/>
              </a:rPr>
              <a:t> </a:t>
            </a:r>
            <a:r>
              <a:rPr sz="2000" spc="11" dirty="0">
                <a:latin typeface="UKIJ CJK"/>
                <a:cs typeface="UKIJ CJK"/>
              </a:rPr>
              <a:t>partitions.</a:t>
            </a:r>
            <a:endParaRPr sz="2000" dirty="0">
              <a:latin typeface="UKIJ CJK"/>
              <a:cs typeface="UKIJ CJK"/>
            </a:endParaRPr>
          </a:p>
          <a:p>
            <a:pPr marL="138113" indent="-128588">
              <a:buFont typeface="Wingdings"/>
              <a:buChar char=""/>
              <a:tabLst>
                <a:tab pos="138113" algn="l"/>
              </a:tabLst>
            </a:pPr>
            <a:r>
              <a:rPr sz="2000" spc="11" dirty="0">
                <a:latin typeface="UKIJ CJK"/>
                <a:cs typeface="UKIJ CJK"/>
              </a:rPr>
              <a:t>Driver: </a:t>
            </a:r>
            <a:r>
              <a:rPr sz="2000" u="sng" spc="30" dirty="0">
                <a:latin typeface="UKIJ CJK"/>
                <a:cs typeface="UKIJ CJK"/>
              </a:rPr>
              <a:t>manages </a:t>
            </a:r>
            <a:r>
              <a:rPr sz="2000" u="sng" spc="23" dirty="0">
                <a:latin typeface="UKIJ CJK"/>
                <a:cs typeface="UKIJ CJK"/>
              </a:rPr>
              <a:t>the </a:t>
            </a:r>
            <a:r>
              <a:rPr sz="2000" u="sng" spc="11" dirty="0">
                <a:latin typeface="UKIJ CJK"/>
                <a:cs typeface="UKIJ CJK"/>
              </a:rPr>
              <a:t>life </a:t>
            </a:r>
            <a:r>
              <a:rPr sz="2000" u="sng" spc="23" dirty="0">
                <a:latin typeface="UKIJ CJK"/>
                <a:cs typeface="UKIJ CJK"/>
              </a:rPr>
              <a:t>cycle </a:t>
            </a:r>
            <a:r>
              <a:rPr sz="2000" u="sng" spc="30" dirty="0">
                <a:latin typeface="UKIJ CJK"/>
                <a:cs typeface="UKIJ CJK"/>
              </a:rPr>
              <a:t>of </a:t>
            </a:r>
            <a:r>
              <a:rPr sz="2000" u="sng" spc="41" dirty="0">
                <a:latin typeface="UKIJ CJK"/>
                <a:cs typeface="UKIJ CJK"/>
              </a:rPr>
              <a:t>HQL </a:t>
            </a:r>
            <a:r>
              <a:rPr sz="2000" u="sng" spc="23" dirty="0">
                <a:latin typeface="UKIJ CJK"/>
                <a:cs typeface="UKIJ CJK"/>
              </a:rPr>
              <a:t>execution </a:t>
            </a:r>
            <a:r>
              <a:rPr sz="2000" u="sng" spc="26" dirty="0">
                <a:latin typeface="UKIJ CJK"/>
                <a:cs typeface="UKIJ CJK"/>
              </a:rPr>
              <a:t>and </a:t>
            </a:r>
            <a:r>
              <a:rPr sz="2000" u="sng" spc="19" dirty="0">
                <a:latin typeface="UKIJ CJK"/>
                <a:cs typeface="UKIJ CJK"/>
              </a:rPr>
              <a:t>participates </a:t>
            </a:r>
            <a:r>
              <a:rPr sz="2000" u="sng" spc="11" dirty="0">
                <a:latin typeface="UKIJ CJK"/>
                <a:cs typeface="UKIJ CJK"/>
              </a:rPr>
              <a:t>in </a:t>
            </a:r>
            <a:r>
              <a:rPr sz="2000" u="sng" spc="23" dirty="0">
                <a:latin typeface="UKIJ CJK"/>
                <a:cs typeface="UKIJ CJK"/>
              </a:rPr>
              <a:t>the</a:t>
            </a:r>
            <a:r>
              <a:rPr sz="2000" u="sng" spc="86" dirty="0">
                <a:latin typeface="UKIJ CJK"/>
                <a:cs typeface="UKIJ CJK"/>
              </a:rPr>
              <a:t> </a:t>
            </a:r>
            <a:r>
              <a:rPr sz="2000" u="sng" spc="15" dirty="0" smtClean="0">
                <a:latin typeface="UKIJ CJK"/>
                <a:cs typeface="UKIJ CJK"/>
              </a:rPr>
              <a:t>entire</a:t>
            </a:r>
            <a:r>
              <a:rPr lang="en-US" sz="2000" u="sng" dirty="0">
                <a:latin typeface="UKIJ CJK"/>
                <a:cs typeface="UKIJ CJK"/>
              </a:rPr>
              <a:t> </a:t>
            </a:r>
            <a:r>
              <a:rPr sz="2000" u="sng" spc="30" dirty="0" smtClean="0">
                <a:latin typeface="UKIJ CJK"/>
                <a:cs typeface="UKIJ CJK"/>
              </a:rPr>
              <a:t>Hive </a:t>
            </a:r>
            <a:r>
              <a:rPr sz="2000" u="sng" spc="23" dirty="0">
                <a:latin typeface="UKIJ CJK"/>
                <a:cs typeface="UKIJ CJK"/>
              </a:rPr>
              <a:t>task </a:t>
            </a:r>
            <a:r>
              <a:rPr sz="2000" u="sng" spc="15" dirty="0">
                <a:latin typeface="UKIJ CJK"/>
                <a:cs typeface="UKIJ CJK"/>
              </a:rPr>
              <a:t>execution</a:t>
            </a:r>
            <a:r>
              <a:rPr sz="2000" spc="15" dirty="0">
                <a:latin typeface="UKIJ CJK"/>
                <a:cs typeface="UKIJ CJK"/>
              </a:rPr>
              <a:t>.</a:t>
            </a:r>
            <a:endParaRPr sz="2000" dirty="0">
              <a:latin typeface="UKIJ CJK"/>
              <a:cs typeface="UKIJ CJK"/>
            </a:endParaRPr>
          </a:p>
          <a:p>
            <a:pPr marL="138113" marR="180975" indent="-128588">
              <a:spcBef>
                <a:spcPts val="4"/>
              </a:spcBef>
              <a:buFont typeface="Wingdings"/>
              <a:buChar char=""/>
              <a:tabLst>
                <a:tab pos="138113" algn="l"/>
              </a:tabLst>
            </a:pPr>
            <a:r>
              <a:rPr sz="2000" spc="19" dirty="0">
                <a:latin typeface="UKIJ CJK"/>
                <a:cs typeface="UKIJ CJK"/>
              </a:rPr>
              <a:t>Compiler: </a:t>
            </a:r>
            <a:r>
              <a:rPr sz="2000" u="sng" spc="11" dirty="0">
                <a:latin typeface="UKIJ CJK"/>
                <a:cs typeface="UKIJ CJK"/>
              </a:rPr>
              <a:t>translates </a:t>
            </a:r>
            <a:r>
              <a:rPr sz="2000" u="sng" spc="41" dirty="0">
                <a:latin typeface="UKIJ CJK"/>
                <a:cs typeface="UKIJ CJK"/>
              </a:rPr>
              <a:t>HQL </a:t>
            </a:r>
            <a:r>
              <a:rPr sz="2000" u="sng" spc="19" dirty="0">
                <a:latin typeface="UKIJ CJK"/>
                <a:cs typeface="UKIJ CJK"/>
              </a:rPr>
              <a:t>statements </a:t>
            </a:r>
            <a:r>
              <a:rPr sz="2000" u="sng" spc="23" dirty="0">
                <a:latin typeface="UKIJ CJK"/>
                <a:cs typeface="UKIJ CJK"/>
              </a:rPr>
              <a:t>into </a:t>
            </a:r>
            <a:r>
              <a:rPr sz="2000" u="sng" spc="15" dirty="0">
                <a:latin typeface="UKIJ CJK"/>
                <a:cs typeface="UKIJ CJK"/>
              </a:rPr>
              <a:t>a </a:t>
            </a:r>
            <a:r>
              <a:rPr sz="2000" u="sng" spc="8" dirty="0">
                <a:latin typeface="UKIJ CJK"/>
                <a:cs typeface="UKIJ CJK"/>
              </a:rPr>
              <a:t>series </a:t>
            </a:r>
            <a:r>
              <a:rPr sz="2000" u="sng" spc="30" dirty="0">
                <a:latin typeface="UKIJ CJK"/>
                <a:cs typeface="UKIJ CJK"/>
              </a:rPr>
              <a:t>of </a:t>
            </a:r>
            <a:r>
              <a:rPr sz="2000" u="sng" spc="23" dirty="0">
                <a:latin typeface="UKIJ CJK"/>
                <a:cs typeface="UKIJ CJK"/>
              </a:rPr>
              <a:t>interdependent </a:t>
            </a:r>
            <a:r>
              <a:rPr sz="2000" u="sng" spc="41" dirty="0">
                <a:latin typeface="UKIJ CJK"/>
                <a:cs typeface="UKIJ CJK"/>
              </a:rPr>
              <a:t>Map  </a:t>
            </a:r>
            <a:r>
              <a:rPr sz="2000" u="sng" spc="26" dirty="0">
                <a:latin typeface="UKIJ CJK"/>
                <a:cs typeface="UKIJ CJK"/>
              </a:rPr>
              <a:t>and </a:t>
            </a:r>
            <a:r>
              <a:rPr sz="2000" u="sng" spc="30" dirty="0">
                <a:latin typeface="UKIJ CJK"/>
                <a:cs typeface="UKIJ CJK"/>
              </a:rPr>
              <a:t>Reduce</a:t>
            </a:r>
            <a:r>
              <a:rPr sz="2000" u="sng" spc="23" dirty="0">
                <a:latin typeface="UKIJ CJK"/>
                <a:cs typeface="UKIJ CJK"/>
              </a:rPr>
              <a:t> </a:t>
            </a:r>
            <a:r>
              <a:rPr sz="2000" u="sng" spc="11" dirty="0">
                <a:latin typeface="UKIJ CJK"/>
                <a:cs typeface="UKIJ CJK"/>
              </a:rPr>
              <a:t>tasks</a:t>
            </a:r>
            <a:r>
              <a:rPr sz="2000" spc="11" dirty="0" smtClean="0">
                <a:latin typeface="UKIJ CJK"/>
                <a:cs typeface="UKIJ CJK"/>
              </a:rPr>
              <a:t>.</a:t>
            </a:r>
            <a:endParaRPr sz="2000" dirty="0">
              <a:latin typeface="UKIJ CJK"/>
              <a:cs typeface="UKIJ CJK"/>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650492" y="485208"/>
            <a:ext cx="5465776" cy="567463"/>
          </a:xfrm>
          <a:prstGeom prst="rect">
            <a:avLst/>
          </a:prstGeom>
        </p:spPr>
        <p:txBody>
          <a:bodyPr vert="horz" wrap="square" lIns="0" tIns="13335" rIns="0" bIns="0" rtlCol="0">
            <a:spAutoFit/>
          </a:bodyPr>
          <a:lstStyle/>
          <a:p>
            <a:pPr marL="12700">
              <a:lnSpc>
                <a:spcPct val="100000"/>
              </a:lnSpc>
              <a:spcBef>
                <a:spcPts val="105"/>
              </a:spcBef>
            </a:pPr>
            <a:r>
              <a:rPr spc="40" dirty="0"/>
              <a:t>Hive</a:t>
            </a:r>
            <a:r>
              <a:rPr spc="-35" dirty="0"/>
              <a:t> </a:t>
            </a:r>
            <a:r>
              <a:rPr spc="-25" dirty="0"/>
              <a:t>Architecture</a:t>
            </a:r>
          </a:p>
        </p:txBody>
      </p:sp>
      <p:sp>
        <p:nvSpPr>
          <p:cNvPr id="3" name="object 3"/>
          <p:cNvSpPr/>
          <p:nvPr/>
        </p:nvSpPr>
        <p:spPr>
          <a:xfrm>
            <a:off x="2235707" y="2743200"/>
            <a:ext cx="6140450" cy="1079500"/>
          </a:xfrm>
          <a:custGeom>
            <a:avLst/>
            <a:gdLst/>
            <a:ahLst/>
            <a:cxnLst/>
            <a:rect l="l" t="t" r="r" b="b"/>
            <a:pathLst>
              <a:path w="6140450" h="1079500">
                <a:moveTo>
                  <a:pt x="6140196" y="0"/>
                </a:moveTo>
                <a:lnTo>
                  <a:pt x="0" y="0"/>
                </a:lnTo>
                <a:lnTo>
                  <a:pt x="0" y="1078991"/>
                </a:lnTo>
                <a:lnTo>
                  <a:pt x="6140196" y="1078991"/>
                </a:lnTo>
                <a:lnTo>
                  <a:pt x="6140196" y="0"/>
                </a:lnTo>
                <a:close/>
              </a:path>
            </a:pathLst>
          </a:custGeom>
          <a:solidFill>
            <a:srgbClr val="7E7E7E"/>
          </a:solidFill>
        </p:spPr>
        <p:txBody>
          <a:bodyPr wrap="square" lIns="0" tIns="0" rIns="0" bIns="0" rtlCol="0"/>
          <a:lstStyle/>
          <a:p>
            <a:endParaRPr/>
          </a:p>
        </p:txBody>
      </p:sp>
      <p:sp>
        <p:nvSpPr>
          <p:cNvPr id="4" name="object 4"/>
          <p:cNvSpPr txBox="1"/>
          <p:nvPr/>
        </p:nvSpPr>
        <p:spPr>
          <a:xfrm>
            <a:off x="3642867" y="2887539"/>
            <a:ext cx="3326129" cy="574040"/>
          </a:xfrm>
          <a:prstGeom prst="rect">
            <a:avLst/>
          </a:prstGeom>
        </p:spPr>
        <p:txBody>
          <a:bodyPr vert="horz" wrap="square" lIns="0" tIns="12700" rIns="0" bIns="0" rtlCol="0">
            <a:spAutoFit/>
          </a:bodyPr>
          <a:lstStyle/>
          <a:p>
            <a:pPr marL="1270" algn="ctr">
              <a:lnSpc>
                <a:spcPct val="100000"/>
              </a:lnSpc>
              <a:spcBef>
                <a:spcPts val="100"/>
              </a:spcBef>
            </a:pPr>
            <a:r>
              <a:rPr sz="1800" spc="5" dirty="0">
                <a:solidFill>
                  <a:srgbClr val="FFFFFF"/>
                </a:solidFill>
                <a:latin typeface="Trebuchet MS"/>
                <a:cs typeface="Trebuchet MS"/>
              </a:rPr>
              <a:t>Driver</a:t>
            </a:r>
            <a:endParaRPr sz="1800" dirty="0">
              <a:latin typeface="Trebuchet MS"/>
              <a:cs typeface="Trebuchet MS"/>
            </a:endParaRPr>
          </a:p>
          <a:p>
            <a:pPr algn="ctr">
              <a:lnSpc>
                <a:spcPct val="100000"/>
              </a:lnSpc>
            </a:pPr>
            <a:r>
              <a:rPr sz="1800" spc="-10" dirty="0">
                <a:solidFill>
                  <a:srgbClr val="FFFFFF"/>
                </a:solidFill>
                <a:latin typeface="Trebuchet MS"/>
                <a:cs typeface="Trebuchet MS"/>
              </a:rPr>
              <a:t>(Compiler, </a:t>
            </a:r>
            <a:r>
              <a:rPr sz="1800" spc="-15" dirty="0">
                <a:solidFill>
                  <a:srgbClr val="FFFFFF"/>
                </a:solidFill>
                <a:latin typeface="Trebuchet MS"/>
                <a:cs typeface="Trebuchet MS"/>
              </a:rPr>
              <a:t>Optimizer, </a:t>
            </a:r>
            <a:r>
              <a:rPr sz="1800" dirty="0">
                <a:solidFill>
                  <a:srgbClr val="FFFFFF"/>
                </a:solidFill>
                <a:latin typeface="Trebuchet MS"/>
                <a:cs typeface="Trebuchet MS"/>
              </a:rPr>
              <a:t>Executor)</a:t>
            </a:r>
            <a:endParaRPr sz="1800" dirty="0">
              <a:latin typeface="Trebuchet MS"/>
              <a:cs typeface="Trebuchet MS"/>
            </a:endParaRPr>
          </a:p>
        </p:txBody>
      </p:sp>
      <p:sp>
        <p:nvSpPr>
          <p:cNvPr id="5" name="object 5"/>
          <p:cNvSpPr txBox="1"/>
          <p:nvPr/>
        </p:nvSpPr>
        <p:spPr>
          <a:xfrm>
            <a:off x="8470392" y="2743200"/>
            <a:ext cx="1323340" cy="1079500"/>
          </a:xfrm>
          <a:prstGeom prst="rect">
            <a:avLst/>
          </a:prstGeom>
          <a:solidFill>
            <a:srgbClr val="45C1A3"/>
          </a:solidFill>
        </p:spPr>
        <p:txBody>
          <a:bodyPr vert="horz" wrap="square" lIns="0" tIns="5080" rIns="0" bIns="0" rtlCol="0">
            <a:spAutoFit/>
          </a:bodyPr>
          <a:lstStyle/>
          <a:p>
            <a:pPr>
              <a:lnSpc>
                <a:spcPct val="100000"/>
              </a:lnSpc>
              <a:spcBef>
                <a:spcPts val="40"/>
              </a:spcBef>
            </a:pPr>
            <a:endParaRPr sz="2650" dirty="0" smtClean="0">
              <a:latin typeface="Times New Roman"/>
              <a:cs typeface="Times New Roman"/>
            </a:endParaRPr>
          </a:p>
          <a:p>
            <a:pPr marL="121285">
              <a:lnSpc>
                <a:spcPct val="100000"/>
              </a:lnSpc>
            </a:pPr>
            <a:r>
              <a:rPr sz="1800" spc="35" dirty="0" err="1" smtClean="0">
                <a:solidFill>
                  <a:srgbClr val="FFFFFF"/>
                </a:solidFill>
                <a:latin typeface="Trebuchet MS"/>
                <a:cs typeface="Trebuchet MS"/>
              </a:rPr>
              <a:t>MetaStore</a:t>
            </a:r>
            <a:endParaRPr sz="1800" dirty="0">
              <a:latin typeface="Trebuchet MS"/>
              <a:cs typeface="Trebuchet MS"/>
            </a:endParaRPr>
          </a:p>
        </p:txBody>
      </p:sp>
      <p:grpSp>
        <p:nvGrpSpPr>
          <p:cNvPr id="6" name="object 6"/>
          <p:cNvGrpSpPr/>
          <p:nvPr/>
        </p:nvGrpSpPr>
        <p:grpSpPr>
          <a:xfrm>
            <a:off x="6312217" y="1828800"/>
            <a:ext cx="2068830" cy="890905"/>
            <a:chOff x="6312217" y="2831401"/>
            <a:chExt cx="2068830" cy="890905"/>
          </a:xfrm>
        </p:grpSpPr>
        <p:sp>
          <p:nvSpPr>
            <p:cNvPr id="7" name="object 7"/>
            <p:cNvSpPr/>
            <p:nvPr/>
          </p:nvSpPr>
          <p:spPr>
            <a:xfrm>
              <a:off x="6316979" y="2836164"/>
              <a:ext cx="2059305" cy="881380"/>
            </a:xfrm>
            <a:custGeom>
              <a:avLst/>
              <a:gdLst/>
              <a:ahLst/>
              <a:cxnLst/>
              <a:rect l="l" t="t" r="r" b="b"/>
              <a:pathLst>
                <a:path w="2059304" h="881379">
                  <a:moveTo>
                    <a:pt x="2058924" y="0"/>
                  </a:moveTo>
                  <a:lnTo>
                    <a:pt x="0" y="0"/>
                  </a:lnTo>
                  <a:lnTo>
                    <a:pt x="0" y="880872"/>
                  </a:lnTo>
                  <a:lnTo>
                    <a:pt x="2058924" y="880872"/>
                  </a:lnTo>
                  <a:lnTo>
                    <a:pt x="2058924" y="0"/>
                  </a:lnTo>
                  <a:close/>
                </a:path>
              </a:pathLst>
            </a:custGeom>
            <a:solidFill>
              <a:srgbClr val="45C1A3"/>
            </a:solidFill>
          </p:spPr>
          <p:txBody>
            <a:bodyPr wrap="square" lIns="0" tIns="0" rIns="0" bIns="0" rtlCol="0"/>
            <a:lstStyle/>
            <a:p>
              <a:endParaRPr/>
            </a:p>
          </p:txBody>
        </p:sp>
        <p:sp>
          <p:nvSpPr>
            <p:cNvPr id="8" name="object 8"/>
            <p:cNvSpPr/>
            <p:nvPr/>
          </p:nvSpPr>
          <p:spPr>
            <a:xfrm>
              <a:off x="6316979" y="2836164"/>
              <a:ext cx="2059305" cy="881380"/>
            </a:xfrm>
            <a:custGeom>
              <a:avLst/>
              <a:gdLst/>
              <a:ahLst/>
              <a:cxnLst/>
              <a:rect l="l" t="t" r="r" b="b"/>
              <a:pathLst>
                <a:path w="2059304" h="881379">
                  <a:moveTo>
                    <a:pt x="0" y="880872"/>
                  </a:moveTo>
                  <a:lnTo>
                    <a:pt x="2058924" y="880872"/>
                  </a:lnTo>
                  <a:lnTo>
                    <a:pt x="2058924" y="0"/>
                  </a:lnTo>
                  <a:lnTo>
                    <a:pt x="0" y="0"/>
                  </a:lnTo>
                  <a:lnTo>
                    <a:pt x="0" y="880872"/>
                  </a:lnTo>
                  <a:close/>
                </a:path>
              </a:pathLst>
            </a:custGeom>
            <a:ln w="9144">
              <a:solidFill>
                <a:srgbClr val="FFFFFF"/>
              </a:solidFill>
            </a:ln>
          </p:spPr>
          <p:txBody>
            <a:bodyPr wrap="square" lIns="0" tIns="0" rIns="0" bIns="0" rtlCol="0"/>
            <a:lstStyle/>
            <a:p>
              <a:endParaRPr/>
            </a:p>
          </p:txBody>
        </p:sp>
      </p:grpSp>
      <p:sp>
        <p:nvSpPr>
          <p:cNvPr id="9" name="object 9"/>
          <p:cNvSpPr txBox="1"/>
          <p:nvPr/>
        </p:nvSpPr>
        <p:spPr>
          <a:xfrm>
            <a:off x="6316979" y="1833563"/>
            <a:ext cx="2059305" cy="881380"/>
          </a:xfrm>
          <a:prstGeom prst="rect">
            <a:avLst/>
          </a:prstGeom>
        </p:spPr>
        <p:txBody>
          <a:bodyPr vert="horz" wrap="square" lIns="0" tIns="3810" rIns="0" bIns="0" rtlCol="0">
            <a:spAutoFit/>
          </a:bodyPr>
          <a:lstStyle/>
          <a:p>
            <a:pPr>
              <a:lnSpc>
                <a:spcPct val="100000"/>
              </a:lnSpc>
              <a:spcBef>
                <a:spcPts val="30"/>
              </a:spcBef>
            </a:pPr>
            <a:endParaRPr sz="1950" dirty="0">
              <a:latin typeface="Times New Roman"/>
              <a:cs typeface="Times New Roman"/>
            </a:endParaRPr>
          </a:p>
          <a:p>
            <a:pPr marL="389255">
              <a:lnSpc>
                <a:spcPct val="100000"/>
              </a:lnSpc>
            </a:pPr>
            <a:r>
              <a:rPr sz="1800" spc="-25" dirty="0">
                <a:solidFill>
                  <a:srgbClr val="FFFFFF"/>
                </a:solidFill>
                <a:latin typeface="Trebuchet MS"/>
                <a:cs typeface="Trebuchet MS"/>
              </a:rPr>
              <a:t>Thrift</a:t>
            </a:r>
            <a:r>
              <a:rPr sz="1800" spc="-65" dirty="0">
                <a:solidFill>
                  <a:srgbClr val="FFFFFF"/>
                </a:solidFill>
                <a:latin typeface="Trebuchet MS"/>
                <a:cs typeface="Trebuchet MS"/>
              </a:rPr>
              <a:t> </a:t>
            </a:r>
            <a:r>
              <a:rPr sz="1800" spc="-10" dirty="0">
                <a:solidFill>
                  <a:srgbClr val="FFFFFF"/>
                </a:solidFill>
                <a:latin typeface="Trebuchet MS"/>
                <a:cs typeface="Trebuchet MS"/>
              </a:rPr>
              <a:t>Server</a:t>
            </a:r>
            <a:endParaRPr sz="1800" dirty="0">
              <a:latin typeface="Trebuchet MS"/>
              <a:cs typeface="Trebuchet MS"/>
            </a:endParaRPr>
          </a:p>
        </p:txBody>
      </p:sp>
      <p:grpSp>
        <p:nvGrpSpPr>
          <p:cNvPr id="10" name="object 10"/>
          <p:cNvGrpSpPr/>
          <p:nvPr/>
        </p:nvGrpSpPr>
        <p:grpSpPr>
          <a:xfrm>
            <a:off x="5094541" y="1828800"/>
            <a:ext cx="1233805" cy="890905"/>
            <a:chOff x="5094541" y="2831401"/>
            <a:chExt cx="1233805" cy="890905"/>
          </a:xfrm>
        </p:grpSpPr>
        <p:sp>
          <p:nvSpPr>
            <p:cNvPr id="11" name="object 11"/>
            <p:cNvSpPr/>
            <p:nvPr/>
          </p:nvSpPr>
          <p:spPr>
            <a:xfrm>
              <a:off x="5099303" y="2836164"/>
              <a:ext cx="1224280" cy="881380"/>
            </a:xfrm>
            <a:custGeom>
              <a:avLst/>
              <a:gdLst/>
              <a:ahLst/>
              <a:cxnLst/>
              <a:rect l="l" t="t" r="r" b="b"/>
              <a:pathLst>
                <a:path w="1224279" h="881379">
                  <a:moveTo>
                    <a:pt x="1223772" y="0"/>
                  </a:moveTo>
                  <a:lnTo>
                    <a:pt x="0" y="0"/>
                  </a:lnTo>
                  <a:lnTo>
                    <a:pt x="0" y="880872"/>
                  </a:lnTo>
                  <a:lnTo>
                    <a:pt x="1223772" y="880872"/>
                  </a:lnTo>
                  <a:lnTo>
                    <a:pt x="1223772" y="0"/>
                  </a:lnTo>
                  <a:close/>
                </a:path>
              </a:pathLst>
            </a:custGeom>
            <a:solidFill>
              <a:srgbClr val="0095D5"/>
            </a:solidFill>
          </p:spPr>
          <p:txBody>
            <a:bodyPr wrap="square" lIns="0" tIns="0" rIns="0" bIns="0" rtlCol="0"/>
            <a:lstStyle/>
            <a:p>
              <a:endParaRPr/>
            </a:p>
          </p:txBody>
        </p:sp>
        <p:sp>
          <p:nvSpPr>
            <p:cNvPr id="12" name="object 12"/>
            <p:cNvSpPr/>
            <p:nvPr/>
          </p:nvSpPr>
          <p:spPr>
            <a:xfrm>
              <a:off x="5099303" y="2836164"/>
              <a:ext cx="1224280" cy="881380"/>
            </a:xfrm>
            <a:custGeom>
              <a:avLst/>
              <a:gdLst/>
              <a:ahLst/>
              <a:cxnLst/>
              <a:rect l="l" t="t" r="r" b="b"/>
              <a:pathLst>
                <a:path w="1224279" h="881379">
                  <a:moveTo>
                    <a:pt x="0" y="880872"/>
                  </a:moveTo>
                  <a:lnTo>
                    <a:pt x="1223772" y="880872"/>
                  </a:lnTo>
                  <a:lnTo>
                    <a:pt x="1223772" y="0"/>
                  </a:lnTo>
                  <a:lnTo>
                    <a:pt x="0" y="0"/>
                  </a:lnTo>
                  <a:lnTo>
                    <a:pt x="0" y="880872"/>
                  </a:lnTo>
                  <a:close/>
                </a:path>
              </a:pathLst>
            </a:custGeom>
            <a:ln w="9144">
              <a:solidFill>
                <a:srgbClr val="FFFFFF"/>
              </a:solidFill>
            </a:ln>
          </p:spPr>
          <p:txBody>
            <a:bodyPr wrap="square" lIns="0" tIns="0" rIns="0" bIns="0" rtlCol="0"/>
            <a:lstStyle/>
            <a:p>
              <a:endParaRPr/>
            </a:p>
          </p:txBody>
        </p:sp>
      </p:grpSp>
      <p:sp>
        <p:nvSpPr>
          <p:cNvPr id="13" name="object 13"/>
          <p:cNvSpPr txBox="1"/>
          <p:nvPr/>
        </p:nvSpPr>
        <p:spPr>
          <a:xfrm>
            <a:off x="5238750" y="1976945"/>
            <a:ext cx="946150" cy="574040"/>
          </a:xfrm>
          <a:prstGeom prst="rect">
            <a:avLst/>
          </a:prstGeom>
        </p:spPr>
        <p:txBody>
          <a:bodyPr vert="horz" wrap="square" lIns="0" tIns="12700" rIns="0" bIns="0" rtlCol="0">
            <a:spAutoFit/>
          </a:bodyPr>
          <a:lstStyle/>
          <a:p>
            <a:pPr marL="12700" marR="5080" indent="223520">
              <a:lnSpc>
                <a:spcPct val="100000"/>
              </a:lnSpc>
              <a:spcBef>
                <a:spcPts val="100"/>
              </a:spcBef>
            </a:pPr>
            <a:r>
              <a:rPr sz="1800" spc="65" dirty="0">
                <a:solidFill>
                  <a:srgbClr val="FFFFFF"/>
                </a:solidFill>
                <a:latin typeface="Trebuchet MS"/>
                <a:cs typeface="Trebuchet MS"/>
              </a:rPr>
              <a:t>Web  </a:t>
            </a:r>
            <a:r>
              <a:rPr sz="1800" spc="25" dirty="0">
                <a:solidFill>
                  <a:srgbClr val="FFFFFF"/>
                </a:solidFill>
                <a:latin typeface="Trebuchet MS"/>
                <a:cs typeface="Trebuchet MS"/>
              </a:rPr>
              <a:t>I</a:t>
            </a:r>
            <a:r>
              <a:rPr sz="1800" spc="55" dirty="0">
                <a:solidFill>
                  <a:srgbClr val="FFFFFF"/>
                </a:solidFill>
                <a:latin typeface="Trebuchet MS"/>
                <a:cs typeface="Trebuchet MS"/>
              </a:rPr>
              <a:t>n</a:t>
            </a:r>
            <a:r>
              <a:rPr sz="1800" spc="-45" dirty="0">
                <a:solidFill>
                  <a:srgbClr val="FFFFFF"/>
                </a:solidFill>
                <a:latin typeface="Trebuchet MS"/>
                <a:cs typeface="Trebuchet MS"/>
              </a:rPr>
              <a:t>t</a:t>
            </a:r>
            <a:r>
              <a:rPr sz="1800" spc="-65" dirty="0">
                <a:solidFill>
                  <a:srgbClr val="FFFFFF"/>
                </a:solidFill>
                <a:latin typeface="Trebuchet MS"/>
                <a:cs typeface="Trebuchet MS"/>
              </a:rPr>
              <a:t>e</a:t>
            </a:r>
            <a:r>
              <a:rPr sz="1800" spc="-20" dirty="0">
                <a:solidFill>
                  <a:srgbClr val="FFFFFF"/>
                </a:solidFill>
                <a:latin typeface="Trebuchet MS"/>
                <a:cs typeface="Trebuchet MS"/>
              </a:rPr>
              <a:t>rfac</a:t>
            </a:r>
            <a:r>
              <a:rPr sz="1800" spc="-35" dirty="0">
                <a:solidFill>
                  <a:srgbClr val="FFFFFF"/>
                </a:solidFill>
                <a:latin typeface="Trebuchet MS"/>
                <a:cs typeface="Trebuchet MS"/>
              </a:rPr>
              <a:t>e</a:t>
            </a:r>
            <a:endParaRPr sz="1800">
              <a:latin typeface="Trebuchet MS"/>
              <a:cs typeface="Trebuchet MS"/>
            </a:endParaRPr>
          </a:p>
        </p:txBody>
      </p:sp>
      <p:grpSp>
        <p:nvGrpSpPr>
          <p:cNvPr id="14" name="object 14"/>
          <p:cNvGrpSpPr/>
          <p:nvPr/>
        </p:nvGrpSpPr>
        <p:grpSpPr>
          <a:xfrm>
            <a:off x="6318503" y="1048385"/>
            <a:ext cx="2062480" cy="856615"/>
            <a:chOff x="6318503" y="1984248"/>
            <a:chExt cx="2062480" cy="856615"/>
          </a:xfrm>
        </p:grpSpPr>
        <p:sp>
          <p:nvSpPr>
            <p:cNvPr id="15" name="object 15"/>
            <p:cNvSpPr/>
            <p:nvPr/>
          </p:nvSpPr>
          <p:spPr>
            <a:xfrm>
              <a:off x="6323075" y="1988820"/>
              <a:ext cx="1036319" cy="847725"/>
            </a:xfrm>
            <a:custGeom>
              <a:avLst/>
              <a:gdLst/>
              <a:ahLst/>
              <a:cxnLst/>
              <a:rect l="l" t="t" r="r" b="b"/>
              <a:pathLst>
                <a:path w="1036320" h="847725">
                  <a:moveTo>
                    <a:pt x="1036320" y="0"/>
                  </a:moveTo>
                  <a:lnTo>
                    <a:pt x="0" y="0"/>
                  </a:lnTo>
                  <a:lnTo>
                    <a:pt x="0" y="847343"/>
                  </a:lnTo>
                  <a:lnTo>
                    <a:pt x="1036320" y="847343"/>
                  </a:lnTo>
                  <a:lnTo>
                    <a:pt x="1036320" y="0"/>
                  </a:lnTo>
                  <a:close/>
                </a:path>
              </a:pathLst>
            </a:custGeom>
            <a:solidFill>
              <a:srgbClr val="00BBF1"/>
            </a:solidFill>
          </p:spPr>
          <p:txBody>
            <a:bodyPr wrap="square" lIns="0" tIns="0" rIns="0" bIns="0" rtlCol="0"/>
            <a:lstStyle/>
            <a:p>
              <a:endParaRPr/>
            </a:p>
          </p:txBody>
        </p:sp>
        <p:sp>
          <p:nvSpPr>
            <p:cNvPr id="16" name="object 16"/>
            <p:cNvSpPr/>
            <p:nvPr/>
          </p:nvSpPr>
          <p:spPr>
            <a:xfrm>
              <a:off x="6323075" y="1988820"/>
              <a:ext cx="1036319" cy="847725"/>
            </a:xfrm>
            <a:custGeom>
              <a:avLst/>
              <a:gdLst/>
              <a:ahLst/>
              <a:cxnLst/>
              <a:rect l="l" t="t" r="r" b="b"/>
              <a:pathLst>
                <a:path w="1036320" h="847725">
                  <a:moveTo>
                    <a:pt x="0" y="847343"/>
                  </a:moveTo>
                  <a:lnTo>
                    <a:pt x="1036320" y="847343"/>
                  </a:lnTo>
                  <a:lnTo>
                    <a:pt x="1036320" y="0"/>
                  </a:lnTo>
                  <a:lnTo>
                    <a:pt x="0" y="0"/>
                  </a:lnTo>
                  <a:lnTo>
                    <a:pt x="0" y="847343"/>
                  </a:lnTo>
                  <a:close/>
                </a:path>
              </a:pathLst>
            </a:custGeom>
            <a:ln w="9144">
              <a:solidFill>
                <a:srgbClr val="FFFFFF"/>
              </a:solidFill>
            </a:ln>
          </p:spPr>
          <p:txBody>
            <a:bodyPr wrap="square" lIns="0" tIns="0" rIns="0" bIns="0" rtlCol="0"/>
            <a:lstStyle/>
            <a:p>
              <a:endParaRPr/>
            </a:p>
          </p:txBody>
        </p:sp>
        <p:sp>
          <p:nvSpPr>
            <p:cNvPr id="17" name="object 17"/>
            <p:cNvSpPr/>
            <p:nvPr/>
          </p:nvSpPr>
          <p:spPr>
            <a:xfrm>
              <a:off x="7353299" y="1988820"/>
              <a:ext cx="1022985" cy="847725"/>
            </a:xfrm>
            <a:custGeom>
              <a:avLst/>
              <a:gdLst/>
              <a:ahLst/>
              <a:cxnLst/>
              <a:rect l="l" t="t" r="r" b="b"/>
              <a:pathLst>
                <a:path w="1022984" h="847725">
                  <a:moveTo>
                    <a:pt x="1022603" y="0"/>
                  </a:moveTo>
                  <a:lnTo>
                    <a:pt x="0" y="0"/>
                  </a:lnTo>
                  <a:lnTo>
                    <a:pt x="0" y="847343"/>
                  </a:lnTo>
                  <a:lnTo>
                    <a:pt x="1022603" y="847343"/>
                  </a:lnTo>
                  <a:lnTo>
                    <a:pt x="1022603" y="0"/>
                  </a:lnTo>
                  <a:close/>
                </a:path>
              </a:pathLst>
            </a:custGeom>
            <a:solidFill>
              <a:srgbClr val="9C70AE"/>
            </a:solidFill>
          </p:spPr>
          <p:txBody>
            <a:bodyPr wrap="square" lIns="0" tIns="0" rIns="0" bIns="0" rtlCol="0"/>
            <a:lstStyle/>
            <a:p>
              <a:endParaRPr/>
            </a:p>
          </p:txBody>
        </p:sp>
        <p:sp>
          <p:nvSpPr>
            <p:cNvPr id="18" name="object 18"/>
            <p:cNvSpPr/>
            <p:nvPr/>
          </p:nvSpPr>
          <p:spPr>
            <a:xfrm>
              <a:off x="7353299" y="1988820"/>
              <a:ext cx="1022985" cy="847725"/>
            </a:xfrm>
            <a:custGeom>
              <a:avLst/>
              <a:gdLst/>
              <a:ahLst/>
              <a:cxnLst/>
              <a:rect l="l" t="t" r="r" b="b"/>
              <a:pathLst>
                <a:path w="1022984" h="847725">
                  <a:moveTo>
                    <a:pt x="0" y="847343"/>
                  </a:moveTo>
                  <a:lnTo>
                    <a:pt x="1022603" y="847343"/>
                  </a:lnTo>
                  <a:lnTo>
                    <a:pt x="1022603" y="0"/>
                  </a:lnTo>
                  <a:lnTo>
                    <a:pt x="0" y="0"/>
                  </a:lnTo>
                  <a:lnTo>
                    <a:pt x="0" y="847343"/>
                  </a:lnTo>
                  <a:close/>
                </a:path>
              </a:pathLst>
            </a:custGeom>
            <a:ln w="9144">
              <a:solidFill>
                <a:srgbClr val="FFFFFF"/>
              </a:solidFill>
            </a:ln>
          </p:spPr>
          <p:txBody>
            <a:bodyPr wrap="square" lIns="0" tIns="0" rIns="0" bIns="0" rtlCol="0"/>
            <a:lstStyle/>
            <a:p>
              <a:endParaRPr/>
            </a:p>
          </p:txBody>
        </p:sp>
      </p:grpSp>
      <p:sp>
        <p:nvSpPr>
          <p:cNvPr id="19" name="object 19"/>
          <p:cNvSpPr txBox="1"/>
          <p:nvPr/>
        </p:nvSpPr>
        <p:spPr>
          <a:xfrm>
            <a:off x="6567678" y="1316354"/>
            <a:ext cx="1808480" cy="299720"/>
          </a:xfrm>
          <a:prstGeom prst="rect">
            <a:avLst/>
          </a:prstGeom>
        </p:spPr>
        <p:txBody>
          <a:bodyPr vert="horz" wrap="square" lIns="0" tIns="12700" rIns="0" bIns="0" rtlCol="0">
            <a:spAutoFit/>
          </a:bodyPr>
          <a:lstStyle/>
          <a:p>
            <a:pPr marL="12700">
              <a:lnSpc>
                <a:spcPct val="100000"/>
              </a:lnSpc>
              <a:spcBef>
                <a:spcPts val="100"/>
              </a:spcBef>
              <a:tabLst>
                <a:tab pos="984885" algn="l"/>
              </a:tabLst>
            </a:pPr>
            <a:r>
              <a:rPr sz="1800" spc="5" dirty="0">
                <a:solidFill>
                  <a:srgbClr val="FFFFFF"/>
                </a:solidFill>
                <a:latin typeface="Trebuchet MS"/>
                <a:cs typeface="Trebuchet MS"/>
              </a:rPr>
              <a:t>JDBC	</a:t>
            </a:r>
            <a:r>
              <a:rPr sz="1800" spc="114" dirty="0">
                <a:solidFill>
                  <a:srgbClr val="FFFFFF"/>
                </a:solidFill>
                <a:latin typeface="Trebuchet MS"/>
                <a:cs typeface="Trebuchet MS"/>
              </a:rPr>
              <a:t>ODBC</a:t>
            </a:r>
            <a:endParaRPr sz="1800" dirty="0">
              <a:latin typeface="Trebuchet MS"/>
              <a:cs typeface="Trebuchet MS"/>
            </a:endParaRPr>
          </a:p>
        </p:txBody>
      </p:sp>
      <p:sp>
        <p:nvSpPr>
          <p:cNvPr id="20" name="object 20"/>
          <p:cNvSpPr/>
          <p:nvPr/>
        </p:nvSpPr>
        <p:spPr>
          <a:xfrm>
            <a:off x="1650492" y="1066800"/>
            <a:ext cx="8891270" cy="4038600"/>
          </a:xfrm>
          <a:custGeom>
            <a:avLst/>
            <a:gdLst/>
            <a:ahLst/>
            <a:cxnLst/>
            <a:rect l="l" t="t" r="r" b="b"/>
            <a:pathLst>
              <a:path w="8891270" h="4500880">
                <a:moveTo>
                  <a:pt x="0" y="46355"/>
                </a:moveTo>
                <a:lnTo>
                  <a:pt x="3653" y="28342"/>
                </a:lnTo>
                <a:lnTo>
                  <a:pt x="13604" y="13604"/>
                </a:lnTo>
                <a:lnTo>
                  <a:pt x="28342" y="3653"/>
                </a:lnTo>
                <a:lnTo>
                  <a:pt x="46355" y="0"/>
                </a:lnTo>
                <a:lnTo>
                  <a:pt x="8844661" y="0"/>
                </a:lnTo>
                <a:lnTo>
                  <a:pt x="8862673" y="3653"/>
                </a:lnTo>
                <a:lnTo>
                  <a:pt x="8877411" y="13604"/>
                </a:lnTo>
                <a:lnTo>
                  <a:pt x="8887362" y="28342"/>
                </a:lnTo>
                <a:lnTo>
                  <a:pt x="8891016" y="46355"/>
                </a:lnTo>
                <a:lnTo>
                  <a:pt x="8891016" y="4453966"/>
                </a:lnTo>
                <a:lnTo>
                  <a:pt x="8887362" y="4472029"/>
                </a:lnTo>
                <a:lnTo>
                  <a:pt x="8877411" y="4486779"/>
                </a:lnTo>
                <a:lnTo>
                  <a:pt x="8862673" y="4496725"/>
                </a:lnTo>
                <a:lnTo>
                  <a:pt x="8844661" y="4500372"/>
                </a:lnTo>
                <a:lnTo>
                  <a:pt x="46355" y="4500372"/>
                </a:lnTo>
                <a:lnTo>
                  <a:pt x="28342" y="4496725"/>
                </a:lnTo>
                <a:lnTo>
                  <a:pt x="13604" y="4486779"/>
                </a:lnTo>
                <a:lnTo>
                  <a:pt x="3653" y="4472029"/>
                </a:lnTo>
                <a:lnTo>
                  <a:pt x="0" y="4453966"/>
                </a:lnTo>
                <a:lnTo>
                  <a:pt x="0" y="46355"/>
                </a:lnTo>
                <a:close/>
              </a:path>
            </a:pathLst>
          </a:custGeom>
          <a:ln w="9144">
            <a:solidFill>
              <a:srgbClr val="D9D9D9"/>
            </a:solidFill>
          </a:ln>
        </p:spPr>
        <p:txBody>
          <a:bodyPr wrap="square" lIns="0" tIns="0" rIns="0" bIns="0" rtlCol="0"/>
          <a:lstStyle/>
          <a:p>
            <a:endParaRPr/>
          </a:p>
        </p:txBody>
      </p:sp>
      <p:sp>
        <p:nvSpPr>
          <p:cNvPr id="21" name="object 21"/>
          <p:cNvSpPr txBox="1"/>
          <p:nvPr/>
        </p:nvSpPr>
        <p:spPr>
          <a:xfrm>
            <a:off x="2291588" y="1171195"/>
            <a:ext cx="695325" cy="406400"/>
          </a:xfrm>
          <a:prstGeom prst="rect">
            <a:avLst/>
          </a:prstGeom>
        </p:spPr>
        <p:txBody>
          <a:bodyPr vert="horz" wrap="square" lIns="0" tIns="12065" rIns="0" bIns="0" rtlCol="0">
            <a:spAutoFit/>
          </a:bodyPr>
          <a:lstStyle/>
          <a:p>
            <a:pPr marL="12700">
              <a:lnSpc>
                <a:spcPct val="100000"/>
              </a:lnSpc>
              <a:spcBef>
                <a:spcPts val="95"/>
              </a:spcBef>
            </a:pPr>
            <a:r>
              <a:rPr sz="2500" b="1" spc="-5" dirty="0">
                <a:solidFill>
                  <a:srgbClr val="505050"/>
                </a:solidFill>
                <a:latin typeface="Arial"/>
                <a:cs typeface="Arial"/>
              </a:rPr>
              <a:t>Hive</a:t>
            </a:r>
            <a:endParaRPr sz="2500">
              <a:latin typeface="Arial"/>
              <a:cs typeface="Arial"/>
            </a:endParaRPr>
          </a:p>
        </p:txBody>
      </p:sp>
      <p:sp>
        <p:nvSpPr>
          <p:cNvPr id="22" name="object 22"/>
          <p:cNvSpPr txBox="1"/>
          <p:nvPr/>
        </p:nvSpPr>
        <p:spPr>
          <a:xfrm>
            <a:off x="2235452" y="3804603"/>
            <a:ext cx="1711960" cy="1080770"/>
          </a:xfrm>
          <a:prstGeom prst="rect">
            <a:avLst/>
          </a:prstGeom>
          <a:solidFill>
            <a:srgbClr val="00BBF1"/>
          </a:solidFill>
        </p:spPr>
        <p:txBody>
          <a:bodyPr vert="horz" wrap="square" lIns="0" tIns="6350" rIns="0" bIns="0" rtlCol="0">
            <a:spAutoFit/>
          </a:bodyPr>
          <a:lstStyle/>
          <a:p>
            <a:pPr>
              <a:lnSpc>
                <a:spcPct val="100000"/>
              </a:lnSpc>
              <a:spcBef>
                <a:spcPts val="50"/>
              </a:spcBef>
            </a:pPr>
            <a:endParaRPr sz="2650" dirty="0">
              <a:latin typeface="Times New Roman"/>
              <a:cs typeface="Times New Roman"/>
            </a:endParaRPr>
          </a:p>
          <a:p>
            <a:pPr marL="635" algn="ctr">
              <a:lnSpc>
                <a:spcPct val="100000"/>
              </a:lnSpc>
            </a:pPr>
            <a:r>
              <a:rPr sz="1800" spc="-30" dirty="0">
                <a:solidFill>
                  <a:srgbClr val="FFFFFF"/>
                </a:solidFill>
                <a:latin typeface="Trebuchet MS"/>
                <a:cs typeface="Trebuchet MS"/>
              </a:rPr>
              <a:t>Tez</a:t>
            </a:r>
            <a:endParaRPr sz="1800" dirty="0">
              <a:latin typeface="Trebuchet MS"/>
              <a:cs typeface="Trebuchet MS"/>
            </a:endParaRPr>
          </a:p>
        </p:txBody>
      </p:sp>
      <p:sp>
        <p:nvSpPr>
          <p:cNvPr id="23" name="object 23"/>
          <p:cNvSpPr txBox="1"/>
          <p:nvPr/>
        </p:nvSpPr>
        <p:spPr>
          <a:xfrm>
            <a:off x="4542789" y="3804603"/>
            <a:ext cx="1711960" cy="1080770"/>
          </a:xfrm>
          <a:prstGeom prst="rect">
            <a:avLst/>
          </a:prstGeom>
          <a:solidFill>
            <a:srgbClr val="00BBF1"/>
          </a:solidFill>
        </p:spPr>
        <p:txBody>
          <a:bodyPr vert="horz" wrap="square" lIns="0" tIns="6350" rIns="0" bIns="0" rtlCol="0">
            <a:spAutoFit/>
          </a:bodyPr>
          <a:lstStyle/>
          <a:p>
            <a:pPr>
              <a:lnSpc>
                <a:spcPct val="100000"/>
              </a:lnSpc>
              <a:spcBef>
                <a:spcPts val="50"/>
              </a:spcBef>
            </a:pPr>
            <a:endParaRPr sz="2650" dirty="0">
              <a:latin typeface="Times New Roman"/>
              <a:cs typeface="Times New Roman"/>
            </a:endParaRPr>
          </a:p>
          <a:p>
            <a:pPr marL="244475">
              <a:lnSpc>
                <a:spcPct val="100000"/>
              </a:lnSpc>
            </a:pPr>
            <a:r>
              <a:rPr sz="1800" spc="50" dirty="0">
                <a:solidFill>
                  <a:srgbClr val="FFFFFF"/>
                </a:solidFill>
                <a:latin typeface="Trebuchet MS"/>
                <a:cs typeface="Trebuchet MS"/>
              </a:rPr>
              <a:t>MapReduce</a:t>
            </a:r>
            <a:endParaRPr sz="1800" dirty="0">
              <a:latin typeface="Trebuchet MS"/>
              <a:cs typeface="Trebuchet MS"/>
            </a:endParaRPr>
          </a:p>
        </p:txBody>
      </p:sp>
      <p:sp>
        <p:nvSpPr>
          <p:cNvPr id="24" name="object 24"/>
          <p:cNvSpPr txBox="1"/>
          <p:nvPr/>
        </p:nvSpPr>
        <p:spPr>
          <a:xfrm>
            <a:off x="6664197" y="3804603"/>
            <a:ext cx="1711960" cy="1080770"/>
          </a:xfrm>
          <a:prstGeom prst="rect">
            <a:avLst/>
          </a:prstGeom>
          <a:solidFill>
            <a:srgbClr val="00BBF1"/>
          </a:solidFill>
        </p:spPr>
        <p:txBody>
          <a:bodyPr vert="horz" wrap="square" lIns="0" tIns="6350" rIns="0" bIns="0" rtlCol="0">
            <a:spAutoFit/>
          </a:bodyPr>
          <a:lstStyle/>
          <a:p>
            <a:pPr>
              <a:lnSpc>
                <a:spcPct val="100000"/>
              </a:lnSpc>
              <a:spcBef>
                <a:spcPts val="50"/>
              </a:spcBef>
            </a:pPr>
            <a:endParaRPr sz="2650" dirty="0">
              <a:latin typeface="Times New Roman"/>
              <a:cs typeface="Times New Roman"/>
            </a:endParaRPr>
          </a:p>
          <a:p>
            <a:pPr marL="563245">
              <a:lnSpc>
                <a:spcPct val="100000"/>
              </a:lnSpc>
            </a:pPr>
            <a:r>
              <a:rPr sz="1800" spc="35" dirty="0">
                <a:solidFill>
                  <a:srgbClr val="FFFFFF"/>
                </a:solidFill>
                <a:latin typeface="Trebuchet MS"/>
                <a:cs typeface="Trebuchet MS"/>
              </a:rPr>
              <a:t>Spark</a:t>
            </a:r>
            <a:endParaRPr sz="1800" dirty="0">
              <a:latin typeface="Trebuchet MS"/>
              <a:cs typeface="Trebuchet MS"/>
            </a:endParaRPr>
          </a:p>
        </p:txBody>
      </p:sp>
      <p:sp>
        <p:nvSpPr>
          <p:cNvPr id="26" name="object 2"/>
          <p:cNvSpPr txBox="1"/>
          <p:nvPr/>
        </p:nvSpPr>
        <p:spPr>
          <a:xfrm>
            <a:off x="495161" y="5628036"/>
            <a:ext cx="11519176" cy="932467"/>
          </a:xfrm>
          <a:prstGeom prst="rect">
            <a:avLst/>
          </a:prstGeom>
        </p:spPr>
        <p:txBody>
          <a:bodyPr vert="horz" wrap="square" lIns="0" tIns="9049" rIns="0" bIns="0" rtlCol="0">
            <a:spAutoFit/>
          </a:bodyPr>
          <a:lstStyle/>
          <a:p>
            <a:pPr marL="138113" marR="97154" indent="-128588">
              <a:buFont typeface="Wingdings"/>
              <a:buChar char=""/>
              <a:tabLst>
                <a:tab pos="138113" algn="l"/>
              </a:tabLst>
            </a:pPr>
            <a:r>
              <a:rPr lang="en-US" sz="2000" spc="19" dirty="0" smtClean="0">
                <a:latin typeface="UKIJ CJK"/>
                <a:cs typeface="UKIJ CJK"/>
              </a:rPr>
              <a:t>Optimizer: an </a:t>
            </a:r>
            <a:r>
              <a:rPr lang="en-US" sz="2000" spc="23" dirty="0" smtClean="0">
                <a:latin typeface="UKIJ CJK"/>
                <a:cs typeface="UKIJ CJK"/>
              </a:rPr>
              <a:t>optimizer that </a:t>
            </a:r>
            <a:r>
              <a:rPr lang="en-US" sz="2000" spc="4" dirty="0" smtClean="0">
                <a:latin typeface="UKIJ CJK"/>
                <a:cs typeface="UKIJ CJK"/>
              </a:rPr>
              <a:t>is </a:t>
            </a:r>
            <a:r>
              <a:rPr lang="en-US" sz="2000" spc="11" dirty="0" smtClean="0">
                <a:latin typeface="UKIJ CJK"/>
                <a:cs typeface="UKIJ CJK"/>
              </a:rPr>
              <a:t>classified </a:t>
            </a:r>
            <a:r>
              <a:rPr lang="en-US" sz="2000" spc="23" dirty="0" smtClean="0">
                <a:latin typeface="UKIJ CJK"/>
                <a:cs typeface="UKIJ CJK"/>
              </a:rPr>
              <a:t>into </a:t>
            </a:r>
            <a:r>
              <a:rPr lang="en-US" sz="2000" spc="26" dirty="0" smtClean="0">
                <a:latin typeface="UKIJ CJK"/>
                <a:cs typeface="UKIJ CJK"/>
              </a:rPr>
              <a:t>logical </a:t>
            </a:r>
            <a:r>
              <a:rPr lang="en-US" sz="2000" spc="23" dirty="0" smtClean="0">
                <a:latin typeface="UKIJ CJK"/>
                <a:cs typeface="UKIJ CJK"/>
              </a:rPr>
              <a:t>optimizer </a:t>
            </a:r>
            <a:r>
              <a:rPr lang="en-US" sz="2000" spc="26" dirty="0" smtClean="0">
                <a:latin typeface="UKIJ CJK"/>
                <a:cs typeface="UKIJ CJK"/>
              </a:rPr>
              <a:t>and </a:t>
            </a:r>
            <a:r>
              <a:rPr lang="en-US" sz="2000" spc="19" dirty="0" smtClean="0">
                <a:latin typeface="UKIJ CJK"/>
                <a:cs typeface="UKIJ CJK"/>
              </a:rPr>
              <a:t>physical  </a:t>
            </a:r>
            <a:r>
              <a:rPr lang="en-US" sz="2000" spc="23" dirty="0" smtClean="0">
                <a:latin typeface="UKIJ CJK"/>
                <a:cs typeface="UKIJ CJK"/>
              </a:rPr>
              <a:t>optimizer </a:t>
            </a:r>
            <a:r>
              <a:rPr lang="en-US" sz="2000" u="sng" spc="34" dirty="0" smtClean="0">
                <a:latin typeface="UKIJ CJK"/>
                <a:cs typeface="UKIJ CJK"/>
              </a:rPr>
              <a:t>to </a:t>
            </a:r>
            <a:r>
              <a:rPr lang="en-US" sz="2000" u="sng" spc="26" dirty="0" smtClean="0">
                <a:latin typeface="UKIJ CJK"/>
                <a:cs typeface="UKIJ CJK"/>
              </a:rPr>
              <a:t>optimize </a:t>
            </a:r>
            <a:r>
              <a:rPr lang="en-US" sz="2000" u="sng" spc="41" dirty="0" smtClean="0">
                <a:latin typeface="UKIJ CJK"/>
                <a:cs typeface="UKIJ CJK"/>
              </a:rPr>
              <a:t>HQL </a:t>
            </a:r>
            <a:r>
              <a:rPr lang="en-US" sz="2000" u="sng" spc="23" dirty="0" smtClean="0">
                <a:latin typeface="UKIJ CJK"/>
                <a:cs typeface="UKIJ CJK"/>
              </a:rPr>
              <a:t>execution </a:t>
            </a:r>
            <a:r>
              <a:rPr lang="en-US" sz="2000" u="sng" spc="19" dirty="0" smtClean="0">
                <a:latin typeface="UKIJ CJK"/>
                <a:cs typeface="UKIJ CJK"/>
              </a:rPr>
              <a:t>plans </a:t>
            </a:r>
            <a:r>
              <a:rPr lang="en-US" sz="2000" u="sng" spc="26" dirty="0" smtClean="0">
                <a:latin typeface="UKIJ CJK"/>
                <a:cs typeface="UKIJ CJK"/>
              </a:rPr>
              <a:t>and </a:t>
            </a:r>
            <a:r>
              <a:rPr lang="en-US" sz="2000" u="sng" spc="34" dirty="0" smtClean="0">
                <a:latin typeface="UKIJ CJK"/>
                <a:cs typeface="UKIJ CJK"/>
              </a:rPr>
              <a:t>MapReduce </a:t>
            </a:r>
            <a:r>
              <a:rPr lang="en-US" sz="2000" u="sng" spc="11" dirty="0" smtClean="0">
                <a:latin typeface="UKIJ CJK"/>
                <a:cs typeface="UKIJ CJK"/>
              </a:rPr>
              <a:t>tasks,  </a:t>
            </a:r>
            <a:r>
              <a:rPr lang="en-US" sz="2000" u="sng" spc="15" dirty="0" smtClean="0">
                <a:latin typeface="UKIJ CJK"/>
                <a:cs typeface="UKIJ CJK"/>
              </a:rPr>
              <a:t>respectively.</a:t>
            </a:r>
            <a:endParaRPr lang="en-US" sz="2000" u="sng" dirty="0" smtClean="0">
              <a:latin typeface="UKIJ CJK"/>
              <a:cs typeface="UKIJ CJK"/>
            </a:endParaRPr>
          </a:p>
          <a:p>
            <a:pPr marL="138113" indent="-128588">
              <a:buFont typeface="Wingdings"/>
              <a:buChar char=""/>
              <a:tabLst>
                <a:tab pos="138113" algn="l"/>
              </a:tabLst>
            </a:pPr>
            <a:r>
              <a:rPr lang="en-US" sz="2000" spc="11" dirty="0" smtClean="0">
                <a:latin typeface="UKIJ CJK"/>
                <a:cs typeface="UKIJ CJK"/>
              </a:rPr>
              <a:t>Executor: </a:t>
            </a:r>
            <a:r>
              <a:rPr lang="en-US" sz="2000" u="sng" spc="19" dirty="0" smtClean="0">
                <a:latin typeface="UKIJ CJK"/>
                <a:cs typeface="UKIJ CJK"/>
              </a:rPr>
              <a:t>executes </a:t>
            </a:r>
            <a:r>
              <a:rPr lang="en-US" sz="2000" u="sng" spc="45" dirty="0" smtClean="0">
                <a:latin typeface="UKIJ CJK"/>
                <a:cs typeface="UKIJ CJK"/>
              </a:rPr>
              <a:t>Map </a:t>
            </a:r>
            <a:r>
              <a:rPr lang="en-US" sz="2000" u="sng" spc="26" dirty="0" smtClean="0">
                <a:latin typeface="UKIJ CJK"/>
                <a:cs typeface="UKIJ CJK"/>
              </a:rPr>
              <a:t>and </a:t>
            </a:r>
            <a:r>
              <a:rPr lang="en-US" sz="2000" u="sng" spc="30" dirty="0" smtClean="0">
                <a:latin typeface="UKIJ CJK"/>
                <a:cs typeface="UKIJ CJK"/>
              </a:rPr>
              <a:t>Reduce </a:t>
            </a:r>
            <a:r>
              <a:rPr lang="en-US" sz="2000" u="sng" spc="19" dirty="0" smtClean="0">
                <a:latin typeface="UKIJ CJK"/>
                <a:cs typeface="UKIJ CJK"/>
              </a:rPr>
              <a:t>tasks </a:t>
            </a:r>
            <a:r>
              <a:rPr lang="en-US" sz="2000" spc="26" dirty="0" smtClean="0">
                <a:latin typeface="UKIJ CJK"/>
                <a:cs typeface="UKIJ CJK"/>
              </a:rPr>
              <a:t>based </a:t>
            </a:r>
            <a:r>
              <a:rPr lang="en-US" sz="2000" spc="30" dirty="0" smtClean="0">
                <a:latin typeface="UKIJ CJK"/>
                <a:cs typeface="UKIJ CJK"/>
              </a:rPr>
              <a:t>on </a:t>
            </a:r>
            <a:r>
              <a:rPr lang="en-US" sz="2000" spc="19" dirty="0" smtClean="0">
                <a:latin typeface="UKIJ CJK"/>
                <a:cs typeface="UKIJ CJK"/>
              </a:rPr>
              <a:t>task</a:t>
            </a:r>
            <a:r>
              <a:rPr lang="en-US" sz="2000" spc="105" dirty="0" smtClean="0">
                <a:latin typeface="UKIJ CJK"/>
                <a:cs typeface="UKIJ CJK"/>
              </a:rPr>
              <a:t> </a:t>
            </a:r>
            <a:r>
              <a:rPr lang="en-US" sz="2000" spc="19" dirty="0" smtClean="0">
                <a:latin typeface="UKIJ CJK"/>
                <a:cs typeface="UKIJ CJK"/>
              </a:rPr>
              <a:t>dependencies.</a:t>
            </a:r>
            <a:endParaRPr lang="en-US" sz="2000" dirty="0">
              <a:latin typeface="UKIJ CJK"/>
              <a:cs typeface="UKIJ CJK"/>
            </a:endParaRPr>
          </a:p>
        </p:txBody>
      </p:sp>
    </p:spTree>
    <p:extLst>
      <p:ext uri="{BB962C8B-B14F-4D97-AF65-F5344CB8AC3E}">
        <p14:creationId xmlns:p14="http://schemas.microsoft.com/office/powerpoint/2010/main" val="34069757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692958" y="421947"/>
            <a:ext cx="5148276" cy="567463"/>
          </a:xfrm>
          <a:prstGeom prst="rect">
            <a:avLst/>
          </a:prstGeom>
        </p:spPr>
        <p:txBody>
          <a:bodyPr vert="horz" wrap="square" lIns="0" tIns="13335" rIns="0" bIns="0" rtlCol="0">
            <a:spAutoFit/>
          </a:bodyPr>
          <a:lstStyle/>
          <a:p>
            <a:pPr marL="12700">
              <a:lnSpc>
                <a:spcPct val="100000"/>
              </a:lnSpc>
              <a:spcBef>
                <a:spcPts val="105"/>
              </a:spcBef>
            </a:pPr>
            <a:r>
              <a:rPr spc="40" dirty="0"/>
              <a:t>Hive</a:t>
            </a:r>
            <a:r>
              <a:rPr spc="-35" dirty="0"/>
              <a:t> </a:t>
            </a:r>
            <a:r>
              <a:rPr spc="-25" dirty="0"/>
              <a:t>Architecture</a:t>
            </a:r>
          </a:p>
        </p:txBody>
      </p:sp>
      <p:sp>
        <p:nvSpPr>
          <p:cNvPr id="3" name="object 3"/>
          <p:cNvSpPr/>
          <p:nvPr/>
        </p:nvSpPr>
        <p:spPr>
          <a:xfrm>
            <a:off x="2235707" y="2743200"/>
            <a:ext cx="6140450" cy="1079500"/>
          </a:xfrm>
          <a:custGeom>
            <a:avLst/>
            <a:gdLst/>
            <a:ahLst/>
            <a:cxnLst/>
            <a:rect l="l" t="t" r="r" b="b"/>
            <a:pathLst>
              <a:path w="6140450" h="1079500">
                <a:moveTo>
                  <a:pt x="6140196" y="0"/>
                </a:moveTo>
                <a:lnTo>
                  <a:pt x="0" y="0"/>
                </a:lnTo>
                <a:lnTo>
                  <a:pt x="0" y="1078991"/>
                </a:lnTo>
                <a:lnTo>
                  <a:pt x="6140196" y="1078991"/>
                </a:lnTo>
                <a:lnTo>
                  <a:pt x="6140196" y="0"/>
                </a:lnTo>
                <a:close/>
              </a:path>
            </a:pathLst>
          </a:custGeom>
          <a:solidFill>
            <a:srgbClr val="7E7E7E"/>
          </a:solidFill>
        </p:spPr>
        <p:txBody>
          <a:bodyPr wrap="square" lIns="0" tIns="0" rIns="0" bIns="0" rtlCol="0"/>
          <a:lstStyle/>
          <a:p>
            <a:endParaRPr/>
          </a:p>
        </p:txBody>
      </p:sp>
      <p:sp>
        <p:nvSpPr>
          <p:cNvPr id="4" name="object 4"/>
          <p:cNvSpPr txBox="1"/>
          <p:nvPr/>
        </p:nvSpPr>
        <p:spPr>
          <a:xfrm>
            <a:off x="3642867" y="2887539"/>
            <a:ext cx="3326129" cy="574040"/>
          </a:xfrm>
          <a:prstGeom prst="rect">
            <a:avLst/>
          </a:prstGeom>
        </p:spPr>
        <p:txBody>
          <a:bodyPr vert="horz" wrap="square" lIns="0" tIns="12700" rIns="0" bIns="0" rtlCol="0">
            <a:spAutoFit/>
          </a:bodyPr>
          <a:lstStyle/>
          <a:p>
            <a:pPr marL="1270" algn="ctr">
              <a:lnSpc>
                <a:spcPct val="100000"/>
              </a:lnSpc>
              <a:spcBef>
                <a:spcPts val="100"/>
              </a:spcBef>
            </a:pPr>
            <a:r>
              <a:rPr sz="1800" spc="5" dirty="0">
                <a:solidFill>
                  <a:srgbClr val="FFFFFF"/>
                </a:solidFill>
                <a:latin typeface="Trebuchet MS"/>
                <a:cs typeface="Trebuchet MS"/>
              </a:rPr>
              <a:t>Driver</a:t>
            </a:r>
            <a:endParaRPr sz="1800" dirty="0">
              <a:latin typeface="Trebuchet MS"/>
              <a:cs typeface="Trebuchet MS"/>
            </a:endParaRPr>
          </a:p>
          <a:p>
            <a:pPr algn="ctr">
              <a:lnSpc>
                <a:spcPct val="100000"/>
              </a:lnSpc>
            </a:pPr>
            <a:r>
              <a:rPr sz="1800" spc="-10" dirty="0">
                <a:solidFill>
                  <a:srgbClr val="FFFFFF"/>
                </a:solidFill>
                <a:latin typeface="Trebuchet MS"/>
                <a:cs typeface="Trebuchet MS"/>
              </a:rPr>
              <a:t>(Compiler, </a:t>
            </a:r>
            <a:r>
              <a:rPr sz="1800" spc="-15" dirty="0">
                <a:solidFill>
                  <a:srgbClr val="FFFFFF"/>
                </a:solidFill>
                <a:latin typeface="Trebuchet MS"/>
                <a:cs typeface="Trebuchet MS"/>
              </a:rPr>
              <a:t>Optimizer, </a:t>
            </a:r>
            <a:r>
              <a:rPr sz="1800" dirty="0">
                <a:solidFill>
                  <a:srgbClr val="FFFFFF"/>
                </a:solidFill>
                <a:latin typeface="Trebuchet MS"/>
                <a:cs typeface="Trebuchet MS"/>
              </a:rPr>
              <a:t>Executor)</a:t>
            </a:r>
            <a:endParaRPr sz="1800" dirty="0">
              <a:latin typeface="Trebuchet MS"/>
              <a:cs typeface="Trebuchet MS"/>
            </a:endParaRPr>
          </a:p>
        </p:txBody>
      </p:sp>
      <p:sp>
        <p:nvSpPr>
          <p:cNvPr id="5" name="object 5"/>
          <p:cNvSpPr txBox="1"/>
          <p:nvPr/>
        </p:nvSpPr>
        <p:spPr>
          <a:xfrm>
            <a:off x="8470392" y="2743200"/>
            <a:ext cx="1323340" cy="1079500"/>
          </a:xfrm>
          <a:prstGeom prst="rect">
            <a:avLst/>
          </a:prstGeom>
          <a:solidFill>
            <a:srgbClr val="45C1A3"/>
          </a:solidFill>
        </p:spPr>
        <p:txBody>
          <a:bodyPr vert="horz" wrap="square" lIns="0" tIns="5080" rIns="0" bIns="0" rtlCol="0">
            <a:spAutoFit/>
          </a:bodyPr>
          <a:lstStyle/>
          <a:p>
            <a:pPr>
              <a:lnSpc>
                <a:spcPct val="100000"/>
              </a:lnSpc>
              <a:spcBef>
                <a:spcPts val="40"/>
              </a:spcBef>
            </a:pPr>
            <a:endParaRPr sz="2650" dirty="0" smtClean="0">
              <a:latin typeface="Times New Roman"/>
              <a:cs typeface="Times New Roman"/>
            </a:endParaRPr>
          </a:p>
          <a:p>
            <a:pPr marL="121285">
              <a:lnSpc>
                <a:spcPct val="100000"/>
              </a:lnSpc>
            </a:pPr>
            <a:r>
              <a:rPr sz="1800" spc="35" dirty="0" err="1" smtClean="0">
                <a:solidFill>
                  <a:srgbClr val="FFFFFF"/>
                </a:solidFill>
                <a:latin typeface="Trebuchet MS"/>
                <a:cs typeface="Trebuchet MS"/>
              </a:rPr>
              <a:t>MetaStore</a:t>
            </a:r>
            <a:endParaRPr sz="1800" dirty="0">
              <a:latin typeface="Trebuchet MS"/>
              <a:cs typeface="Trebuchet MS"/>
            </a:endParaRPr>
          </a:p>
        </p:txBody>
      </p:sp>
      <p:grpSp>
        <p:nvGrpSpPr>
          <p:cNvPr id="6" name="object 6"/>
          <p:cNvGrpSpPr/>
          <p:nvPr/>
        </p:nvGrpSpPr>
        <p:grpSpPr>
          <a:xfrm>
            <a:off x="6312217" y="1828800"/>
            <a:ext cx="2068830" cy="890905"/>
            <a:chOff x="6312217" y="2831401"/>
            <a:chExt cx="2068830" cy="890905"/>
          </a:xfrm>
        </p:grpSpPr>
        <p:sp>
          <p:nvSpPr>
            <p:cNvPr id="7" name="object 7"/>
            <p:cNvSpPr/>
            <p:nvPr/>
          </p:nvSpPr>
          <p:spPr>
            <a:xfrm>
              <a:off x="6316979" y="2836164"/>
              <a:ext cx="2059305" cy="881380"/>
            </a:xfrm>
            <a:custGeom>
              <a:avLst/>
              <a:gdLst/>
              <a:ahLst/>
              <a:cxnLst/>
              <a:rect l="l" t="t" r="r" b="b"/>
              <a:pathLst>
                <a:path w="2059304" h="881379">
                  <a:moveTo>
                    <a:pt x="2058924" y="0"/>
                  </a:moveTo>
                  <a:lnTo>
                    <a:pt x="0" y="0"/>
                  </a:lnTo>
                  <a:lnTo>
                    <a:pt x="0" y="880872"/>
                  </a:lnTo>
                  <a:lnTo>
                    <a:pt x="2058924" y="880872"/>
                  </a:lnTo>
                  <a:lnTo>
                    <a:pt x="2058924" y="0"/>
                  </a:lnTo>
                  <a:close/>
                </a:path>
              </a:pathLst>
            </a:custGeom>
            <a:solidFill>
              <a:srgbClr val="45C1A3"/>
            </a:solidFill>
          </p:spPr>
          <p:txBody>
            <a:bodyPr wrap="square" lIns="0" tIns="0" rIns="0" bIns="0" rtlCol="0"/>
            <a:lstStyle/>
            <a:p>
              <a:endParaRPr/>
            </a:p>
          </p:txBody>
        </p:sp>
        <p:sp>
          <p:nvSpPr>
            <p:cNvPr id="8" name="object 8"/>
            <p:cNvSpPr/>
            <p:nvPr/>
          </p:nvSpPr>
          <p:spPr>
            <a:xfrm>
              <a:off x="6316979" y="2836164"/>
              <a:ext cx="2059305" cy="881380"/>
            </a:xfrm>
            <a:custGeom>
              <a:avLst/>
              <a:gdLst/>
              <a:ahLst/>
              <a:cxnLst/>
              <a:rect l="l" t="t" r="r" b="b"/>
              <a:pathLst>
                <a:path w="2059304" h="881379">
                  <a:moveTo>
                    <a:pt x="0" y="880872"/>
                  </a:moveTo>
                  <a:lnTo>
                    <a:pt x="2058924" y="880872"/>
                  </a:lnTo>
                  <a:lnTo>
                    <a:pt x="2058924" y="0"/>
                  </a:lnTo>
                  <a:lnTo>
                    <a:pt x="0" y="0"/>
                  </a:lnTo>
                  <a:lnTo>
                    <a:pt x="0" y="880872"/>
                  </a:lnTo>
                  <a:close/>
                </a:path>
              </a:pathLst>
            </a:custGeom>
            <a:ln w="9144">
              <a:solidFill>
                <a:srgbClr val="FFFFFF"/>
              </a:solidFill>
            </a:ln>
          </p:spPr>
          <p:txBody>
            <a:bodyPr wrap="square" lIns="0" tIns="0" rIns="0" bIns="0" rtlCol="0"/>
            <a:lstStyle/>
            <a:p>
              <a:endParaRPr/>
            </a:p>
          </p:txBody>
        </p:sp>
      </p:grpSp>
      <p:sp>
        <p:nvSpPr>
          <p:cNvPr id="9" name="object 9"/>
          <p:cNvSpPr txBox="1"/>
          <p:nvPr/>
        </p:nvSpPr>
        <p:spPr>
          <a:xfrm>
            <a:off x="6316979" y="1833563"/>
            <a:ext cx="2059305" cy="881380"/>
          </a:xfrm>
          <a:prstGeom prst="rect">
            <a:avLst/>
          </a:prstGeom>
        </p:spPr>
        <p:txBody>
          <a:bodyPr vert="horz" wrap="square" lIns="0" tIns="3810" rIns="0" bIns="0" rtlCol="0">
            <a:spAutoFit/>
          </a:bodyPr>
          <a:lstStyle/>
          <a:p>
            <a:pPr>
              <a:lnSpc>
                <a:spcPct val="100000"/>
              </a:lnSpc>
              <a:spcBef>
                <a:spcPts val="30"/>
              </a:spcBef>
            </a:pPr>
            <a:endParaRPr sz="1950" dirty="0">
              <a:latin typeface="Times New Roman"/>
              <a:cs typeface="Times New Roman"/>
            </a:endParaRPr>
          </a:p>
          <a:p>
            <a:pPr marL="389255">
              <a:lnSpc>
                <a:spcPct val="100000"/>
              </a:lnSpc>
            </a:pPr>
            <a:r>
              <a:rPr sz="1800" spc="-25" dirty="0">
                <a:solidFill>
                  <a:srgbClr val="FFFFFF"/>
                </a:solidFill>
                <a:latin typeface="Trebuchet MS"/>
                <a:cs typeface="Trebuchet MS"/>
              </a:rPr>
              <a:t>Thrift</a:t>
            </a:r>
            <a:r>
              <a:rPr sz="1800" spc="-65" dirty="0">
                <a:solidFill>
                  <a:srgbClr val="FFFFFF"/>
                </a:solidFill>
                <a:latin typeface="Trebuchet MS"/>
                <a:cs typeface="Trebuchet MS"/>
              </a:rPr>
              <a:t> </a:t>
            </a:r>
            <a:r>
              <a:rPr sz="1800" spc="-10" dirty="0">
                <a:solidFill>
                  <a:srgbClr val="FFFFFF"/>
                </a:solidFill>
                <a:latin typeface="Trebuchet MS"/>
                <a:cs typeface="Trebuchet MS"/>
              </a:rPr>
              <a:t>Server</a:t>
            </a:r>
            <a:endParaRPr sz="1800" dirty="0">
              <a:latin typeface="Trebuchet MS"/>
              <a:cs typeface="Trebuchet MS"/>
            </a:endParaRPr>
          </a:p>
        </p:txBody>
      </p:sp>
      <p:grpSp>
        <p:nvGrpSpPr>
          <p:cNvPr id="10" name="object 10"/>
          <p:cNvGrpSpPr/>
          <p:nvPr/>
        </p:nvGrpSpPr>
        <p:grpSpPr>
          <a:xfrm>
            <a:off x="5094541" y="1828800"/>
            <a:ext cx="1233805" cy="890905"/>
            <a:chOff x="5094541" y="2831401"/>
            <a:chExt cx="1233805" cy="890905"/>
          </a:xfrm>
        </p:grpSpPr>
        <p:sp>
          <p:nvSpPr>
            <p:cNvPr id="11" name="object 11"/>
            <p:cNvSpPr/>
            <p:nvPr/>
          </p:nvSpPr>
          <p:spPr>
            <a:xfrm>
              <a:off x="5099303" y="2836164"/>
              <a:ext cx="1224280" cy="881380"/>
            </a:xfrm>
            <a:custGeom>
              <a:avLst/>
              <a:gdLst/>
              <a:ahLst/>
              <a:cxnLst/>
              <a:rect l="l" t="t" r="r" b="b"/>
              <a:pathLst>
                <a:path w="1224279" h="881379">
                  <a:moveTo>
                    <a:pt x="1223772" y="0"/>
                  </a:moveTo>
                  <a:lnTo>
                    <a:pt x="0" y="0"/>
                  </a:lnTo>
                  <a:lnTo>
                    <a:pt x="0" y="880872"/>
                  </a:lnTo>
                  <a:lnTo>
                    <a:pt x="1223772" y="880872"/>
                  </a:lnTo>
                  <a:lnTo>
                    <a:pt x="1223772" y="0"/>
                  </a:lnTo>
                  <a:close/>
                </a:path>
              </a:pathLst>
            </a:custGeom>
            <a:solidFill>
              <a:srgbClr val="0095D5"/>
            </a:solidFill>
          </p:spPr>
          <p:txBody>
            <a:bodyPr wrap="square" lIns="0" tIns="0" rIns="0" bIns="0" rtlCol="0"/>
            <a:lstStyle/>
            <a:p>
              <a:endParaRPr/>
            </a:p>
          </p:txBody>
        </p:sp>
        <p:sp>
          <p:nvSpPr>
            <p:cNvPr id="12" name="object 12"/>
            <p:cNvSpPr/>
            <p:nvPr/>
          </p:nvSpPr>
          <p:spPr>
            <a:xfrm>
              <a:off x="5099303" y="2836164"/>
              <a:ext cx="1224280" cy="881380"/>
            </a:xfrm>
            <a:custGeom>
              <a:avLst/>
              <a:gdLst/>
              <a:ahLst/>
              <a:cxnLst/>
              <a:rect l="l" t="t" r="r" b="b"/>
              <a:pathLst>
                <a:path w="1224279" h="881379">
                  <a:moveTo>
                    <a:pt x="0" y="880872"/>
                  </a:moveTo>
                  <a:lnTo>
                    <a:pt x="1223772" y="880872"/>
                  </a:lnTo>
                  <a:lnTo>
                    <a:pt x="1223772" y="0"/>
                  </a:lnTo>
                  <a:lnTo>
                    <a:pt x="0" y="0"/>
                  </a:lnTo>
                  <a:lnTo>
                    <a:pt x="0" y="880872"/>
                  </a:lnTo>
                  <a:close/>
                </a:path>
              </a:pathLst>
            </a:custGeom>
            <a:ln w="9144">
              <a:solidFill>
                <a:srgbClr val="FFFFFF"/>
              </a:solidFill>
            </a:ln>
          </p:spPr>
          <p:txBody>
            <a:bodyPr wrap="square" lIns="0" tIns="0" rIns="0" bIns="0" rtlCol="0"/>
            <a:lstStyle/>
            <a:p>
              <a:endParaRPr/>
            </a:p>
          </p:txBody>
        </p:sp>
      </p:grpSp>
      <p:sp>
        <p:nvSpPr>
          <p:cNvPr id="13" name="object 13"/>
          <p:cNvSpPr txBox="1"/>
          <p:nvPr/>
        </p:nvSpPr>
        <p:spPr>
          <a:xfrm>
            <a:off x="5238750" y="1976945"/>
            <a:ext cx="946150" cy="574040"/>
          </a:xfrm>
          <a:prstGeom prst="rect">
            <a:avLst/>
          </a:prstGeom>
        </p:spPr>
        <p:txBody>
          <a:bodyPr vert="horz" wrap="square" lIns="0" tIns="12700" rIns="0" bIns="0" rtlCol="0">
            <a:spAutoFit/>
          </a:bodyPr>
          <a:lstStyle/>
          <a:p>
            <a:pPr marL="12700" marR="5080" indent="223520">
              <a:lnSpc>
                <a:spcPct val="100000"/>
              </a:lnSpc>
              <a:spcBef>
                <a:spcPts val="100"/>
              </a:spcBef>
            </a:pPr>
            <a:r>
              <a:rPr sz="1800" spc="65" dirty="0">
                <a:solidFill>
                  <a:srgbClr val="FFFFFF"/>
                </a:solidFill>
                <a:latin typeface="Trebuchet MS"/>
                <a:cs typeface="Trebuchet MS"/>
              </a:rPr>
              <a:t>Web  </a:t>
            </a:r>
            <a:r>
              <a:rPr sz="1800" spc="25" dirty="0">
                <a:solidFill>
                  <a:srgbClr val="FFFFFF"/>
                </a:solidFill>
                <a:latin typeface="Trebuchet MS"/>
                <a:cs typeface="Trebuchet MS"/>
              </a:rPr>
              <a:t>I</a:t>
            </a:r>
            <a:r>
              <a:rPr sz="1800" spc="55" dirty="0">
                <a:solidFill>
                  <a:srgbClr val="FFFFFF"/>
                </a:solidFill>
                <a:latin typeface="Trebuchet MS"/>
                <a:cs typeface="Trebuchet MS"/>
              </a:rPr>
              <a:t>n</a:t>
            </a:r>
            <a:r>
              <a:rPr sz="1800" spc="-45" dirty="0">
                <a:solidFill>
                  <a:srgbClr val="FFFFFF"/>
                </a:solidFill>
                <a:latin typeface="Trebuchet MS"/>
                <a:cs typeface="Trebuchet MS"/>
              </a:rPr>
              <a:t>t</a:t>
            </a:r>
            <a:r>
              <a:rPr sz="1800" spc="-65" dirty="0">
                <a:solidFill>
                  <a:srgbClr val="FFFFFF"/>
                </a:solidFill>
                <a:latin typeface="Trebuchet MS"/>
                <a:cs typeface="Trebuchet MS"/>
              </a:rPr>
              <a:t>e</a:t>
            </a:r>
            <a:r>
              <a:rPr sz="1800" spc="-20" dirty="0">
                <a:solidFill>
                  <a:srgbClr val="FFFFFF"/>
                </a:solidFill>
                <a:latin typeface="Trebuchet MS"/>
                <a:cs typeface="Trebuchet MS"/>
              </a:rPr>
              <a:t>rfac</a:t>
            </a:r>
            <a:r>
              <a:rPr sz="1800" spc="-35" dirty="0">
                <a:solidFill>
                  <a:srgbClr val="FFFFFF"/>
                </a:solidFill>
                <a:latin typeface="Trebuchet MS"/>
                <a:cs typeface="Trebuchet MS"/>
              </a:rPr>
              <a:t>e</a:t>
            </a:r>
            <a:endParaRPr sz="1800">
              <a:latin typeface="Trebuchet MS"/>
              <a:cs typeface="Trebuchet MS"/>
            </a:endParaRPr>
          </a:p>
        </p:txBody>
      </p:sp>
      <p:grpSp>
        <p:nvGrpSpPr>
          <p:cNvPr id="14" name="object 14"/>
          <p:cNvGrpSpPr/>
          <p:nvPr/>
        </p:nvGrpSpPr>
        <p:grpSpPr>
          <a:xfrm>
            <a:off x="6318503" y="1048385"/>
            <a:ext cx="2062480" cy="856615"/>
            <a:chOff x="6318503" y="1984248"/>
            <a:chExt cx="2062480" cy="856615"/>
          </a:xfrm>
        </p:grpSpPr>
        <p:sp>
          <p:nvSpPr>
            <p:cNvPr id="15" name="object 15"/>
            <p:cNvSpPr/>
            <p:nvPr/>
          </p:nvSpPr>
          <p:spPr>
            <a:xfrm>
              <a:off x="6323075" y="1988820"/>
              <a:ext cx="1036319" cy="847725"/>
            </a:xfrm>
            <a:custGeom>
              <a:avLst/>
              <a:gdLst/>
              <a:ahLst/>
              <a:cxnLst/>
              <a:rect l="l" t="t" r="r" b="b"/>
              <a:pathLst>
                <a:path w="1036320" h="847725">
                  <a:moveTo>
                    <a:pt x="1036320" y="0"/>
                  </a:moveTo>
                  <a:lnTo>
                    <a:pt x="0" y="0"/>
                  </a:lnTo>
                  <a:lnTo>
                    <a:pt x="0" y="847343"/>
                  </a:lnTo>
                  <a:lnTo>
                    <a:pt x="1036320" y="847343"/>
                  </a:lnTo>
                  <a:lnTo>
                    <a:pt x="1036320" y="0"/>
                  </a:lnTo>
                  <a:close/>
                </a:path>
              </a:pathLst>
            </a:custGeom>
            <a:solidFill>
              <a:srgbClr val="00BBF1"/>
            </a:solidFill>
          </p:spPr>
          <p:txBody>
            <a:bodyPr wrap="square" lIns="0" tIns="0" rIns="0" bIns="0" rtlCol="0"/>
            <a:lstStyle/>
            <a:p>
              <a:endParaRPr/>
            </a:p>
          </p:txBody>
        </p:sp>
        <p:sp>
          <p:nvSpPr>
            <p:cNvPr id="16" name="object 16"/>
            <p:cNvSpPr/>
            <p:nvPr/>
          </p:nvSpPr>
          <p:spPr>
            <a:xfrm>
              <a:off x="6323075" y="1988820"/>
              <a:ext cx="1036319" cy="847725"/>
            </a:xfrm>
            <a:custGeom>
              <a:avLst/>
              <a:gdLst/>
              <a:ahLst/>
              <a:cxnLst/>
              <a:rect l="l" t="t" r="r" b="b"/>
              <a:pathLst>
                <a:path w="1036320" h="847725">
                  <a:moveTo>
                    <a:pt x="0" y="847343"/>
                  </a:moveTo>
                  <a:lnTo>
                    <a:pt x="1036320" y="847343"/>
                  </a:lnTo>
                  <a:lnTo>
                    <a:pt x="1036320" y="0"/>
                  </a:lnTo>
                  <a:lnTo>
                    <a:pt x="0" y="0"/>
                  </a:lnTo>
                  <a:lnTo>
                    <a:pt x="0" y="847343"/>
                  </a:lnTo>
                  <a:close/>
                </a:path>
              </a:pathLst>
            </a:custGeom>
            <a:ln w="9144">
              <a:solidFill>
                <a:srgbClr val="FFFFFF"/>
              </a:solidFill>
            </a:ln>
          </p:spPr>
          <p:txBody>
            <a:bodyPr wrap="square" lIns="0" tIns="0" rIns="0" bIns="0" rtlCol="0"/>
            <a:lstStyle/>
            <a:p>
              <a:endParaRPr/>
            </a:p>
          </p:txBody>
        </p:sp>
        <p:sp>
          <p:nvSpPr>
            <p:cNvPr id="17" name="object 17"/>
            <p:cNvSpPr/>
            <p:nvPr/>
          </p:nvSpPr>
          <p:spPr>
            <a:xfrm>
              <a:off x="7353299" y="1988820"/>
              <a:ext cx="1022985" cy="847725"/>
            </a:xfrm>
            <a:custGeom>
              <a:avLst/>
              <a:gdLst/>
              <a:ahLst/>
              <a:cxnLst/>
              <a:rect l="l" t="t" r="r" b="b"/>
              <a:pathLst>
                <a:path w="1022984" h="847725">
                  <a:moveTo>
                    <a:pt x="1022603" y="0"/>
                  </a:moveTo>
                  <a:lnTo>
                    <a:pt x="0" y="0"/>
                  </a:lnTo>
                  <a:lnTo>
                    <a:pt x="0" y="847343"/>
                  </a:lnTo>
                  <a:lnTo>
                    <a:pt x="1022603" y="847343"/>
                  </a:lnTo>
                  <a:lnTo>
                    <a:pt x="1022603" y="0"/>
                  </a:lnTo>
                  <a:close/>
                </a:path>
              </a:pathLst>
            </a:custGeom>
            <a:solidFill>
              <a:srgbClr val="9C70AE"/>
            </a:solidFill>
          </p:spPr>
          <p:txBody>
            <a:bodyPr wrap="square" lIns="0" tIns="0" rIns="0" bIns="0" rtlCol="0"/>
            <a:lstStyle/>
            <a:p>
              <a:endParaRPr/>
            </a:p>
          </p:txBody>
        </p:sp>
        <p:sp>
          <p:nvSpPr>
            <p:cNvPr id="18" name="object 18"/>
            <p:cNvSpPr/>
            <p:nvPr/>
          </p:nvSpPr>
          <p:spPr>
            <a:xfrm>
              <a:off x="7353299" y="1988820"/>
              <a:ext cx="1022985" cy="847725"/>
            </a:xfrm>
            <a:custGeom>
              <a:avLst/>
              <a:gdLst/>
              <a:ahLst/>
              <a:cxnLst/>
              <a:rect l="l" t="t" r="r" b="b"/>
              <a:pathLst>
                <a:path w="1022984" h="847725">
                  <a:moveTo>
                    <a:pt x="0" y="847343"/>
                  </a:moveTo>
                  <a:lnTo>
                    <a:pt x="1022603" y="847343"/>
                  </a:lnTo>
                  <a:lnTo>
                    <a:pt x="1022603" y="0"/>
                  </a:lnTo>
                  <a:lnTo>
                    <a:pt x="0" y="0"/>
                  </a:lnTo>
                  <a:lnTo>
                    <a:pt x="0" y="847343"/>
                  </a:lnTo>
                  <a:close/>
                </a:path>
              </a:pathLst>
            </a:custGeom>
            <a:ln w="9144">
              <a:solidFill>
                <a:srgbClr val="FFFFFF"/>
              </a:solidFill>
            </a:ln>
          </p:spPr>
          <p:txBody>
            <a:bodyPr wrap="square" lIns="0" tIns="0" rIns="0" bIns="0" rtlCol="0"/>
            <a:lstStyle/>
            <a:p>
              <a:endParaRPr/>
            </a:p>
          </p:txBody>
        </p:sp>
      </p:grpSp>
      <p:sp>
        <p:nvSpPr>
          <p:cNvPr id="19" name="object 19"/>
          <p:cNvSpPr txBox="1"/>
          <p:nvPr/>
        </p:nvSpPr>
        <p:spPr>
          <a:xfrm>
            <a:off x="6567678" y="1316354"/>
            <a:ext cx="1808480" cy="299720"/>
          </a:xfrm>
          <a:prstGeom prst="rect">
            <a:avLst/>
          </a:prstGeom>
        </p:spPr>
        <p:txBody>
          <a:bodyPr vert="horz" wrap="square" lIns="0" tIns="12700" rIns="0" bIns="0" rtlCol="0">
            <a:spAutoFit/>
          </a:bodyPr>
          <a:lstStyle/>
          <a:p>
            <a:pPr marL="12700">
              <a:lnSpc>
                <a:spcPct val="100000"/>
              </a:lnSpc>
              <a:spcBef>
                <a:spcPts val="100"/>
              </a:spcBef>
              <a:tabLst>
                <a:tab pos="984885" algn="l"/>
              </a:tabLst>
            </a:pPr>
            <a:r>
              <a:rPr sz="1800" spc="5" dirty="0">
                <a:solidFill>
                  <a:srgbClr val="FFFFFF"/>
                </a:solidFill>
                <a:latin typeface="Trebuchet MS"/>
                <a:cs typeface="Trebuchet MS"/>
              </a:rPr>
              <a:t>JDBC	</a:t>
            </a:r>
            <a:r>
              <a:rPr sz="1800" spc="114" dirty="0">
                <a:solidFill>
                  <a:srgbClr val="FFFFFF"/>
                </a:solidFill>
                <a:latin typeface="Trebuchet MS"/>
                <a:cs typeface="Trebuchet MS"/>
              </a:rPr>
              <a:t>ODBC</a:t>
            </a:r>
            <a:endParaRPr sz="1800" dirty="0">
              <a:latin typeface="Trebuchet MS"/>
              <a:cs typeface="Trebuchet MS"/>
            </a:endParaRPr>
          </a:p>
        </p:txBody>
      </p:sp>
      <p:sp>
        <p:nvSpPr>
          <p:cNvPr id="20" name="object 20"/>
          <p:cNvSpPr/>
          <p:nvPr/>
        </p:nvSpPr>
        <p:spPr>
          <a:xfrm>
            <a:off x="1650492" y="1066800"/>
            <a:ext cx="8891270" cy="4038600"/>
          </a:xfrm>
          <a:custGeom>
            <a:avLst/>
            <a:gdLst/>
            <a:ahLst/>
            <a:cxnLst/>
            <a:rect l="l" t="t" r="r" b="b"/>
            <a:pathLst>
              <a:path w="8891270" h="4500880">
                <a:moveTo>
                  <a:pt x="0" y="46355"/>
                </a:moveTo>
                <a:lnTo>
                  <a:pt x="3653" y="28342"/>
                </a:lnTo>
                <a:lnTo>
                  <a:pt x="13604" y="13604"/>
                </a:lnTo>
                <a:lnTo>
                  <a:pt x="28342" y="3653"/>
                </a:lnTo>
                <a:lnTo>
                  <a:pt x="46355" y="0"/>
                </a:lnTo>
                <a:lnTo>
                  <a:pt x="8844661" y="0"/>
                </a:lnTo>
                <a:lnTo>
                  <a:pt x="8862673" y="3653"/>
                </a:lnTo>
                <a:lnTo>
                  <a:pt x="8877411" y="13604"/>
                </a:lnTo>
                <a:lnTo>
                  <a:pt x="8887362" y="28342"/>
                </a:lnTo>
                <a:lnTo>
                  <a:pt x="8891016" y="46355"/>
                </a:lnTo>
                <a:lnTo>
                  <a:pt x="8891016" y="4453966"/>
                </a:lnTo>
                <a:lnTo>
                  <a:pt x="8887362" y="4472029"/>
                </a:lnTo>
                <a:lnTo>
                  <a:pt x="8877411" y="4486779"/>
                </a:lnTo>
                <a:lnTo>
                  <a:pt x="8862673" y="4496725"/>
                </a:lnTo>
                <a:lnTo>
                  <a:pt x="8844661" y="4500372"/>
                </a:lnTo>
                <a:lnTo>
                  <a:pt x="46355" y="4500372"/>
                </a:lnTo>
                <a:lnTo>
                  <a:pt x="28342" y="4496725"/>
                </a:lnTo>
                <a:lnTo>
                  <a:pt x="13604" y="4486779"/>
                </a:lnTo>
                <a:lnTo>
                  <a:pt x="3653" y="4472029"/>
                </a:lnTo>
                <a:lnTo>
                  <a:pt x="0" y="4453966"/>
                </a:lnTo>
                <a:lnTo>
                  <a:pt x="0" y="46355"/>
                </a:lnTo>
                <a:close/>
              </a:path>
            </a:pathLst>
          </a:custGeom>
          <a:ln w="9144">
            <a:solidFill>
              <a:srgbClr val="D9D9D9"/>
            </a:solidFill>
          </a:ln>
        </p:spPr>
        <p:txBody>
          <a:bodyPr wrap="square" lIns="0" tIns="0" rIns="0" bIns="0" rtlCol="0"/>
          <a:lstStyle/>
          <a:p>
            <a:endParaRPr/>
          </a:p>
        </p:txBody>
      </p:sp>
      <p:sp>
        <p:nvSpPr>
          <p:cNvPr id="21" name="object 21"/>
          <p:cNvSpPr txBox="1"/>
          <p:nvPr/>
        </p:nvSpPr>
        <p:spPr>
          <a:xfrm>
            <a:off x="2291588" y="1171195"/>
            <a:ext cx="695325" cy="406400"/>
          </a:xfrm>
          <a:prstGeom prst="rect">
            <a:avLst/>
          </a:prstGeom>
        </p:spPr>
        <p:txBody>
          <a:bodyPr vert="horz" wrap="square" lIns="0" tIns="12065" rIns="0" bIns="0" rtlCol="0">
            <a:spAutoFit/>
          </a:bodyPr>
          <a:lstStyle/>
          <a:p>
            <a:pPr marL="12700">
              <a:lnSpc>
                <a:spcPct val="100000"/>
              </a:lnSpc>
              <a:spcBef>
                <a:spcPts val="95"/>
              </a:spcBef>
            </a:pPr>
            <a:r>
              <a:rPr sz="2500" b="1" spc="-5" dirty="0">
                <a:solidFill>
                  <a:srgbClr val="505050"/>
                </a:solidFill>
                <a:latin typeface="Arial"/>
                <a:cs typeface="Arial"/>
              </a:rPr>
              <a:t>Hive</a:t>
            </a:r>
            <a:endParaRPr sz="2500">
              <a:latin typeface="Arial"/>
              <a:cs typeface="Arial"/>
            </a:endParaRPr>
          </a:p>
        </p:txBody>
      </p:sp>
      <p:sp>
        <p:nvSpPr>
          <p:cNvPr id="22" name="object 22"/>
          <p:cNvSpPr txBox="1"/>
          <p:nvPr/>
        </p:nvSpPr>
        <p:spPr>
          <a:xfrm>
            <a:off x="2235452" y="3804603"/>
            <a:ext cx="1711960" cy="1080770"/>
          </a:xfrm>
          <a:prstGeom prst="rect">
            <a:avLst/>
          </a:prstGeom>
          <a:solidFill>
            <a:srgbClr val="00BBF1"/>
          </a:solidFill>
        </p:spPr>
        <p:txBody>
          <a:bodyPr vert="horz" wrap="square" lIns="0" tIns="6350" rIns="0" bIns="0" rtlCol="0">
            <a:spAutoFit/>
          </a:bodyPr>
          <a:lstStyle/>
          <a:p>
            <a:pPr>
              <a:lnSpc>
                <a:spcPct val="100000"/>
              </a:lnSpc>
              <a:spcBef>
                <a:spcPts val="50"/>
              </a:spcBef>
            </a:pPr>
            <a:endParaRPr sz="2650" dirty="0">
              <a:latin typeface="Times New Roman"/>
              <a:cs typeface="Times New Roman"/>
            </a:endParaRPr>
          </a:p>
          <a:p>
            <a:pPr marL="635" algn="ctr">
              <a:lnSpc>
                <a:spcPct val="100000"/>
              </a:lnSpc>
            </a:pPr>
            <a:r>
              <a:rPr sz="1800" spc="-30" dirty="0">
                <a:solidFill>
                  <a:srgbClr val="FFFFFF"/>
                </a:solidFill>
                <a:latin typeface="Trebuchet MS"/>
                <a:cs typeface="Trebuchet MS"/>
              </a:rPr>
              <a:t>Tez</a:t>
            </a:r>
            <a:endParaRPr sz="1800" dirty="0">
              <a:latin typeface="Trebuchet MS"/>
              <a:cs typeface="Trebuchet MS"/>
            </a:endParaRPr>
          </a:p>
        </p:txBody>
      </p:sp>
      <p:sp>
        <p:nvSpPr>
          <p:cNvPr id="23" name="object 23"/>
          <p:cNvSpPr txBox="1"/>
          <p:nvPr/>
        </p:nvSpPr>
        <p:spPr>
          <a:xfrm>
            <a:off x="4542789" y="3804603"/>
            <a:ext cx="1711960" cy="1080770"/>
          </a:xfrm>
          <a:prstGeom prst="rect">
            <a:avLst/>
          </a:prstGeom>
          <a:solidFill>
            <a:srgbClr val="00BBF1"/>
          </a:solidFill>
        </p:spPr>
        <p:txBody>
          <a:bodyPr vert="horz" wrap="square" lIns="0" tIns="6350" rIns="0" bIns="0" rtlCol="0">
            <a:spAutoFit/>
          </a:bodyPr>
          <a:lstStyle/>
          <a:p>
            <a:pPr>
              <a:lnSpc>
                <a:spcPct val="100000"/>
              </a:lnSpc>
              <a:spcBef>
                <a:spcPts val="50"/>
              </a:spcBef>
            </a:pPr>
            <a:endParaRPr sz="2650" dirty="0">
              <a:latin typeface="Times New Roman"/>
              <a:cs typeface="Times New Roman"/>
            </a:endParaRPr>
          </a:p>
          <a:p>
            <a:pPr marL="244475">
              <a:lnSpc>
                <a:spcPct val="100000"/>
              </a:lnSpc>
            </a:pPr>
            <a:r>
              <a:rPr sz="1800" spc="50" dirty="0">
                <a:solidFill>
                  <a:srgbClr val="FFFFFF"/>
                </a:solidFill>
                <a:latin typeface="Trebuchet MS"/>
                <a:cs typeface="Trebuchet MS"/>
              </a:rPr>
              <a:t>MapReduce</a:t>
            </a:r>
            <a:endParaRPr sz="1800" dirty="0">
              <a:latin typeface="Trebuchet MS"/>
              <a:cs typeface="Trebuchet MS"/>
            </a:endParaRPr>
          </a:p>
        </p:txBody>
      </p:sp>
      <p:sp>
        <p:nvSpPr>
          <p:cNvPr id="24" name="object 24"/>
          <p:cNvSpPr txBox="1"/>
          <p:nvPr/>
        </p:nvSpPr>
        <p:spPr>
          <a:xfrm>
            <a:off x="6664197" y="3804603"/>
            <a:ext cx="1711960" cy="1080770"/>
          </a:xfrm>
          <a:prstGeom prst="rect">
            <a:avLst/>
          </a:prstGeom>
          <a:solidFill>
            <a:srgbClr val="00BBF1"/>
          </a:solidFill>
        </p:spPr>
        <p:txBody>
          <a:bodyPr vert="horz" wrap="square" lIns="0" tIns="6350" rIns="0" bIns="0" rtlCol="0">
            <a:spAutoFit/>
          </a:bodyPr>
          <a:lstStyle/>
          <a:p>
            <a:pPr>
              <a:lnSpc>
                <a:spcPct val="100000"/>
              </a:lnSpc>
              <a:spcBef>
                <a:spcPts val="50"/>
              </a:spcBef>
            </a:pPr>
            <a:endParaRPr sz="2650" dirty="0">
              <a:latin typeface="Times New Roman"/>
              <a:cs typeface="Times New Roman"/>
            </a:endParaRPr>
          </a:p>
          <a:p>
            <a:pPr marL="563245">
              <a:lnSpc>
                <a:spcPct val="100000"/>
              </a:lnSpc>
            </a:pPr>
            <a:r>
              <a:rPr sz="1800" spc="35" dirty="0">
                <a:solidFill>
                  <a:srgbClr val="FFFFFF"/>
                </a:solidFill>
                <a:latin typeface="Trebuchet MS"/>
                <a:cs typeface="Trebuchet MS"/>
              </a:rPr>
              <a:t>Spark</a:t>
            </a:r>
            <a:endParaRPr sz="1800" dirty="0">
              <a:latin typeface="Trebuchet MS"/>
              <a:cs typeface="Trebuchet MS"/>
            </a:endParaRPr>
          </a:p>
        </p:txBody>
      </p:sp>
      <p:sp>
        <p:nvSpPr>
          <p:cNvPr id="26" name="object 2"/>
          <p:cNvSpPr txBox="1"/>
          <p:nvPr/>
        </p:nvSpPr>
        <p:spPr>
          <a:xfrm>
            <a:off x="381000" y="5266915"/>
            <a:ext cx="11519176" cy="1240244"/>
          </a:xfrm>
          <a:prstGeom prst="rect">
            <a:avLst/>
          </a:prstGeom>
        </p:spPr>
        <p:txBody>
          <a:bodyPr vert="horz" wrap="square" lIns="0" tIns="9049" rIns="0" bIns="0" rtlCol="0">
            <a:spAutoFit/>
          </a:bodyPr>
          <a:lstStyle/>
          <a:p>
            <a:pPr marL="138113" marR="75724" indent="-128588">
              <a:buFont typeface="Wingdings"/>
              <a:buChar char=""/>
              <a:tabLst>
                <a:tab pos="138113" algn="l"/>
              </a:tabLst>
            </a:pPr>
            <a:r>
              <a:rPr lang="en-US" sz="2000" spc="11" dirty="0" smtClean="0">
                <a:latin typeface="UKIJ CJK"/>
                <a:cs typeface="UKIJ CJK"/>
              </a:rPr>
              <a:t>ThriftServer: </a:t>
            </a:r>
            <a:r>
              <a:rPr lang="en-US" sz="2000" u="sng" spc="23" dirty="0" smtClean="0">
                <a:latin typeface="UKIJ CJK"/>
                <a:cs typeface="UKIJ CJK"/>
              </a:rPr>
              <a:t>provides </a:t>
            </a:r>
            <a:r>
              <a:rPr lang="en-US" sz="2000" u="sng" spc="11" dirty="0" smtClean="0">
                <a:latin typeface="UKIJ CJK"/>
                <a:cs typeface="UKIJ CJK"/>
              </a:rPr>
              <a:t>thrift interfaces as </a:t>
            </a:r>
            <a:r>
              <a:rPr lang="en-US" sz="2000" u="sng" spc="23" dirty="0" smtClean="0">
                <a:latin typeface="UKIJ CJK"/>
                <a:cs typeface="UKIJ CJK"/>
              </a:rPr>
              <a:t>the </a:t>
            </a:r>
            <a:r>
              <a:rPr lang="en-US" sz="2000" u="sng" spc="8" dirty="0" smtClean="0">
                <a:latin typeface="UKIJ CJK"/>
                <a:cs typeface="UKIJ CJK"/>
              </a:rPr>
              <a:t>servers </a:t>
            </a:r>
            <a:r>
              <a:rPr lang="en-US" sz="2000" u="sng" spc="30" dirty="0" smtClean="0">
                <a:latin typeface="UKIJ CJK"/>
                <a:cs typeface="UKIJ CJK"/>
              </a:rPr>
              <a:t>of </a:t>
            </a:r>
            <a:r>
              <a:rPr lang="en-US" sz="2000" u="sng" spc="53" dirty="0" smtClean="0">
                <a:latin typeface="UKIJ CJK"/>
                <a:cs typeface="UKIJ CJK"/>
              </a:rPr>
              <a:t>JDBC </a:t>
            </a:r>
            <a:r>
              <a:rPr lang="en-US" sz="2000" u="sng" spc="26" dirty="0" smtClean="0">
                <a:latin typeface="UKIJ CJK"/>
                <a:cs typeface="UKIJ CJK"/>
              </a:rPr>
              <a:t>and </a:t>
            </a:r>
            <a:r>
              <a:rPr lang="en-US" sz="2000" u="sng" spc="41" dirty="0" smtClean="0">
                <a:latin typeface="UKIJ CJK"/>
                <a:cs typeface="UKIJ CJK"/>
              </a:rPr>
              <a:t>ODBC </a:t>
            </a:r>
            <a:r>
              <a:rPr lang="en-US" sz="2000" u="sng" spc="26" dirty="0" smtClean="0">
                <a:latin typeface="UKIJ CJK"/>
                <a:cs typeface="UKIJ CJK"/>
              </a:rPr>
              <a:t>and  </a:t>
            </a:r>
            <a:r>
              <a:rPr lang="en-US" sz="2000" u="sng" spc="23" dirty="0" smtClean="0">
                <a:latin typeface="UKIJ CJK"/>
                <a:cs typeface="UKIJ CJK"/>
              </a:rPr>
              <a:t>integrates </a:t>
            </a:r>
            <a:r>
              <a:rPr lang="en-US" sz="2000" u="sng" spc="30" dirty="0" smtClean="0">
                <a:latin typeface="UKIJ CJK"/>
                <a:cs typeface="UKIJ CJK"/>
              </a:rPr>
              <a:t>Hive </a:t>
            </a:r>
            <a:r>
              <a:rPr lang="en-US" sz="2000" u="sng" spc="26" dirty="0" smtClean="0">
                <a:latin typeface="UKIJ CJK"/>
                <a:cs typeface="UKIJ CJK"/>
              </a:rPr>
              <a:t>and </a:t>
            </a:r>
            <a:r>
              <a:rPr lang="en-US" sz="2000" u="sng" spc="19" dirty="0" smtClean="0">
                <a:latin typeface="UKIJ CJK"/>
                <a:cs typeface="UKIJ CJK"/>
              </a:rPr>
              <a:t>other</a:t>
            </a:r>
            <a:r>
              <a:rPr lang="en-US" sz="2000" u="sng" spc="41" dirty="0" smtClean="0">
                <a:latin typeface="UKIJ CJK"/>
                <a:cs typeface="UKIJ CJK"/>
              </a:rPr>
              <a:t> </a:t>
            </a:r>
            <a:r>
              <a:rPr lang="en-US" sz="2000" u="sng" spc="15" dirty="0" smtClean="0">
                <a:latin typeface="UKIJ CJK"/>
                <a:cs typeface="UKIJ CJK"/>
              </a:rPr>
              <a:t>applications.</a:t>
            </a:r>
            <a:endParaRPr lang="en-US" sz="2000" u="sng" dirty="0" smtClean="0">
              <a:latin typeface="UKIJ CJK"/>
              <a:cs typeface="UKIJ CJK"/>
            </a:endParaRPr>
          </a:p>
          <a:p>
            <a:pPr marL="138113" marR="7144" indent="-128588">
              <a:buFont typeface="Wingdings"/>
              <a:buChar char=""/>
              <a:tabLst>
                <a:tab pos="138113" algn="l"/>
              </a:tabLst>
            </a:pPr>
            <a:r>
              <a:rPr lang="en-US" sz="2000" spc="15" dirty="0" smtClean="0">
                <a:latin typeface="UKIJ CJK"/>
                <a:cs typeface="UKIJ CJK"/>
              </a:rPr>
              <a:t>Clients: </a:t>
            </a:r>
            <a:r>
              <a:rPr lang="en-US" sz="2000" u="sng" spc="23" dirty="0" smtClean="0">
                <a:latin typeface="UKIJ CJK"/>
                <a:cs typeface="UKIJ CJK"/>
              </a:rPr>
              <a:t>provides </a:t>
            </a:r>
            <a:r>
              <a:rPr lang="en-US" sz="2000" u="sng" spc="15" dirty="0" smtClean="0">
                <a:latin typeface="UKIJ CJK"/>
                <a:cs typeface="UKIJ CJK"/>
              </a:rPr>
              <a:t>interfaces </a:t>
            </a:r>
            <a:r>
              <a:rPr lang="en-US" sz="2000" u="sng" spc="11" dirty="0" smtClean="0">
                <a:latin typeface="UKIJ CJK"/>
                <a:cs typeface="UKIJ CJK"/>
              </a:rPr>
              <a:t>for </a:t>
            </a:r>
            <a:r>
              <a:rPr lang="en-US" sz="2000" u="sng" spc="8" dirty="0" smtClean="0">
                <a:latin typeface="UKIJ CJK"/>
                <a:cs typeface="UKIJ CJK"/>
              </a:rPr>
              <a:t>user </a:t>
            </a:r>
            <a:r>
              <a:rPr lang="en-US" sz="2000" u="sng" spc="15" dirty="0" smtClean="0">
                <a:latin typeface="UKIJ CJK"/>
                <a:cs typeface="UKIJ CJK"/>
              </a:rPr>
              <a:t>access, </a:t>
            </a:r>
            <a:r>
              <a:rPr lang="en-US" sz="2000" u="sng" spc="23" dirty="0" smtClean="0">
                <a:latin typeface="UKIJ CJK"/>
                <a:cs typeface="UKIJ CJK"/>
              </a:rPr>
              <a:t>including </a:t>
            </a:r>
            <a:r>
              <a:rPr lang="en-US" sz="2000" u="sng" spc="30" dirty="0" smtClean="0">
                <a:latin typeface="UKIJ CJK"/>
                <a:cs typeface="UKIJ CJK"/>
              </a:rPr>
              <a:t>command </a:t>
            </a:r>
            <a:r>
              <a:rPr lang="en-US" sz="2000" u="sng" spc="11" dirty="0" smtClean="0">
                <a:latin typeface="UKIJ CJK"/>
                <a:cs typeface="UKIJ CJK"/>
              </a:rPr>
              <a:t>line </a:t>
            </a:r>
            <a:r>
              <a:rPr lang="en-US" sz="2000" u="sng" spc="15" dirty="0" smtClean="0">
                <a:latin typeface="UKIJ CJK"/>
                <a:cs typeface="UKIJ CJK"/>
              </a:rPr>
              <a:t>interface</a:t>
            </a:r>
            <a:r>
              <a:rPr lang="en-US" sz="2000" spc="15" dirty="0" smtClean="0">
                <a:latin typeface="UKIJ CJK"/>
                <a:cs typeface="UKIJ CJK"/>
              </a:rPr>
              <a:t>  </a:t>
            </a:r>
            <a:r>
              <a:rPr lang="en-US" sz="2000" spc="11" dirty="0" smtClean="0">
                <a:latin typeface="UKIJ CJK"/>
                <a:cs typeface="UKIJ CJK"/>
              </a:rPr>
              <a:t>(CLI), Beeline, as </a:t>
            </a:r>
            <a:r>
              <a:rPr lang="en-US" sz="2000" spc="15" dirty="0" smtClean="0">
                <a:latin typeface="UKIJ CJK"/>
                <a:cs typeface="UKIJ CJK"/>
              </a:rPr>
              <a:t>well </a:t>
            </a:r>
            <a:r>
              <a:rPr lang="en-US" sz="2000" spc="53" dirty="0" smtClean="0">
                <a:latin typeface="UKIJ CJK"/>
                <a:cs typeface="UKIJ CJK"/>
              </a:rPr>
              <a:t>JDBC </a:t>
            </a:r>
            <a:r>
              <a:rPr lang="en-US" sz="2000" spc="26" dirty="0" smtClean="0">
                <a:latin typeface="UKIJ CJK"/>
                <a:cs typeface="UKIJ CJK"/>
              </a:rPr>
              <a:t>and </a:t>
            </a:r>
            <a:r>
              <a:rPr lang="en-US" sz="2000" spc="45" dirty="0" smtClean="0">
                <a:latin typeface="UKIJ CJK"/>
                <a:cs typeface="UKIJ CJK"/>
              </a:rPr>
              <a:t>ODBC</a:t>
            </a:r>
            <a:r>
              <a:rPr lang="en-US" sz="2000" spc="53" dirty="0" smtClean="0">
                <a:latin typeface="UKIJ CJK"/>
                <a:cs typeface="UKIJ CJK"/>
              </a:rPr>
              <a:t> </a:t>
            </a:r>
            <a:r>
              <a:rPr lang="en-US" sz="2000" spc="11" dirty="0" smtClean="0">
                <a:latin typeface="UKIJ CJK"/>
                <a:cs typeface="UKIJ CJK"/>
              </a:rPr>
              <a:t>interfaces.</a:t>
            </a:r>
            <a:endParaRPr lang="en-US" sz="2000" dirty="0">
              <a:latin typeface="UKIJ CJK"/>
              <a:cs typeface="UKIJ CJK"/>
            </a:endParaRPr>
          </a:p>
        </p:txBody>
      </p:sp>
    </p:spTree>
    <p:extLst>
      <p:ext uri="{BB962C8B-B14F-4D97-AF65-F5344CB8AC3E}">
        <p14:creationId xmlns:p14="http://schemas.microsoft.com/office/powerpoint/2010/main" val="141899982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676400" y="713472"/>
            <a:ext cx="7510476" cy="567463"/>
          </a:xfrm>
          <a:prstGeom prst="rect">
            <a:avLst/>
          </a:prstGeom>
        </p:spPr>
        <p:txBody>
          <a:bodyPr vert="horz" wrap="square" lIns="0" tIns="13335" rIns="0" bIns="0" rtlCol="0">
            <a:spAutoFit/>
          </a:bodyPr>
          <a:lstStyle/>
          <a:p>
            <a:pPr marL="12700">
              <a:lnSpc>
                <a:spcPct val="100000"/>
              </a:lnSpc>
              <a:spcBef>
                <a:spcPts val="105"/>
              </a:spcBef>
            </a:pPr>
            <a:r>
              <a:rPr spc="40" dirty="0"/>
              <a:t>Hive </a:t>
            </a:r>
            <a:r>
              <a:rPr spc="100" dirty="0"/>
              <a:t>Running</a:t>
            </a:r>
            <a:r>
              <a:rPr spc="-35" dirty="0"/>
              <a:t> </a:t>
            </a:r>
            <a:r>
              <a:rPr dirty="0"/>
              <a:t>Process</a:t>
            </a:r>
          </a:p>
        </p:txBody>
      </p:sp>
      <p:sp>
        <p:nvSpPr>
          <p:cNvPr id="3" name="object 3"/>
          <p:cNvSpPr txBox="1"/>
          <p:nvPr/>
        </p:nvSpPr>
        <p:spPr>
          <a:xfrm>
            <a:off x="1374648" y="1743050"/>
            <a:ext cx="130175" cy="193675"/>
          </a:xfrm>
          <a:prstGeom prst="rect">
            <a:avLst/>
          </a:prstGeom>
        </p:spPr>
        <p:txBody>
          <a:bodyPr vert="horz" wrap="square" lIns="0" tIns="13335" rIns="0" bIns="0" rtlCol="0">
            <a:spAutoFit/>
          </a:bodyPr>
          <a:lstStyle/>
          <a:p>
            <a:pPr marL="12700">
              <a:lnSpc>
                <a:spcPct val="100000"/>
              </a:lnSpc>
              <a:spcBef>
                <a:spcPts val="105"/>
              </a:spcBef>
            </a:pPr>
            <a:r>
              <a:rPr sz="1100" dirty="0">
                <a:latin typeface="Wingdings"/>
                <a:cs typeface="Wingdings"/>
              </a:rPr>
              <a:t></a:t>
            </a:r>
            <a:endParaRPr sz="1100">
              <a:latin typeface="Wingdings"/>
              <a:cs typeface="Wingdings"/>
            </a:endParaRPr>
          </a:p>
        </p:txBody>
      </p:sp>
      <p:sp>
        <p:nvSpPr>
          <p:cNvPr id="4" name="object 4"/>
          <p:cNvSpPr txBox="1"/>
          <p:nvPr/>
        </p:nvSpPr>
        <p:spPr>
          <a:xfrm>
            <a:off x="1676400" y="1529080"/>
            <a:ext cx="4921250" cy="4719320"/>
          </a:xfrm>
          <a:prstGeom prst="rect">
            <a:avLst/>
          </a:prstGeom>
        </p:spPr>
        <p:txBody>
          <a:bodyPr vert="horz" wrap="square" lIns="0" tIns="12700" rIns="0" bIns="0" rtlCol="0">
            <a:spAutoFit/>
          </a:bodyPr>
          <a:lstStyle/>
          <a:p>
            <a:pPr marL="12700" marR="5080">
              <a:lnSpc>
                <a:spcPct val="140000"/>
              </a:lnSpc>
              <a:spcBef>
                <a:spcPts val="100"/>
              </a:spcBef>
            </a:pPr>
            <a:r>
              <a:rPr sz="2200" spc="-5" dirty="0">
                <a:latin typeface="Trebuchet MS"/>
                <a:cs typeface="Trebuchet MS"/>
              </a:rPr>
              <a:t>The </a:t>
            </a:r>
            <a:r>
              <a:rPr sz="2200" spc="-40" dirty="0">
                <a:latin typeface="Trebuchet MS"/>
                <a:cs typeface="Trebuchet MS"/>
              </a:rPr>
              <a:t>client </a:t>
            </a:r>
            <a:r>
              <a:rPr sz="2200" spc="25" dirty="0">
                <a:latin typeface="Trebuchet MS"/>
                <a:cs typeface="Trebuchet MS"/>
              </a:rPr>
              <a:t>submits </a:t>
            </a:r>
            <a:r>
              <a:rPr sz="2200" spc="-15" dirty="0">
                <a:latin typeface="Trebuchet MS"/>
                <a:cs typeface="Trebuchet MS"/>
              </a:rPr>
              <a:t>the </a:t>
            </a:r>
            <a:r>
              <a:rPr sz="2200" spc="150" dirty="0">
                <a:latin typeface="Trebuchet MS"/>
                <a:cs typeface="Trebuchet MS"/>
              </a:rPr>
              <a:t>HQL </a:t>
            </a:r>
            <a:r>
              <a:rPr sz="2200" spc="20" dirty="0">
                <a:latin typeface="Trebuchet MS"/>
                <a:cs typeface="Trebuchet MS"/>
              </a:rPr>
              <a:t>command.  </a:t>
            </a:r>
            <a:r>
              <a:rPr sz="2200" spc="-40" dirty="0">
                <a:latin typeface="Trebuchet MS"/>
                <a:cs typeface="Trebuchet MS"/>
              </a:rPr>
              <a:t>Tez </a:t>
            </a:r>
            <a:r>
              <a:rPr sz="2200" spc="-30" dirty="0">
                <a:latin typeface="Trebuchet MS"/>
                <a:cs typeface="Trebuchet MS"/>
              </a:rPr>
              <a:t>executes </a:t>
            </a:r>
            <a:r>
              <a:rPr sz="2200" spc="-20" dirty="0">
                <a:latin typeface="Trebuchet MS"/>
                <a:cs typeface="Trebuchet MS"/>
              </a:rPr>
              <a:t>the</a:t>
            </a:r>
            <a:r>
              <a:rPr sz="2200" spc="145" dirty="0">
                <a:latin typeface="Trebuchet MS"/>
                <a:cs typeface="Trebuchet MS"/>
              </a:rPr>
              <a:t> </a:t>
            </a:r>
            <a:r>
              <a:rPr sz="2200" spc="-45" dirty="0">
                <a:latin typeface="Trebuchet MS"/>
                <a:cs typeface="Trebuchet MS"/>
              </a:rPr>
              <a:t>query.</a:t>
            </a:r>
            <a:endParaRPr sz="2200" dirty="0">
              <a:latin typeface="Trebuchet MS"/>
              <a:cs typeface="Trebuchet MS"/>
            </a:endParaRPr>
          </a:p>
          <a:p>
            <a:pPr marL="12700" marR="19050">
              <a:lnSpc>
                <a:spcPct val="139900"/>
              </a:lnSpc>
              <a:spcBef>
                <a:spcPts val="5"/>
              </a:spcBef>
            </a:pPr>
            <a:r>
              <a:rPr sz="2200" spc="110" dirty="0">
                <a:latin typeface="Trebuchet MS"/>
                <a:cs typeface="Trebuchet MS"/>
              </a:rPr>
              <a:t>YARN </a:t>
            </a:r>
            <a:r>
              <a:rPr sz="2200" spc="-10" dirty="0">
                <a:latin typeface="Trebuchet MS"/>
                <a:cs typeface="Trebuchet MS"/>
              </a:rPr>
              <a:t>allocates </a:t>
            </a:r>
            <a:r>
              <a:rPr sz="2200" dirty="0">
                <a:latin typeface="Trebuchet MS"/>
                <a:cs typeface="Trebuchet MS"/>
              </a:rPr>
              <a:t>resources to  </a:t>
            </a:r>
            <a:r>
              <a:rPr sz="2200" spc="-5" dirty="0">
                <a:latin typeface="Trebuchet MS"/>
                <a:cs typeface="Trebuchet MS"/>
              </a:rPr>
              <a:t>applications </a:t>
            </a:r>
            <a:r>
              <a:rPr sz="2200" spc="5" dirty="0">
                <a:latin typeface="Trebuchet MS"/>
                <a:cs typeface="Trebuchet MS"/>
              </a:rPr>
              <a:t>in </a:t>
            </a:r>
            <a:r>
              <a:rPr sz="2200" spc="-15" dirty="0">
                <a:latin typeface="Trebuchet MS"/>
                <a:cs typeface="Trebuchet MS"/>
              </a:rPr>
              <a:t>the </a:t>
            </a:r>
            <a:r>
              <a:rPr sz="2200" spc="-25" dirty="0">
                <a:latin typeface="Trebuchet MS"/>
                <a:cs typeface="Trebuchet MS"/>
              </a:rPr>
              <a:t>cluster </a:t>
            </a:r>
            <a:r>
              <a:rPr sz="2200" spc="55" dirty="0">
                <a:latin typeface="Trebuchet MS"/>
                <a:cs typeface="Trebuchet MS"/>
              </a:rPr>
              <a:t>and </a:t>
            </a:r>
            <a:r>
              <a:rPr sz="2200" spc="5" dirty="0">
                <a:latin typeface="Trebuchet MS"/>
                <a:cs typeface="Trebuchet MS"/>
              </a:rPr>
              <a:t>enables  </a:t>
            </a:r>
            <a:r>
              <a:rPr sz="2200" spc="10" dirty="0">
                <a:latin typeface="Trebuchet MS"/>
                <a:cs typeface="Trebuchet MS"/>
              </a:rPr>
              <a:t>authorization </a:t>
            </a:r>
            <a:r>
              <a:rPr sz="2200" spc="-5" dirty="0">
                <a:latin typeface="Trebuchet MS"/>
                <a:cs typeface="Trebuchet MS"/>
              </a:rPr>
              <a:t>for </a:t>
            </a:r>
            <a:r>
              <a:rPr sz="2200" spc="25" dirty="0">
                <a:latin typeface="Trebuchet MS"/>
                <a:cs typeface="Trebuchet MS"/>
              </a:rPr>
              <a:t>Hive </a:t>
            </a:r>
            <a:r>
              <a:rPr sz="2200" spc="-25" dirty="0">
                <a:latin typeface="Trebuchet MS"/>
                <a:cs typeface="Trebuchet MS"/>
              </a:rPr>
              <a:t>jobs </a:t>
            </a:r>
            <a:r>
              <a:rPr sz="2200" spc="5" dirty="0">
                <a:latin typeface="Trebuchet MS"/>
                <a:cs typeface="Trebuchet MS"/>
              </a:rPr>
              <a:t>in </a:t>
            </a:r>
            <a:r>
              <a:rPr sz="2200" spc="-15" dirty="0">
                <a:latin typeface="Trebuchet MS"/>
                <a:cs typeface="Trebuchet MS"/>
              </a:rPr>
              <a:t>the  </a:t>
            </a:r>
            <a:r>
              <a:rPr sz="2200" spc="110" dirty="0">
                <a:latin typeface="Trebuchet MS"/>
                <a:cs typeface="Trebuchet MS"/>
              </a:rPr>
              <a:t>YARN</a:t>
            </a:r>
            <a:r>
              <a:rPr sz="2200" spc="5" dirty="0">
                <a:latin typeface="Trebuchet MS"/>
                <a:cs typeface="Trebuchet MS"/>
              </a:rPr>
              <a:t> </a:t>
            </a:r>
            <a:r>
              <a:rPr sz="2200" spc="-35" dirty="0">
                <a:latin typeface="Trebuchet MS"/>
                <a:cs typeface="Trebuchet MS"/>
              </a:rPr>
              <a:t>queue.</a:t>
            </a:r>
            <a:endParaRPr sz="2200" dirty="0">
              <a:latin typeface="Trebuchet MS"/>
              <a:cs typeface="Trebuchet MS"/>
            </a:endParaRPr>
          </a:p>
          <a:p>
            <a:pPr marL="12700">
              <a:lnSpc>
                <a:spcPct val="100000"/>
              </a:lnSpc>
              <a:spcBef>
                <a:spcPts val="1055"/>
              </a:spcBef>
            </a:pPr>
            <a:r>
              <a:rPr sz="2200" spc="20" dirty="0">
                <a:latin typeface="Trebuchet MS"/>
                <a:cs typeface="Trebuchet MS"/>
              </a:rPr>
              <a:t>Hive </a:t>
            </a:r>
            <a:r>
              <a:rPr lang="en-US" sz="2200" spc="15" dirty="0" smtClean="0">
                <a:latin typeface="Trebuchet MS"/>
                <a:cs typeface="Trebuchet MS"/>
              </a:rPr>
              <a:t>modifies</a:t>
            </a:r>
            <a:r>
              <a:rPr sz="2200" spc="15" dirty="0" smtClean="0">
                <a:latin typeface="Trebuchet MS"/>
                <a:cs typeface="Trebuchet MS"/>
              </a:rPr>
              <a:t> </a:t>
            </a:r>
            <a:r>
              <a:rPr sz="2200" spc="15" dirty="0">
                <a:latin typeface="Trebuchet MS"/>
                <a:cs typeface="Trebuchet MS"/>
              </a:rPr>
              <a:t>data </a:t>
            </a:r>
            <a:r>
              <a:rPr sz="2200" spc="5" dirty="0">
                <a:latin typeface="Trebuchet MS"/>
                <a:cs typeface="Trebuchet MS"/>
              </a:rPr>
              <a:t>in </a:t>
            </a:r>
            <a:r>
              <a:rPr sz="2200" spc="140" dirty="0">
                <a:latin typeface="Trebuchet MS"/>
                <a:cs typeface="Trebuchet MS"/>
              </a:rPr>
              <a:t>HDFS </a:t>
            </a:r>
            <a:r>
              <a:rPr sz="2200" spc="20" dirty="0">
                <a:latin typeface="Trebuchet MS"/>
                <a:cs typeface="Trebuchet MS"/>
              </a:rPr>
              <a:t>or</a:t>
            </a:r>
            <a:r>
              <a:rPr sz="2200" spc="-45" dirty="0">
                <a:latin typeface="Trebuchet MS"/>
                <a:cs typeface="Trebuchet MS"/>
              </a:rPr>
              <a:t> </a:t>
            </a:r>
            <a:r>
              <a:rPr sz="2200" spc="20" dirty="0">
                <a:latin typeface="Trebuchet MS"/>
                <a:cs typeface="Trebuchet MS"/>
              </a:rPr>
              <a:t>Hive</a:t>
            </a:r>
            <a:endParaRPr sz="2200" dirty="0">
              <a:latin typeface="Trebuchet MS"/>
              <a:cs typeface="Trebuchet MS"/>
            </a:endParaRPr>
          </a:p>
          <a:p>
            <a:pPr marL="12700" marR="142875">
              <a:lnSpc>
                <a:spcPct val="140000"/>
              </a:lnSpc>
            </a:pPr>
            <a:r>
              <a:rPr sz="2200" spc="35" dirty="0">
                <a:latin typeface="Trebuchet MS"/>
                <a:cs typeface="Trebuchet MS"/>
              </a:rPr>
              <a:t>warehouse </a:t>
            </a:r>
            <a:r>
              <a:rPr sz="2200" spc="20" dirty="0">
                <a:latin typeface="Trebuchet MS"/>
                <a:cs typeface="Trebuchet MS"/>
              </a:rPr>
              <a:t>based </a:t>
            </a:r>
            <a:r>
              <a:rPr sz="2200" spc="80" dirty="0">
                <a:latin typeface="Trebuchet MS"/>
                <a:cs typeface="Trebuchet MS"/>
              </a:rPr>
              <a:t>on </a:t>
            </a:r>
            <a:r>
              <a:rPr sz="2200" spc="-15" dirty="0">
                <a:latin typeface="Trebuchet MS"/>
                <a:cs typeface="Trebuchet MS"/>
              </a:rPr>
              <a:t>the </a:t>
            </a:r>
            <a:r>
              <a:rPr sz="2200" spc="-20" dirty="0">
                <a:latin typeface="Trebuchet MS"/>
                <a:cs typeface="Trebuchet MS"/>
              </a:rPr>
              <a:t>table </a:t>
            </a:r>
            <a:r>
              <a:rPr sz="2200" spc="-80" dirty="0">
                <a:latin typeface="Trebuchet MS"/>
                <a:cs typeface="Trebuchet MS"/>
              </a:rPr>
              <a:t>type.  </a:t>
            </a:r>
            <a:r>
              <a:rPr sz="2200" spc="20" dirty="0">
                <a:latin typeface="Trebuchet MS"/>
                <a:cs typeface="Trebuchet MS"/>
              </a:rPr>
              <a:t>Hive </a:t>
            </a:r>
            <a:r>
              <a:rPr sz="2200" dirty="0">
                <a:latin typeface="Trebuchet MS"/>
                <a:cs typeface="Trebuchet MS"/>
              </a:rPr>
              <a:t>returns </a:t>
            </a:r>
            <a:r>
              <a:rPr sz="2200" spc="-15" dirty="0">
                <a:latin typeface="Trebuchet MS"/>
                <a:cs typeface="Trebuchet MS"/>
              </a:rPr>
              <a:t>the </a:t>
            </a:r>
            <a:r>
              <a:rPr sz="2200" spc="5" dirty="0">
                <a:latin typeface="Trebuchet MS"/>
                <a:cs typeface="Trebuchet MS"/>
              </a:rPr>
              <a:t>query </a:t>
            </a:r>
            <a:r>
              <a:rPr sz="2200" spc="-15" dirty="0">
                <a:latin typeface="Trebuchet MS"/>
                <a:cs typeface="Trebuchet MS"/>
              </a:rPr>
              <a:t>result </a:t>
            </a:r>
            <a:r>
              <a:rPr sz="2200" spc="50" dirty="0">
                <a:latin typeface="Trebuchet MS"/>
                <a:cs typeface="Trebuchet MS"/>
              </a:rPr>
              <a:t>through  </a:t>
            </a:r>
            <a:r>
              <a:rPr sz="2200" spc="-15" dirty="0">
                <a:latin typeface="Trebuchet MS"/>
                <a:cs typeface="Trebuchet MS"/>
              </a:rPr>
              <a:t>the </a:t>
            </a:r>
            <a:r>
              <a:rPr sz="2200" spc="10" dirty="0">
                <a:latin typeface="Trebuchet MS"/>
                <a:cs typeface="Trebuchet MS"/>
              </a:rPr>
              <a:t>JDBC</a:t>
            </a:r>
            <a:r>
              <a:rPr sz="2200" spc="65" dirty="0">
                <a:latin typeface="Trebuchet MS"/>
                <a:cs typeface="Trebuchet MS"/>
              </a:rPr>
              <a:t> </a:t>
            </a:r>
            <a:r>
              <a:rPr sz="2200" spc="-25" dirty="0">
                <a:latin typeface="Trebuchet MS"/>
                <a:cs typeface="Trebuchet MS"/>
              </a:rPr>
              <a:t>connection.</a:t>
            </a:r>
            <a:endParaRPr sz="2200" dirty="0">
              <a:latin typeface="Trebuchet MS"/>
              <a:cs typeface="Trebuchet MS"/>
            </a:endParaRPr>
          </a:p>
        </p:txBody>
      </p:sp>
      <p:sp>
        <p:nvSpPr>
          <p:cNvPr id="5" name="object 5"/>
          <p:cNvSpPr txBox="1"/>
          <p:nvPr/>
        </p:nvSpPr>
        <p:spPr>
          <a:xfrm>
            <a:off x="1374648" y="2212442"/>
            <a:ext cx="130175" cy="193675"/>
          </a:xfrm>
          <a:prstGeom prst="rect">
            <a:avLst/>
          </a:prstGeom>
        </p:spPr>
        <p:txBody>
          <a:bodyPr vert="horz" wrap="square" lIns="0" tIns="13335" rIns="0" bIns="0" rtlCol="0">
            <a:spAutoFit/>
          </a:bodyPr>
          <a:lstStyle/>
          <a:p>
            <a:pPr marL="12700">
              <a:lnSpc>
                <a:spcPct val="100000"/>
              </a:lnSpc>
              <a:spcBef>
                <a:spcPts val="105"/>
              </a:spcBef>
            </a:pPr>
            <a:r>
              <a:rPr sz="1100" dirty="0">
                <a:latin typeface="Wingdings"/>
                <a:cs typeface="Wingdings"/>
              </a:rPr>
              <a:t></a:t>
            </a:r>
            <a:endParaRPr sz="1100">
              <a:latin typeface="Wingdings"/>
              <a:cs typeface="Wingdings"/>
            </a:endParaRPr>
          </a:p>
        </p:txBody>
      </p:sp>
      <p:sp>
        <p:nvSpPr>
          <p:cNvPr id="6" name="object 6"/>
          <p:cNvSpPr txBox="1"/>
          <p:nvPr/>
        </p:nvSpPr>
        <p:spPr>
          <a:xfrm>
            <a:off x="1374648" y="2682214"/>
            <a:ext cx="130175" cy="193675"/>
          </a:xfrm>
          <a:prstGeom prst="rect">
            <a:avLst/>
          </a:prstGeom>
        </p:spPr>
        <p:txBody>
          <a:bodyPr vert="horz" wrap="square" lIns="0" tIns="13335" rIns="0" bIns="0" rtlCol="0">
            <a:spAutoFit/>
          </a:bodyPr>
          <a:lstStyle/>
          <a:p>
            <a:pPr marL="12700">
              <a:lnSpc>
                <a:spcPct val="100000"/>
              </a:lnSpc>
              <a:spcBef>
                <a:spcPts val="105"/>
              </a:spcBef>
            </a:pPr>
            <a:r>
              <a:rPr sz="1100" dirty="0">
                <a:latin typeface="Wingdings"/>
                <a:cs typeface="Wingdings"/>
              </a:rPr>
              <a:t></a:t>
            </a:r>
            <a:endParaRPr sz="1100">
              <a:latin typeface="Wingdings"/>
              <a:cs typeface="Wingdings"/>
            </a:endParaRPr>
          </a:p>
        </p:txBody>
      </p:sp>
      <p:sp>
        <p:nvSpPr>
          <p:cNvPr id="7" name="object 7"/>
          <p:cNvSpPr txBox="1"/>
          <p:nvPr/>
        </p:nvSpPr>
        <p:spPr>
          <a:xfrm>
            <a:off x="1374648" y="4558512"/>
            <a:ext cx="130175" cy="193675"/>
          </a:xfrm>
          <a:prstGeom prst="rect">
            <a:avLst/>
          </a:prstGeom>
        </p:spPr>
        <p:txBody>
          <a:bodyPr vert="horz" wrap="square" lIns="0" tIns="12700" rIns="0" bIns="0" rtlCol="0">
            <a:spAutoFit/>
          </a:bodyPr>
          <a:lstStyle/>
          <a:p>
            <a:pPr marL="12700">
              <a:lnSpc>
                <a:spcPct val="100000"/>
              </a:lnSpc>
              <a:spcBef>
                <a:spcPts val="100"/>
              </a:spcBef>
            </a:pPr>
            <a:r>
              <a:rPr sz="1100" dirty="0">
                <a:latin typeface="Wingdings"/>
                <a:cs typeface="Wingdings"/>
              </a:rPr>
              <a:t></a:t>
            </a:r>
            <a:endParaRPr sz="1100">
              <a:latin typeface="Wingdings"/>
              <a:cs typeface="Wingdings"/>
            </a:endParaRPr>
          </a:p>
        </p:txBody>
      </p:sp>
      <p:sp>
        <p:nvSpPr>
          <p:cNvPr id="8" name="object 8"/>
          <p:cNvSpPr txBox="1"/>
          <p:nvPr/>
        </p:nvSpPr>
        <p:spPr>
          <a:xfrm>
            <a:off x="1374648" y="5497678"/>
            <a:ext cx="130175" cy="193675"/>
          </a:xfrm>
          <a:prstGeom prst="rect">
            <a:avLst/>
          </a:prstGeom>
        </p:spPr>
        <p:txBody>
          <a:bodyPr vert="horz" wrap="square" lIns="0" tIns="12700" rIns="0" bIns="0" rtlCol="0">
            <a:spAutoFit/>
          </a:bodyPr>
          <a:lstStyle/>
          <a:p>
            <a:pPr marL="12700">
              <a:lnSpc>
                <a:spcPct val="100000"/>
              </a:lnSpc>
              <a:spcBef>
                <a:spcPts val="100"/>
              </a:spcBef>
            </a:pPr>
            <a:r>
              <a:rPr sz="1100" dirty="0">
                <a:latin typeface="Wingdings"/>
                <a:cs typeface="Wingdings"/>
              </a:rPr>
              <a:t></a:t>
            </a:r>
            <a:endParaRPr sz="1100">
              <a:latin typeface="Wingdings"/>
              <a:cs typeface="Wingdings"/>
            </a:endParaRPr>
          </a:p>
        </p:txBody>
      </p:sp>
      <p:sp>
        <p:nvSpPr>
          <p:cNvPr id="9" name="object 9"/>
          <p:cNvSpPr txBox="1"/>
          <p:nvPr/>
        </p:nvSpPr>
        <p:spPr>
          <a:xfrm>
            <a:off x="8382000" y="1860423"/>
            <a:ext cx="1993900" cy="502920"/>
          </a:xfrm>
          <a:prstGeom prst="rect">
            <a:avLst/>
          </a:prstGeom>
          <a:solidFill>
            <a:srgbClr val="00BBF1"/>
          </a:solidFill>
        </p:spPr>
        <p:txBody>
          <a:bodyPr vert="horz" wrap="square" lIns="0" tIns="111125" rIns="0" bIns="0" rtlCol="0">
            <a:spAutoFit/>
          </a:bodyPr>
          <a:lstStyle/>
          <a:p>
            <a:pPr marL="201295">
              <a:lnSpc>
                <a:spcPct val="100000"/>
              </a:lnSpc>
              <a:spcBef>
                <a:spcPts val="875"/>
              </a:spcBef>
            </a:pPr>
            <a:r>
              <a:rPr sz="1800" spc="125" dirty="0">
                <a:solidFill>
                  <a:srgbClr val="FFFFFF"/>
                </a:solidFill>
                <a:latin typeface="Trebuchet MS"/>
                <a:cs typeface="Trebuchet MS"/>
              </a:rPr>
              <a:t>HQL</a:t>
            </a:r>
            <a:r>
              <a:rPr sz="1800" spc="-5" dirty="0">
                <a:solidFill>
                  <a:srgbClr val="FFFFFF"/>
                </a:solidFill>
                <a:latin typeface="Trebuchet MS"/>
                <a:cs typeface="Trebuchet MS"/>
              </a:rPr>
              <a:t> statement</a:t>
            </a:r>
            <a:endParaRPr sz="1800">
              <a:latin typeface="Trebuchet MS"/>
              <a:cs typeface="Trebuchet MS"/>
            </a:endParaRPr>
          </a:p>
        </p:txBody>
      </p:sp>
      <p:sp>
        <p:nvSpPr>
          <p:cNvPr id="10" name="object 10"/>
          <p:cNvSpPr txBox="1"/>
          <p:nvPr/>
        </p:nvSpPr>
        <p:spPr>
          <a:xfrm>
            <a:off x="8382000" y="2674239"/>
            <a:ext cx="1995170" cy="504825"/>
          </a:xfrm>
          <a:prstGeom prst="rect">
            <a:avLst/>
          </a:prstGeom>
          <a:solidFill>
            <a:srgbClr val="00BBF1"/>
          </a:solidFill>
        </p:spPr>
        <p:txBody>
          <a:bodyPr vert="horz" wrap="square" lIns="0" tIns="112395" rIns="0" bIns="0" rtlCol="0">
            <a:spAutoFit/>
          </a:bodyPr>
          <a:lstStyle/>
          <a:p>
            <a:pPr marL="635" algn="ctr">
              <a:lnSpc>
                <a:spcPct val="100000"/>
              </a:lnSpc>
              <a:spcBef>
                <a:spcPts val="885"/>
              </a:spcBef>
            </a:pPr>
            <a:r>
              <a:rPr sz="1800" spc="15" dirty="0">
                <a:solidFill>
                  <a:srgbClr val="FFFFFF"/>
                </a:solidFill>
                <a:latin typeface="Trebuchet MS"/>
                <a:cs typeface="Trebuchet MS"/>
              </a:rPr>
              <a:t>Hive</a:t>
            </a:r>
            <a:endParaRPr sz="1800">
              <a:latin typeface="Trebuchet MS"/>
              <a:cs typeface="Trebuchet MS"/>
            </a:endParaRPr>
          </a:p>
        </p:txBody>
      </p:sp>
      <p:sp>
        <p:nvSpPr>
          <p:cNvPr id="11" name="object 11"/>
          <p:cNvSpPr txBox="1"/>
          <p:nvPr/>
        </p:nvSpPr>
        <p:spPr>
          <a:xfrm>
            <a:off x="8382000" y="4416170"/>
            <a:ext cx="1958339" cy="502920"/>
          </a:xfrm>
          <a:prstGeom prst="rect">
            <a:avLst/>
          </a:prstGeom>
          <a:solidFill>
            <a:srgbClr val="00BBF1"/>
          </a:solidFill>
        </p:spPr>
        <p:txBody>
          <a:bodyPr vert="horz" wrap="square" lIns="0" tIns="112395" rIns="0" bIns="0" rtlCol="0">
            <a:spAutoFit/>
          </a:bodyPr>
          <a:lstStyle/>
          <a:p>
            <a:pPr marL="2540" algn="ctr">
              <a:lnSpc>
                <a:spcPct val="100000"/>
              </a:lnSpc>
              <a:spcBef>
                <a:spcPts val="885"/>
              </a:spcBef>
            </a:pPr>
            <a:r>
              <a:rPr sz="1800" spc="90" dirty="0">
                <a:solidFill>
                  <a:srgbClr val="FFFFFF"/>
                </a:solidFill>
                <a:latin typeface="Trebuchet MS"/>
                <a:cs typeface="Trebuchet MS"/>
              </a:rPr>
              <a:t>YARN</a:t>
            </a:r>
            <a:endParaRPr sz="1800">
              <a:latin typeface="Trebuchet MS"/>
              <a:cs typeface="Trebuchet MS"/>
            </a:endParaRPr>
          </a:p>
        </p:txBody>
      </p:sp>
      <p:sp>
        <p:nvSpPr>
          <p:cNvPr id="12" name="object 12"/>
          <p:cNvSpPr txBox="1"/>
          <p:nvPr/>
        </p:nvSpPr>
        <p:spPr>
          <a:xfrm>
            <a:off x="8382000" y="3545967"/>
            <a:ext cx="1995170" cy="502920"/>
          </a:xfrm>
          <a:prstGeom prst="rect">
            <a:avLst/>
          </a:prstGeom>
          <a:solidFill>
            <a:srgbClr val="00BBF1"/>
          </a:solidFill>
        </p:spPr>
        <p:txBody>
          <a:bodyPr vert="horz" wrap="square" lIns="0" tIns="111760" rIns="0" bIns="0" rtlCol="0">
            <a:spAutoFit/>
          </a:bodyPr>
          <a:lstStyle/>
          <a:p>
            <a:pPr marL="356235">
              <a:lnSpc>
                <a:spcPct val="100000"/>
              </a:lnSpc>
              <a:spcBef>
                <a:spcPts val="880"/>
              </a:spcBef>
            </a:pPr>
            <a:r>
              <a:rPr sz="1800" dirty="0">
                <a:solidFill>
                  <a:srgbClr val="FFFFFF"/>
                </a:solidFill>
                <a:latin typeface="Trebuchet MS"/>
                <a:cs typeface="Trebuchet MS"/>
              </a:rPr>
              <a:t>Tez(default)</a:t>
            </a:r>
            <a:endParaRPr sz="1800">
              <a:latin typeface="Trebuchet MS"/>
              <a:cs typeface="Trebuchet MS"/>
            </a:endParaRPr>
          </a:p>
        </p:txBody>
      </p:sp>
      <p:sp>
        <p:nvSpPr>
          <p:cNvPr id="13" name="object 13"/>
          <p:cNvSpPr/>
          <p:nvPr/>
        </p:nvSpPr>
        <p:spPr>
          <a:xfrm>
            <a:off x="9347834" y="2363089"/>
            <a:ext cx="76200" cy="311785"/>
          </a:xfrm>
          <a:custGeom>
            <a:avLst/>
            <a:gdLst/>
            <a:ahLst/>
            <a:cxnLst/>
            <a:rect l="l" t="t" r="r" b="b"/>
            <a:pathLst>
              <a:path w="76200" h="311785">
                <a:moveTo>
                  <a:pt x="31742" y="235648"/>
                </a:moveTo>
                <a:lnTo>
                  <a:pt x="0" y="236600"/>
                </a:lnTo>
                <a:lnTo>
                  <a:pt x="40512" y="311658"/>
                </a:lnTo>
                <a:lnTo>
                  <a:pt x="69754" y="248285"/>
                </a:lnTo>
                <a:lnTo>
                  <a:pt x="32130" y="248285"/>
                </a:lnTo>
                <a:lnTo>
                  <a:pt x="31742" y="235648"/>
                </a:lnTo>
                <a:close/>
              </a:path>
              <a:path w="76200" h="311785">
                <a:moveTo>
                  <a:pt x="44442" y="235267"/>
                </a:moveTo>
                <a:lnTo>
                  <a:pt x="31742" y="235648"/>
                </a:lnTo>
                <a:lnTo>
                  <a:pt x="32130" y="248285"/>
                </a:lnTo>
                <a:lnTo>
                  <a:pt x="44830" y="247904"/>
                </a:lnTo>
                <a:lnTo>
                  <a:pt x="44442" y="235267"/>
                </a:lnTo>
                <a:close/>
              </a:path>
              <a:path w="76200" h="311785">
                <a:moveTo>
                  <a:pt x="76200" y="234315"/>
                </a:moveTo>
                <a:lnTo>
                  <a:pt x="44442" y="235267"/>
                </a:lnTo>
                <a:lnTo>
                  <a:pt x="44830" y="247904"/>
                </a:lnTo>
                <a:lnTo>
                  <a:pt x="32130" y="248285"/>
                </a:lnTo>
                <a:lnTo>
                  <a:pt x="69754" y="248285"/>
                </a:lnTo>
                <a:lnTo>
                  <a:pt x="76200" y="234315"/>
                </a:lnTo>
                <a:close/>
              </a:path>
              <a:path w="76200" h="311785">
                <a:moveTo>
                  <a:pt x="37210" y="0"/>
                </a:moveTo>
                <a:lnTo>
                  <a:pt x="24510" y="508"/>
                </a:lnTo>
                <a:lnTo>
                  <a:pt x="31742" y="235648"/>
                </a:lnTo>
                <a:lnTo>
                  <a:pt x="44442" y="235267"/>
                </a:lnTo>
                <a:lnTo>
                  <a:pt x="37210" y="0"/>
                </a:lnTo>
                <a:close/>
              </a:path>
            </a:pathLst>
          </a:custGeom>
          <a:solidFill>
            <a:srgbClr val="5B9BD4"/>
          </a:solidFill>
        </p:spPr>
        <p:txBody>
          <a:bodyPr wrap="square" lIns="0" tIns="0" rIns="0" bIns="0" rtlCol="0"/>
          <a:lstStyle/>
          <a:p>
            <a:endParaRPr/>
          </a:p>
        </p:txBody>
      </p:sp>
      <p:sp>
        <p:nvSpPr>
          <p:cNvPr id="14" name="object 14"/>
          <p:cNvSpPr/>
          <p:nvPr/>
        </p:nvSpPr>
        <p:spPr>
          <a:xfrm>
            <a:off x="9342119" y="3178683"/>
            <a:ext cx="76200" cy="367665"/>
          </a:xfrm>
          <a:custGeom>
            <a:avLst/>
            <a:gdLst/>
            <a:ahLst/>
            <a:cxnLst/>
            <a:rect l="l" t="t" r="r" b="b"/>
            <a:pathLst>
              <a:path w="76200" h="367664">
                <a:moveTo>
                  <a:pt x="31750" y="291084"/>
                </a:moveTo>
                <a:lnTo>
                  <a:pt x="0" y="291084"/>
                </a:lnTo>
                <a:lnTo>
                  <a:pt x="38100" y="367284"/>
                </a:lnTo>
                <a:lnTo>
                  <a:pt x="69850" y="303784"/>
                </a:lnTo>
                <a:lnTo>
                  <a:pt x="31750" y="303784"/>
                </a:lnTo>
                <a:lnTo>
                  <a:pt x="31750" y="291084"/>
                </a:lnTo>
                <a:close/>
              </a:path>
              <a:path w="76200" h="367664">
                <a:moveTo>
                  <a:pt x="44450" y="0"/>
                </a:moveTo>
                <a:lnTo>
                  <a:pt x="31750" y="0"/>
                </a:lnTo>
                <a:lnTo>
                  <a:pt x="31750" y="303784"/>
                </a:lnTo>
                <a:lnTo>
                  <a:pt x="44450" y="303784"/>
                </a:lnTo>
                <a:lnTo>
                  <a:pt x="44450" y="0"/>
                </a:lnTo>
                <a:close/>
              </a:path>
              <a:path w="76200" h="367664">
                <a:moveTo>
                  <a:pt x="76200" y="291084"/>
                </a:moveTo>
                <a:lnTo>
                  <a:pt x="44450" y="291084"/>
                </a:lnTo>
                <a:lnTo>
                  <a:pt x="44450" y="303784"/>
                </a:lnTo>
                <a:lnTo>
                  <a:pt x="69850" y="303784"/>
                </a:lnTo>
                <a:lnTo>
                  <a:pt x="76200" y="291084"/>
                </a:lnTo>
                <a:close/>
              </a:path>
            </a:pathLst>
          </a:custGeom>
          <a:solidFill>
            <a:srgbClr val="5B9BD4"/>
          </a:solidFill>
        </p:spPr>
        <p:txBody>
          <a:bodyPr wrap="square" lIns="0" tIns="0" rIns="0" bIns="0" rtlCol="0"/>
          <a:lstStyle/>
          <a:p>
            <a:endParaRPr/>
          </a:p>
        </p:txBody>
      </p:sp>
      <p:sp>
        <p:nvSpPr>
          <p:cNvPr id="15" name="object 15"/>
          <p:cNvSpPr/>
          <p:nvPr/>
        </p:nvSpPr>
        <p:spPr>
          <a:xfrm>
            <a:off x="9340850" y="4048887"/>
            <a:ext cx="76200" cy="367665"/>
          </a:xfrm>
          <a:custGeom>
            <a:avLst/>
            <a:gdLst/>
            <a:ahLst/>
            <a:cxnLst/>
            <a:rect l="l" t="t" r="r" b="b"/>
            <a:pathLst>
              <a:path w="76200" h="367664">
                <a:moveTo>
                  <a:pt x="0" y="290956"/>
                </a:moveTo>
                <a:lnTo>
                  <a:pt x="37845" y="367284"/>
                </a:lnTo>
                <a:lnTo>
                  <a:pt x="69861" y="303784"/>
                </a:lnTo>
                <a:lnTo>
                  <a:pt x="31750" y="303784"/>
                </a:lnTo>
                <a:lnTo>
                  <a:pt x="31792" y="291062"/>
                </a:lnTo>
                <a:lnTo>
                  <a:pt x="0" y="290956"/>
                </a:lnTo>
                <a:close/>
              </a:path>
              <a:path w="76200" h="367664">
                <a:moveTo>
                  <a:pt x="31792" y="291062"/>
                </a:moveTo>
                <a:lnTo>
                  <a:pt x="31750" y="303784"/>
                </a:lnTo>
                <a:lnTo>
                  <a:pt x="44450" y="303784"/>
                </a:lnTo>
                <a:lnTo>
                  <a:pt x="44492" y="291105"/>
                </a:lnTo>
                <a:lnTo>
                  <a:pt x="31792" y="291062"/>
                </a:lnTo>
                <a:close/>
              </a:path>
              <a:path w="76200" h="367664">
                <a:moveTo>
                  <a:pt x="44492" y="291105"/>
                </a:moveTo>
                <a:lnTo>
                  <a:pt x="44450" y="303784"/>
                </a:lnTo>
                <a:lnTo>
                  <a:pt x="69861" y="303784"/>
                </a:lnTo>
                <a:lnTo>
                  <a:pt x="76200" y="291211"/>
                </a:lnTo>
                <a:lnTo>
                  <a:pt x="44492" y="291105"/>
                </a:lnTo>
                <a:close/>
              </a:path>
              <a:path w="76200" h="367664">
                <a:moveTo>
                  <a:pt x="45465" y="0"/>
                </a:moveTo>
                <a:lnTo>
                  <a:pt x="32765" y="0"/>
                </a:lnTo>
                <a:lnTo>
                  <a:pt x="31792" y="291062"/>
                </a:lnTo>
                <a:lnTo>
                  <a:pt x="44492" y="291105"/>
                </a:lnTo>
                <a:lnTo>
                  <a:pt x="45465" y="0"/>
                </a:lnTo>
                <a:close/>
              </a:path>
            </a:pathLst>
          </a:custGeom>
          <a:solidFill>
            <a:srgbClr val="5B9BD4"/>
          </a:solidFill>
        </p:spPr>
        <p:txBody>
          <a:bodyPr wrap="square" lIns="0" tIns="0" rIns="0" bIns="0" rtlCol="0"/>
          <a:lstStyle/>
          <a:p>
            <a:endParaRPr/>
          </a:p>
        </p:txBody>
      </p:sp>
      <p:sp>
        <p:nvSpPr>
          <p:cNvPr id="16" name="object 16"/>
          <p:cNvSpPr txBox="1"/>
          <p:nvPr/>
        </p:nvSpPr>
        <p:spPr>
          <a:xfrm>
            <a:off x="8382000" y="5286375"/>
            <a:ext cx="1995170" cy="504825"/>
          </a:xfrm>
          <a:prstGeom prst="rect">
            <a:avLst/>
          </a:prstGeom>
          <a:solidFill>
            <a:srgbClr val="00BBF1"/>
          </a:solidFill>
        </p:spPr>
        <p:txBody>
          <a:bodyPr vert="horz" wrap="square" lIns="0" tIns="113030" rIns="0" bIns="0" rtlCol="0">
            <a:spAutoFit/>
          </a:bodyPr>
          <a:lstStyle/>
          <a:p>
            <a:pPr marL="3175" algn="ctr">
              <a:lnSpc>
                <a:spcPct val="100000"/>
              </a:lnSpc>
              <a:spcBef>
                <a:spcPts val="890"/>
              </a:spcBef>
            </a:pPr>
            <a:r>
              <a:rPr sz="1800" spc="114" dirty="0">
                <a:solidFill>
                  <a:srgbClr val="FFFFFF"/>
                </a:solidFill>
                <a:latin typeface="Trebuchet MS"/>
                <a:cs typeface="Trebuchet MS"/>
              </a:rPr>
              <a:t>HDFS</a:t>
            </a:r>
            <a:endParaRPr sz="1800">
              <a:latin typeface="Trebuchet MS"/>
              <a:cs typeface="Trebuchet MS"/>
            </a:endParaRPr>
          </a:p>
        </p:txBody>
      </p:sp>
      <p:sp>
        <p:nvSpPr>
          <p:cNvPr id="17" name="object 17"/>
          <p:cNvSpPr/>
          <p:nvPr/>
        </p:nvSpPr>
        <p:spPr>
          <a:xfrm>
            <a:off x="9338309" y="4918837"/>
            <a:ext cx="76200" cy="367665"/>
          </a:xfrm>
          <a:custGeom>
            <a:avLst/>
            <a:gdLst/>
            <a:ahLst/>
            <a:cxnLst/>
            <a:rect l="l" t="t" r="r" b="b"/>
            <a:pathLst>
              <a:path w="76200" h="367664">
                <a:moveTo>
                  <a:pt x="31752" y="291708"/>
                </a:moveTo>
                <a:lnTo>
                  <a:pt x="0" y="293243"/>
                </a:lnTo>
                <a:lnTo>
                  <a:pt x="41909" y="367538"/>
                </a:lnTo>
                <a:lnTo>
                  <a:pt x="69665" y="304419"/>
                </a:lnTo>
                <a:lnTo>
                  <a:pt x="32384" y="304419"/>
                </a:lnTo>
                <a:lnTo>
                  <a:pt x="31752" y="291708"/>
                </a:lnTo>
                <a:close/>
              </a:path>
              <a:path w="76200" h="367664">
                <a:moveTo>
                  <a:pt x="44453" y="291094"/>
                </a:moveTo>
                <a:lnTo>
                  <a:pt x="31752" y="291708"/>
                </a:lnTo>
                <a:lnTo>
                  <a:pt x="32384" y="304419"/>
                </a:lnTo>
                <a:lnTo>
                  <a:pt x="45084" y="303784"/>
                </a:lnTo>
                <a:lnTo>
                  <a:pt x="44453" y="291094"/>
                </a:lnTo>
                <a:close/>
              </a:path>
              <a:path w="76200" h="367664">
                <a:moveTo>
                  <a:pt x="76200" y="289560"/>
                </a:moveTo>
                <a:lnTo>
                  <a:pt x="44453" y="291094"/>
                </a:lnTo>
                <a:lnTo>
                  <a:pt x="45084" y="303784"/>
                </a:lnTo>
                <a:lnTo>
                  <a:pt x="32384" y="304419"/>
                </a:lnTo>
                <a:lnTo>
                  <a:pt x="69665" y="304419"/>
                </a:lnTo>
                <a:lnTo>
                  <a:pt x="76200" y="289560"/>
                </a:lnTo>
                <a:close/>
              </a:path>
              <a:path w="76200" h="367664">
                <a:moveTo>
                  <a:pt x="29972" y="0"/>
                </a:moveTo>
                <a:lnTo>
                  <a:pt x="17272" y="508"/>
                </a:lnTo>
                <a:lnTo>
                  <a:pt x="31752" y="291708"/>
                </a:lnTo>
                <a:lnTo>
                  <a:pt x="44453" y="291094"/>
                </a:lnTo>
                <a:lnTo>
                  <a:pt x="29972" y="0"/>
                </a:lnTo>
                <a:close/>
              </a:path>
            </a:pathLst>
          </a:custGeom>
          <a:solidFill>
            <a:srgbClr val="5B9BD4"/>
          </a:solidFill>
        </p:spPr>
        <p:txBody>
          <a:bodyPr wrap="square" lIns="0" tIns="0" rIns="0" bIns="0" rtlCol="0"/>
          <a:lstStyle/>
          <a:p>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605629" y="613367"/>
            <a:ext cx="7619687" cy="567463"/>
          </a:xfrm>
          <a:prstGeom prst="rect">
            <a:avLst/>
          </a:prstGeom>
        </p:spPr>
        <p:txBody>
          <a:bodyPr vert="horz" wrap="square" lIns="0" tIns="13335" rIns="0" bIns="0" rtlCol="0">
            <a:spAutoFit/>
          </a:bodyPr>
          <a:lstStyle/>
          <a:p>
            <a:pPr marL="12700">
              <a:lnSpc>
                <a:spcPct val="100000"/>
              </a:lnSpc>
              <a:spcBef>
                <a:spcPts val="105"/>
              </a:spcBef>
            </a:pPr>
            <a:r>
              <a:rPr spc="105" dirty="0"/>
              <a:t>Data </a:t>
            </a:r>
            <a:r>
              <a:rPr spc="55" dirty="0"/>
              <a:t>Storage </a:t>
            </a:r>
            <a:r>
              <a:rPr spc="145" dirty="0"/>
              <a:t>Model </a:t>
            </a:r>
            <a:r>
              <a:rPr spc="30" dirty="0"/>
              <a:t>of</a:t>
            </a:r>
            <a:r>
              <a:rPr spc="-245" dirty="0"/>
              <a:t> </a:t>
            </a:r>
            <a:r>
              <a:rPr spc="40" dirty="0"/>
              <a:t>Hive</a:t>
            </a:r>
          </a:p>
        </p:txBody>
      </p:sp>
      <p:grpSp>
        <p:nvGrpSpPr>
          <p:cNvPr id="3" name="object 3"/>
          <p:cNvGrpSpPr/>
          <p:nvPr/>
        </p:nvGrpSpPr>
        <p:grpSpPr>
          <a:xfrm>
            <a:off x="3093703" y="1674085"/>
            <a:ext cx="7874520" cy="670572"/>
            <a:chOff x="2157975" y="1741142"/>
            <a:chExt cx="7874520" cy="670572"/>
          </a:xfrm>
        </p:grpSpPr>
        <p:sp>
          <p:nvSpPr>
            <p:cNvPr id="4" name="object 4"/>
            <p:cNvSpPr/>
            <p:nvPr/>
          </p:nvSpPr>
          <p:spPr>
            <a:xfrm>
              <a:off x="2162552" y="1799715"/>
              <a:ext cx="7869943" cy="611999"/>
            </a:xfrm>
            <a:prstGeom prst="rect">
              <a:avLst/>
            </a:prstGeom>
            <a:blipFill>
              <a:blip r:embed="rId2" cstate="print"/>
              <a:stretch>
                <a:fillRect/>
              </a:stretch>
            </a:blipFill>
          </p:spPr>
          <p:txBody>
            <a:bodyPr wrap="square" lIns="0" tIns="0" rIns="0" bIns="0" rtlCol="0"/>
            <a:lstStyle/>
            <a:p>
              <a:endParaRPr/>
            </a:p>
          </p:txBody>
        </p:sp>
        <p:sp>
          <p:nvSpPr>
            <p:cNvPr id="5" name="object 5"/>
            <p:cNvSpPr/>
            <p:nvPr/>
          </p:nvSpPr>
          <p:spPr>
            <a:xfrm>
              <a:off x="2157975" y="1741142"/>
              <a:ext cx="7802880" cy="655320"/>
            </a:xfrm>
            <a:custGeom>
              <a:avLst/>
              <a:gdLst/>
              <a:ahLst/>
              <a:cxnLst/>
              <a:rect l="l" t="t" r="r" b="b"/>
              <a:pathLst>
                <a:path w="7802880" h="942339">
                  <a:moveTo>
                    <a:pt x="7645908" y="0"/>
                  </a:moveTo>
                  <a:lnTo>
                    <a:pt x="156972" y="0"/>
                  </a:lnTo>
                  <a:lnTo>
                    <a:pt x="107338" y="7997"/>
                  </a:lnTo>
                  <a:lnTo>
                    <a:pt x="64245" y="30272"/>
                  </a:lnTo>
                  <a:lnTo>
                    <a:pt x="30272" y="64245"/>
                  </a:lnTo>
                  <a:lnTo>
                    <a:pt x="7997" y="107338"/>
                  </a:lnTo>
                  <a:lnTo>
                    <a:pt x="0" y="156972"/>
                  </a:lnTo>
                  <a:lnTo>
                    <a:pt x="0" y="784860"/>
                  </a:lnTo>
                  <a:lnTo>
                    <a:pt x="7997" y="834493"/>
                  </a:lnTo>
                  <a:lnTo>
                    <a:pt x="30272" y="877586"/>
                  </a:lnTo>
                  <a:lnTo>
                    <a:pt x="64245" y="911559"/>
                  </a:lnTo>
                  <a:lnTo>
                    <a:pt x="107338" y="933834"/>
                  </a:lnTo>
                  <a:lnTo>
                    <a:pt x="156972" y="941832"/>
                  </a:lnTo>
                  <a:lnTo>
                    <a:pt x="7645908" y="941832"/>
                  </a:lnTo>
                  <a:lnTo>
                    <a:pt x="7695541" y="933834"/>
                  </a:lnTo>
                  <a:lnTo>
                    <a:pt x="7738634" y="911559"/>
                  </a:lnTo>
                  <a:lnTo>
                    <a:pt x="7772607" y="877586"/>
                  </a:lnTo>
                  <a:lnTo>
                    <a:pt x="7794882" y="834493"/>
                  </a:lnTo>
                  <a:lnTo>
                    <a:pt x="7802880" y="784860"/>
                  </a:lnTo>
                  <a:lnTo>
                    <a:pt x="7802880" y="156972"/>
                  </a:lnTo>
                  <a:lnTo>
                    <a:pt x="7794882" y="107338"/>
                  </a:lnTo>
                  <a:lnTo>
                    <a:pt x="7772607" y="64245"/>
                  </a:lnTo>
                  <a:lnTo>
                    <a:pt x="7738634" y="30272"/>
                  </a:lnTo>
                  <a:lnTo>
                    <a:pt x="7695541" y="7997"/>
                  </a:lnTo>
                  <a:lnTo>
                    <a:pt x="7645908" y="0"/>
                  </a:lnTo>
                  <a:close/>
                </a:path>
              </a:pathLst>
            </a:custGeom>
            <a:solidFill>
              <a:srgbClr val="045F8F"/>
            </a:solidFill>
          </p:spPr>
          <p:txBody>
            <a:bodyPr wrap="square" lIns="0" tIns="0" rIns="0" bIns="0" rtlCol="0"/>
            <a:lstStyle/>
            <a:p>
              <a:endParaRPr/>
            </a:p>
          </p:txBody>
        </p:sp>
      </p:grpSp>
      <p:grpSp>
        <p:nvGrpSpPr>
          <p:cNvPr id="6" name="object 6"/>
          <p:cNvGrpSpPr/>
          <p:nvPr/>
        </p:nvGrpSpPr>
        <p:grpSpPr>
          <a:xfrm>
            <a:off x="3093703" y="2339338"/>
            <a:ext cx="7879097" cy="870205"/>
            <a:chOff x="2157975" y="2641079"/>
            <a:chExt cx="7879097" cy="870205"/>
          </a:xfrm>
        </p:grpSpPr>
        <p:sp>
          <p:nvSpPr>
            <p:cNvPr id="7" name="object 7"/>
            <p:cNvSpPr/>
            <p:nvPr/>
          </p:nvSpPr>
          <p:spPr>
            <a:xfrm>
              <a:off x="2157975" y="2641079"/>
              <a:ext cx="4933204" cy="870205"/>
            </a:xfrm>
            <a:prstGeom prst="rect">
              <a:avLst/>
            </a:prstGeom>
            <a:blipFill>
              <a:blip r:embed="rId3" cstate="print"/>
              <a:stretch>
                <a:fillRect/>
              </a:stretch>
            </a:blipFill>
          </p:spPr>
          <p:txBody>
            <a:bodyPr wrap="square" lIns="0" tIns="0" rIns="0" bIns="0" rtlCol="0"/>
            <a:lstStyle/>
            <a:p>
              <a:endParaRPr/>
            </a:p>
          </p:txBody>
        </p:sp>
        <p:sp>
          <p:nvSpPr>
            <p:cNvPr id="8" name="object 8"/>
            <p:cNvSpPr/>
            <p:nvPr/>
          </p:nvSpPr>
          <p:spPr>
            <a:xfrm>
              <a:off x="2196084" y="2656331"/>
              <a:ext cx="4857115" cy="826755"/>
            </a:xfrm>
            <a:custGeom>
              <a:avLst/>
              <a:gdLst/>
              <a:ahLst/>
              <a:cxnLst/>
              <a:rect l="l" t="t" r="r" b="b"/>
              <a:pathLst>
                <a:path w="4857115" h="1019810">
                  <a:moveTo>
                    <a:pt x="4687062" y="0"/>
                  </a:moveTo>
                  <a:lnTo>
                    <a:pt x="169926" y="0"/>
                  </a:lnTo>
                  <a:lnTo>
                    <a:pt x="124751" y="6069"/>
                  </a:lnTo>
                  <a:lnTo>
                    <a:pt x="84158" y="23198"/>
                  </a:lnTo>
                  <a:lnTo>
                    <a:pt x="49768" y="49768"/>
                  </a:lnTo>
                  <a:lnTo>
                    <a:pt x="23198" y="84158"/>
                  </a:lnTo>
                  <a:lnTo>
                    <a:pt x="6069" y="124751"/>
                  </a:lnTo>
                  <a:lnTo>
                    <a:pt x="0" y="169925"/>
                  </a:lnTo>
                  <a:lnTo>
                    <a:pt x="0" y="849629"/>
                  </a:lnTo>
                  <a:lnTo>
                    <a:pt x="6069" y="894804"/>
                  </a:lnTo>
                  <a:lnTo>
                    <a:pt x="23198" y="935397"/>
                  </a:lnTo>
                  <a:lnTo>
                    <a:pt x="49768" y="969787"/>
                  </a:lnTo>
                  <a:lnTo>
                    <a:pt x="84158" y="996357"/>
                  </a:lnTo>
                  <a:lnTo>
                    <a:pt x="124751" y="1013486"/>
                  </a:lnTo>
                  <a:lnTo>
                    <a:pt x="169926" y="1019555"/>
                  </a:lnTo>
                  <a:lnTo>
                    <a:pt x="4687062" y="1019555"/>
                  </a:lnTo>
                  <a:lnTo>
                    <a:pt x="4732236" y="1013486"/>
                  </a:lnTo>
                  <a:lnTo>
                    <a:pt x="4772829" y="996357"/>
                  </a:lnTo>
                  <a:lnTo>
                    <a:pt x="4807219" y="969787"/>
                  </a:lnTo>
                  <a:lnTo>
                    <a:pt x="4833789" y="935397"/>
                  </a:lnTo>
                  <a:lnTo>
                    <a:pt x="4850918" y="894804"/>
                  </a:lnTo>
                  <a:lnTo>
                    <a:pt x="4856988" y="849629"/>
                  </a:lnTo>
                  <a:lnTo>
                    <a:pt x="4856988" y="169925"/>
                  </a:lnTo>
                  <a:lnTo>
                    <a:pt x="4850918" y="124751"/>
                  </a:lnTo>
                  <a:lnTo>
                    <a:pt x="4833789" y="84158"/>
                  </a:lnTo>
                  <a:lnTo>
                    <a:pt x="4807219" y="49768"/>
                  </a:lnTo>
                  <a:lnTo>
                    <a:pt x="4772829" y="23198"/>
                  </a:lnTo>
                  <a:lnTo>
                    <a:pt x="4732236" y="6069"/>
                  </a:lnTo>
                  <a:lnTo>
                    <a:pt x="4687062" y="0"/>
                  </a:lnTo>
                  <a:close/>
                </a:path>
              </a:pathLst>
            </a:custGeom>
            <a:solidFill>
              <a:srgbClr val="389D92"/>
            </a:solidFill>
          </p:spPr>
          <p:txBody>
            <a:bodyPr wrap="square" lIns="0" tIns="0" rIns="0" bIns="0" rtlCol="0"/>
            <a:lstStyle/>
            <a:p>
              <a:endParaRPr/>
            </a:p>
          </p:txBody>
        </p:sp>
        <p:sp>
          <p:nvSpPr>
            <p:cNvPr id="9" name="object 9"/>
            <p:cNvSpPr/>
            <p:nvPr/>
          </p:nvSpPr>
          <p:spPr>
            <a:xfrm>
              <a:off x="2196084" y="2656331"/>
              <a:ext cx="4857115" cy="762001"/>
            </a:xfrm>
            <a:custGeom>
              <a:avLst/>
              <a:gdLst/>
              <a:ahLst/>
              <a:cxnLst/>
              <a:rect l="l" t="t" r="r" b="b"/>
              <a:pathLst>
                <a:path w="4857115" h="1019810">
                  <a:moveTo>
                    <a:pt x="0" y="169925"/>
                  </a:moveTo>
                  <a:lnTo>
                    <a:pt x="6069" y="124751"/>
                  </a:lnTo>
                  <a:lnTo>
                    <a:pt x="23198" y="84158"/>
                  </a:lnTo>
                  <a:lnTo>
                    <a:pt x="49768" y="49768"/>
                  </a:lnTo>
                  <a:lnTo>
                    <a:pt x="84158" y="23198"/>
                  </a:lnTo>
                  <a:lnTo>
                    <a:pt x="124751" y="6069"/>
                  </a:lnTo>
                  <a:lnTo>
                    <a:pt x="169926" y="0"/>
                  </a:lnTo>
                  <a:lnTo>
                    <a:pt x="4687062" y="0"/>
                  </a:lnTo>
                  <a:lnTo>
                    <a:pt x="4732236" y="6069"/>
                  </a:lnTo>
                  <a:lnTo>
                    <a:pt x="4772829" y="23198"/>
                  </a:lnTo>
                  <a:lnTo>
                    <a:pt x="4807219" y="49768"/>
                  </a:lnTo>
                  <a:lnTo>
                    <a:pt x="4833789" y="84158"/>
                  </a:lnTo>
                  <a:lnTo>
                    <a:pt x="4850918" y="124751"/>
                  </a:lnTo>
                  <a:lnTo>
                    <a:pt x="4856988" y="169925"/>
                  </a:lnTo>
                  <a:lnTo>
                    <a:pt x="4856988" y="849629"/>
                  </a:lnTo>
                  <a:lnTo>
                    <a:pt x="4850918" y="894804"/>
                  </a:lnTo>
                  <a:lnTo>
                    <a:pt x="4833789" y="935397"/>
                  </a:lnTo>
                  <a:lnTo>
                    <a:pt x="4807219" y="969787"/>
                  </a:lnTo>
                  <a:lnTo>
                    <a:pt x="4772829" y="996357"/>
                  </a:lnTo>
                  <a:lnTo>
                    <a:pt x="4732236" y="1013486"/>
                  </a:lnTo>
                  <a:lnTo>
                    <a:pt x="4687062" y="1019555"/>
                  </a:lnTo>
                  <a:lnTo>
                    <a:pt x="169926" y="1019555"/>
                  </a:lnTo>
                  <a:lnTo>
                    <a:pt x="124751" y="1013486"/>
                  </a:lnTo>
                  <a:lnTo>
                    <a:pt x="84158" y="996357"/>
                  </a:lnTo>
                  <a:lnTo>
                    <a:pt x="49768" y="969787"/>
                  </a:lnTo>
                  <a:lnTo>
                    <a:pt x="23198" y="935397"/>
                  </a:lnTo>
                  <a:lnTo>
                    <a:pt x="6069" y="894804"/>
                  </a:lnTo>
                  <a:lnTo>
                    <a:pt x="0" y="849629"/>
                  </a:lnTo>
                  <a:lnTo>
                    <a:pt x="0" y="169925"/>
                  </a:lnTo>
                  <a:close/>
                </a:path>
              </a:pathLst>
            </a:custGeom>
            <a:ln w="9144">
              <a:solidFill>
                <a:srgbClr val="97B853"/>
              </a:solidFill>
            </a:ln>
          </p:spPr>
          <p:txBody>
            <a:bodyPr wrap="square" lIns="0" tIns="0" rIns="0" bIns="0" rtlCol="0"/>
            <a:lstStyle/>
            <a:p>
              <a:endParaRPr/>
            </a:p>
          </p:txBody>
        </p:sp>
        <p:sp>
          <p:nvSpPr>
            <p:cNvPr id="10" name="object 10"/>
            <p:cNvSpPr/>
            <p:nvPr/>
          </p:nvSpPr>
          <p:spPr>
            <a:xfrm>
              <a:off x="7104878" y="2641079"/>
              <a:ext cx="2932194" cy="870205"/>
            </a:xfrm>
            <a:prstGeom prst="rect">
              <a:avLst/>
            </a:prstGeom>
            <a:blipFill>
              <a:blip r:embed="rId4" cstate="print"/>
              <a:stretch>
                <a:fillRect/>
              </a:stretch>
            </a:blipFill>
          </p:spPr>
          <p:txBody>
            <a:bodyPr wrap="square" lIns="0" tIns="0" rIns="0" bIns="0" rtlCol="0"/>
            <a:lstStyle/>
            <a:p>
              <a:endParaRPr/>
            </a:p>
          </p:txBody>
        </p:sp>
        <p:sp>
          <p:nvSpPr>
            <p:cNvPr id="11" name="object 11"/>
            <p:cNvSpPr/>
            <p:nvPr/>
          </p:nvSpPr>
          <p:spPr>
            <a:xfrm>
              <a:off x="7142988" y="2656331"/>
              <a:ext cx="2856230" cy="826755"/>
            </a:xfrm>
            <a:custGeom>
              <a:avLst/>
              <a:gdLst/>
              <a:ahLst/>
              <a:cxnLst/>
              <a:rect l="l" t="t" r="r" b="b"/>
              <a:pathLst>
                <a:path w="2856229" h="1019810">
                  <a:moveTo>
                    <a:pt x="2686050" y="0"/>
                  </a:moveTo>
                  <a:lnTo>
                    <a:pt x="169925" y="0"/>
                  </a:lnTo>
                  <a:lnTo>
                    <a:pt x="124751" y="6069"/>
                  </a:lnTo>
                  <a:lnTo>
                    <a:pt x="84158" y="23198"/>
                  </a:lnTo>
                  <a:lnTo>
                    <a:pt x="49768" y="49768"/>
                  </a:lnTo>
                  <a:lnTo>
                    <a:pt x="23198" y="84158"/>
                  </a:lnTo>
                  <a:lnTo>
                    <a:pt x="6069" y="124751"/>
                  </a:lnTo>
                  <a:lnTo>
                    <a:pt x="0" y="169925"/>
                  </a:lnTo>
                  <a:lnTo>
                    <a:pt x="0" y="849629"/>
                  </a:lnTo>
                  <a:lnTo>
                    <a:pt x="6069" y="894804"/>
                  </a:lnTo>
                  <a:lnTo>
                    <a:pt x="23198" y="935397"/>
                  </a:lnTo>
                  <a:lnTo>
                    <a:pt x="49768" y="969787"/>
                  </a:lnTo>
                  <a:lnTo>
                    <a:pt x="84158" y="996357"/>
                  </a:lnTo>
                  <a:lnTo>
                    <a:pt x="124751" y="1013486"/>
                  </a:lnTo>
                  <a:lnTo>
                    <a:pt x="169925" y="1019555"/>
                  </a:lnTo>
                  <a:lnTo>
                    <a:pt x="2686050" y="1019555"/>
                  </a:lnTo>
                  <a:lnTo>
                    <a:pt x="2731224" y="1013486"/>
                  </a:lnTo>
                  <a:lnTo>
                    <a:pt x="2771817" y="996357"/>
                  </a:lnTo>
                  <a:lnTo>
                    <a:pt x="2806207" y="969787"/>
                  </a:lnTo>
                  <a:lnTo>
                    <a:pt x="2832777" y="935397"/>
                  </a:lnTo>
                  <a:lnTo>
                    <a:pt x="2849906" y="894804"/>
                  </a:lnTo>
                  <a:lnTo>
                    <a:pt x="2855976" y="849629"/>
                  </a:lnTo>
                  <a:lnTo>
                    <a:pt x="2855976" y="169925"/>
                  </a:lnTo>
                  <a:lnTo>
                    <a:pt x="2849906" y="124751"/>
                  </a:lnTo>
                  <a:lnTo>
                    <a:pt x="2832777" y="84158"/>
                  </a:lnTo>
                  <a:lnTo>
                    <a:pt x="2806207" y="49768"/>
                  </a:lnTo>
                  <a:lnTo>
                    <a:pt x="2771817" y="23198"/>
                  </a:lnTo>
                  <a:lnTo>
                    <a:pt x="2731224" y="6069"/>
                  </a:lnTo>
                  <a:lnTo>
                    <a:pt x="2686050" y="0"/>
                  </a:lnTo>
                  <a:close/>
                </a:path>
              </a:pathLst>
            </a:custGeom>
            <a:solidFill>
              <a:srgbClr val="389D92"/>
            </a:solidFill>
          </p:spPr>
          <p:txBody>
            <a:bodyPr wrap="square" lIns="0" tIns="0" rIns="0" bIns="0" rtlCol="0"/>
            <a:lstStyle/>
            <a:p>
              <a:endParaRPr/>
            </a:p>
          </p:txBody>
        </p:sp>
        <p:sp>
          <p:nvSpPr>
            <p:cNvPr id="12" name="object 12"/>
            <p:cNvSpPr/>
            <p:nvPr/>
          </p:nvSpPr>
          <p:spPr>
            <a:xfrm>
              <a:off x="7142988" y="2656331"/>
              <a:ext cx="2856230" cy="762001"/>
            </a:xfrm>
            <a:custGeom>
              <a:avLst/>
              <a:gdLst/>
              <a:ahLst/>
              <a:cxnLst/>
              <a:rect l="l" t="t" r="r" b="b"/>
              <a:pathLst>
                <a:path w="2856229" h="1019810">
                  <a:moveTo>
                    <a:pt x="0" y="169925"/>
                  </a:moveTo>
                  <a:lnTo>
                    <a:pt x="6069" y="124751"/>
                  </a:lnTo>
                  <a:lnTo>
                    <a:pt x="23198" y="84158"/>
                  </a:lnTo>
                  <a:lnTo>
                    <a:pt x="49768" y="49768"/>
                  </a:lnTo>
                  <a:lnTo>
                    <a:pt x="84158" y="23198"/>
                  </a:lnTo>
                  <a:lnTo>
                    <a:pt x="124751" y="6069"/>
                  </a:lnTo>
                  <a:lnTo>
                    <a:pt x="169925" y="0"/>
                  </a:lnTo>
                  <a:lnTo>
                    <a:pt x="2686050" y="0"/>
                  </a:lnTo>
                  <a:lnTo>
                    <a:pt x="2731224" y="6069"/>
                  </a:lnTo>
                  <a:lnTo>
                    <a:pt x="2771817" y="23198"/>
                  </a:lnTo>
                  <a:lnTo>
                    <a:pt x="2806207" y="49768"/>
                  </a:lnTo>
                  <a:lnTo>
                    <a:pt x="2832777" y="84158"/>
                  </a:lnTo>
                  <a:lnTo>
                    <a:pt x="2849906" y="124751"/>
                  </a:lnTo>
                  <a:lnTo>
                    <a:pt x="2855976" y="169925"/>
                  </a:lnTo>
                  <a:lnTo>
                    <a:pt x="2855976" y="849629"/>
                  </a:lnTo>
                  <a:lnTo>
                    <a:pt x="2849906" y="894804"/>
                  </a:lnTo>
                  <a:lnTo>
                    <a:pt x="2832777" y="935397"/>
                  </a:lnTo>
                  <a:lnTo>
                    <a:pt x="2806207" y="969787"/>
                  </a:lnTo>
                  <a:lnTo>
                    <a:pt x="2771817" y="996357"/>
                  </a:lnTo>
                  <a:lnTo>
                    <a:pt x="2731224" y="1013486"/>
                  </a:lnTo>
                  <a:lnTo>
                    <a:pt x="2686050" y="1019555"/>
                  </a:lnTo>
                  <a:lnTo>
                    <a:pt x="169925" y="1019555"/>
                  </a:lnTo>
                  <a:lnTo>
                    <a:pt x="124751" y="1013486"/>
                  </a:lnTo>
                  <a:lnTo>
                    <a:pt x="84158" y="996357"/>
                  </a:lnTo>
                  <a:lnTo>
                    <a:pt x="49768" y="969787"/>
                  </a:lnTo>
                  <a:lnTo>
                    <a:pt x="23198" y="935397"/>
                  </a:lnTo>
                  <a:lnTo>
                    <a:pt x="6069" y="894804"/>
                  </a:lnTo>
                  <a:lnTo>
                    <a:pt x="0" y="849629"/>
                  </a:lnTo>
                  <a:lnTo>
                    <a:pt x="0" y="169925"/>
                  </a:lnTo>
                  <a:close/>
                </a:path>
              </a:pathLst>
            </a:custGeom>
            <a:ln w="9144">
              <a:solidFill>
                <a:srgbClr val="97B853"/>
              </a:solidFill>
            </a:ln>
          </p:spPr>
          <p:txBody>
            <a:bodyPr wrap="square" lIns="0" tIns="0" rIns="0" bIns="0" rtlCol="0"/>
            <a:lstStyle/>
            <a:p>
              <a:endParaRPr/>
            </a:p>
          </p:txBody>
        </p:sp>
      </p:grpSp>
      <p:sp>
        <p:nvSpPr>
          <p:cNvPr id="13" name="object 13"/>
          <p:cNvSpPr txBox="1"/>
          <p:nvPr/>
        </p:nvSpPr>
        <p:spPr>
          <a:xfrm>
            <a:off x="6221341" y="1805176"/>
            <a:ext cx="1624330" cy="452120"/>
          </a:xfrm>
          <a:prstGeom prst="rect">
            <a:avLst/>
          </a:prstGeom>
        </p:spPr>
        <p:txBody>
          <a:bodyPr vert="horz" wrap="square" lIns="0" tIns="12065" rIns="0" bIns="0" rtlCol="0">
            <a:spAutoFit/>
          </a:bodyPr>
          <a:lstStyle/>
          <a:p>
            <a:pPr marL="12700">
              <a:lnSpc>
                <a:spcPct val="100000"/>
              </a:lnSpc>
              <a:spcBef>
                <a:spcPts val="95"/>
              </a:spcBef>
            </a:pPr>
            <a:r>
              <a:rPr sz="2800" b="1" spc="90" dirty="0">
                <a:solidFill>
                  <a:srgbClr val="FFFFFF"/>
                </a:solidFill>
                <a:latin typeface="Trebuchet MS"/>
                <a:cs typeface="Trebuchet MS"/>
              </a:rPr>
              <a:t>Database</a:t>
            </a:r>
            <a:endParaRPr sz="2800">
              <a:latin typeface="Trebuchet MS"/>
              <a:cs typeface="Trebuchet MS"/>
            </a:endParaRPr>
          </a:p>
        </p:txBody>
      </p:sp>
      <p:sp>
        <p:nvSpPr>
          <p:cNvPr id="14" name="object 14"/>
          <p:cNvSpPr txBox="1"/>
          <p:nvPr/>
        </p:nvSpPr>
        <p:spPr>
          <a:xfrm>
            <a:off x="5070720" y="2546360"/>
            <a:ext cx="973455" cy="452120"/>
          </a:xfrm>
          <a:prstGeom prst="rect">
            <a:avLst/>
          </a:prstGeom>
        </p:spPr>
        <p:txBody>
          <a:bodyPr vert="horz" wrap="square" lIns="0" tIns="12065" rIns="0" bIns="0" rtlCol="0">
            <a:spAutoFit/>
          </a:bodyPr>
          <a:lstStyle/>
          <a:p>
            <a:pPr marL="12700">
              <a:lnSpc>
                <a:spcPct val="100000"/>
              </a:lnSpc>
              <a:spcBef>
                <a:spcPts val="95"/>
              </a:spcBef>
            </a:pPr>
            <a:r>
              <a:rPr sz="2800" b="1" spc="35" dirty="0">
                <a:solidFill>
                  <a:srgbClr val="FFFFFF"/>
                </a:solidFill>
                <a:latin typeface="Trebuchet MS"/>
                <a:cs typeface="Trebuchet MS"/>
              </a:rPr>
              <a:t>Table</a:t>
            </a:r>
            <a:endParaRPr sz="2800" dirty="0">
              <a:latin typeface="Trebuchet MS"/>
              <a:cs typeface="Trebuchet MS"/>
            </a:endParaRPr>
          </a:p>
        </p:txBody>
      </p:sp>
      <p:sp>
        <p:nvSpPr>
          <p:cNvPr id="15" name="object 15"/>
          <p:cNvSpPr txBox="1"/>
          <p:nvPr/>
        </p:nvSpPr>
        <p:spPr>
          <a:xfrm>
            <a:off x="9019975" y="2545462"/>
            <a:ext cx="973455" cy="452120"/>
          </a:xfrm>
          <a:prstGeom prst="rect">
            <a:avLst/>
          </a:prstGeom>
        </p:spPr>
        <p:txBody>
          <a:bodyPr vert="horz" wrap="square" lIns="0" tIns="12065" rIns="0" bIns="0" rtlCol="0">
            <a:spAutoFit/>
          </a:bodyPr>
          <a:lstStyle/>
          <a:p>
            <a:pPr marL="12700">
              <a:lnSpc>
                <a:spcPct val="100000"/>
              </a:lnSpc>
              <a:spcBef>
                <a:spcPts val="95"/>
              </a:spcBef>
            </a:pPr>
            <a:r>
              <a:rPr sz="2800" b="1" spc="35" dirty="0">
                <a:solidFill>
                  <a:srgbClr val="FFFFFF"/>
                </a:solidFill>
                <a:latin typeface="Trebuchet MS"/>
                <a:cs typeface="Trebuchet MS"/>
              </a:rPr>
              <a:t>Table</a:t>
            </a:r>
            <a:endParaRPr sz="2800" dirty="0">
              <a:latin typeface="Trebuchet MS"/>
              <a:cs typeface="Trebuchet MS"/>
            </a:endParaRPr>
          </a:p>
        </p:txBody>
      </p:sp>
      <p:grpSp>
        <p:nvGrpSpPr>
          <p:cNvPr id="16" name="object 16"/>
          <p:cNvGrpSpPr/>
          <p:nvPr/>
        </p:nvGrpSpPr>
        <p:grpSpPr>
          <a:xfrm>
            <a:off x="8036044" y="3209543"/>
            <a:ext cx="2931160" cy="1812289"/>
            <a:chOff x="7100316" y="3727703"/>
            <a:chExt cx="2931160" cy="1812289"/>
          </a:xfrm>
        </p:grpSpPr>
        <p:sp>
          <p:nvSpPr>
            <p:cNvPr id="17" name="object 17"/>
            <p:cNvSpPr/>
            <p:nvPr/>
          </p:nvSpPr>
          <p:spPr>
            <a:xfrm>
              <a:off x="7100316" y="3727703"/>
              <a:ext cx="1484376" cy="1812036"/>
            </a:xfrm>
            <a:prstGeom prst="rect">
              <a:avLst/>
            </a:prstGeom>
            <a:blipFill>
              <a:blip r:embed="rId5" cstate="print"/>
              <a:stretch>
                <a:fillRect/>
              </a:stretch>
            </a:blipFill>
          </p:spPr>
          <p:txBody>
            <a:bodyPr wrap="square" lIns="0" tIns="0" rIns="0" bIns="0" rtlCol="0"/>
            <a:lstStyle/>
            <a:p>
              <a:endParaRPr/>
            </a:p>
          </p:txBody>
        </p:sp>
        <p:sp>
          <p:nvSpPr>
            <p:cNvPr id="18" name="object 18"/>
            <p:cNvSpPr/>
            <p:nvPr/>
          </p:nvSpPr>
          <p:spPr>
            <a:xfrm>
              <a:off x="7142988" y="3747515"/>
              <a:ext cx="1399540" cy="1727200"/>
            </a:xfrm>
            <a:custGeom>
              <a:avLst/>
              <a:gdLst/>
              <a:ahLst/>
              <a:cxnLst/>
              <a:rect l="l" t="t" r="r" b="b"/>
              <a:pathLst>
                <a:path w="1399540" h="1727200">
                  <a:moveTo>
                    <a:pt x="1165859" y="0"/>
                  </a:moveTo>
                  <a:lnTo>
                    <a:pt x="233171" y="0"/>
                  </a:lnTo>
                  <a:lnTo>
                    <a:pt x="186179" y="4737"/>
                  </a:lnTo>
                  <a:lnTo>
                    <a:pt x="142410" y="18323"/>
                  </a:lnTo>
                  <a:lnTo>
                    <a:pt x="102803" y="39821"/>
                  </a:lnTo>
                  <a:lnTo>
                    <a:pt x="68294" y="68294"/>
                  </a:lnTo>
                  <a:lnTo>
                    <a:pt x="39821" y="102803"/>
                  </a:lnTo>
                  <a:lnTo>
                    <a:pt x="18323" y="142410"/>
                  </a:lnTo>
                  <a:lnTo>
                    <a:pt x="4737" y="186179"/>
                  </a:lnTo>
                  <a:lnTo>
                    <a:pt x="0" y="233171"/>
                  </a:lnTo>
                  <a:lnTo>
                    <a:pt x="0" y="1493519"/>
                  </a:lnTo>
                  <a:lnTo>
                    <a:pt x="4737" y="1540512"/>
                  </a:lnTo>
                  <a:lnTo>
                    <a:pt x="18323" y="1584281"/>
                  </a:lnTo>
                  <a:lnTo>
                    <a:pt x="39821" y="1623888"/>
                  </a:lnTo>
                  <a:lnTo>
                    <a:pt x="68294" y="1658397"/>
                  </a:lnTo>
                  <a:lnTo>
                    <a:pt x="102803" y="1686870"/>
                  </a:lnTo>
                  <a:lnTo>
                    <a:pt x="142410" y="1708368"/>
                  </a:lnTo>
                  <a:lnTo>
                    <a:pt x="186179" y="1721954"/>
                  </a:lnTo>
                  <a:lnTo>
                    <a:pt x="233171" y="1726691"/>
                  </a:lnTo>
                  <a:lnTo>
                    <a:pt x="1165859" y="1726691"/>
                  </a:lnTo>
                  <a:lnTo>
                    <a:pt x="1212852" y="1721954"/>
                  </a:lnTo>
                  <a:lnTo>
                    <a:pt x="1256621" y="1708368"/>
                  </a:lnTo>
                  <a:lnTo>
                    <a:pt x="1296228" y="1686870"/>
                  </a:lnTo>
                  <a:lnTo>
                    <a:pt x="1330737" y="1658397"/>
                  </a:lnTo>
                  <a:lnTo>
                    <a:pt x="1359210" y="1623888"/>
                  </a:lnTo>
                  <a:lnTo>
                    <a:pt x="1380708" y="1584281"/>
                  </a:lnTo>
                  <a:lnTo>
                    <a:pt x="1394294" y="1540512"/>
                  </a:lnTo>
                  <a:lnTo>
                    <a:pt x="1399031" y="1493519"/>
                  </a:lnTo>
                  <a:lnTo>
                    <a:pt x="1399031" y="233171"/>
                  </a:lnTo>
                  <a:lnTo>
                    <a:pt x="1394294" y="186179"/>
                  </a:lnTo>
                  <a:lnTo>
                    <a:pt x="1380708" y="142410"/>
                  </a:lnTo>
                  <a:lnTo>
                    <a:pt x="1359210" y="102803"/>
                  </a:lnTo>
                  <a:lnTo>
                    <a:pt x="1330737" y="68294"/>
                  </a:lnTo>
                  <a:lnTo>
                    <a:pt x="1296228" y="39821"/>
                  </a:lnTo>
                  <a:lnTo>
                    <a:pt x="1256621" y="18323"/>
                  </a:lnTo>
                  <a:lnTo>
                    <a:pt x="1212852" y="4737"/>
                  </a:lnTo>
                  <a:lnTo>
                    <a:pt x="1165859" y="0"/>
                  </a:lnTo>
                  <a:close/>
                </a:path>
              </a:pathLst>
            </a:custGeom>
            <a:solidFill>
              <a:srgbClr val="1C849D"/>
            </a:solidFill>
          </p:spPr>
          <p:txBody>
            <a:bodyPr wrap="square" lIns="0" tIns="0" rIns="0" bIns="0" rtlCol="0"/>
            <a:lstStyle/>
            <a:p>
              <a:endParaRPr/>
            </a:p>
          </p:txBody>
        </p:sp>
        <p:sp>
          <p:nvSpPr>
            <p:cNvPr id="19" name="object 19"/>
            <p:cNvSpPr/>
            <p:nvPr/>
          </p:nvSpPr>
          <p:spPr>
            <a:xfrm>
              <a:off x="8641080" y="3744475"/>
              <a:ext cx="1389887" cy="1793732"/>
            </a:xfrm>
            <a:prstGeom prst="rect">
              <a:avLst/>
            </a:prstGeom>
            <a:blipFill>
              <a:blip r:embed="rId6" cstate="print"/>
              <a:stretch>
                <a:fillRect/>
              </a:stretch>
            </a:blipFill>
          </p:spPr>
          <p:txBody>
            <a:bodyPr wrap="square" lIns="0" tIns="0" rIns="0" bIns="0" rtlCol="0"/>
            <a:lstStyle/>
            <a:p>
              <a:endParaRPr/>
            </a:p>
          </p:txBody>
        </p:sp>
        <p:sp>
          <p:nvSpPr>
            <p:cNvPr id="20" name="object 20"/>
            <p:cNvSpPr/>
            <p:nvPr/>
          </p:nvSpPr>
          <p:spPr>
            <a:xfrm>
              <a:off x="8674608" y="3755135"/>
              <a:ext cx="1323340" cy="1727200"/>
            </a:xfrm>
            <a:custGeom>
              <a:avLst/>
              <a:gdLst/>
              <a:ahLst/>
              <a:cxnLst/>
              <a:rect l="l" t="t" r="r" b="b"/>
              <a:pathLst>
                <a:path w="1323340" h="1727200">
                  <a:moveTo>
                    <a:pt x="1102360" y="0"/>
                  </a:moveTo>
                  <a:lnTo>
                    <a:pt x="220472" y="0"/>
                  </a:lnTo>
                  <a:lnTo>
                    <a:pt x="176030" y="4477"/>
                  </a:lnTo>
                  <a:lnTo>
                    <a:pt x="134641" y="17321"/>
                  </a:lnTo>
                  <a:lnTo>
                    <a:pt x="97190" y="37645"/>
                  </a:lnTo>
                  <a:lnTo>
                    <a:pt x="64563" y="64563"/>
                  </a:lnTo>
                  <a:lnTo>
                    <a:pt x="37645" y="97190"/>
                  </a:lnTo>
                  <a:lnTo>
                    <a:pt x="17321" y="134641"/>
                  </a:lnTo>
                  <a:lnTo>
                    <a:pt x="4477" y="176030"/>
                  </a:lnTo>
                  <a:lnTo>
                    <a:pt x="0" y="220471"/>
                  </a:lnTo>
                  <a:lnTo>
                    <a:pt x="0" y="1506220"/>
                  </a:lnTo>
                  <a:lnTo>
                    <a:pt x="4477" y="1550661"/>
                  </a:lnTo>
                  <a:lnTo>
                    <a:pt x="17321" y="1592050"/>
                  </a:lnTo>
                  <a:lnTo>
                    <a:pt x="37645" y="1629501"/>
                  </a:lnTo>
                  <a:lnTo>
                    <a:pt x="64563" y="1662128"/>
                  </a:lnTo>
                  <a:lnTo>
                    <a:pt x="97190" y="1689046"/>
                  </a:lnTo>
                  <a:lnTo>
                    <a:pt x="134641" y="1709370"/>
                  </a:lnTo>
                  <a:lnTo>
                    <a:pt x="176030" y="1722214"/>
                  </a:lnTo>
                  <a:lnTo>
                    <a:pt x="220472" y="1726691"/>
                  </a:lnTo>
                  <a:lnTo>
                    <a:pt x="1102360" y="1726691"/>
                  </a:lnTo>
                  <a:lnTo>
                    <a:pt x="1146801" y="1722214"/>
                  </a:lnTo>
                  <a:lnTo>
                    <a:pt x="1188190" y="1709370"/>
                  </a:lnTo>
                  <a:lnTo>
                    <a:pt x="1225641" y="1689046"/>
                  </a:lnTo>
                  <a:lnTo>
                    <a:pt x="1258268" y="1662128"/>
                  </a:lnTo>
                  <a:lnTo>
                    <a:pt x="1285186" y="1629501"/>
                  </a:lnTo>
                  <a:lnTo>
                    <a:pt x="1305510" y="1592050"/>
                  </a:lnTo>
                  <a:lnTo>
                    <a:pt x="1318354" y="1550661"/>
                  </a:lnTo>
                  <a:lnTo>
                    <a:pt x="1322832" y="1506220"/>
                  </a:lnTo>
                  <a:lnTo>
                    <a:pt x="1322832" y="220471"/>
                  </a:lnTo>
                  <a:lnTo>
                    <a:pt x="1318354" y="176030"/>
                  </a:lnTo>
                  <a:lnTo>
                    <a:pt x="1305510" y="134641"/>
                  </a:lnTo>
                  <a:lnTo>
                    <a:pt x="1285186" y="97190"/>
                  </a:lnTo>
                  <a:lnTo>
                    <a:pt x="1258268" y="64563"/>
                  </a:lnTo>
                  <a:lnTo>
                    <a:pt x="1225641" y="37645"/>
                  </a:lnTo>
                  <a:lnTo>
                    <a:pt x="1188190" y="17321"/>
                  </a:lnTo>
                  <a:lnTo>
                    <a:pt x="1146801" y="4477"/>
                  </a:lnTo>
                  <a:lnTo>
                    <a:pt x="1102360" y="0"/>
                  </a:lnTo>
                  <a:close/>
                </a:path>
              </a:pathLst>
            </a:custGeom>
            <a:solidFill>
              <a:srgbClr val="1C849D"/>
            </a:solidFill>
          </p:spPr>
          <p:txBody>
            <a:bodyPr wrap="square" lIns="0" tIns="0" rIns="0" bIns="0" rtlCol="0"/>
            <a:lstStyle/>
            <a:p>
              <a:endParaRPr/>
            </a:p>
          </p:txBody>
        </p:sp>
      </p:grpSp>
      <p:sp>
        <p:nvSpPr>
          <p:cNvPr id="21" name="object 21"/>
          <p:cNvSpPr txBox="1"/>
          <p:nvPr/>
        </p:nvSpPr>
        <p:spPr>
          <a:xfrm>
            <a:off x="8338811" y="3895724"/>
            <a:ext cx="880110" cy="574040"/>
          </a:xfrm>
          <a:prstGeom prst="rect">
            <a:avLst/>
          </a:prstGeom>
        </p:spPr>
        <p:txBody>
          <a:bodyPr vert="horz" wrap="square" lIns="0" tIns="12700" rIns="0" bIns="0" rtlCol="0">
            <a:spAutoFit/>
          </a:bodyPr>
          <a:lstStyle/>
          <a:p>
            <a:pPr marL="190500" marR="5080" indent="-178435">
              <a:lnSpc>
                <a:spcPct val="100000"/>
              </a:lnSpc>
              <a:spcBef>
                <a:spcPts val="100"/>
              </a:spcBef>
            </a:pPr>
            <a:r>
              <a:rPr sz="1800" b="1" spc="80" dirty="0">
                <a:solidFill>
                  <a:srgbClr val="FFFFFF"/>
                </a:solidFill>
                <a:latin typeface="Trebuchet MS"/>
                <a:cs typeface="Trebuchet MS"/>
              </a:rPr>
              <a:t>S</a:t>
            </a:r>
            <a:r>
              <a:rPr sz="1800" b="1" spc="35" dirty="0">
                <a:solidFill>
                  <a:srgbClr val="FFFFFF"/>
                </a:solidFill>
                <a:latin typeface="Trebuchet MS"/>
                <a:cs typeface="Trebuchet MS"/>
              </a:rPr>
              <a:t>kewed  </a:t>
            </a:r>
            <a:r>
              <a:rPr sz="1800" b="1" spc="55" dirty="0">
                <a:solidFill>
                  <a:srgbClr val="FFFFFF"/>
                </a:solidFill>
                <a:latin typeface="Trebuchet MS"/>
                <a:cs typeface="Trebuchet MS"/>
              </a:rPr>
              <a:t>data</a:t>
            </a:r>
            <a:endParaRPr sz="1800">
              <a:latin typeface="Trebuchet MS"/>
              <a:cs typeface="Trebuchet MS"/>
            </a:endParaRPr>
          </a:p>
        </p:txBody>
      </p:sp>
      <p:grpSp>
        <p:nvGrpSpPr>
          <p:cNvPr id="22" name="object 22"/>
          <p:cNvGrpSpPr/>
          <p:nvPr/>
        </p:nvGrpSpPr>
        <p:grpSpPr>
          <a:xfrm>
            <a:off x="5137395" y="3209543"/>
            <a:ext cx="913130" cy="1812289"/>
            <a:chOff x="4201667" y="3727703"/>
            <a:chExt cx="913130" cy="1812289"/>
          </a:xfrm>
        </p:grpSpPr>
        <p:sp>
          <p:nvSpPr>
            <p:cNvPr id="23" name="object 23"/>
            <p:cNvSpPr/>
            <p:nvPr/>
          </p:nvSpPr>
          <p:spPr>
            <a:xfrm>
              <a:off x="4201667" y="3727703"/>
              <a:ext cx="912876" cy="1812036"/>
            </a:xfrm>
            <a:prstGeom prst="rect">
              <a:avLst/>
            </a:prstGeom>
            <a:blipFill>
              <a:blip r:embed="rId7" cstate="print"/>
              <a:stretch>
                <a:fillRect/>
              </a:stretch>
            </a:blipFill>
          </p:spPr>
          <p:txBody>
            <a:bodyPr wrap="square" lIns="0" tIns="0" rIns="0" bIns="0" rtlCol="0"/>
            <a:lstStyle/>
            <a:p>
              <a:endParaRPr/>
            </a:p>
          </p:txBody>
        </p:sp>
        <p:sp>
          <p:nvSpPr>
            <p:cNvPr id="24" name="object 24"/>
            <p:cNvSpPr/>
            <p:nvPr/>
          </p:nvSpPr>
          <p:spPr>
            <a:xfrm>
              <a:off x="4244339" y="3747515"/>
              <a:ext cx="828040" cy="1727200"/>
            </a:xfrm>
            <a:custGeom>
              <a:avLst/>
              <a:gdLst/>
              <a:ahLst/>
              <a:cxnLst/>
              <a:rect l="l" t="t" r="r" b="b"/>
              <a:pathLst>
                <a:path w="828039" h="1727200">
                  <a:moveTo>
                    <a:pt x="689610" y="0"/>
                  </a:moveTo>
                  <a:lnTo>
                    <a:pt x="137922" y="0"/>
                  </a:lnTo>
                  <a:lnTo>
                    <a:pt x="94317" y="7028"/>
                  </a:lnTo>
                  <a:lnTo>
                    <a:pt x="56455" y="26602"/>
                  </a:lnTo>
                  <a:lnTo>
                    <a:pt x="26602" y="56455"/>
                  </a:lnTo>
                  <a:lnTo>
                    <a:pt x="7028" y="94317"/>
                  </a:lnTo>
                  <a:lnTo>
                    <a:pt x="0" y="137921"/>
                  </a:lnTo>
                  <a:lnTo>
                    <a:pt x="0" y="1588769"/>
                  </a:lnTo>
                  <a:lnTo>
                    <a:pt x="7028" y="1632374"/>
                  </a:lnTo>
                  <a:lnTo>
                    <a:pt x="26602" y="1670236"/>
                  </a:lnTo>
                  <a:lnTo>
                    <a:pt x="56455" y="1700089"/>
                  </a:lnTo>
                  <a:lnTo>
                    <a:pt x="94317" y="1719663"/>
                  </a:lnTo>
                  <a:lnTo>
                    <a:pt x="137922" y="1726691"/>
                  </a:lnTo>
                  <a:lnTo>
                    <a:pt x="689610" y="1726691"/>
                  </a:lnTo>
                  <a:lnTo>
                    <a:pt x="733214" y="1719663"/>
                  </a:lnTo>
                  <a:lnTo>
                    <a:pt x="771076" y="1700089"/>
                  </a:lnTo>
                  <a:lnTo>
                    <a:pt x="800929" y="1670236"/>
                  </a:lnTo>
                  <a:lnTo>
                    <a:pt x="820503" y="1632374"/>
                  </a:lnTo>
                  <a:lnTo>
                    <a:pt x="827532" y="1588769"/>
                  </a:lnTo>
                  <a:lnTo>
                    <a:pt x="827532" y="137921"/>
                  </a:lnTo>
                  <a:lnTo>
                    <a:pt x="820503" y="94317"/>
                  </a:lnTo>
                  <a:lnTo>
                    <a:pt x="800929" y="56455"/>
                  </a:lnTo>
                  <a:lnTo>
                    <a:pt x="771076" y="26602"/>
                  </a:lnTo>
                  <a:lnTo>
                    <a:pt x="733214" y="7028"/>
                  </a:lnTo>
                  <a:lnTo>
                    <a:pt x="689610" y="0"/>
                  </a:lnTo>
                  <a:close/>
                </a:path>
              </a:pathLst>
            </a:custGeom>
            <a:solidFill>
              <a:srgbClr val="1C849D"/>
            </a:solidFill>
          </p:spPr>
          <p:txBody>
            <a:bodyPr wrap="square" lIns="0" tIns="0" rIns="0" bIns="0" rtlCol="0"/>
            <a:lstStyle/>
            <a:p>
              <a:endParaRPr/>
            </a:p>
          </p:txBody>
        </p:sp>
      </p:grpSp>
      <p:sp>
        <p:nvSpPr>
          <p:cNvPr id="25" name="object 25"/>
          <p:cNvSpPr txBox="1"/>
          <p:nvPr/>
        </p:nvSpPr>
        <p:spPr>
          <a:xfrm>
            <a:off x="5149080" y="3954525"/>
            <a:ext cx="880744" cy="269240"/>
          </a:xfrm>
          <a:prstGeom prst="rect">
            <a:avLst/>
          </a:prstGeom>
        </p:spPr>
        <p:txBody>
          <a:bodyPr vert="horz" wrap="square" lIns="0" tIns="12065" rIns="0" bIns="0" rtlCol="0">
            <a:spAutoFit/>
          </a:bodyPr>
          <a:lstStyle/>
          <a:p>
            <a:pPr marL="12700">
              <a:lnSpc>
                <a:spcPct val="100000"/>
              </a:lnSpc>
              <a:spcBef>
                <a:spcPts val="95"/>
              </a:spcBef>
            </a:pPr>
            <a:r>
              <a:rPr sz="1600" b="1" spc="15" dirty="0">
                <a:solidFill>
                  <a:srgbClr val="FFFFFF"/>
                </a:solidFill>
                <a:latin typeface="Trebuchet MS"/>
                <a:cs typeface="Trebuchet MS"/>
              </a:rPr>
              <a:t>Partition</a:t>
            </a:r>
            <a:endParaRPr sz="1600">
              <a:latin typeface="Trebuchet MS"/>
              <a:cs typeface="Trebuchet MS"/>
            </a:endParaRPr>
          </a:p>
        </p:txBody>
      </p:sp>
      <p:grpSp>
        <p:nvGrpSpPr>
          <p:cNvPr id="26" name="object 26"/>
          <p:cNvGrpSpPr/>
          <p:nvPr/>
        </p:nvGrpSpPr>
        <p:grpSpPr>
          <a:xfrm>
            <a:off x="6076180" y="3209543"/>
            <a:ext cx="1912620" cy="897890"/>
            <a:chOff x="5140452" y="3727703"/>
            <a:chExt cx="1912620" cy="897890"/>
          </a:xfrm>
        </p:grpSpPr>
        <p:sp>
          <p:nvSpPr>
            <p:cNvPr id="27" name="object 27"/>
            <p:cNvSpPr/>
            <p:nvPr/>
          </p:nvSpPr>
          <p:spPr>
            <a:xfrm>
              <a:off x="5140452" y="3727703"/>
              <a:ext cx="1912620" cy="897636"/>
            </a:xfrm>
            <a:prstGeom prst="rect">
              <a:avLst/>
            </a:prstGeom>
            <a:blipFill>
              <a:blip r:embed="rId8" cstate="print"/>
              <a:stretch>
                <a:fillRect/>
              </a:stretch>
            </a:blipFill>
          </p:spPr>
          <p:txBody>
            <a:bodyPr wrap="square" lIns="0" tIns="0" rIns="0" bIns="0" rtlCol="0"/>
            <a:lstStyle/>
            <a:p>
              <a:endParaRPr/>
            </a:p>
          </p:txBody>
        </p:sp>
        <p:sp>
          <p:nvSpPr>
            <p:cNvPr id="28" name="object 28"/>
            <p:cNvSpPr/>
            <p:nvPr/>
          </p:nvSpPr>
          <p:spPr>
            <a:xfrm>
              <a:off x="5183124" y="3747515"/>
              <a:ext cx="1827530" cy="812800"/>
            </a:xfrm>
            <a:custGeom>
              <a:avLst/>
              <a:gdLst/>
              <a:ahLst/>
              <a:cxnLst/>
              <a:rect l="l" t="t" r="r" b="b"/>
              <a:pathLst>
                <a:path w="1827529" h="812800">
                  <a:moveTo>
                    <a:pt x="1691894" y="0"/>
                  </a:moveTo>
                  <a:lnTo>
                    <a:pt x="135381" y="0"/>
                  </a:lnTo>
                  <a:lnTo>
                    <a:pt x="92577" y="6898"/>
                  </a:lnTo>
                  <a:lnTo>
                    <a:pt x="55412" y="26111"/>
                  </a:lnTo>
                  <a:lnTo>
                    <a:pt x="26111" y="55412"/>
                  </a:lnTo>
                  <a:lnTo>
                    <a:pt x="6898" y="92577"/>
                  </a:lnTo>
                  <a:lnTo>
                    <a:pt x="0" y="135381"/>
                  </a:lnTo>
                  <a:lnTo>
                    <a:pt x="0" y="676909"/>
                  </a:lnTo>
                  <a:lnTo>
                    <a:pt x="6898" y="719714"/>
                  </a:lnTo>
                  <a:lnTo>
                    <a:pt x="26111" y="756879"/>
                  </a:lnTo>
                  <a:lnTo>
                    <a:pt x="55412" y="786180"/>
                  </a:lnTo>
                  <a:lnTo>
                    <a:pt x="92577" y="805393"/>
                  </a:lnTo>
                  <a:lnTo>
                    <a:pt x="135381" y="812291"/>
                  </a:lnTo>
                  <a:lnTo>
                    <a:pt x="1691894" y="812291"/>
                  </a:lnTo>
                  <a:lnTo>
                    <a:pt x="1734698" y="805393"/>
                  </a:lnTo>
                  <a:lnTo>
                    <a:pt x="1771863" y="786180"/>
                  </a:lnTo>
                  <a:lnTo>
                    <a:pt x="1801164" y="756879"/>
                  </a:lnTo>
                  <a:lnTo>
                    <a:pt x="1820377" y="719714"/>
                  </a:lnTo>
                  <a:lnTo>
                    <a:pt x="1827276" y="676909"/>
                  </a:lnTo>
                  <a:lnTo>
                    <a:pt x="1827276" y="135381"/>
                  </a:lnTo>
                  <a:lnTo>
                    <a:pt x="1820377" y="92577"/>
                  </a:lnTo>
                  <a:lnTo>
                    <a:pt x="1801164" y="55412"/>
                  </a:lnTo>
                  <a:lnTo>
                    <a:pt x="1771863" y="26111"/>
                  </a:lnTo>
                  <a:lnTo>
                    <a:pt x="1734698" y="6898"/>
                  </a:lnTo>
                  <a:lnTo>
                    <a:pt x="1691894" y="0"/>
                  </a:lnTo>
                  <a:close/>
                </a:path>
              </a:pathLst>
            </a:custGeom>
            <a:solidFill>
              <a:srgbClr val="1C849D"/>
            </a:solidFill>
          </p:spPr>
          <p:txBody>
            <a:bodyPr wrap="square" lIns="0" tIns="0" rIns="0" bIns="0" rtlCol="0"/>
            <a:lstStyle/>
            <a:p>
              <a:endParaRPr/>
            </a:p>
          </p:txBody>
        </p:sp>
      </p:grpSp>
      <p:sp>
        <p:nvSpPr>
          <p:cNvPr id="29" name="object 29"/>
          <p:cNvSpPr txBox="1"/>
          <p:nvPr/>
        </p:nvSpPr>
        <p:spPr>
          <a:xfrm>
            <a:off x="6478897" y="3405632"/>
            <a:ext cx="989965" cy="299720"/>
          </a:xfrm>
          <a:prstGeom prst="rect">
            <a:avLst/>
          </a:prstGeom>
        </p:spPr>
        <p:txBody>
          <a:bodyPr vert="horz" wrap="square" lIns="0" tIns="12700" rIns="0" bIns="0" rtlCol="0">
            <a:spAutoFit/>
          </a:bodyPr>
          <a:lstStyle/>
          <a:p>
            <a:pPr marL="12700">
              <a:lnSpc>
                <a:spcPct val="100000"/>
              </a:lnSpc>
              <a:spcBef>
                <a:spcPts val="100"/>
              </a:spcBef>
            </a:pPr>
            <a:r>
              <a:rPr sz="1800" b="1" spc="20" dirty="0">
                <a:solidFill>
                  <a:srgbClr val="FFFFFF"/>
                </a:solidFill>
                <a:latin typeface="Trebuchet MS"/>
                <a:cs typeface="Trebuchet MS"/>
              </a:rPr>
              <a:t>Partition</a:t>
            </a:r>
            <a:endParaRPr sz="1800">
              <a:latin typeface="Trebuchet MS"/>
              <a:cs typeface="Trebuchet MS"/>
            </a:endParaRPr>
          </a:p>
        </p:txBody>
      </p:sp>
      <p:sp>
        <p:nvSpPr>
          <p:cNvPr id="30" name="object 30"/>
          <p:cNvSpPr/>
          <p:nvPr/>
        </p:nvSpPr>
        <p:spPr>
          <a:xfrm>
            <a:off x="3098310" y="3226315"/>
            <a:ext cx="1017978" cy="1793732"/>
          </a:xfrm>
          <a:prstGeom prst="rect">
            <a:avLst/>
          </a:prstGeom>
          <a:blipFill>
            <a:blip r:embed="rId9" cstate="print"/>
            <a:stretch>
              <a:fillRect/>
            </a:stretch>
          </a:blipFill>
        </p:spPr>
        <p:txBody>
          <a:bodyPr wrap="square" lIns="0" tIns="0" rIns="0" bIns="0" rtlCol="0"/>
          <a:lstStyle/>
          <a:p>
            <a:endParaRPr/>
          </a:p>
        </p:txBody>
      </p:sp>
      <p:sp>
        <p:nvSpPr>
          <p:cNvPr id="31" name="object 31"/>
          <p:cNvSpPr txBox="1"/>
          <p:nvPr/>
        </p:nvSpPr>
        <p:spPr>
          <a:xfrm>
            <a:off x="3131811" y="3236975"/>
            <a:ext cx="951230" cy="1727200"/>
          </a:xfrm>
          <a:prstGeom prst="rect">
            <a:avLst/>
          </a:prstGeom>
          <a:solidFill>
            <a:srgbClr val="125769"/>
          </a:solidFill>
        </p:spPr>
        <p:txBody>
          <a:bodyPr vert="horz" wrap="square" lIns="0" tIns="0" rIns="0" bIns="0" rtlCol="0">
            <a:spAutoFit/>
          </a:bodyPr>
          <a:lstStyle/>
          <a:p>
            <a:pPr>
              <a:lnSpc>
                <a:spcPct val="100000"/>
              </a:lnSpc>
            </a:pPr>
            <a:endParaRPr sz="2100">
              <a:latin typeface="Times New Roman"/>
              <a:cs typeface="Times New Roman"/>
            </a:endParaRPr>
          </a:p>
          <a:p>
            <a:pPr>
              <a:lnSpc>
                <a:spcPct val="100000"/>
              </a:lnSpc>
              <a:spcBef>
                <a:spcPts val="10"/>
              </a:spcBef>
            </a:pPr>
            <a:endParaRPr sz="2650">
              <a:latin typeface="Times New Roman"/>
              <a:cs typeface="Times New Roman"/>
            </a:endParaRPr>
          </a:p>
          <a:p>
            <a:pPr marL="99695">
              <a:lnSpc>
                <a:spcPct val="100000"/>
              </a:lnSpc>
            </a:pPr>
            <a:r>
              <a:rPr sz="1800" b="1" spc="20" dirty="0">
                <a:solidFill>
                  <a:srgbClr val="FFFFFF"/>
                </a:solidFill>
                <a:latin typeface="Trebuchet MS"/>
                <a:cs typeface="Trebuchet MS"/>
              </a:rPr>
              <a:t>Bucket</a:t>
            </a:r>
            <a:endParaRPr sz="1800">
              <a:latin typeface="Trebuchet MS"/>
              <a:cs typeface="Trebuchet MS"/>
            </a:endParaRPr>
          </a:p>
        </p:txBody>
      </p:sp>
      <p:sp>
        <p:nvSpPr>
          <p:cNvPr id="32" name="object 32"/>
          <p:cNvSpPr/>
          <p:nvPr/>
        </p:nvSpPr>
        <p:spPr>
          <a:xfrm>
            <a:off x="4136128" y="3217163"/>
            <a:ext cx="1007363" cy="1812036"/>
          </a:xfrm>
          <a:prstGeom prst="rect">
            <a:avLst/>
          </a:prstGeom>
          <a:blipFill>
            <a:blip r:embed="rId10" cstate="print"/>
            <a:stretch>
              <a:fillRect/>
            </a:stretch>
          </a:blipFill>
        </p:spPr>
        <p:txBody>
          <a:bodyPr wrap="square" lIns="0" tIns="0" rIns="0" bIns="0" rtlCol="0"/>
          <a:lstStyle/>
          <a:p>
            <a:endParaRPr/>
          </a:p>
        </p:txBody>
      </p:sp>
      <p:sp>
        <p:nvSpPr>
          <p:cNvPr id="33" name="object 33"/>
          <p:cNvSpPr txBox="1"/>
          <p:nvPr/>
        </p:nvSpPr>
        <p:spPr>
          <a:xfrm>
            <a:off x="4178800" y="3236975"/>
            <a:ext cx="922019" cy="1727200"/>
          </a:xfrm>
          <a:prstGeom prst="rect">
            <a:avLst/>
          </a:prstGeom>
          <a:solidFill>
            <a:srgbClr val="125769"/>
          </a:solidFill>
        </p:spPr>
        <p:txBody>
          <a:bodyPr vert="horz" wrap="square" lIns="0" tIns="0" rIns="0" bIns="0" rtlCol="0">
            <a:spAutoFit/>
          </a:bodyPr>
          <a:lstStyle/>
          <a:p>
            <a:pPr>
              <a:lnSpc>
                <a:spcPct val="100000"/>
              </a:lnSpc>
            </a:pPr>
            <a:endParaRPr sz="2100">
              <a:latin typeface="Times New Roman"/>
              <a:cs typeface="Times New Roman"/>
            </a:endParaRPr>
          </a:p>
          <a:p>
            <a:pPr>
              <a:lnSpc>
                <a:spcPct val="100000"/>
              </a:lnSpc>
              <a:spcBef>
                <a:spcPts val="10"/>
              </a:spcBef>
            </a:pPr>
            <a:endParaRPr sz="2650">
              <a:latin typeface="Times New Roman"/>
              <a:cs typeface="Times New Roman"/>
            </a:endParaRPr>
          </a:p>
          <a:p>
            <a:pPr marL="47625">
              <a:lnSpc>
                <a:spcPct val="100000"/>
              </a:lnSpc>
            </a:pPr>
            <a:r>
              <a:rPr sz="1800" b="1" spc="20" dirty="0">
                <a:solidFill>
                  <a:srgbClr val="FFFFFF"/>
                </a:solidFill>
                <a:latin typeface="Trebuchet MS"/>
                <a:cs typeface="Trebuchet MS"/>
              </a:rPr>
              <a:t>Bucket</a:t>
            </a:r>
            <a:endParaRPr sz="1800">
              <a:latin typeface="Trebuchet MS"/>
              <a:cs typeface="Trebuchet MS"/>
            </a:endParaRPr>
          </a:p>
        </p:txBody>
      </p:sp>
      <p:sp>
        <p:nvSpPr>
          <p:cNvPr id="34" name="object 34"/>
          <p:cNvSpPr/>
          <p:nvPr/>
        </p:nvSpPr>
        <p:spPr>
          <a:xfrm>
            <a:off x="6044175" y="4079748"/>
            <a:ext cx="981455" cy="949452"/>
          </a:xfrm>
          <a:prstGeom prst="rect">
            <a:avLst/>
          </a:prstGeom>
          <a:blipFill>
            <a:blip r:embed="rId11" cstate="print"/>
            <a:stretch>
              <a:fillRect/>
            </a:stretch>
          </a:blipFill>
        </p:spPr>
        <p:txBody>
          <a:bodyPr wrap="square" lIns="0" tIns="0" rIns="0" bIns="0" rtlCol="0"/>
          <a:lstStyle/>
          <a:p>
            <a:endParaRPr/>
          </a:p>
        </p:txBody>
      </p:sp>
      <p:sp>
        <p:nvSpPr>
          <p:cNvPr id="35" name="object 35"/>
          <p:cNvSpPr txBox="1"/>
          <p:nvPr/>
        </p:nvSpPr>
        <p:spPr>
          <a:xfrm>
            <a:off x="6086848" y="4099560"/>
            <a:ext cx="896619" cy="864235"/>
          </a:xfrm>
          <a:prstGeom prst="rect">
            <a:avLst/>
          </a:prstGeom>
          <a:solidFill>
            <a:srgbClr val="125769"/>
          </a:solidFill>
        </p:spPr>
        <p:txBody>
          <a:bodyPr vert="horz" wrap="square" lIns="0" tIns="4445" rIns="0" bIns="0" rtlCol="0">
            <a:spAutoFit/>
          </a:bodyPr>
          <a:lstStyle/>
          <a:p>
            <a:pPr>
              <a:lnSpc>
                <a:spcPct val="100000"/>
              </a:lnSpc>
              <a:spcBef>
                <a:spcPts val="35"/>
              </a:spcBef>
            </a:pPr>
            <a:endParaRPr sz="2500">
              <a:latin typeface="Times New Roman"/>
              <a:cs typeface="Times New Roman"/>
            </a:endParaRPr>
          </a:p>
          <a:p>
            <a:pPr marL="33020">
              <a:lnSpc>
                <a:spcPct val="100000"/>
              </a:lnSpc>
              <a:spcBef>
                <a:spcPts val="5"/>
              </a:spcBef>
            </a:pPr>
            <a:r>
              <a:rPr sz="1800" b="1" spc="20" dirty="0">
                <a:solidFill>
                  <a:srgbClr val="FFFFFF"/>
                </a:solidFill>
                <a:latin typeface="Trebuchet MS"/>
                <a:cs typeface="Trebuchet MS"/>
              </a:rPr>
              <a:t>Bucket</a:t>
            </a:r>
            <a:endParaRPr sz="1800">
              <a:latin typeface="Trebuchet MS"/>
              <a:cs typeface="Trebuchet MS"/>
            </a:endParaRPr>
          </a:p>
        </p:txBody>
      </p:sp>
      <p:sp>
        <p:nvSpPr>
          <p:cNvPr id="36" name="object 36"/>
          <p:cNvSpPr/>
          <p:nvPr/>
        </p:nvSpPr>
        <p:spPr>
          <a:xfrm>
            <a:off x="7011916" y="4079748"/>
            <a:ext cx="996695" cy="949452"/>
          </a:xfrm>
          <a:prstGeom prst="rect">
            <a:avLst/>
          </a:prstGeom>
          <a:blipFill>
            <a:blip r:embed="rId12" cstate="print"/>
            <a:stretch>
              <a:fillRect/>
            </a:stretch>
          </a:blipFill>
        </p:spPr>
        <p:txBody>
          <a:bodyPr wrap="square" lIns="0" tIns="0" rIns="0" bIns="0" rtlCol="0"/>
          <a:lstStyle/>
          <a:p>
            <a:endParaRPr/>
          </a:p>
        </p:txBody>
      </p:sp>
      <p:sp>
        <p:nvSpPr>
          <p:cNvPr id="37" name="object 37"/>
          <p:cNvSpPr txBox="1"/>
          <p:nvPr/>
        </p:nvSpPr>
        <p:spPr>
          <a:xfrm>
            <a:off x="7054587" y="4099560"/>
            <a:ext cx="911860" cy="864235"/>
          </a:xfrm>
          <a:prstGeom prst="rect">
            <a:avLst/>
          </a:prstGeom>
          <a:solidFill>
            <a:srgbClr val="125769"/>
          </a:solidFill>
        </p:spPr>
        <p:txBody>
          <a:bodyPr vert="horz" wrap="square" lIns="0" tIns="4445" rIns="0" bIns="0" rtlCol="0">
            <a:spAutoFit/>
          </a:bodyPr>
          <a:lstStyle/>
          <a:p>
            <a:pPr>
              <a:lnSpc>
                <a:spcPct val="100000"/>
              </a:lnSpc>
              <a:spcBef>
                <a:spcPts val="35"/>
              </a:spcBef>
            </a:pPr>
            <a:endParaRPr sz="2500">
              <a:latin typeface="Times New Roman"/>
              <a:cs typeface="Times New Roman"/>
            </a:endParaRPr>
          </a:p>
          <a:p>
            <a:pPr marL="43815">
              <a:lnSpc>
                <a:spcPct val="100000"/>
              </a:lnSpc>
              <a:spcBef>
                <a:spcPts val="5"/>
              </a:spcBef>
            </a:pPr>
            <a:r>
              <a:rPr sz="1800" b="1" spc="20" dirty="0">
                <a:solidFill>
                  <a:srgbClr val="FFFFFF"/>
                </a:solidFill>
                <a:latin typeface="Trebuchet MS"/>
                <a:cs typeface="Trebuchet MS"/>
              </a:rPr>
              <a:t>Bucket</a:t>
            </a:r>
            <a:endParaRPr sz="1800">
              <a:latin typeface="Trebuchet MS"/>
              <a:cs typeface="Trebuchet MS"/>
            </a:endParaRPr>
          </a:p>
        </p:txBody>
      </p:sp>
      <p:sp>
        <p:nvSpPr>
          <p:cNvPr id="38" name="object 38"/>
          <p:cNvSpPr txBox="1"/>
          <p:nvPr/>
        </p:nvSpPr>
        <p:spPr>
          <a:xfrm>
            <a:off x="9843254" y="3914089"/>
            <a:ext cx="857250" cy="574675"/>
          </a:xfrm>
          <a:prstGeom prst="rect">
            <a:avLst/>
          </a:prstGeom>
        </p:spPr>
        <p:txBody>
          <a:bodyPr vert="horz" wrap="square" lIns="0" tIns="12700" rIns="0" bIns="0" rtlCol="0">
            <a:spAutoFit/>
          </a:bodyPr>
          <a:lstStyle/>
          <a:p>
            <a:pPr algn="ctr">
              <a:lnSpc>
                <a:spcPct val="100000"/>
              </a:lnSpc>
              <a:spcBef>
                <a:spcPts val="100"/>
              </a:spcBef>
            </a:pPr>
            <a:r>
              <a:rPr sz="1800" b="1" spc="80" dirty="0">
                <a:solidFill>
                  <a:srgbClr val="FFFFFF"/>
                </a:solidFill>
                <a:latin typeface="Trebuchet MS"/>
                <a:cs typeface="Trebuchet MS"/>
              </a:rPr>
              <a:t>Normal</a:t>
            </a:r>
            <a:endParaRPr sz="1800">
              <a:latin typeface="Trebuchet MS"/>
              <a:cs typeface="Trebuchet MS"/>
            </a:endParaRPr>
          </a:p>
          <a:p>
            <a:pPr marL="635" algn="ctr">
              <a:lnSpc>
                <a:spcPct val="100000"/>
              </a:lnSpc>
              <a:spcBef>
                <a:spcPts val="5"/>
              </a:spcBef>
            </a:pPr>
            <a:r>
              <a:rPr sz="1800" b="1" spc="55" dirty="0">
                <a:solidFill>
                  <a:srgbClr val="FFFFFF"/>
                </a:solidFill>
                <a:latin typeface="Trebuchet MS"/>
                <a:cs typeface="Trebuchet MS"/>
              </a:rPr>
              <a:t>data</a:t>
            </a:r>
            <a:endParaRPr sz="1800">
              <a:latin typeface="Trebuchet MS"/>
              <a:cs typeface="Trebuchet MS"/>
            </a:endParaRPr>
          </a:p>
        </p:txBody>
      </p:sp>
      <p:sp>
        <p:nvSpPr>
          <p:cNvPr id="40" name="object 2"/>
          <p:cNvSpPr txBox="1"/>
          <p:nvPr/>
        </p:nvSpPr>
        <p:spPr>
          <a:xfrm>
            <a:off x="537048" y="5477176"/>
            <a:ext cx="11368585" cy="1240244"/>
          </a:xfrm>
          <a:prstGeom prst="rect">
            <a:avLst/>
          </a:prstGeom>
        </p:spPr>
        <p:txBody>
          <a:bodyPr vert="horz" wrap="square" lIns="0" tIns="9049" rIns="0" bIns="0" rtlCol="0">
            <a:spAutoFit/>
          </a:bodyPr>
          <a:lstStyle/>
          <a:p>
            <a:pPr marL="138113" marR="3810" indent="-128588">
              <a:spcBef>
                <a:spcPts val="71"/>
              </a:spcBef>
              <a:buFont typeface="Wingdings"/>
              <a:buChar char=""/>
              <a:tabLst>
                <a:tab pos="138113" algn="l"/>
              </a:tabLst>
            </a:pPr>
            <a:r>
              <a:rPr sz="2000" spc="19" dirty="0">
                <a:latin typeface="UKIJ CJK"/>
                <a:cs typeface="UKIJ CJK"/>
              </a:rPr>
              <a:t>Database: </a:t>
            </a:r>
            <a:r>
              <a:rPr sz="2000" spc="-15" dirty="0">
                <a:latin typeface="UKIJ CJK"/>
                <a:cs typeface="UKIJ CJK"/>
              </a:rPr>
              <a:t>If </a:t>
            </a:r>
            <a:r>
              <a:rPr sz="2000" spc="23" dirty="0">
                <a:latin typeface="UKIJ CJK"/>
                <a:cs typeface="UKIJ CJK"/>
              </a:rPr>
              <a:t>the database </a:t>
            </a:r>
            <a:r>
              <a:rPr sz="2000" spc="4" dirty="0">
                <a:latin typeface="UKIJ CJK"/>
                <a:cs typeface="UKIJ CJK"/>
              </a:rPr>
              <a:t>is </a:t>
            </a:r>
            <a:r>
              <a:rPr sz="2000" spc="26" dirty="0">
                <a:latin typeface="UKIJ CJK"/>
                <a:cs typeface="UKIJ CJK"/>
              </a:rPr>
              <a:t>not </a:t>
            </a:r>
            <a:r>
              <a:rPr sz="2000" spc="19" dirty="0">
                <a:latin typeface="UKIJ CJK"/>
                <a:cs typeface="UKIJ CJK"/>
              </a:rPr>
              <a:t>specified </a:t>
            </a:r>
            <a:r>
              <a:rPr sz="2000" spc="23" dirty="0">
                <a:latin typeface="UKIJ CJK"/>
                <a:cs typeface="UKIJ CJK"/>
              </a:rPr>
              <a:t>when </a:t>
            </a:r>
            <a:r>
              <a:rPr sz="2000" spc="15" dirty="0">
                <a:latin typeface="UKIJ CJK"/>
                <a:cs typeface="UKIJ CJK"/>
              </a:rPr>
              <a:t>a </a:t>
            </a:r>
            <a:r>
              <a:rPr sz="2000" spc="23" dirty="0">
                <a:latin typeface="UKIJ CJK"/>
                <a:cs typeface="UKIJ CJK"/>
              </a:rPr>
              <a:t>table </a:t>
            </a:r>
            <a:r>
              <a:rPr sz="2000" spc="4" dirty="0">
                <a:latin typeface="UKIJ CJK"/>
                <a:cs typeface="UKIJ CJK"/>
              </a:rPr>
              <a:t>is </a:t>
            </a:r>
            <a:r>
              <a:rPr sz="2000" spc="15" dirty="0">
                <a:latin typeface="UKIJ CJK"/>
                <a:cs typeface="UKIJ CJK"/>
              </a:rPr>
              <a:t>created, </a:t>
            </a:r>
            <a:r>
              <a:rPr sz="2000" spc="23" dirty="0">
                <a:latin typeface="UKIJ CJK"/>
                <a:cs typeface="UKIJ CJK"/>
              </a:rPr>
              <a:t>the </a:t>
            </a:r>
            <a:r>
              <a:rPr sz="2000" spc="19" dirty="0">
                <a:latin typeface="UKIJ CJK"/>
                <a:cs typeface="UKIJ CJK"/>
              </a:rPr>
              <a:t>default  </a:t>
            </a:r>
            <a:r>
              <a:rPr sz="2000" spc="23" dirty="0">
                <a:latin typeface="UKIJ CJK"/>
                <a:cs typeface="UKIJ CJK"/>
              </a:rPr>
              <a:t>database </a:t>
            </a:r>
            <a:r>
              <a:rPr sz="2000" spc="4" dirty="0">
                <a:latin typeface="UKIJ CJK"/>
                <a:cs typeface="UKIJ CJK"/>
              </a:rPr>
              <a:t>is</a:t>
            </a:r>
            <a:r>
              <a:rPr sz="2000" spc="45" dirty="0">
                <a:latin typeface="UKIJ CJK"/>
                <a:cs typeface="UKIJ CJK"/>
              </a:rPr>
              <a:t> </a:t>
            </a:r>
            <a:r>
              <a:rPr sz="2000" spc="11" dirty="0">
                <a:latin typeface="UKIJ CJK"/>
                <a:cs typeface="UKIJ CJK"/>
              </a:rPr>
              <a:t>used.</a:t>
            </a:r>
            <a:endParaRPr sz="2000" dirty="0">
              <a:latin typeface="UKIJ CJK"/>
              <a:cs typeface="UKIJ CJK"/>
            </a:endParaRPr>
          </a:p>
          <a:p>
            <a:pPr marL="138113" indent="-128588">
              <a:buFont typeface="Wingdings"/>
              <a:buChar char=""/>
              <a:tabLst>
                <a:tab pos="138113" algn="l"/>
              </a:tabLst>
            </a:pPr>
            <a:r>
              <a:rPr sz="2000" spc="15" dirty="0">
                <a:latin typeface="UKIJ CJK"/>
                <a:cs typeface="UKIJ CJK"/>
              </a:rPr>
              <a:t>Table: </a:t>
            </a:r>
            <a:r>
              <a:rPr sz="2000" spc="19" dirty="0">
                <a:latin typeface="UKIJ CJK"/>
                <a:cs typeface="UKIJ CJK"/>
              </a:rPr>
              <a:t>corresponds </a:t>
            </a:r>
            <a:r>
              <a:rPr sz="2000" spc="34" dirty="0">
                <a:latin typeface="UKIJ CJK"/>
                <a:cs typeface="UKIJ CJK"/>
              </a:rPr>
              <a:t>to </a:t>
            </a:r>
            <a:r>
              <a:rPr sz="2000" spc="15" dirty="0">
                <a:latin typeface="UKIJ CJK"/>
                <a:cs typeface="UKIJ CJK"/>
              </a:rPr>
              <a:t>a </a:t>
            </a:r>
            <a:r>
              <a:rPr sz="2000" u="sng" spc="19" dirty="0">
                <a:latin typeface="UKIJ CJK"/>
                <a:cs typeface="UKIJ CJK"/>
              </a:rPr>
              <a:t>directory</a:t>
            </a:r>
            <a:r>
              <a:rPr sz="2000" spc="19" dirty="0">
                <a:latin typeface="UKIJ CJK"/>
                <a:cs typeface="UKIJ CJK"/>
              </a:rPr>
              <a:t> </a:t>
            </a:r>
            <a:r>
              <a:rPr sz="2000" spc="34" dirty="0">
                <a:latin typeface="UKIJ CJK"/>
                <a:cs typeface="UKIJ CJK"/>
              </a:rPr>
              <a:t>on</a:t>
            </a:r>
            <a:r>
              <a:rPr sz="2000" spc="79" dirty="0">
                <a:latin typeface="UKIJ CJK"/>
                <a:cs typeface="UKIJ CJK"/>
              </a:rPr>
              <a:t> </a:t>
            </a:r>
            <a:r>
              <a:rPr sz="2000" spc="30" dirty="0">
                <a:latin typeface="UKIJ CJK"/>
                <a:cs typeface="UKIJ CJK"/>
              </a:rPr>
              <a:t>HDFS.</a:t>
            </a:r>
            <a:endParaRPr sz="2000" dirty="0">
              <a:latin typeface="UKIJ CJK"/>
              <a:cs typeface="UKIJ CJK"/>
            </a:endParaRPr>
          </a:p>
          <a:p>
            <a:pPr marL="138113" marR="343376" indent="-128588">
              <a:spcBef>
                <a:spcPts val="4"/>
              </a:spcBef>
              <a:buFont typeface="Wingdings"/>
              <a:buChar char=""/>
              <a:tabLst>
                <a:tab pos="138113" algn="l"/>
              </a:tabLst>
            </a:pPr>
            <a:r>
              <a:rPr sz="2000" spc="11" dirty="0">
                <a:latin typeface="UKIJ CJK"/>
                <a:cs typeface="UKIJ CJK"/>
              </a:rPr>
              <a:t>Partition: </a:t>
            </a:r>
            <a:r>
              <a:rPr sz="2000" spc="19" dirty="0">
                <a:latin typeface="UKIJ CJK"/>
                <a:cs typeface="UKIJ CJK"/>
              </a:rPr>
              <a:t>corresponds </a:t>
            </a:r>
            <a:r>
              <a:rPr sz="2000" spc="34" dirty="0">
                <a:latin typeface="UKIJ CJK"/>
                <a:cs typeface="UKIJ CJK"/>
              </a:rPr>
              <a:t>to </a:t>
            </a:r>
            <a:r>
              <a:rPr sz="2000" spc="15" dirty="0">
                <a:latin typeface="UKIJ CJK"/>
                <a:cs typeface="UKIJ CJK"/>
              </a:rPr>
              <a:t>a </a:t>
            </a:r>
            <a:r>
              <a:rPr sz="2000" u="sng" spc="19" dirty="0">
                <a:latin typeface="UKIJ CJK"/>
                <a:cs typeface="UKIJ CJK"/>
              </a:rPr>
              <a:t>subdirectory </a:t>
            </a:r>
            <a:r>
              <a:rPr sz="2000" u="sng" spc="30" dirty="0">
                <a:latin typeface="UKIJ CJK"/>
                <a:cs typeface="UKIJ CJK"/>
              </a:rPr>
              <a:t>of </a:t>
            </a:r>
            <a:r>
              <a:rPr sz="2000" u="sng" spc="23" dirty="0">
                <a:latin typeface="UKIJ CJK"/>
                <a:cs typeface="UKIJ CJK"/>
              </a:rPr>
              <a:t>the </a:t>
            </a:r>
            <a:r>
              <a:rPr sz="2000" u="sng" spc="19" dirty="0">
                <a:latin typeface="UKIJ CJK"/>
                <a:cs typeface="UKIJ CJK"/>
              </a:rPr>
              <a:t>directory </a:t>
            </a:r>
            <a:r>
              <a:rPr sz="2000" u="sng" spc="15" dirty="0">
                <a:latin typeface="UKIJ CJK"/>
                <a:cs typeface="UKIJ CJK"/>
              </a:rPr>
              <a:t>where a </a:t>
            </a:r>
            <a:r>
              <a:rPr sz="2000" u="sng" spc="23" dirty="0">
                <a:latin typeface="UKIJ CJK"/>
                <a:cs typeface="UKIJ CJK"/>
              </a:rPr>
              <a:t>table  </a:t>
            </a:r>
            <a:r>
              <a:rPr sz="2000" u="sng" spc="8" dirty="0">
                <a:latin typeface="UKIJ CJK"/>
                <a:cs typeface="UKIJ CJK"/>
              </a:rPr>
              <a:t>resides</a:t>
            </a:r>
            <a:r>
              <a:rPr sz="2000" spc="8" dirty="0" smtClean="0">
                <a:latin typeface="UKIJ CJK"/>
                <a:cs typeface="UKIJ CJK"/>
              </a:rPr>
              <a:t>.</a:t>
            </a:r>
            <a:r>
              <a:rPr lang="en-US" sz="2000" spc="8" dirty="0" smtClean="0">
                <a:latin typeface="UKIJ CJK"/>
                <a:cs typeface="UKIJ CJK"/>
              </a:rPr>
              <a:t> (Ex: partition by date, then by country for more efficient queries).</a:t>
            </a:r>
            <a:endParaRPr sz="2000" dirty="0">
              <a:latin typeface="UKIJ CJK"/>
              <a:cs typeface="UKIJ CJK"/>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40955" y="5530385"/>
            <a:ext cx="11368585" cy="1240244"/>
          </a:xfrm>
          <a:prstGeom prst="rect">
            <a:avLst/>
          </a:prstGeom>
        </p:spPr>
        <p:txBody>
          <a:bodyPr vert="horz" wrap="square" lIns="0" tIns="9049" rIns="0" bIns="0" rtlCol="0">
            <a:spAutoFit/>
          </a:bodyPr>
          <a:lstStyle/>
          <a:p>
            <a:pPr marL="138113" marR="251460" indent="-128588" algn="just">
              <a:buFont typeface="Wingdings"/>
              <a:buChar char=""/>
              <a:tabLst>
                <a:tab pos="138113" algn="l"/>
              </a:tabLst>
            </a:pPr>
            <a:r>
              <a:rPr sz="2000" spc="15" dirty="0" smtClean="0">
                <a:latin typeface="UKIJ CJK"/>
                <a:cs typeface="UKIJ CJK"/>
              </a:rPr>
              <a:t>Bucket</a:t>
            </a:r>
            <a:r>
              <a:rPr sz="2000" spc="15" dirty="0">
                <a:latin typeface="UKIJ CJK"/>
                <a:cs typeface="UKIJ CJK"/>
              </a:rPr>
              <a:t>: </a:t>
            </a:r>
            <a:r>
              <a:rPr sz="2000" u="sng" spc="19" dirty="0">
                <a:latin typeface="UKIJ CJK"/>
                <a:cs typeface="UKIJ CJK"/>
              </a:rPr>
              <a:t>corresponds </a:t>
            </a:r>
            <a:r>
              <a:rPr sz="2000" u="sng" spc="34" dirty="0">
                <a:latin typeface="UKIJ CJK"/>
                <a:cs typeface="UKIJ CJK"/>
              </a:rPr>
              <a:t>to </a:t>
            </a:r>
            <a:r>
              <a:rPr sz="2000" u="sng" spc="15" dirty="0">
                <a:latin typeface="UKIJ CJK"/>
                <a:cs typeface="UKIJ CJK"/>
              </a:rPr>
              <a:t>a </a:t>
            </a:r>
            <a:r>
              <a:rPr sz="2000" u="sng" spc="11" dirty="0">
                <a:latin typeface="UKIJ CJK"/>
                <a:cs typeface="UKIJ CJK"/>
              </a:rPr>
              <a:t>file </a:t>
            </a:r>
            <a:r>
              <a:rPr sz="2000" u="sng" spc="19" dirty="0">
                <a:latin typeface="UKIJ CJK"/>
                <a:cs typeface="UKIJ CJK"/>
              </a:rPr>
              <a:t>under </a:t>
            </a:r>
            <a:r>
              <a:rPr sz="2000" u="sng" spc="23" dirty="0">
                <a:latin typeface="UKIJ CJK"/>
                <a:cs typeface="UKIJ CJK"/>
              </a:rPr>
              <a:t>the </a:t>
            </a:r>
            <a:r>
              <a:rPr sz="2000" u="sng" spc="26" dirty="0">
                <a:latin typeface="UKIJ CJK"/>
                <a:cs typeface="UKIJ CJK"/>
              </a:rPr>
              <a:t>path </a:t>
            </a:r>
            <a:r>
              <a:rPr sz="2000" u="sng" spc="15" dirty="0">
                <a:latin typeface="UKIJ CJK"/>
                <a:cs typeface="UKIJ CJK"/>
              </a:rPr>
              <a:t>where a </a:t>
            </a:r>
            <a:r>
              <a:rPr sz="2000" u="sng" spc="23" dirty="0">
                <a:latin typeface="UKIJ CJK"/>
                <a:cs typeface="UKIJ CJK"/>
              </a:rPr>
              <a:t>table </a:t>
            </a:r>
            <a:r>
              <a:rPr sz="2000" u="sng" spc="15" dirty="0">
                <a:latin typeface="UKIJ CJK"/>
                <a:cs typeface="UKIJ CJK"/>
              </a:rPr>
              <a:t>or a </a:t>
            </a:r>
            <a:r>
              <a:rPr sz="2000" u="sng" spc="19" dirty="0">
                <a:latin typeface="UKIJ CJK"/>
                <a:cs typeface="UKIJ CJK"/>
              </a:rPr>
              <a:t>partition  </a:t>
            </a:r>
            <a:r>
              <a:rPr sz="2000" u="sng" spc="8" dirty="0">
                <a:latin typeface="UKIJ CJK"/>
                <a:cs typeface="UKIJ CJK"/>
              </a:rPr>
              <a:t>resides</a:t>
            </a:r>
            <a:r>
              <a:rPr sz="2000" spc="8" dirty="0" smtClean="0">
                <a:latin typeface="UKIJ CJK"/>
                <a:cs typeface="UKIJ CJK"/>
              </a:rPr>
              <a:t>.</a:t>
            </a:r>
            <a:endParaRPr lang="en-US" sz="2000" spc="8" dirty="0" smtClean="0">
              <a:latin typeface="UKIJ CJK"/>
              <a:cs typeface="UKIJ CJK"/>
            </a:endParaRPr>
          </a:p>
          <a:p>
            <a:pPr marL="138113" marR="251460" indent="-128588" algn="just">
              <a:buFont typeface="Wingdings"/>
              <a:buChar char=""/>
              <a:tabLst>
                <a:tab pos="138113" algn="l"/>
              </a:tabLst>
            </a:pPr>
            <a:r>
              <a:rPr lang="en-US" sz="2000" spc="8" dirty="0" smtClean="0">
                <a:latin typeface="UKIJ CJK"/>
                <a:cs typeface="UKIJ CJK"/>
              </a:rPr>
              <a:t>Ex: Bucketing by user ID means that we can quickly evaluate a user-based-query by running it on a randomized sample of the total set of users.</a:t>
            </a:r>
          </a:p>
          <a:p>
            <a:pPr marL="138113" marR="251460" indent="-128588" algn="just">
              <a:buFont typeface="Wingdings"/>
              <a:buChar char=""/>
              <a:tabLst>
                <a:tab pos="138113" algn="l"/>
              </a:tabLst>
            </a:pPr>
            <a:r>
              <a:rPr lang="en-US" sz="2000" spc="8" dirty="0" smtClean="0">
                <a:latin typeface="UKIJ CJK"/>
                <a:cs typeface="UKIJ CJK"/>
              </a:rPr>
              <a:t>There are 2 reasons why you want to organize your tables or partitions into buckets:</a:t>
            </a:r>
          </a:p>
        </p:txBody>
      </p:sp>
      <p:grpSp>
        <p:nvGrpSpPr>
          <p:cNvPr id="6" name="object 3"/>
          <p:cNvGrpSpPr/>
          <p:nvPr/>
        </p:nvGrpSpPr>
        <p:grpSpPr>
          <a:xfrm>
            <a:off x="286603" y="236823"/>
            <a:ext cx="11477767" cy="5290520"/>
            <a:chOff x="376427" y="679704"/>
            <a:chExt cx="6106160" cy="3442335"/>
          </a:xfrm>
        </p:grpSpPr>
        <p:sp>
          <p:nvSpPr>
            <p:cNvPr id="7" name="object 4"/>
            <p:cNvSpPr/>
            <p:nvPr/>
          </p:nvSpPr>
          <p:spPr>
            <a:xfrm>
              <a:off x="382904" y="841836"/>
              <a:ext cx="6092952" cy="3209251"/>
            </a:xfrm>
            <a:prstGeom prst="rect">
              <a:avLst/>
            </a:prstGeom>
            <a:blipFill>
              <a:blip r:embed="rId2" cstate="print"/>
              <a:stretch>
                <a:fillRect/>
              </a:stretch>
            </a:blipFill>
          </p:spPr>
          <p:txBody>
            <a:bodyPr wrap="square" lIns="0" tIns="0" rIns="0" bIns="0" rtlCol="0"/>
            <a:lstStyle/>
            <a:p>
              <a:endParaRPr sz="1350"/>
            </a:p>
          </p:txBody>
        </p:sp>
        <p:sp>
          <p:nvSpPr>
            <p:cNvPr id="8" name="object 5"/>
            <p:cNvSpPr/>
            <p:nvPr/>
          </p:nvSpPr>
          <p:spPr>
            <a:xfrm>
              <a:off x="382904" y="686181"/>
              <a:ext cx="6093460" cy="3429000"/>
            </a:xfrm>
            <a:custGeom>
              <a:avLst/>
              <a:gdLst/>
              <a:ahLst/>
              <a:cxnLst/>
              <a:rect l="l" t="t" r="r" b="b"/>
              <a:pathLst>
                <a:path w="6093460" h="3429000">
                  <a:moveTo>
                    <a:pt x="0" y="3429000"/>
                  </a:moveTo>
                  <a:lnTo>
                    <a:pt x="6092952" y="3429000"/>
                  </a:lnTo>
                  <a:lnTo>
                    <a:pt x="6092952" y="0"/>
                  </a:lnTo>
                  <a:lnTo>
                    <a:pt x="0" y="0"/>
                  </a:lnTo>
                  <a:lnTo>
                    <a:pt x="0" y="3429000"/>
                  </a:lnTo>
                  <a:close/>
                </a:path>
              </a:pathLst>
            </a:custGeom>
            <a:ln w="12954">
              <a:solidFill>
                <a:srgbClr val="000000"/>
              </a:solidFill>
            </a:ln>
          </p:spPr>
          <p:txBody>
            <a:bodyPr wrap="square" lIns="0" tIns="0" rIns="0" bIns="0" rtlCol="0"/>
            <a:lstStyle/>
            <a:p>
              <a:endParaRPr sz="1350"/>
            </a:p>
          </p:txBody>
        </p:sp>
      </p:grpSp>
    </p:spTree>
    <p:extLst>
      <p:ext uri="{BB962C8B-B14F-4D97-AF65-F5344CB8AC3E}">
        <p14:creationId xmlns:p14="http://schemas.microsoft.com/office/powerpoint/2010/main" val="2997335989"/>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40955" y="5530385"/>
            <a:ext cx="11368585" cy="1240244"/>
          </a:xfrm>
          <a:prstGeom prst="rect">
            <a:avLst/>
          </a:prstGeom>
        </p:spPr>
        <p:txBody>
          <a:bodyPr vert="horz" wrap="square" lIns="0" tIns="9049" rIns="0" bIns="0" rtlCol="0">
            <a:spAutoFit/>
          </a:bodyPr>
          <a:lstStyle/>
          <a:p>
            <a:pPr marL="138113" marR="95726" indent="-128588">
              <a:buFont typeface="Wingdings"/>
              <a:buChar char=""/>
              <a:tabLst>
                <a:tab pos="138113" algn="l"/>
              </a:tabLst>
            </a:pPr>
            <a:r>
              <a:rPr lang="en-US" sz="2000" spc="8" dirty="0">
                <a:latin typeface="UKIJ CJK"/>
                <a:cs typeface="UKIJ CJK"/>
              </a:rPr>
              <a:t> 1. Enable more efficient queries   2.  Make sampling more </a:t>
            </a:r>
            <a:r>
              <a:rPr lang="en-US" sz="2000" spc="8" dirty="0" smtClean="0">
                <a:latin typeface="UKIJ CJK"/>
                <a:cs typeface="UKIJ CJK"/>
              </a:rPr>
              <a:t>Efficient.</a:t>
            </a:r>
            <a:endParaRPr lang="en-US" sz="2000" spc="8" dirty="0">
              <a:latin typeface="UKIJ CJK"/>
              <a:cs typeface="UKIJ CJK"/>
            </a:endParaRPr>
          </a:p>
          <a:p>
            <a:pPr marL="138113" marR="95726" indent="-128588">
              <a:buFont typeface="Wingdings"/>
              <a:buChar char=""/>
              <a:tabLst>
                <a:tab pos="138113" algn="l"/>
              </a:tabLst>
            </a:pPr>
            <a:r>
              <a:rPr sz="2000" spc="34" dirty="0" smtClean="0">
                <a:latin typeface="UKIJ CJK"/>
                <a:cs typeface="UKIJ CJK"/>
              </a:rPr>
              <a:t>Skewed </a:t>
            </a:r>
            <a:r>
              <a:rPr sz="2000" spc="15" dirty="0">
                <a:latin typeface="UKIJ CJK"/>
                <a:cs typeface="UKIJ CJK"/>
              </a:rPr>
              <a:t>data: scenarios where </a:t>
            </a:r>
            <a:r>
              <a:rPr sz="2000" spc="23" dirty="0">
                <a:latin typeface="UKIJ CJK"/>
                <a:cs typeface="UKIJ CJK"/>
              </a:rPr>
              <a:t>data </a:t>
            </a:r>
            <a:r>
              <a:rPr sz="2000" spc="4" dirty="0">
                <a:latin typeface="UKIJ CJK"/>
                <a:cs typeface="UKIJ CJK"/>
              </a:rPr>
              <a:t>is </a:t>
            </a:r>
            <a:r>
              <a:rPr sz="2000" spc="34" dirty="0">
                <a:latin typeface="UKIJ CJK"/>
                <a:cs typeface="UKIJ CJK"/>
              </a:rPr>
              <a:t>converged </a:t>
            </a:r>
            <a:r>
              <a:rPr sz="2000" spc="11" dirty="0">
                <a:latin typeface="UKIJ CJK"/>
                <a:cs typeface="UKIJ CJK"/>
              </a:rPr>
              <a:t>in </a:t>
            </a:r>
            <a:r>
              <a:rPr sz="2000" spc="26" dirty="0">
                <a:latin typeface="UKIJ CJK"/>
                <a:cs typeface="UKIJ CJK"/>
              </a:rPr>
              <a:t>some </a:t>
            </a:r>
            <a:r>
              <a:rPr sz="2000" spc="19" dirty="0">
                <a:latin typeface="UKIJ CJK"/>
                <a:cs typeface="UKIJ CJK"/>
              </a:rPr>
              <a:t>field </a:t>
            </a:r>
            <a:r>
              <a:rPr sz="2000" spc="15" dirty="0">
                <a:latin typeface="UKIJ CJK"/>
                <a:cs typeface="UKIJ CJK"/>
              </a:rPr>
              <a:t>values, </a:t>
            </a:r>
            <a:r>
              <a:rPr sz="2000" spc="11" dirty="0">
                <a:latin typeface="UKIJ CJK"/>
                <a:cs typeface="UKIJ CJK"/>
              </a:rPr>
              <a:t>for  </a:t>
            </a:r>
            <a:r>
              <a:rPr sz="2000" spc="15" dirty="0">
                <a:latin typeface="UKIJ CJK"/>
                <a:cs typeface="UKIJ CJK"/>
              </a:rPr>
              <a:t>example, </a:t>
            </a:r>
            <a:r>
              <a:rPr sz="2000" spc="23" dirty="0">
                <a:latin typeface="UKIJ CJK"/>
                <a:cs typeface="UKIJ CJK"/>
              </a:rPr>
              <a:t>when data </a:t>
            </a:r>
            <a:r>
              <a:rPr sz="2000" spc="4" dirty="0">
                <a:latin typeface="UKIJ CJK"/>
                <a:cs typeface="UKIJ CJK"/>
              </a:rPr>
              <a:t>is </a:t>
            </a:r>
            <a:r>
              <a:rPr sz="2000" spc="11" dirty="0">
                <a:latin typeface="UKIJ CJK"/>
                <a:cs typeface="UKIJ CJK"/>
              </a:rPr>
              <a:t>classified </a:t>
            </a:r>
            <a:r>
              <a:rPr sz="2000" spc="38" dirty="0">
                <a:latin typeface="UKIJ CJK"/>
                <a:cs typeface="UKIJ CJK"/>
              </a:rPr>
              <a:t>by </a:t>
            </a:r>
            <a:r>
              <a:rPr sz="2000" spc="15" dirty="0">
                <a:latin typeface="UKIJ CJK"/>
                <a:cs typeface="UKIJ CJK"/>
              </a:rPr>
              <a:t>city, </a:t>
            </a:r>
            <a:r>
              <a:rPr sz="2000" spc="34" dirty="0">
                <a:latin typeface="UKIJ CJK"/>
                <a:cs typeface="UKIJ CJK"/>
              </a:rPr>
              <a:t>80% </a:t>
            </a:r>
            <a:r>
              <a:rPr sz="2000" spc="30" dirty="0">
                <a:latin typeface="UKIJ CJK"/>
                <a:cs typeface="UKIJ CJK"/>
              </a:rPr>
              <a:t>of </a:t>
            </a:r>
            <a:r>
              <a:rPr sz="2000" spc="23" dirty="0">
                <a:latin typeface="UKIJ CJK"/>
                <a:cs typeface="UKIJ CJK"/>
              </a:rPr>
              <a:t>data </a:t>
            </a:r>
            <a:r>
              <a:rPr sz="2000" spc="26" dirty="0">
                <a:latin typeface="UKIJ CJK"/>
                <a:cs typeface="UKIJ CJK"/>
              </a:rPr>
              <a:t>comes </a:t>
            </a:r>
            <a:r>
              <a:rPr sz="2000" spc="19" dirty="0">
                <a:latin typeface="UKIJ CJK"/>
                <a:cs typeface="UKIJ CJK"/>
              </a:rPr>
              <a:t>from </a:t>
            </a:r>
            <a:r>
              <a:rPr sz="2000" spc="15" dirty="0">
                <a:latin typeface="UKIJ CJK"/>
                <a:cs typeface="UKIJ CJK"/>
              </a:rPr>
              <a:t>a </a:t>
            </a:r>
            <a:r>
              <a:rPr sz="2000" spc="49" dirty="0">
                <a:latin typeface="UKIJ CJK"/>
                <a:cs typeface="UKIJ CJK"/>
              </a:rPr>
              <a:t>big</a:t>
            </a:r>
            <a:r>
              <a:rPr sz="2000" spc="214" dirty="0">
                <a:latin typeface="UKIJ CJK"/>
                <a:cs typeface="UKIJ CJK"/>
              </a:rPr>
              <a:t> </a:t>
            </a:r>
            <a:r>
              <a:rPr sz="2000" spc="11" dirty="0">
                <a:latin typeface="UKIJ CJK"/>
                <a:cs typeface="UKIJ CJK"/>
              </a:rPr>
              <a:t>city.</a:t>
            </a:r>
            <a:endParaRPr sz="2000" dirty="0">
              <a:latin typeface="UKIJ CJK"/>
              <a:cs typeface="UKIJ CJK"/>
            </a:endParaRPr>
          </a:p>
          <a:p>
            <a:pPr marL="138113" indent="-128588">
              <a:buFont typeface="Wingdings"/>
              <a:buChar char=""/>
              <a:tabLst>
                <a:tab pos="138113" algn="l"/>
              </a:tabLst>
            </a:pPr>
            <a:r>
              <a:rPr sz="2000" spc="23" dirty="0">
                <a:latin typeface="UKIJ CJK"/>
                <a:cs typeface="UKIJ CJK"/>
              </a:rPr>
              <a:t>Normal </a:t>
            </a:r>
            <a:r>
              <a:rPr sz="2000" spc="15" dirty="0">
                <a:latin typeface="UKIJ CJK"/>
                <a:cs typeface="UKIJ CJK"/>
              </a:rPr>
              <a:t>data: </a:t>
            </a:r>
            <a:r>
              <a:rPr sz="2000" spc="23" dirty="0">
                <a:latin typeface="UKIJ CJK"/>
                <a:cs typeface="UKIJ CJK"/>
              </a:rPr>
              <a:t>data that </a:t>
            </a:r>
            <a:r>
              <a:rPr sz="2000" spc="8" dirty="0">
                <a:latin typeface="UKIJ CJK"/>
                <a:cs typeface="UKIJ CJK"/>
              </a:rPr>
              <a:t>are </a:t>
            </a:r>
            <a:r>
              <a:rPr sz="2000" spc="30" dirty="0">
                <a:latin typeface="UKIJ CJK"/>
                <a:cs typeface="UKIJ CJK"/>
              </a:rPr>
              <a:t>not</a:t>
            </a:r>
            <a:r>
              <a:rPr sz="2000" spc="120" dirty="0">
                <a:latin typeface="UKIJ CJK"/>
                <a:cs typeface="UKIJ CJK"/>
              </a:rPr>
              <a:t> </a:t>
            </a:r>
            <a:r>
              <a:rPr sz="2000" spc="19" dirty="0">
                <a:latin typeface="UKIJ CJK"/>
                <a:cs typeface="UKIJ CJK"/>
              </a:rPr>
              <a:t>skewed</a:t>
            </a:r>
            <a:r>
              <a:rPr sz="2000" spc="19" dirty="0" smtClean="0">
                <a:latin typeface="UKIJ CJK"/>
                <a:cs typeface="UKIJ CJK"/>
              </a:rPr>
              <a:t>.</a:t>
            </a:r>
            <a:endParaRPr sz="2000" dirty="0">
              <a:latin typeface="UKIJ CJK"/>
              <a:cs typeface="UKIJ CJK"/>
            </a:endParaRPr>
          </a:p>
        </p:txBody>
      </p:sp>
      <p:grpSp>
        <p:nvGrpSpPr>
          <p:cNvPr id="6" name="object 3"/>
          <p:cNvGrpSpPr/>
          <p:nvPr/>
        </p:nvGrpSpPr>
        <p:grpSpPr>
          <a:xfrm>
            <a:off x="286603" y="236823"/>
            <a:ext cx="11477767" cy="5290520"/>
            <a:chOff x="376427" y="679704"/>
            <a:chExt cx="6106160" cy="3442335"/>
          </a:xfrm>
        </p:grpSpPr>
        <p:sp>
          <p:nvSpPr>
            <p:cNvPr id="7" name="object 4"/>
            <p:cNvSpPr/>
            <p:nvPr/>
          </p:nvSpPr>
          <p:spPr>
            <a:xfrm>
              <a:off x="382904" y="841836"/>
              <a:ext cx="6092952" cy="3209251"/>
            </a:xfrm>
            <a:prstGeom prst="rect">
              <a:avLst/>
            </a:prstGeom>
            <a:blipFill>
              <a:blip r:embed="rId2" cstate="print"/>
              <a:stretch>
                <a:fillRect/>
              </a:stretch>
            </a:blipFill>
          </p:spPr>
          <p:txBody>
            <a:bodyPr wrap="square" lIns="0" tIns="0" rIns="0" bIns="0" rtlCol="0"/>
            <a:lstStyle/>
            <a:p>
              <a:endParaRPr sz="1350"/>
            </a:p>
          </p:txBody>
        </p:sp>
        <p:sp>
          <p:nvSpPr>
            <p:cNvPr id="8" name="object 5"/>
            <p:cNvSpPr/>
            <p:nvPr/>
          </p:nvSpPr>
          <p:spPr>
            <a:xfrm>
              <a:off x="382904" y="686181"/>
              <a:ext cx="6093460" cy="3429000"/>
            </a:xfrm>
            <a:custGeom>
              <a:avLst/>
              <a:gdLst/>
              <a:ahLst/>
              <a:cxnLst/>
              <a:rect l="l" t="t" r="r" b="b"/>
              <a:pathLst>
                <a:path w="6093460" h="3429000">
                  <a:moveTo>
                    <a:pt x="0" y="3429000"/>
                  </a:moveTo>
                  <a:lnTo>
                    <a:pt x="6092952" y="3429000"/>
                  </a:lnTo>
                  <a:lnTo>
                    <a:pt x="6092952" y="0"/>
                  </a:lnTo>
                  <a:lnTo>
                    <a:pt x="0" y="0"/>
                  </a:lnTo>
                  <a:lnTo>
                    <a:pt x="0" y="3429000"/>
                  </a:lnTo>
                  <a:close/>
                </a:path>
              </a:pathLst>
            </a:custGeom>
            <a:ln w="12954">
              <a:solidFill>
                <a:srgbClr val="000000"/>
              </a:solidFill>
            </a:ln>
          </p:spPr>
          <p:txBody>
            <a:bodyPr wrap="square" lIns="0" tIns="0" rIns="0" bIns="0" rtlCol="0"/>
            <a:lstStyle/>
            <a:p>
              <a:endParaRPr sz="1350"/>
            </a:p>
          </p:txBody>
        </p:sp>
      </p:grpSp>
    </p:spTree>
    <p:extLst>
      <p:ext uri="{BB962C8B-B14F-4D97-AF65-F5344CB8AC3E}">
        <p14:creationId xmlns:p14="http://schemas.microsoft.com/office/powerpoint/2010/main" val="277727240"/>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2"/>
          <a:srcRect l="19693" t="26099" r="27599" b="14561"/>
          <a:stretch/>
        </p:blipFill>
        <p:spPr>
          <a:xfrm>
            <a:off x="285750" y="552450"/>
            <a:ext cx="11677650" cy="6305550"/>
          </a:xfrm>
          <a:prstGeom prst="rect">
            <a:avLst/>
          </a:prstGeom>
        </p:spPr>
      </p:pic>
    </p:spTree>
    <p:extLst>
      <p:ext uri="{BB962C8B-B14F-4D97-AF65-F5344CB8AC3E}">
        <p14:creationId xmlns:p14="http://schemas.microsoft.com/office/powerpoint/2010/main" val="3299762089"/>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676400" y="590472"/>
            <a:ext cx="6977076" cy="567463"/>
          </a:xfrm>
          <a:prstGeom prst="rect">
            <a:avLst/>
          </a:prstGeom>
        </p:spPr>
        <p:txBody>
          <a:bodyPr vert="horz" wrap="square" lIns="0" tIns="13335" rIns="0" bIns="0" rtlCol="0">
            <a:spAutoFit/>
          </a:bodyPr>
          <a:lstStyle/>
          <a:p>
            <a:pPr marL="12700">
              <a:lnSpc>
                <a:spcPct val="100000"/>
              </a:lnSpc>
              <a:spcBef>
                <a:spcPts val="105"/>
              </a:spcBef>
            </a:pPr>
            <a:r>
              <a:rPr spc="-15" dirty="0"/>
              <a:t>Partition </a:t>
            </a:r>
            <a:r>
              <a:rPr spc="85" dirty="0"/>
              <a:t>and</a:t>
            </a:r>
            <a:r>
              <a:rPr spc="35" dirty="0"/>
              <a:t> </a:t>
            </a:r>
            <a:r>
              <a:rPr dirty="0"/>
              <a:t>Bucket</a:t>
            </a:r>
          </a:p>
        </p:txBody>
      </p:sp>
      <p:sp>
        <p:nvSpPr>
          <p:cNvPr id="3" name="object 3"/>
          <p:cNvSpPr txBox="1"/>
          <p:nvPr/>
        </p:nvSpPr>
        <p:spPr>
          <a:xfrm>
            <a:off x="799287" y="1290574"/>
            <a:ext cx="130175" cy="193675"/>
          </a:xfrm>
          <a:prstGeom prst="rect">
            <a:avLst/>
          </a:prstGeom>
        </p:spPr>
        <p:txBody>
          <a:bodyPr vert="horz" wrap="square" lIns="0" tIns="13335" rIns="0" bIns="0" rtlCol="0">
            <a:spAutoFit/>
          </a:bodyPr>
          <a:lstStyle/>
          <a:p>
            <a:pPr marL="12700">
              <a:lnSpc>
                <a:spcPct val="100000"/>
              </a:lnSpc>
              <a:spcBef>
                <a:spcPts val="105"/>
              </a:spcBef>
            </a:pPr>
            <a:r>
              <a:rPr sz="1100" dirty="0">
                <a:latin typeface="Wingdings"/>
                <a:cs typeface="Wingdings"/>
              </a:rPr>
              <a:t></a:t>
            </a:r>
            <a:endParaRPr sz="1100">
              <a:latin typeface="Wingdings"/>
              <a:cs typeface="Wingdings"/>
            </a:endParaRPr>
          </a:p>
        </p:txBody>
      </p:sp>
      <p:sp>
        <p:nvSpPr>
          <p:cNvPr id="4" name="object 4"/>
          <p:cNvSpPr txBox="1"/>
          <p:nvPr/>
        </p:nvSpPr>
        <p:spPr>
          <a:xfrm>
            <a:off x="1101039" y="1211325"/>
            <a:ext cx="9888855" cy="360680"/>
          </a:xfrm>
          <a:prstGeom prst="rect">
            <a:avLst/>
          </a:prstGeom>
        </p:spPr>
        <p:txBody>
          <a:bodyPr vert="horz" wrap="square" lIns="0" tIns="12065" rIns="0" bIns="0" rtlCol="0">
            <a:spAutoFit/>
          </a:bodyPr>
          <a:lstStyle/>
          <a:p>
            <a:pPr marL="12700">
              <a:lnSpc>
                <a:spcPct val="100000"/>
              </a:lnSpc>
              <a:spcBef>
                <a:spcPts val="95"/>
              </a:spcBef>
            </a:pPr>
            <a:r>
              <a:rPr sz="2200" spc="-45" dirty="0">
                <a:latin typeface="Trebuchet MS"/>
                <a:cs typeface="Trebuchet MS"/>
              </a:rPr>
              <a:t>Partition: </a:t>
            </a:r>
            <a:r>
              <a:rPr sz="2200" spc="65" dirty="0">
                <a:latin typeface="Trebuchet MS"/>
                <a:cs typeface="Trebuchet MS"/>
              </a:rPr>
              <a:t>Data </a:t>
            </a:r>
            <a:r>
              <a:rPr sz="2200" spc="-10" dirty="0">
                <a:latin typeface="Trebuchet MS"/>
                <a:cs typeface="Trebuchet MS"/>
              </a:rPr>
              <a:t>tables </a:t>
            </a:r>
            <a:r>
              <a:rPr sz="2200" spc="15" dirty="0">
                <a:latin typeface="Trebuchet MS"/>
                <a:cs typeface="Trebuchet MS"/>
              </a:rPr>
              <a:t>can </a:t>
            </a:r>
            <a:r>
              <a:rPr sz="2200" spc="-10" dirty="0">
                <a:latin typeface="Trebuchet MS"/>
                <a:cs typeface="Trebuchet MS"/>
              </a:rPr>
              <a:t>be partitioned </a:t>
            </a:r>
            <a:r>
              <a:rPr sz="2200" spc="20" dirty="0">
                <a:latin typeface="Trebuchet MS"/>
                <a:cs typeface="Trebuchet MS"/>
              </a:rPr>
              <a:t>based </a:t>
            </a:r>
            <a:r>
              <a:rPr sz="2200" spc="75" dirty="0">
                <a:latin typeface="Trebuchet MS"/>
                <a:cs typeface="Trebuchet MS"/>
              </a:rPr>
              <a:t>on </a:t>
            </a:r>
            <a:r>
              <a:rPr sz="2200" spc="-15" dirty="0">
                <a:latin typeface="Trebuchet MS"/>
                <a:cs typeface="Trebuchet MS"/>
              </a:rPr>
              <a:t>the </a:t>
            </a:r>
            <a:r>
              <a:rPr sz="2200" spc="5" dirty="0">
                <a:latin typeface="Trebuchet MS"/>
                <a:cs typeface="Trebuchet MS"/>
              </a:rPr>
              <a:t>value </a:t>
            </a:r>
            <a:r>
              <a:rPr sz="2200" spc="15" dirty="0">
                <a:latin typeface="Trebuchet MS"/>
                <a:cs typeface="Trebuchet MS"/>
              </a:rPr>
              <a:t>of </a:t>
            </a:r>
            <a:r>
              <a:rPr sz="2200" spc="55" dirty="0">
                <a:latin typeface="Trebuchet MS"/>
                <a:cs typeface="Trebuchet MS"/>
              </a:rPr>
              <a:t>a </a:t>
            </a:r>
            <a:r>
              <a:rPr sz="2200" spc="-25" dirty="0">
                <a:latin typeface="Trebuchet MS"/>
                <a:cs typeface="Trebuchet MS"/>
              </a:rPr>
              <a:t>certain</a:t>
            </a:r>
            <a:r>
              <a:rPr sz="2200" spc="305" dirty="0">
                <a:latin typeface="Trebuchet MS"/>
                <a:cs typeface="Trebuchet MS"/>
              </a:rPr>
              <a:t> </a:t>
            </a:r>
            <a:r>
              <a:rPr sz="2200" spc="-80" dirty="0">
                <a:latin typeface="Trebuchet MS"/>
                <a:cs typeface="Trebuchet MS"/>
              </a:rPr>
              <a:t>field.</a:t>
            </a:r>
            <a:endParaRPr sz="2200">
              <a:latin typeface="Trebuchet MS"/>
              <a:cs typeface="Trebuchet MS"/>
            </a:endParaRPr>
          </a:p>
        </p:txBody>
      </p:sp>
      <p:sp>
        <p:nvSpPr>
          <p:cNvPr id="6" name="object 6"/>
          <p:cNvSpPr txBox="1"/>
          <p:nvPr/>
        </p:nvSpPr>
        <p:spPr>
          <a:xfrm>
            <a:off x="1454910" y="1756918"/>
            <a:ext cx="7003289" cy="988091"/>
          </a:xfrm>
          <a:prstGeom prst="rect">
            <a:avLst/>
          </a:prstGeom>
        </p:spPr>
        <p:txBody>
          <a:bodyPr vert="horz" wrap="square" lIns="0" tIns="13335" rIns="0" bIns="0" rtlCol="0">
            <a:spAutoFit/>
          </a:bodyPr>
          <a:lstStyle/>
          <a:p>
            <a:pPr marL="355600" indent="-342900">
              <a:lnSpc>
                <a:spcPct val="100000"/>
              </a:lnSpc>
              <a:spcBef>
                <a:spcPts val="200"/>
              </a:spcBef>
              <a:buFont typeface="Wingdings" panose="05000000000000000000" pitchFamily="2" charset="2"/>
              <a:buChar char="§"/>
            </a:pPr>
            <a:r>
              <a:rPr sz="2000" spc="15" dirty="0">
                <a:latin typeface="Trebuchet MS"/>
                <a:cs typeface="Trebuchet MS"/>
              </a:rPr>
              <a:t>Each </a:t>
            </a:r>
            <a:r>
              <a:rPr sz="2000" spc="-5" dirty="0">
                <a:latin typeface="Trebuchet MS"/>
                <a:cs typeface="Trebuchet MS"/>
              </a:rPr>
              <a:t>partition </a:t>
            </a:r>
            <a:r>
              <a:rPr sz="2000" spc="-15" dirty="0">
                <a:latin typeface="Trebuchet MS"/>
                <a:cs typeface="Trebuchet MS"/>
              </a:rPr>
              <a:t>is </a:t>
            </a:r>
            <a:r>
              <a:rPr sz="2000" spc="55" dirty="0">
                <a:latin typeface="Trebuchet MS"/>
                <a:cs typeface="Trebuchet MS"/>
              </a:rPr>
              <a:t>a</a:t>
            </a:r>
            <a:r>
              <a:rPr sz="2000" spc="40" dirty="0">
                <a:latin typeface="Trebuchet MS"/>
                <a:cs typeface="Trebuchet MS"/>
              </a:rPr>
              <a:t> </a:t>
            </a:r>
            <a:r>
              <a:rPr sz="2000" spc="-50" dirty="0">
                <a:latin typeface="Trebuchet MS"/>
                <a:cs typeface="Trebuchet MS"/>
              </a:rPr>
              <a:t>directory.</a:t>
            </a:r>
            <a:endParaRPr sz="2000" dirty="0">
              <a:latin typeface="Trebuchet MS"/>
              <a:cs typeface="Trebuchet MS"/>
            </a:endParaRPr>
          </a:p>
          <a:p>
            <a:pPr marL="355600" indent="-342900">
              <a:lnSpc>
                <a:spcPct val="100000"/>
              </a:lnSpc>
              <a:spcBef>
                <a:spcPts val="200"/>
              </a:spcBef>
              <a:buFont typeface="Wingdings" panose="05000000000000000000" pitchFamily="2" charset="2"/>
              <a:buChar char="§"/>
            </a:pPr>
            <a:r>
              <a:rPr sz="2000" dirty="0">
                <a:latin typeface="Trebuchet MS"/>
                <a:cs typeface="Trebuchet MS"/>
              </a:rPr>
              <a:t>The </a:t>
            </a:r>
            <a:r>
              <a:rPr sz="2000" spc="45" dirty="0">
                <a:latin typeface="Trebuchet MS"/>
                <a:cs typeface="Trebuchet MS"/>
              </a:rPr>
              <a:t>number </a:t>
            </a:r>
            <a:r>
              <a:rPr sz="2000" spc="15" dirty="0">
                <a:latin typeface="Trebuchet MS"/>
                <a:cs typeface="Trebuchet MS"/>
              </a:rPr>
              <a:t>of </a:t>
            </a:r>
            <a:r>
              <a:rPr sz="2000" dirty="0">
                <a:latin typeface="Trebuchet MS"/>
                <a:cs typeface="Trebuchet MS"/>
              </a:rPr>
              <a:t>partitions </a:t>
            </a:r>
            <a:r>
              <a:rPr sz="2000" spc="-15" dirty="0">
                <a:latin typeface="Trebuchet MS"/>
                <a:cs typeface="Trebuchet MS"/>
              </a:rPr>
              <a:t>is </a:t>
            </a:r>
            <a:r>
              <a:rPr sz="2000" spc="25" dirty="0">
                <a:latin typeface="Trebuchet MS"/>
                <a:cs typeface="Trebuchet MS"/>
              </a:rPr>
              <a:t>not</a:t>
            </a:r>
            <a:r>
              <a:rPr sz="2000" spc="-25" dirty="0">
                <a:latin typeface="Trebuchet MS"/>
                <a:cs typeface="Trebuchet MS"/>
              </a:rPr>
              <a:t> </a:t>
            </a:r>
            <a:r>
              <a:rPr sz="2000" spc="-75" dirty="0">
                <a:latin typeface="Trebuchet MS"/>
                <a:cs typeface="Trebuchet MS"/>
              </a:rPr>
              <a:t>fixed.</a:t>
            </a:r>
            <a:endParaRPr sz="2000" dirty="0">
              <a:latin typeface="Trebuchet MS"/>
              <a:cs typeface="Trebuchet MS"/>
            </a:endParaRPr>
          </a:p>
          <a:p>
            <a:pPr marL="355600" indent="-342900">
              <a:lnSpc>
                <a:spcPct val="100000"/>
              </a:lnSpc>
              <a:spcBef>
                <a:spcPts val="200"/>
              </a:spcBef>
              <a:buFont typeface="Wingdings" panose="05000000000000000000" pitchFamily="2" charset="2"/>
              <a:buChar char="§"/>
            </a:pPr>
            <a:r>
              <a:rPr sz="2000" spc="-5" dirty="0">
                <a:latin typeface="Trebuchet MS"/>
                <a:cs typeface="Trebuchet MS"/>
              </a:rPr>
              <a:t>Partitions </a:t>
            </a:r>
            <a:r>
              <a:rPr sz="2000" spc="20" dirty="0">
                <a:latin typeface="Trebuchet MS"/>
                <a:cs typeface="Trebuchet MS"/>
              </a:rPr>
              <a:t>or </a:t>
            </a:r>
            <a:r>
              <a:rPr sz="2000" dirty="0">
                <a:latin typeface="Trebuchet MS"/>
                <a:cs typeface="Trebuchet MS"/>
              </a:rPr>
              <a:t>buckets </a:t>
            </a:r>
            <a:r>
              <a:rPr sz="2000" spc="15" dirty="0">
                <a:latin typeface="Trebuchet MS"/>
                <a:cs typeface="Trebuchet MS"/>
              </a:rPr>
              <a:t>can </a:t>
            </a:r>
            <a:r>
              <a:rPr sz="2000" dirty="0">
                <a:latin typeface="Trebuchet MS"/>
                <a:cs typeface="Trebuchet MS"/>
              </a:rPr>
              <a:t>be </a:t>
            </a:r>
            <a:r>
              <a:rPr sz="2000" spc="-25" dirty="0">
                <a:latin typeface="Trebuchet MS"/>
                <a:cs typeface="Trebuchet MS"/>
              </a:rPr>
              <a:t>created </a:t>
            </a:r>
            <a:r>
              <a:rPr sz="2000" spc="5" dirty="0">
                <a:latin typeface="Trebuchet MS"/>
                <a:cs typeface="Trebuchet MS"/>
              </a:rPr>
              <a:t>in </a:t>
            </a:r>
            <a:r>
              <a:rPr sz="2000" spc="55" dirty="0">
                <a:latin typeface="Trebuchet MS"/>
                <a:cs typeface="Trebuchet MS"/>
              </a:rPr>
              <a:t>a </a:t>
            </a:r>
            <a:r>
              <a:rPr sz="2000" spc="-30" dirty="0">
                <a:latin typeface="Trebuchet MS"/>
                <a:cs typeface="Trebuchet MS"/>
              </a:rPr>
              <a:t>partition.</a:t>
            </a:r>
            <a:endParaRPr sz="2000" dirty="0">
              <a:latin typeface="Trebuchet MS"/>
              <a:cs typeface="Trebuchet MS"/>
            </a:endParaRPr>
          </a:p>
        </p:txBody>
      </p:sp>
      <p:sp>
        <p:nvSpPr>
          <p:cNvPr id="9" name="object 9"/>
          <p:cNvSpPr txBox="1"/>
          <p:nvPr/>
        </p:nvSpPr>
        <p:spPr>
          <a:xfrm>
            <a:off x="799287" y="2995168"/>
            <a:ext cx="130175" cy="193675"/>
          </a:xfrm>
          <a:prstGeom prst="rect">
            <a:avLst/>
          </a:prstGeom>
        </p:spPr>
        <p:txBody>
          <a:bodyPr vert="horz" wrap="square" lIns="0" tIns="13335" rIns="0" bIns="0" rtlCol="0">
            <a:spAutoFit/>
          </a:bodyPr>
          <a:lstStyle/>
          <a:p>
            <a:pPr marL="12700">
              <a:lnSpc>
                <a:spcPct val="100000"/>
              </a:lnSpc>
              <a:spcBef>
                <a:spcPts val="105"/>
              </a:spcBef>
            </a:pPr>
            <a:r>
              <a:rPr sz="1100" dirty="0">
                <a:latin typeface="Wingdings"/>
                <a:cs typeface="Wingdings"/>
              </a:rPr>
              <a:t></a:t>
            </a:r>
            <a:endParaRPr sz="1100">
              <a:latin typeface="Wingdings"/>
              <a:cs typeface="Wingdings"/>
            </a:endParaRPr>
          </a:p>
        </p:txBody>
      </p:sp>
      <p:sp>
        <p:nvSpPr>
          <p:cNvPr id="10" name="object 10"/>
          <p:cNvSpPr txBox="1"/>
          <p:nvPr/>
        </p:nvSpPr>
        <p:spPr>
          <a:xfrm>
            <a:off x="1101039" y="2915920"/>
            <a:ext cx="5064760" cy="360680"/>
          </a:xfrm>
          <a:prstGeom prst="rect">
            <a:avLst/>
          </a:prstGeom>
        </p:spPr>
        <p:txBody>
          <a:bodyPr vert="horz" wrap="square" lIns="0" tIns="12065" rIns="0" bIns="0" rtlCol="0">
            <a:spAutoFit/>
          </a:bodyPr>
          <a:lstStyle/>
          <a:p>
            <a:pPr marL="12700">
              <a:lnSpc>
                <a:spcPct val="100000"/>
              </a:lnSpc>
              <a:spcBef>
                <a:spcPts val="95"/>
              </a:spcBef>
            </a:pPr>
            <a:r>
              <a:rPr sz="2200" spc="65" dirty="0">
                <a:latin typeface="Trebuchet MS"/>
                <a:cs typeface="Trebuchet MS"/>
              </a:rPr>
              <a:t>Data </a:t>
            </a:r>
            <a:r>
              <a:rPr sz="2200" spc="15" dirty="0">
                <a:latin typeface="Trebuchet MS"/>
                <a:cs typeface="Trebuchet MS"/>
              </a:rPr>
              <a:t>can </a:t>
            </a:r>
            <a:r>
              <a:rPr sz="2200" spc="-10" dirty="0">
                <a:latin typeface="Trebuchet MS"/>
                <a:cs typeface="Trebuchet MS"/>
              </a:rPr>
              <a:t>be </a:t>
            </a:r>
            <a:r>
              <a:rPr sz="2200" spc="-5" dirty="0">
                <a:latin typeface="Trebuchet MS"/>
                <a:cs typeface="Trebuchet MS"/>
              </a:rPr>
              <a:t>stored </a:t>
            </a:r>
            <a:r>
              <a:rPr sz="2200" spc="5" dirty="0">
                <a:latin typeface="Trebuchet MS"/>
                <a:cs typeface="Trebuchet MS"/>
              </a:rPr>
              <a:t>in </a:t>
            </a:r>
            <a:r>
              <a:rPr sz="2200" spc="-25" dirty="0">
                <a:latin typeface="Trebuchet MS"/>
                <a:cs typeface="Trebuchet MS"/>
              </a:rPr>
              <a:t>different</a:t>
            </a:r>
            <a:r>
              <a:rPr sz="2200" spc="60" dirty="0">
                <a:latin typeface="Trebuchet MS"/>
                <a:cs typeface="Trebuchet MS"/>
              </a:rPr>
              <a:t> </a:t>
            </a:r>
            <a:r>
              <a:rPr sz="2200" spc="-40" dirty="0">
                <a:latin typeface="Trebuchet MS"/>
                <a:cs typeface="Trebuchet MS"/>
              </a:rPr>
              <a:t>buckets.</a:t>
            </a:r>
            <a:endParaRPr sz="2200" dirty="0">
              <a:latin typeface="Trebuchet MS"/>
              <a:cs typeface="Trebuchet MS"/>
            </a:endParaRPr>
          </a:p>
        </p:txBody>
      </p:sp>
      <p:sp>
        <p:nvSpPr>
          <p:cNvPr id="12" name="object 12"/>
          <p:cNvSpPr txBox="1"/>
          <p:nvPr/>
        </p:nvSpPr>
        <p:spPr>
          <a:xfrm>
            <a:off x="1419350" y="3445397"/>
            <a:ext cx="9867900" cy="1295226"/>
          </a:xfrm>
          <a:prstGeom prst="rect">
            <a:avLst/>
          </a:prstGeom>
        </p:spPr>
        <p:txBody>
          <a:bodyPr vert="horz" wrap="square" lIns="0" tIns="12700" rIns="0" bIns="0" rtlCol="0">
            <a:spAutoFit/>
          </a:bodyPr>
          <a:lstStyle/>
          <a:p>
            <a:pPr marL="355600" indent="-342900">
              <a:lnSpc>
                <a:spcPct val="100000"/>
              </a:lnSpc>
              <a:spcBef>
                <a:spcPts val="200"/>
              </a:spcBef>
              <a:buFont typeface="Wingdings" panose="05000000000000000000" pitchFamily="2" charset="2"/>
              <a:buChar char="§"/>
            </a:pPr>
            <a:r>
              <a:rPr sz="2000" spc="15" dirty="0">
                <a:latin typeface="Trebuchet MS"/>
                <a:cs typeface="Trebuchet MS"/>
              </a:rPr>
              <a:t>Each </a:t>
            </a:r>
            <a:r>
              <a:rPr sz="2000" spc="-5" dirty="0">
                <a:latin typeface="Trebuchet MS"/>
                <a:cs typeface="Trebuchet MS"/>
              </a:rPr>
              <a:t>bucket </a:t>
            </a:r>
            <a:r>
              <a:rPr sz="2000" spc="-10" dirty="0">
                <a:latin typeface="Trebuchet MS"/>
                <a:cs typeface="Trebuchet MS"/>
              </a:rPr>
              <a:t>is </a:t>
            </a:r>
            <a:r>
              <a:rPr sz="2000" spc="55" dirty="0">
                <a:latin typeface="Trebuchet MS"/>
                <a:cs typeface="Trebuchet MS"/>
              </a:rPr>
              <a:t>a</a:t>
            </a:r>
            <a:r>
              <a:rPr sz="2000" spc="70" dirty="0">
                <a:latin typeface="Trebuchet MS"/>
                <a:cs typeface="Trebuchet MS"/>
              </a:rPr>
              <a:t> </a:t>
            </a:r>
            <a:r>
              <a:rPr sz="2000" spc="-95" dirty="0">
                <a:latin typeface="Trebuchet MS"/>
                <a:cs typeface="Trebuchet MS"/>
              </a:rPr>
              <a:t>file.</a:t>
            </a:r>
            <a:endParaRPr sz="2000" dirty="0">
              <a:latin typeface="Trebuchet MS"/>
              <a:cs typeface="Trebuchet MS"/>
            </a:endParaRPr>
          </a:p>
          <a:p>
            <a:pPr marL="355600" indent="-342900">
              <a:lnSpc>
                <a:spcPct val="100000"/>
              </a:lnSpc>
              <a:spcBef>
                <a:spcPts val="200"/>
              </a:spcBef>
              <a:buFont typeface="Wingdings" panose="05000000000000000000" pitchFamily="2" charset="2"/>
              <a:buChar char="§"/>
            </a:pPr>
            <a:r>
              <a:rPr sz="2000" dirty="0">
                <a:latin typeface="Trebuchet MS"/>
                <a:cs typeface="Trebuchet MS"/>
              </a:rPr>
              <a:t>The </a:t>
            </a:r>
            <a:r>
              <a:rPr sz="2000" spc="45" dirty="0">
                <a:latin typeface="Trebuchet MS"/>
                <a:cs typeface="Trebuchet MS"/>
              </a:rPr>
              <a:t>number </a:t>
            </a:r>
            <a:r>
              <a:rPr sz="2000" spc="20" dirty="0">
                <a:latin typeface="Trebuchet MS"/>
                <a:cs typeface="Trebuchet MS"/>
              </a:rPr>
              <a:t>of </a:t>
            </a:r>
            <a:r>
              <a:rPr sz="2000" dirty="0">
                <a:latin typeface="Trebuchet MS"/>
                <a:cs typeface="Trebuchet MS"/>
              </a:rPr>
              <a:t>buckets </a:t>
            </a:r>
            <a:r>
              <a:rPr sz="2000" spc="-10" dirty="0">
                <a:latin typeface="Trebuchet MS"/>
                <a:cs typeface="Trebuchet MS"/>
              </a:rPr>
              <a:t>is </a:t>
            </a:r>
            <a:r>
              <a:rPr sz="2000" spc="-25" dirty="0">
                <a:latin typeface="Trebuchet MS"/>
                <a:cs typeface="Trebuchet MS"/>
              </a:rPr>
              <a:t>specified </a:t>
            </a:r>
            <a:r>
              <a:rPr sz="2000" spc="50" dirty="0">
                <a:latin typeface="Trebuchet MS"/>
                <a:cs typeface="Trebuchet MS"/>
              </a:rPr>
              <a:t>when </a:t>
            </a:r>
            <a:r>
              <a:rPr sz="2000" dirty="0">
                <a:latin typeface="Trebuchet MS"/>
                <a:cs typeface="Trebuchet MS"/>
              </a:rPr>
              <a:t>creating </a:t>
            </a:r>
            <a:r>
              <a:rPr sz="2000" spc="55" dirty="0">
                <a:latin typeface="Trebuchet MS"/>
                <a:cs typeface="Trebuchet MS"/>
              </a:rPr>
              <a:t>a </a:t>
            </a:r>
            <a:r>
              <a:rPr sz="2000" spc="-60" dirty="0">
                <a:latin typeface="Trebuchet MS"/>
                <a:cs typeface="Trebuchet MS"/>
              </a:rPr>
              <a:t>table. </a:t>
            </a:r>
            <a:r>
              <a:rPr sz="2000" dirty="0">
                <a:latin typeface="Trebuchet MS"/>
                <a:cs typeface="Trebuchet MS"/>
              </a:rPr>
              <a:t>The buckets </a:t>
            </a:r>
            <a:r>
              <a:rPr sz="2000" spc="15" dirty="0">
                <a:latin typeface="Trebuchet MS"/>
                <a:cs typeface="Trebuchet MS"/>
              </a:rPr>
              <a:t>can </a:t>
            </a:r>
            <a:r>
              <a:rPr sz="2000" dirty="0">
                <a:latin typeface="Trebuchet MS"/>
                <a:cs typeface="Trebuchet MS"/>
              </a:rPr>
              <a:t>be</a:t>
            </a:r>
            <a:r>
              <a:rPr sz="2000" spc="60" dirty="0">
                <a:latin typeface="Trebuchet MS"/>
                <a:cs typeface="Trebuchet MS"/>
              </a:rPr>
              <a:t> </a:t>
            </a:r>
            <a:r>
              <a:rPr sz="2000" spc="-35" dirty="0">
                <a:latin typeface="Trebuchet MS"/>
                <a:cs typeface="Trebuchet MS"/>
              </a:rPr>
              <a:t>sorted.</a:t>
            </a:r>
            <a:endParaRPr sz="2000" dirty="0">
              <a:latin typeface="Trebuchet MS"/>
              <a:cs typeface="Trebuchet MS"/>
            </a:endParaRPr>
          </a:p>
          <a:p>
            <a:pPr marL="355600" indent="-342900">
              <a:lnSpc>
                <a:spcPct val="100000"/>
              </a:lnSpc>
              <a:spcBef>
                <a:spcPts val="200"/>
              </a:spcBef>
              <a:buFont typeface="Wingdings" panose="05000000000000000000" pitchFamily="2" charset="2"/>
              <a:buChar char="§"/>
            </a:pPr>
            <a:r>
              <a:rPr sz="2000" spc="65" dirty="0">
                <a:latin typeface="Trebuchet MS"/>
                <a:cs typeface="Trebuchet MS"/>
              </a:rPr>
              <a:t>Data </a:t>
            </a:r>
            <a:r>
              <a:rPr sz="2000" spc="-15" dirty="0">
                <a:latin typeface="Trebuchet MS"/>
                <a:cs typeface="Trebuchet MS"/>
              </a:rPr>
              <a:t>is </a:t>
            </a:r>
            <a:r>
              <a:rPr sz="2000" spc="40" dirty="0">
                <a:latin typeface="Trebuchet MS"/>
                <a:cs typeface="Trebuchet MS"/>
              </a:rPr>
              <a:t>hashed </a:t>
            </a:r>
            <a:r>
              <a:rPr sz="2000" spc="25" dirty="0">
                <a:latin typeface="Trebuchet MS"/>
                <a:cs typeface="Trebuchet MS"/>
              </a:rPr>
              <a:t>based </a:t>
            </a:r>
            <a:r>
              <a:rPr sz="2000" spc="75" dirty="0">
                <a:latin typeface="Trebuchet MS"/>
                <a:cs typeface="Trebuchet MS"/>
              </a:rPr>
              <a:t>on </a:t>
            </a:r>
            <a:r>
              <a:rPr sz="2000" spc="-10" dirty="0">
                <a:latin typeface="Trebuchet MS"/>
                <a:cs typeface="Trebuchet MS"/>
              </a:rPr>
              <a:t>the </a:t>
            </a:r>
            <a:r>
              <a:rPr sz="2000" spc="5" dirty="0">
                <a:latin typeface="Trebuchet MS"/>
                <a:cs typeface="Trebuchet MS"/>
              </a:rPr>
              <a:t>value </a:t>
            </a:r>
            <a:r>
              <a:rPr sz="2000" spc="15" dirty="0">
                <a:latin typeface="Trebuchet MS"/>
                <a:cs typeface="Trebuchet MS"/>
              </a:rPr>
              <a:t>of </a:t>
            </a:r>
            <a:r>
              <a:rPr sz="2000" spc="55" dirty="0">
                <a:latin typeface="Trebuchet MS"/>
                <a:cs typeface="Trebuchet MS"/>
              </a:rPr>
              <a:t>a </a:t>
            </a:r>
            <a:r>
              <a:rPr sz="2000" spc="-35" dirty="0">
                <a:latin typeface="Trebuchet MS"/>
                <a:cs typeface="Trebuchet MS"/>
              </a:rPr>
              <a:t>field </a:t>
            </a:r>
            <a:r>
              <a:rPr sz="2000" spc="50" dirty="0">
                <a:latin typeface="Trebuchet MS"/>
                <a:cs typeface="Trebuchet MS"/>
              </a:rPr>
              <a:t>and </a:t>
            </a:r>
            <a:r>
              <a:rPr sz="2000" spc="10" dirty="0">
                <a:latin typeface="Trebuchet MS"/>
                <a:cs typeface="Trebuchet MS"/>
              </a:rPr>
              <a:t>then </a:t>
            </a:r>
            <a:r>
              <a:rPr sz="2000" dirty="0">
                <a:latin typeface="Trebuchet MS"/>
                <a:cs typeface="Trebuchet MS"/>
              </a:rPr>
              <a:t>stored </a:t>
            </a:r>
            <a:r>
              <a:rPr sz="2000" spc="5" dirty="0">
                <a:latin typeface="Trebuchet MS"/>
                <a:cs typeface="Trebuchet MS"/>
              </a:rPr>
              <a:t>in </a:t>
            </a:r>
            <a:r>
              <a:rPr sz="2000" spc="55" dirty="0">
                <a:latin typeface="Trebuchet MS"/>
                <a:cs typeface="Trebuchet MS"/>
              </a:rPr>
              <a:t>a</a:t>
            </a:r>
            <a:r>
              <a:rPr sz="2000" spc="-145" dirty="0">
                <a:latin typeface="Trebuchet MS"/>
                <a:cs typeface="Trebuchet MS"/>
              </a:rPr>
              <a:t> </a:t>
            </a:r>
            <a:r>
              <a:rPr sz="2000" spc="-45" dirty="0">
                <a:latin typeface="Trebuchet MS"/>
                <a:cs typeface="Trebuchet MS"/>
              </a:rPr>
              <a:t>bucket.</a:t>
            </a:r>
            <a:endParaRPr sz="2000" dirty="0">
              <a:latin typeface="Trebuchet MS"/>
              <a:cs typeface="Trebuchet MS"/>
            </a:endParaRPr>
          </a:p>
        </p:txBody>
      </p:sp>
      <p:sp>
        <p:nvSpPr>
          <p:cNvPr id="16" name="object 2"/>
          <p:cNvSpPr txBox="1"/>
          <p:nvPr/>
        </p:nvSpPr>
        <p:spPr>
          <a:xfrm>
            <a:off x="279287" y="5077744"/>
            <a:ext cx="11532358" cy="1548020"/>
          </a:xfrm>
          <a:prstGeom prst="rect">
            <a:avLst/>
          </a:prstGeom>
          <a:ln>
            <a:solidFill>
              <a:schemeClr val="accent2"/>
            </a:solidFill>
          </a:ln>
        </p:spPr>
        <p:txBody>
          <a:bodyPr vert="horz" wrap="square" lIns="0" tIns="9049" rIns="0" bIns="0" rtlCol="0">
            <a:spAutoFit/>
          </a:bodyPr>
          <a:lstStyle/>
          <a:p>
            <a:pPr marL="138113" marR="3810" indent="-128588" algn="just">
              <a:spcBef>
                <a:spcPts val="71"/>
              </a:spcBef>
              <a:buFont typeface="Wingdings"/>
              <a:buChar char=""/>
              <a:tabLst>
                <a:tab pos="138113" algn="l"/>
              </a:tabLst>
            </a:pPr>
            <a:r>
              <a:rPr sz="2000" u="sng" spc="30" dirty="0">
                <a:latin typeface="UKIJ CJK"/>
                <a:cs typeface="UKIJ CJK"/>
              </a:rPr>
              <a:t>Hive </a:t>
            </a:r>
            <a:r>
              <a:rPr sz="2000" u="sng" spc="19" dirty="0">
                <a:latin typeface="UKIJ CJK"/>
                <a:cs typeface="UKIJ CJK"/>
              </a:rPr>
              <a:t>can </a:t>
            </a:r>
            <a:r>
              <a:rPr sz="2000" u="sng" spc="26" dirty="0">
                <a:latin typeface="UKIJ CJK"/>
                <a:cs typeface="UKIJ CJK"/>
              </a:rPr>
              <a:t>organize </a:t>
            </a:r>
            <a:r>
              <a:rPr sz="2000" u="sng" spc="19" dirty="0">
                <a:latin typeface="UKIJ CJK"/>
                <a:cs typeface="UKIJ CJK"/>
              </a:rPr>
              <a:t>tables </a:t>
            </a:r>
            <a:r>
              <a:rPr sz="2000" u="sng" spc="15" dirty="0">
                <a:latin typeface="UKIJ CJK"/>
                <a:cs typeface="UKIJ CJK"/>
              </a:rPr>
              <a:t>or partitions </a:t>
            </a:r>
            <a:r>
              <a:rPr sz="2000" u="sng" spc="34" dirty="0">
                <a:latin typeface="UKIJ CJK"/>
                <a:cs typeface="UKIJ CJK"/>
              </a:rPr>
              <a:t>to </a:t>
            </a:r>
            <a:r>
              <a:rPr sz="2000" u="sng" spc="23" dirty="0">
                <a:latin typeface="UKIJ CJK"/>
                <a:cs typeface="UKIJ CJK"/>
              </a:rPr>
              <a:t>buckets, that </a:t>
            </a:r>
            <a:r>
              <a:rPr sz="2000" u="sng" dirty="0">
                <a:latin typeface="UKIJ CJK"/>
                <a:cs typeface="UKIJ CJK"/>
              </a:rPr>
              <a:t>is, </a:t>
            </a:r>
            <a:r>
              <a:rPr sz="2000" u="sng" spc="26" dirty="0">
                <a:latin typeface="UKIJ CJK"/>
                <a:cs typeface="UKIJ CJK"/>
              </a:rPr>
              <a:t>buckets </a:t>
            </a:r>
            <a:r>
              <a:rPr sz="2000" u="sng" spc="8" dirty="0">
                <a:latin typeface="UKIJ CJK"/>
                <a:cs typeface="UKIJ CJK"/>
              </a:rPr>
              <a:t>are </a:t>
            </a:r>
            <a:r>
              <a:rPr sz="2000" u="sng" spc="26" dirty="0">
                <a:latin typeface="UKIJ CJK"/>
                <a:cs typeface="UKIJ CJK"/>
              </a:rPr>
              <a:t>divided  </a:t>
            </a:r>
            <a:r>
              <a:rPr sz="2000" u="sng" spc="38" dirty="0">
                <a:latin typeface="UKIJ CJK"/>
                <a:cs typeface="UKIJ CJK"/>
              </a:rPr>
              <a:t>by </a:t>
            </a:r>
            <a:r>
              <a:rPr sz="2000" u="sng" spc="11" dirty="0">
                <a:latin typeface="UKIJ CJK"/>
                <a:cs typeface="UKIJ CJK"/>
              </a:rPr>
              <a:t>smaller </a:t>
            </a:r>
            <a:r>
              <a:rPr sz="2000" u="sng" spc="23" dirty="0">
                <a:latin typeface="UKIJ CJK"/>
                <a:cs typeface="UKIJ CJK"/>
              </a:rPr>
              <a:t>data</a:t>
            </a:r>
            <a:r>
              <a:rPr sz="2000" u="sng" spc="45" dirty="0">
                <a:latin typeface="UKIJ CJK"/>
                <a:cs typeface="UKIJ CJK"/>
              </a:rPr>
              <a:t> </a:t>
            </a:r>
            <a:r>
              <a:rPr sz="2000" u="sng" spc="15" dirty="0">
                <a:latin typeface="UKIJ CJK"/>
                <a:cs typeface="UKIJ CJK"/>
              </a:rPr>
              <a:t>ranges.</a:t>
            </a:r>
            <a:endParaRPr sz="2000" u="sng" dirty="0">
              <a:latin typeface="UKIJ CJK"/>
              <a:cs typeface="UKIJ CJK"/>
            </a:endParaRPr>
          </a:p>
          <a:p>
            <a:pPr marL="138113" marR="118110" indent="-128588" algn="just">
              <a:buFont typeface="Wingdings"/>
              <a:buChar char=""/>
              <a:tabLst>
                <a:tab pos="138113" algn="l"/>
              </a:tabLst>
            </a:pPr>
            <a:r>
              <a:rPr sz="2000" spc="75" dirty="0">
                <a:latin typeface="UKIJ CJK"/>
                <a:cs typeface="UKIJ CJK"/>
              </a:rPr>
              <a:t>A </a:t>
            </a:r>
            <a:r>
              <a:rPr sz="2000" spc="23" dirty="0">
                <a:latin typeface="UKIJ CJK"/>
                <a:cs typeface="UKIJ CJK"/>
              </a:rPr>
              <a:t>column </a:t>
            </a:r>
            <a:r>
              <a:rPr sz="2000" spc="19" dirty="0">
                <a:latin typeface="UKIJ CJK"/>
                <a:cs typeface="UKIJ CJK"/>
              </a:rPr>
              <a:t>can </a:t>
            </a:r>
            <a:r>
              <a:rPr sz="2000" spc="34" dirty="0">
                <a:latin typeface="UKIJ CJK"/>
                <a:cs typeface="UKIJ CJK"/>
              </a:rPr>
              <a:t>be </a:t>
            </a:r>
            <a:r>
              <a:rPr sz="2000" spc="30" dirty="0">
                <a:latin typeface="UKIJ CJK"/>
                <a:cs typeface="UKIJ CJK"/>
              </a:rPr>
              <a:t>bucket </a:t>
            </a:r>
            <a:r>
              <a:rPr sz="2000" spc="38" dirty="0">
                <a:latin typeface="UKIJ CJK"/>
                <a:cs typeface="UKIJ CJK"/>
              </a:rPr>
              <a:t>by </a:t>
            </a:r>
            <a:r>
              <a:rPr sz="2000" spc="26" dirty="0">
                <a:latin typeface="UKIJ CJK"/>
                <a:cs typeface="UKIJ CJK"/>
              </a:rPr>
              <a:t>using </a:t>
            </a:r>
            <a:r>
              <a:rPr sz="2000" spc="19" dirty="0">
                <a:latin typeface="UKIJ CJK"/>
                <a:cs typeface="UKIJ CJK"/>
              </a:rPr>
              <a:t>Hive. </a:t>
            </a:r>
            <a:r>
              <a:rPr sz="2000" spc="30" dirty="0">
                <a:latin typeface="UKIJ CJK"/>
                <a:cs typeface="UKIJ CJK"/>
              </a:rPr>
              <a:t>Hive </a:t>
            </a:r>
            <a:r>
              <a:rPr sz="2000" spc="15" dirty="0">
                <a:latin typeface="UKIJ CJK"/>
                <a:cs typeface="UKIJ CJK"/>
              </a:rPr>
              <a:t>hashes </a:t>
            </a:r>
            <a:r>
              <a:rPr sz="2000" spc="23" dirty="0">
                <a:latin typeface="UKIJ CJK"/>
                <a:cs typeface="UKIJ CJK"/>
              </a:rPr>
              <a:t>the column </a:t>
            </a:r>
            <a:r>
              <a:rPr sz="2000" spc="15" dirty="0">
                <a:latin typeface="UKIJ CJK"/>
                <a:cs typeface="UKIJ CJK"/>
              </a:rPr>
              <a:t>value, </a:t>
            </a:r>
            <a:r>
              <a:rPr sz="2000" spc="26" dirty="0">
                <a:latin typeface="UKIJ CJK"/>
                <a:cs typeface="UKIJ CJK"/>
              </a:rPr>
              <a:t>and  </a:t>
            </a:r>
            <a:r>
              <a:rPr sz="2000" spc="23" dirty="0">
                <a:latin typeface="UKIJ CJK"/>
                <a:cs typeface="UKIJ CJK"/>
              </a:rPr>
              <a:t>then </a:t>
            </a:r>
            <a:r>
              <a:rPr sz="2000" spc="11" dirty="0">
                <a:latin typeface="UKIJ CJK"/>
                <a:cs typeface="UKIJ CJK"/>
              </a:rPr>
              <a:t>uses </a:t>
            </a:r>
            <a:r>
              <a:rPr sz="2000" spc="23" dirty="0">
                <a:latin typeface="UKIJ CJK"/>
                <a:cs typeface="UKIJ CJK"/>
              </a:rPr>
              <a:t>the </a:t>
            </a:r>
            <a:r>
              <a:rPr sz="2000" spc="26" dirty="0">
                <a:latin typeface="UKIJ CJK"/>
                <a:cs typeface="UKIJ CJK"/>
              </a:rPr>
              <a:t>obtained </a:t>
            </a:r>
            <a:r>
              <a:rPr sz="2000" spc="19" dirty="0">
                <a:latin typeface="UKIJ CJK"/>
                <a:cs typeface="UKIJ CJK"/>
              </a:rPr>
              <a:t>value </a:t>
            </a:r>
            <a:r>
              <a:rPr sz="2000" spc="34" dirty="0">
                <a:latin typeface="UKIJ CJK"/>
                <a:cs typeface="UKIJ CJK"/>
              </a:rPr>
              <a:t>to </a:t>
            </a:r>
            <a:r>
              <a:rPr sz="2000" spc="23" dirty="0">
                <a:latin typeface="UKIJ CJK"/>
                <a:cs typeface="UKIJ CJK"/>
              </a:rPr>
              <a:t>divide the </a:t>
            </a:r>
            <a:r>
              <a:rPr sz="2000" spc="19" dirty="0">
                <a:latin typeface="UKIJ CJK"/>
                <a:cs typeface="UKIJ CJK"/>
              </a:rPr>
              <a:t>number </a:t>
            </a:r>
            <a:r>
              <a:rPr sz="2000" spc="30" dirty="0">
                <a:latin typeface="UKIJ CJK"/>
                <a:cs typeface="UKIJ CJK"/>
              </a:rPr>
              <a:t>of </a:t>
            </a:r>
            <a:r>
              <a:rPr sz="2000" spc="19" dirty="0">
                <a:latin typeface="UKIJ CJK"/>
                <a:cs typeface="UKIJ CJK"/>
              </a:rPr>
              <a:t>buckets. </a:t>
            </a:r>
            <a:r>
              <a:rPr sz="2000" spc="15" dirty="0">
                <a:latin typeface="UKIJ CJK"/>
                <a:cs typeface="UKIJ CJK"/>
              </a:rPr>
              <a:t>This  </a:t>
            </a:r>
            <a:r>
              <a:rPr sz="2000" spc="19" dirty="0">
                <a:latin typeface="UKIJ CJK"/>
                <a:cs typeface="UKIJ CJK"/>
              </a:rPr>
              <a:t>determines </a:t>
            </a:r>
            <a:r>
              <a:rPr sz="2000" spc="11" dirty="0">
                <a:latin typeface="UKIJ CJK"/>
                <a:cs typeface="UKIJ CJK"/>
              </a:rPr>
              <a:t>in </a:t>
            </a:r>
            <a:r>
              <a:rPr sz="2000" spc="19" dirty="0">
                <a:latin typeface="UKIJ CJK"/>
                <a:cs typeface="UKIJ CJK"/>
              </a:rPr>
              <a:t>which </a:t>
            </a:r>
            <a:r>
              <a:rPr sz="2000" spc="30" dirty="0">
                <a:latin typeface="UKIJ CJK"/>
                <a:cs typeface="UKIJ CJK"/>
              </a:rPr>
              <a:t>bucket </a:t>
            </a:r>
            <a:r>
              <a:rPr sz="2000" spc="23" dirty="0">
                <a:latin typeface="UKIJ CJK"/>
                <a:cs typeface="UKIJ CJK"/>
              </a:rPr>
              <a:t>should the </a:t>
            </a:r>
            <a:r>
              <a:rPr sz="2000" spc="19" dirty="0">
                <a:latin typeface="UKIJ CJK"/>
                <a:cs typeface="UKIJ CJK"/>
              </a:rPr>
              <a:t>record </a:t>
            </a:r>
            <a:r>
              <a:rPr sz="2000" spc="34" dirty="0">
                <a:latin typeface="UKIJ CJK"/>
                <a:cs typeface="UKIJ CJK"/>
              </a:rPr>
              <a:t>be </a:t>
            </a:r>
            <a:r>
              <a:rPr sz="2000" spc="15" dirty="0">
                <a:latin typeface="UKIJ CJK"/>
                <a:cs typeface="UKIJ CJK"/>
              </a:rPr>
              <a:t>stored. </a:t>
            </a:r>
            <a:r>
              <a:rPr sz="2000" spc="19" dirty="0">
                <a:latin typeface="UKIJ CJK"/>
                <a:cs typeface="UKIJ CJK"/>
              </a:rPr>
              <a:t>Buckets </a:t>
            </a:r>
            <a:r>
              <a:rPr sz="2000" spc="26" dirty="0">
                <a:latin typeface="UKIJ CJK"/>
                <a:cs typeface="UKIJ CJK"/>
              </a:rPr>
              <a:t>make  </a:t>
            </a:r>
            <a:r>
              <a:rPr sz="2000" spc="19" dirty="0">
                <a:latin typeface="UKIJ CJK"/>
                <a:cs typeface="UKIJ CJK"/>
              </a:rPr>
              <a:t>query </a:t>
            </a:r>
            <a:r>
              <a:rPr sz="2000" spc="26" dirty="0">
                <a:latin typeface="UKIJ CJK"/>
                <a:cs typeface="UKIJ CJK"/>
              </a:rPr>
              <a:t>and </a:t>
            </a:r>
            <a:r>
              <a:rPr sz="2000" spc="19" dirty="0">
                <a:latin typeface="UKIJ CJK"/>
                <a:cs typeface="UKIJ CJK"/>
              </a:rPr>
              <a:t>sample </a:t>
            </a:r>
            <a:r>
              <a:rPr sz="2000" spc="23" dirty="0">
                <a:latin typeface="UKIJ CJK"/>
                <a:cs typeface="UKIJ CJK"/>
              </a:rPr>
              <a:t>more</a:t>
            </a:r>
            <a:r>
              <a:rPr sz="2000" spc="56" dirty="0">
                <a:latin typeface="UKIJ CJK"/>
                <a:cs typeface="UKIJ CJK"/>
              </a:rPr>
              <a:t> </a:t>
            </a:r>
            <a:r>
              <a:rPr sz="2000" spc="11" dirty="0">
                <a:latin typeface="UKIJ CJK"/>
                <a:cs typeface="UKIJ CJK"/>
              </a:rPr>
              <a:t>efficient</a:t>
            </a:r>
            <a:r>
              <a:rPr sz="2000" spc="11" dirty="0" smtClean="0">
                <a:latin typeface="UKIJ CJK"/>
                <a:cs typeface="UKIJ CJK"/>
              </a:rPr>
              <a:t>.</a:t>
            </a:r>
            <a:endParaRPr sz="2000" dirty="0">
              <a:latin typeface="UKIJ CJK"/>
              <a:cs typeface="UKIJ CJK"/>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696616" y="614833"/>
            <a:ext cx="6519876" cy="567463"/>
          </a:xfrm>
          <a:prstGeom prst="rect">
            <a:avLst/>
          </a:prstGeom>
        </p:spPr>
        <p:txBody>
          <a:bodyPr vert="horz" wrap="square" lIns="0" tIns="13335" rIns="0" bIns="0" rtlCol="0">
            <a:spAutoFit/>
          </a:bodyPr>
          <a:lstStyle/>
          <a:p>
            <a:pPr marL="12700">
              <a:lnSpc>
                <a:spcPct val="100000"/>
              </a:lnSpc>
              <a:spcBef>
                <a:spcPts val="105"/>
              </a:spcBef>
            </a:pPr>
            <a:r>
              <a:rPr spc="-15" dirty="0"/>
              <a:t>Partition </a:t>
            </a:r>
            <a:r>
              <a:rPr spc="85" dirty="0"/>
              <a:t>and</a:t>
            </a:r>
            <a:r>
              <a:rPr spc="35" dirty="0"/>
              <a:t> </a:t>
            </a:r>
            <a:r>
              <a:rPr dirty="0"/>
              <a:t>Bucket</a:t>
            </a:r>
          </a:p>
        </p:txBody>
      </p:sp>
      <p:sp>
        <p:nvSpPr>
          <p:cNvPr id="3" name="object 3"/>
          <p:cNvSpPr txBox="1"/>
          <p:nvPr/>
        </p:nvSpPr>
        <p:spPr>
          <a:xfrm>
            <a:off x="799287" y="1290574"/>
            <a:ext cx="130175" cy="193675"/>
          </a:xfrm>
          <a:prstGeom prst="rect">
            <a:avLst/>
          </a:prstGeom>
        </p:spPr>
        <p:txBody>
          <a:bodyPr vert="horz" wrap="square" lIns="0" tIns="13335" rIns="0" bIns="0" rtlCol="0">
            <a:spAutoFit/>
          </a:bodyPr>
          <a:lstStyle/>
          <a:p>
            <a:pPr marL="12700">
              <a:lnSpc>
                <a:spcPct val="100000"/>
              </a:lnSpc>
              <a:spcBef>
                <a:spcPts val="105"/>
              </a:spcBef>
            </a:pPr>
            <a:r>
              <a:rPr sz="1100" dirty="0">
                <a:latin typeface="Wingdings"/>
                <a:cs typeface="Wingdings"/>
              </a:rPr>
              <a:t></a:t>
            </a:r>
            <a:endParaRPr sz="1100">
              <a:latin typeface="Wingdings"/>
              <a:cs typeface="Wingdings"/>
            </a:endParaRPr>
          </a:p>
        </p:txBody>
      </p:sp>
      <p:sp>
        <p:nvSpPr>
          <p:cNvPr id="4" name="object 4"/>
          <p:cNvSpPr txBox="1"/>
          <p:nvPr/>
        </p:nvSpPr>
        <p:spPr>
          <a:xfrm>
            <a:off x="1101039" y="1211325"/>
            <a:ext cx="9888855" cy="360680"/>
          </a:xfrm>
          <a:prstGeom prst="rect">
            <a:avLst/>
          </a:prstGeom>
        </p:spPr>
        <p:txBody>
          <a:bodyPr vert="horz" wrap="square" lIns="0" tIns="12065" rIns="0" bIns="0" rtlCol="0">
            <a:spAutoFit/>
          </a:bodyPr>
          <a:lstStyle/>
          <a:p>
            <a:pPr marL="12700">
              <a:lnSpc>
                <a:spcPct val="100000"/>
              </a:lnSpc>
              <a:spcBef>
                <a:spcPts val="95"/>
              </a:spcBef>
            </a:pPr>
            <a:r>
              <a:rPr sz="2200" spc="-45" dirty="0">
                <a:latin typeface="Trebuchet MS"/>
                <a:cs typeface="Trebuchet MS"/>
              </a:rPr>
              <a:t>Partition: </a:t>
            </a:r>
            <a:r>
              <a:rPr sz="2200" spc="65" dirty="0">
                <a:latin typeface="Trebuchet MS"/>
                <a:cs typeface="Trebuchet MS"/>
              </a:rPr>
              <a:t>Data </a:t>
            </a:r>
            <a:r>
              <a:rPr sz="2200" spc="-10" dirty="0">
                <a:latin typeface="Trebuchet MS"/>
                <a:cs typeface="Trebuchet MS"/>
              </a:rPr>
              <a:t>tables </a:t>
            </a:r>
            <a:r>
              <a:rPr sz="2200" spc="15" dirty="0">
                <a:latin typeface="Trebuchet MS"/>
                <a:cs typeface="Trebuchet MS"/>
              </a:rPr>
              <a:t>can </a:t>
            </a:r>
            <a:r>
              <a:rPr sz="2200" spc="-10" dirty="0">
                <a:latin typeface="Trebuchet MS"/>
                <a:cs typeface="Trebuchet MS"/>
              </a:rPr>
              <a:t>be partitioned </a:t>
            </a:r>
            <a:r>
              <a:rPr sz="2200" spc="20" dirty="0">
                <a:latin typeface="Trebuchet MS"/>
                <a:cs typeface="Trebuchet MS"/>
              </a:rPr>
              <a:t>based </a:t>
            </a:r>
            <a:r>
              <a:rPr sz="2200" spc="75" dirty="0">
                <a:latin typeface="Trebuchet MS"/>
                <a:cs typeface="Trebuchet MS"/>
              </a:rPr>
              <a:t>on </a:t>
            </a:r>
            <a:r>
              <a:rPr sz="2200" spc="-15" dirty="0">
                <a:latin typeface="Trebuchet MS"/>
                <a:cs typeface="Trebuchet MS"/>
              </a:rPr>
              <a:t>the </a:t>
            </a:r>
            <a:r>
              <a:rPr sz="2200" spc="5" dirty="0">
                <a:latin typeface="Trebuchet MS"/>
                <a:cs typeface="Trebuchet MS"/>
              </a:rPr>
              <a:t>value </a:t>
            </a:r>
            <a:r>
              <a:rPr sz="2200" spc="15" dirty="0">
                <a:latin typeface="Trebuchet MS"/>
                <a:cs typeface="Trebuchet MS"/>
              </a:rPr>
              <a:t>of </a:t>
            </a:r>
            <a:r>
              <a:rPr sz="2200" spc="55" dirty="0">
                <a:latin typeface="Trebuchet MS"/>
                <a:cs typeface="Trebuchet MS"/>
              </a:rPr>
              <a:t>a </a:t>
            </a:r>
            <a:r>
              <a:rPr sz="2200" spc="-25" dirty="0">
                <a:latin typeface="Trebuchet MS"/>
                <a:cs typeface="Trebuchet MS"/>
              </a:rPr>
              <a:t>certain</a:t>
            </a:r>
            <a:r>
              <a:rPr sz="2200" spc="305" dirty="0">
                <a:latin typeface="Trebuchet MS"/>
                <a:cs typeface="Trebuchet MS"/>
              </a:rPr>
              <a:t> </a:t>
            </a:r>
            <a:r>
              <a:rPr sz="2200" spc="-80" dirty="0">
                <a:latin typeface="Trebuchet MS"/>
                <a:cs typeface="Trebuchet MS"/>
              </a:rPr>
              <a:t>field.</a:t>
            </a:r>
            <a:endParaRPr sz="2200">
              <a:latin typeface="Trebuchet MS"/>
              <a:cs typeface="Trebuchet MS"/>
            </a:endParaRPr>
          </a:p>
        </p:txBody>
      </p:sp>
      <p:sp>
        <p:nvSpPr>
          <p:cNvPr id="6" name="object 6"/>
          <p:cNvSpPr txBox="1"/>
          <p:nvPr/>
        </p:nvSpPr>
        <p:spPr>
          <a:xfrm>
            <a:off x="1454910" y="1756918"/>
            <a:ext cx="7003289" cy="988091"/>
          </a:xfrm>
          <a:prstGeom prst="rect">
            <a:avLst/>
          </a:prstGeom>
        </p:spPr>
        <p:txBody>
          <a:bodyPr vert="horz" wrap="square" lIns="0" tIns="13335" rIns="0" bIns="0" rtlCol="0">
            <a:spAutoFit/>
          </a:bodyPr>
          <a:lstStyle/>
          <a:p>
            <a:pPr marL="355600" indent="-342900">
              <a:lnSpc>
                <a:spcPct val="100000"/>
              </a:lnSpc>
              <a:spcBef>
                <a:spcPts val="200"/>
              </a:spcBef>
              <a:buFont typeface="Wingdings" panose="05000000000000000000" pitchFamily="2" charset="2"/>
              <a:buChar char="§"/>
            </a:pPr>
            <a:r>
              <a:rPr sz="2000" spc="15" dirty="0">
                <a:latin typeface="Trebuchet MS"/>
                <a:cs typeface="Trebuchet MS"/>
              </a:rPr>
              <a:t>Each </a:t>
            </a:r>
            <a:r>
              <a:rPr sz="2000" spc="-5" dirty="0">
                <a:latin typeface="Trebuchet MS"/>
                <a:cs typeface="Trebuchet MS"/>
              </a:rPr>
              <a:t>partition </a:t>
            </a:r>
            <a:r>
              <a:rPr sz="2000" spc="-15" dirty="0">
                <a:latin typeface="Trebuchet MS"/>
                <a:cs typeface="Trebuchet MS"/>
              </a:rPr>
              <a:t>is </a:t>
            </a:r>
            <a:r>
              <a:rPr sz="2000" spc="55" dirty="0">
                <a:latin typeface="Trebuchet MS"/>
                <a:cs typeface="Trebuchet MS"/>
              </a:rPr>
              <a:t>a</a:t>
            </a:r>
            <a:r>
              <a:rPr sz="2000" spc="40" dirty="0">
                <a:latin typeface="Trebuchet MS"/>
                <a:cs typeface="Trebuchet MS"/>
              </a:rPr>
              <a:t> </a:t>
            </a:r>
            <a:r>
              <a:rPr sz="2000" spc="-50" dirty="0">
                <a:latin typeface="Trebuchet MS"/>
                <a:cs typeface="Trebuchet MS"/>
              </a:rPr>
              <a:t>directory.</a:t>
            </a:r>
            <a:endParaRPr sz="2000" dirty="0">
              <a:latin typeface="Trebuchet MS"/>
              <a:cs typeface="Trebuchet MS"/>
            </a:endParaRPr>
          </a:p>
          <a:p>
            <a:pPr marL="355600" indent="-342900">
              <a:lnSpc>
                <a:spcPct val="100000"/>
              </a:lnSpc>
              <a:spcBef>
                <a:spcPts val="200"/>
              </a:spcBef>
              <a:buFont typeface="Wingdings" panose="05000000000000000000" pitchFamily="2" charset="2"/>
              <a:buChar char="§"/>
            </a:pPr>
            <a:r>
              <a:rPr sz="2000" dirty="0">
                <a:latin typeface="Trebuchet MS"/>
                <a:cs typeface="Trebuchet MS"/>
              </a:rPr>
              <a:t>The </a:t>
            </a:r>
            <a:r>
              <a:rPr sz="2000" spc="45" dirty="0">
                <a:latin typeface="Trebuchet MS"/>
                <a:cs typeface="Trebuchet MS"/>
              </a:rPr>
              <a:t>number </a:t>
            </a:r>
            <a:r>
              <a:rPr sz="2000" spc="15" dirty="0">
                <a:latin typeface="Trebuchet MS"/>
                <a:cs typeface="Trebuchet MS"/>
              </a:rPr>
              <a:t>of </a:t>
            </a:r>
            <a:r>
              <a:rPr sz="2000" dirty="0">
                <a:latin typeface="Trebuchet MS"/>
                <a:cs typeface="Trebuchet MS"/>
              </a:rPr>
              <a:t>partitions </a:t>
            </a:r>
            <a:r>
              <a:rPr sz="2000" spc="-15" dirty="0">
                <a:latin typeface="Trebuchet MS"/>
                <a:cs typeface="Trebuchet MS"/>
              </a:rPr>
              <a:t>is </a:t>
            </a:r>
            <a:r>
              <a:rPr sz="2000" spc="25" dirty="0">
                <a:latin typeface="Trebuchet MS"/>
                <a:cs typeface="Trebuchet MS"/>
              </a:rPr>
              <a:t>not</a:t>
            </a:r>
            <a:r>
              <a:rPr sz="2000" spc="-25" dirty="0">
                <a:latin typeface="Trebuchet MS"/>
                <a:cs typeface="Trebuchet MS"/>
              </a:rPr>
              <a:t> </a:t>
            </a:r>
            <a:r>
              <a:rPr sz="2000" spc="-75" dirty="0">
                <a:latin typeface="Trebuchet MS"/>
                <a:cs typeface="Trebuchet MS"/>
              </a:rPr>
              <a:t>fixed.</a:t>
            </a:r>
            <a:endParaRPr sz="2000" dirty="0">
              <a:latin typeface="Trebuchet MS"/>
              <a:cs typeface="Trebuchet MS"/>
            </a:endParaRPr>
          </a:p>
          <a:p>
            <a:pPr marL="355600" indent="-342900">
              <a:lnSpc>
                <a:spcPct val="100000"/>
              </a:lnSpc>
              <a:spcBef>
                <a:spcPts val="200"/>
              </a:spcBef>
              <a:buFont typeface="Wingdings" panose="05000000000000000000" pitchFamily="2" charset="2"/>
              <a:buChar char="§"/>
            </a:pPr>
            <a:r>
              <a:rPr sz="2000" spc="-5" dirty="0">
                <a:latin typeface="Trebuchet MS"/>
                <a:cs typeface="Trebuchet MS"/>
              </a:rPr>
              <a:t>Partitions </a:t>
            </a:r>
            <a:r>
              <a:rPr sz="2000" spc="20" dirty="0">
                <a:latin typeface="Trebuchet MS"/>
                <a:cs typeface="Trebuchet MS"/>
              </a:rPr>
              <a:t>or </a:t>
            </a:r>
            <a:r>
              <a:rPr sz="2000" dirty="0">
                <a:latin typeface="Trebuchet MS"/>
                <a:cs typeface="Trebuchet MS"/>
              </a:rPr>
              <a:t>buckets </a:t>
            </a:r>
            <a:r>
              <a:rPr sz="2000" spc="15" dirty="0">
                <a:latin typeface="Trebuchet MS"/>
                <a:cs typeface="Trebuchet MS"/>
              </a:rPr>
              <a:t>can </a:t>
            </a:r>
            <a:r>
              <a:rPr sz="2000" dirty="0">
                <a:latin typeface="Trebuchet MS"/>
                <a:cs typeface="Trebuchet MS"/>
              </a:rPr>
              <a:t>be </a:t>
            </a:r>
            <a:r>
              <a:rPr sz="2000" spc="-25" dirty="0">
                <a:latin typeface="Trebuchet MS"/>
                <a:cs typeface="Trebuchet MS"/>
              </a:rPr>
              <a:t>created </a:t>
            </a:r>
            <a:r>
              <a:rPr sz="2000" spc="5" dirty="0">
                <a:latin typeface="Trebuchet MS"/>
                <a:cs typeface="Trebuchet MS"/>
              </a:rPr>
              <a:t>in </a:t>
            </a:r>
            <a:r>
              <a:rPr sz="2000" spc="55" dirty="0">
                <a:latin typeface="Trebuchet MS"/>
                <a:cs typeface="Trebuchet MS"/>
              </a:rPr>
              <a:t>a </a:t>
            </a:r>
            <a:r>
              <a:rPr sz="2000" spc="-30" dirty="0">
                <a:latin typeface="Trebuchet MS"/>
                <a:cs typeface="Trebuchet MS"/>
              </a:rPr>
              <a:t>partition.</a:t>
            </a:r>
            <a:endParaRPr sz="2000" dirty="0">
              <a:latin typeface="Trebuchet MS"/>
              <a:cs typeface="Trebuchet MS"/>
            </a:endParaRPr>
          </a:p>
        </p:txBody>
      </p:sp>
      <p:sp>
        <p:nvSpPr>
          <p:cNvPr id="9" name="object 9"/>
          <p:cNvSpPr txBox="1"/>
          <p:nvPr/>
        </p:nvSpPr>
        <p:spPr>
          <a:xfrm>
            <a:off x="799287" y="2995168"/>
            <a:ext cx="130175" cy="193675"/>
          </a:xfrm>
          <a:prstGeom prst="rect">
            <a:avLst/>
          </a:prstGeom>
        </p:spPr>
        <p:txBody>
          <a:bodyPr vert="horz" wrap="square" lIns="0" tIns="13335" rIns="0" bIns="0" rtlCol="0">
            <a:spAutoFit/>
          </a:bodyPr>
          <a:lstStyle/>
          <a:p>
            <a:pPr marL="12700">
              <a:lnSpc>
                <a:spcPct val="100000"/>
              </a:lnSpc>
              <a:spcBef>
                <a:spcPts val="105"/>
              </a:spcBef>
            </a:pPr>
            <a:r>
              <a:rPr sz="1100" dirty="0">
                <a:latin typeface="Wingdings"/>
                <a:cs typeface="Wingdings"/>
              </a:rPr>
              <a:t></a:t>
            </a:r>
            <a:endParaRPr sz="1100">
              <a:latin typeface="Wingdings"/>
              <a:cs typeface="Wingdings"/>
            </a:endParaRPr>
          </a:p>
        </p:txBody>
      </p:sp>
      <p:sp>
        <p:nvSpPr>
          <p:cNvPr id="10" name="object 10"/>
          <p:cNvSpPr txBox="1"/>
          <p:nvPr/>
        </p:nvSpPr>
        <p:spPr>
          <a:xfrm>
            <a:off x="1101039" y="2915920"/>
            <a:ext cx="5064760" cy="360680"/>
          </a:xfrm>
          <a:prstGeom prst="rect">
            <a:avLst/>
          </a:prstGeom>
        </p:spPr>
        <p:txBody>
          <a:bodyPr vert="horz" wrap="square" lIns="0" tIns="12065" rIns="0" bIns="0" rtlCol="0">
            <a:spAutoFit/>
          </a:bodyPr>
          <a:lstStyle/>
          <a:p>
            <a:pPr marL="12700">
              <a:lnSpc>
                <a:spcPct val="100000"/>
              </a:lnSpc>
              <a:spcBef>
                <a:spcPts val="95"/>
              </a:spcBef>
            </a:pPr>
            <a:r>
              <a:rPr sz="2200" spc="65" dirty="0">
                <a:latin typeface="Trebuchet MS"/>
                <a:cs typeface="Trebuchet MS"/>
              </a:rPr>
              <a:t>Data </a:t>
            </a:r>
            <a:r>
              <a:rPr sz="2200" spc="15" dirty="0">
                <a:latin typeface="Trebuchet MS"/>
                <a:cs typeface="Trebuchet MS"/>
              </a:rPr>
              <a:t>can </a:t>
            </a:r>
            <a:r>
              <a:rPr sz="2200" spc="-10" dirty="0">
                <a:latin typeface="Trebuchet MS"/>
                <a:cs typeface="Trebuchet MS"/>
              </a:rPr>
              <a:t>be </a:t>
            </a:r>
            <a:r>
              <a:rPr sz="2200" spc="-5" dirty="0">
                <a:latin typeface="Trebuchet MS"/>
                <a:cs typeface="Trebuchet MS"/>
              </a:rPr>
              <a:t>stored </a:t>
            </a:r>
            <a:r>
              <a:rPr sz="2200" spc="5" dirty="0">
                <a:latin typeface="Trebuchet MS"/>
                <a:cs typeface="Trebuchet MS"/>
              </a:rPr>
              <a:t>in </a:t>
            </a:r>
            <a:r>
              <a:rPr sz="2200" spc="-25" dirty="0">
                <a:latin typeface="Trebuchet MS"/>
                <a:cs typeface="Trebuchet MS"/>
              </a:rPr>
              <a:t>different</a:t>
            </a:r>
            <a:r>
              <a:rPr sz="2200" spc="60" dirty="0">
                <a:latin typeface="Trebuchet MS"/>
                <a:cs typeface="Trebuchet MS"/>
              </a:rPr>
              <a:t> </a:t>
            </a:r>
            <a:r>
              <a:rPr sz="2200" spc="-40" dirty="0">
                <a:latin typeface="Trebuchet MS"/>
                <a:cs typeface="Trebuchet MS"/>
              </a:rPr>
              <a:t>buckets.</a:t>
            </a:r>
            <a:endParaRPr sz="2200" dirty="0">
              <a:latin typeface="Trebuchet MS"/>
              <a:cs typeface="Trebuchet MS"/>
            </a:endParaRPr>
          </a:p>
        </p:txBody>
      </p:sp>
      <p:sp>
        <p:nvSpPr>
          <p:cNvPr id="12" name="object 12"/>
          <p:cNvSpPr txBox="1"/>
          <p:nvPr/>
        </p:nvSpPr>
        <p:spPr>
          <a:xfrm>
            <a:off x="1419350" y="3445397"/>
            <a:ext cx="9867900" cy="1295226"/>
          </a:xfrm>
          <a:prstGeom prst="rect">
            <a:avLst/>
          </a:prstGeom>
        </p:spPr>
        <p:txBody>
          <a:bodyPr vert="horz" wrap="square" lIns="0" tIns="12700" rIns="0" bIns="0" rtlCol="0">
            <a:spAutoFit/>
          </a:bodyPr>
          <a:lstStyle/>
          <a:p>
            <a:pPr marL="355600" indent="-342900">
              <a:lnSpc>
                <a:spcPct val="100000"/>
              </a:lnSpc>
              <a:spcBef>
                <a:spcPts val="200"/>
              </a:spcBef>
              <a:buFont typeface="Wingdings" panose="05000000000000000000" pitchFamily="2" charset="2"/>
              <a:buChar char="§"/>
            </a:pPr>
            <a:r>
              <a:rPr sz="2000" spc="15" dirty="0">
                <a:latin typeface="Trebuchet MS"/>
                <a:cs typeface="Trebuchet MS"/>
              </a:rPr>
              <a:t>Each </a:t>
            </a:r>
            <a:r>
              <a:rPr sz="2000" spc="-5" dirty="0">
                <a:latin typeface="Trebuchet MS"/>
                <a:cs typeface="Trebuchet MS"/>
              </a:rPr>
              <a:t>bucket </a:t>
            </a:r>
            <a:r>
              <a:rPr sz="2000" spc="-10" dirty="0">
                <a:latin typeface="Trebuchet MS"/>
                <a:cs typeface="Trebuchet MS"/>
              </a:rPr>
              <a:t>is </a:t>
            </a:r>
            <a:r>
              <a:rPr sz="2000" spc="55" dirty="0">
                <a:latin typeface="Trebuchet MS"/>
                <a:cs typeface="Trebuchet MS"/>
              </a:rPr>
              <a:t>a</a:t>
            </a:r>
            <a:r>
              <a:rPr sz="2000" spc="70" dirty="0">
                <a:latin typeface="Trebuchet MS"/>
                <a:cs typeface="Trebuchet MS"/>
              </a:rPr>
              <a:t> </a:t>
            </a:r>
            <a:r>
              <a:rPr sz="2000" spc="-95" dirty="0">
                <a:latin typeface="Trebuchet MS"/>
                <a:cs typeface="Trebuchet MS"/>
              </a:rPr>
              <a:t>file.</a:t>
            </a:r>
            <a:endParaRPr sz="2000" dirty="0">
              <a:latin typeface="Trebuchet MS"/>
              <a:cs typeface="Trebuchet MS"/>
            </a:endParaRPr>
          </a:p>
          <a:p>
            <a:pPr marL="355600" indent="-342900">
              <a:lnSpc>
                <a:spcPct val="100000"/>
              </a:lnSpc>
              <a:spcBef>
                <a:spcPts val="200"/>
              </a:spcBef>
              <a:buFont typeface="Wingdings" panose="05000000000000000000" pitchFamily="2" charset="2"/>
              <a:buChar char="§"/>
            </a:pPr>
            <a:r>
              <a:rPr sz="2000" dirty="0">
                <a:latin typeface="Trebuchet MS"/>
                <a:cs typeface="Trebuchet MS"/>
              </a:rPr>
              <a:t>The </a:t>
            </a:r>
            <a:r>
              <a:rPr sz="2000" spc="45" dirty="0">
                <a:latin typeface="Trebuchet MS"/>
                <a:cs typeface="Trebuchet MS"/>
              </a:rPr>
              <a:t>number </a:t>
            </a:r>
            <a:r>
              <a:rPr sz="2000" spc="20" dirty="0">
                <a:latin typeface="Trebuchet MS"/>
                <a:cs typeface="Trebuchet MS"/>
              </a:rPr>
              <a:t>of </a:t>
            </a:r>
            <a:r>
              <a:rPr sz="2000" dirty="0">
                <a:latin typeface="Trebuchet MS"/>
                <a:cs typeface="Trebuchet MS"/>
              </a:rPr>
              <a:t>buckets </a:t>
            </a:r>
            <a:r>
              <a:rPr sz="2000" spc="-10" dirty="0">
                <a:latin typeface="Trebuchet MS"/>
                <a:cs typeface="Trebuchet MS"/>
              </a:rPr>
              <a:t>is </a:t>
            </a:r>
            <a:r>
              <a:rPr sz="2000" spc="-25" dirty="0">
                <a:latin typeface="Trebuchet MS"/>
                <a:cs typeface="Trebuchet MS"/>
              </a:rPr>
              <a:t>specified </a:t>
            </a:r>
            <a:r>
              <a:rPr sz="2000" spc="50" dirty="0">
                <a:latin typeface="Trebuchet MS"/>
                <a:cs typeface="Trebuchet MS"/>
              </a:rPr>
              <a:t>when </a:t>
            </a:r>
            <a:r>
              <a:rPr sz="2000" dirty="0">
                <a:latin typeface="Trebuchet MS"/>
                <a:cs typeface="Trebuchet MS"/>
              </a:rPr>
              <a:t>creating </a:t>
            </a:r>
            <a:r>
              <a:rPr sz="2000" spc="55" dirty="0">
                <a:latin typeface="Trebuchet MS"/>
                <a:cs typeface="Trebuchet MS"/>
              </a:rPr>
              <a:t>a </a:t>
            </a:r>
            <a:r>
              <a:rPr sz="2000" spc="-60" dirty="0">
                <a:latin typeface="Trebuchet MS"/>
                <a:cs typeface="Trebuchet MS"/>
              </a:rPr>
              <a:t>table. </a:t>
            </a:r>
            <a:r>
              <a:rPr sz="2000" dirty="0">
                <a:latin typeface="Trebuchet MS"/>
                <a:cs typeface="Trebuchet MS"/>
              </a:rPr>
              <a:t>The buckets </a:t>
            </a:r>
            <a:r>
              <a:rPr sz="2000" spc="15" dirty="0">
                <a:latin typeface="Trebuchet MS"/>
                <a:cs typeface="Trebuchet MS"/>
              </a:rPr>
              <a:t>can </a:t>
            </a:r>
            <a:r>
              <a:rPr sz="2000" dirty="0">
                <a:latin typeface="Trebuchet MS"/>
                <a:cs typeface="Trebuchet MS"/>
              </a:rPr>
              <a:t>be</a:t>
            </a:r>
            <a:r>
              <a:rPr sz="2000" spc="60" dirty="0">
                <a:latin typeface="Trebuchet MS"/>
                <a:cs typeface="Trebuchet MS"/>
              </a:rPr>
              <a:t> </a:t>
            </a:r>
            <a:r>
              <a:rPr sz="2000" spc="-35" dirty="0">
                <a:latin typeface="Trebuchet MS"/>
                <a:cs typeface="Trebuchet MS"/>
              </a:rPr>
              <a:t>sorted.</a:t>
            </a:r>
            <a:endParaRPr sz="2000" dirty="0">
              <a:latin typeface="Trebuchet MS"/>
              <a:cs typeface="Trebuchet MS"/>
            </a:endParaRPr>
          </a:p>
          <a:p>
            <a:pPr marL="355600" indent="-342900">
              <a:lnSpc>
                <a:spcPct val="100000"/>
              </a:lnSpc>
              <a:spcBef>
                <a:spcPts val="200"/>
              </a:spcBef>
              <a:buFont typeface="Wingdings" panose="05000000000000000000" pitchFamily="2" charset="2"/>
              <a:buChar char="§"/>
            </a:pPr>
            <a:r>
              <a:rPr sz="2000" spc="65" dirty="0">
                <a:latin typeface="Trebuchet MS"/>
                <a:cs typeface="Trebuchet MS"/>
              </a:rPr>
              <a:t>Data </a:t>
            </a:r>
            <a:r>
              <a:rPr sz="2000" spc="-15" dirty="0">
                <a:latin typeface="Trebuchet MS"/>
                <a:cs typeface="Trebuchet MS"/>
              </a:rPr>
              <a:t>is </a:t>
            </a:r>
            <a:r>
              <a:rPr sz="2000" spc="40" dirty="0">
                <a:latin typeface="Trebuchet MS"/>
                <a:cs typeface="Trebuchet MS"/>
              </a:rPr>
              <a:t>hashed </a:t>
            </a:r>
            <a:r>
              <a:rPr sz="2000" spc="25" dirty="0">
                <a:latin typeface="Trebuchet MS"/>
                <a:cs typeface="Trebuchet MS"/>
              </a:rPr>
              <a:t>based </a:t>
            </a:r>
            <a:r>
              <a:rPr sz="2000" spc="75" dirty="0">
                <a:latin typeface="Trebuchet MS"/>
                <a:cs typeface="Trebuchet MS"/>
              </a:rPr>
              <a:t>on </a:t>
            </a:r>
            <a:r>
              <a:rPr sz="2000" spc="-10" dirty="0">
                <a:latin typeface="Trebuchet MS"/>
                <a:cs typeface="Trebuchet MS"/>
              </a:rPr>
              <a:t>the </a:t>
            </a:r>
            <a:r>
              <a:rPr sz="2000" spc="5" dirty="0">
                <a:latin typeface="Trebuchet MS"/>
                <a:cs typeface="Trebuchet MS"/>
              </a:rPr>
              <a:t>value </a:t>
            </a:r>
            <a:r>
              <a:rPr sz="2000" spc="15" dirty="0">
                <a:latin typeface="Trebuchet MS"/>
                <a:cs typeface="Trebuchet MS"/>
              </a:rPr>
              <a:t>of </a:t>
            </a:r>
            <a:r>
              <a:rPr sz="2000" spc="55" dirty="0">
                <a:latin typeface="Trebuchet MS"/>
                <a:cs typeface="Trebuchet MS"/>
              </a:rPr>
              <a:t>a </a:t>
            </a:r>
            <a:r>
              <a:rPr sz="2000" spc="-35" dirty="0">
                <a:latin typeface="Trebuchet MS"/>
                <a:cs typeface="Trebuchet MS"/>
              </a:rPr>
              <a:t>field </a:t>
            </a:r>
            <a:r>
              <a:rPr sz="2000" spc="50" dirty="0">
                <a:latin typeface="Trebuchet MS"/>
                <a:cs typeface="Trebuchet MS"/>
              </a:rPr>
              <a:t>and </a:t>
            </a:r>
            <a:r>
              <a:rPr sz="2000" spc="10" dirty="0">
                <a:latin typeface="Trebuchet MS"/>
                <a:cs typeface="Trebuchet MS"/>
              </a:rPr>
              <a:t>then </a:t>
            </a:r>
            <a:r>
              <a:rPr sz="2000" dirty="0">
                <a:latin typeface="Trebuchet MS"/>
                <a:cs typeface="Trebuchet MS"/>
              </a:rPr>
              <a:t>stored </a:t>
            </a:r>
            <a:r>
              <a:rPr sz="2000" spc="5" dirty="0">
                <a:latin typeface="Trebuchet MS"/>
                <a:cs typeface="Trebuchet MS"/>
              </a:rPr>
              <a:t>in </a:t>
            </a:r>
            <a:r>
              <a:rPr sz="2000" spc="55" dirty="0">
                <a:latin typeface="Trebuchet MS"/>
                <a:cs typeface="Trebuchet MS"/>
              </a:rPr>
              <a:t>a</a:t>
            </a:r>
            <a:r>
              <a:rPr sz="2000" spc="-145" dirty="0">
                <a:latin typeface="Trebuchet MS"/>
                <a:cs typeface="Trebuchet MS"/>
              </a:rPr>
              <a:t> </a:t>
            </a:r>
            <a:r>
              <a:rPr sz="2000" spc="-45" dirty="0">
                <a:latin typeface="Trebuchet MS"/>
                <a:cs typeface="Trebuchet MS"/>
              </a:rPr>
              <a:t>bucket.</a:t>
            </a:r>
            <a:endParaRPr sz="2000" dirty="0">
              <a:latin typeface="Trebuchet MS"/>
              <a:cs typeface="Trebuchet MS"/>
            </a:endParaRPr>
          </a:p>
        </p:txBody>
      </p:sp>
      <p:sp>
        <p:nvSpPr>
          <p:cNvPr id="16" name="object 2"/>
          <p:cNvSpPr txBox="1"/>
          <p:nvPr/>
        </p:nvSpPr>
        <p:spPr>
          <a:xfrm>
            <a:off x="1419350" y="5149992"/>
            <a:ext cx="10086850" cy="1240244"/>
          </a:xfrm>
          <a:prstGeom prst="rect">
            <a:avLst/>
          </a:prstGeom>
          <a:ln>
            <a:solidFill>
              <a:schemeClr val="accent2"/>
            </a:solidFill>
          </a:ln>
        </p:spPr>
        <p:txBody>
          <a:bodyPr vert="horz" wrap="square" lIns="0" tIns="9049" rIns="0" bIns="0" rtlCol="0">
            <a:spAutoFit/>
          </a:bodyPr>
          <a:lstStyle/>
          <a:p>
            <a:pPr marL="138113" marR="55245" indent="-128588" algn="just">
              <a:spcBef>
                <a:spcPts val="4"/>
              </a:spcBef>
              <a:buFont typeface="Wingdings"/>
              <a:buChar char=""/>
              <a:tabLst>
                <a:tab pos="138113" algn="l"/>
              </a:tabLst>
            </a:pPr>
            <a:r>
              <a:rPr lang="en-US" sz="2000" spc="19" dirty="0" smtClean="0">
                <a:latin typeface="UKIJ CJK"/>
                <a:cs typeface="UKIJ CJK"/>
              </a:rPr>
              <a:t>Buckets can </a:t>
            </a:r>
            <a:r>
              <a:rPr lang="en-US" sz="2000" spc="34" dirty="0" smtClean="0">
                <a:latin typeface="UKIJ CJK"/>
                <a:cs typeface="UKIJ CJK"/>
              </a:rPr>
              <a:t>be </a:t>
            </a:r>
            <a:r>
              <a:rPr lang="en-US" sz="2000" spc="23" dirty="0" smtClean="0">
                <a:latin typeface="UKIJ CJK"/>
                <a:cs typeface="UKIJ CJK"/>
              </a:rPr>
              <a:t>used </a:t>
            </a:r>
            <a:r>
              <a:rPr lang="en-US" sz="2000" spc="15" dirty="0" smtClean="0">
                <a:latin typeface="UKIJ CJK"/>
                <a:cs typeface="UKIJ CJK"/>
              </a:rPr>
              <a:t>to: </a:t>
            </a:r>
            <a:r>
              <a:rPr lang="en-US" sz="2000" u="sng" spc="26" dirty="0" smtClean="0">
                <a:latin typeface="UKIJ CJK"/>
                <a:cs typeface="UKIJ CJK"/>
              </a:rPr>
              <a:t>1) </a:t>
            </a:r>
            <a:r>
              <a:rPr lang="en-US" sz="2000" u="sng" spc="23" dirty="0" smtClean="0">
                <a:latin typeface="UKIJ CJK"/>
                <a:cs typeface="UKIJ CJK"/>
              </a:rPr>
              <a:t>Select data </a:t>
            </a:r>
            <a:r>
              <a:rPr lang="en-US" sz="2000" u="sng" spc="11" dirty="0" smtClean="0">
                <a:latin typeface="UKIJ CJK"/>
                <a:cs typeface="UKIJ CJK"/>
              </a:rPr>
              <a:t>samples. </a:t>
            </a:r>
            <a:r>
              <a:rPr lang="en-US" sz="2000" u="sng" spc="23" dirty="0" smtClean="0">
                <a:latin typeface="UKIJ CJK"/>
                <a:cs typeface="UKIJ CJK"/>
              </a:rPr>
              <a:t>2) </a:t>
            </a:r>
            <a:r>
              <a:rPr lang="en-US" sz="2000" u="sng" spc="19" dirty="0" smtClean="0">
                <a:latin typeface="UKIJ CJK"/>
                <a:cs typeface="UKIJ CJK"/>
              </a:rPr>
              <a:t>Improve query </a:t>
            </a:r>
            <a:r>
              <a:rPr lang="en-US" sz="2000" u="sng" spc="15" dirty="0" smtClean="0">
                <a:latin typeface="UKIJ CJK"/>
                <a:cs typeface="UKIJ CJK"/>
              </a:rPr>
              <a:t>efficiency</a:t>
            </a:r>
            <a:r>
              <a:rPr lang="en-US" sz="2000" spc="15" dirty="0" smtClean="0">
                <a:latin typeface="UKIJ CJK"/>
                <a:cs typeface="UKIJ CJK"/>
              </a:rPr>
              <a:t>,  </a:t>
            </a:r>
            <a:endParaRPr lang="en-US" sz="2000" dirty="0" smtClean="0">
              <a:latin typeface="UKIJ CJK"/>
              <a:cs typeface="UKIJ CJK"/>
            </a:endParaRPr>
          </a:p>
          <a:p>
            <a:pPr marL="138113" marR="30956" indent="-128588" algn="just">
              <a:buFont typeface="Wingdings"/>
              <a:buChar char=""/>
              <a:tabLst>
                <a:tab pos="138113" algn="l"/>
              </a:tabLst>
            </a:pPr>
            <a:r>
              <a:rPr lang="en-US" sz="2000" spc="41" dirty="0" smtClean="0">
                <a:latin typeface="UKIJ CJK"/>
                <a:cs typeface="UKIJ CJK"/>
              </a:rPr>
              <a:t>When </a:t>
            </a:r>
            <a:r>
              <a:rPr lang="en-US" sz="2000" spc="23" dirty="0" smtClean="0">
                <a:latin typeface="UKIJ CJK"/>
                <a:cs typeface="UKIJ CJK"/>
              </a:rPr>
              <a:t>data </a:t>
            </a:r>
            <a:r>
              <a:rPr lang="en-US" sz="2000" spc="26" dirty="0" smtClean="0">
                <a:latin typeface="UKIJ CJK"/>
                <a:cs typeface="UKIJ CJK"/>
              </a:rPr>
              <a:t>volume </a:t>
            </a:r>
            <a:r>
              <a:rPr lang="en-US" sz="2000" spc="30" dirty="0" smtClean="0">
                <a:latin typeface="UKIJ CJK"/>
                <a:cs typeface="UKIJ CJK"/>
              </a:rPr>
              <a:t>of </a:t>
            </a:r>
            <a:r>
              <a:rPr lang="en-US" sz="2000" spc="15" dirty="0" smtClean="0">
                <a:latin typeface="UKIJ CJK"/>
                <a:cs typeface="UKIJ CJK"/>
              </a:rPr>
              <a:t>a </a:t>
            </a:r>
            <a:r>
              <a:rPr lang="en-US" sz="2000" spc="23" dirty="0" smtClean="0">
                <a:latin typeface="UKIJ CJK"/>
                <a:cs typeface="UKIJ CJK"/>
              </a:rPr>
              <a:t>table </a:t>
            </a:r>
            <a:r>
              <a:rPr lang="en-US" sz="2000" spc="4" dirty="0" smtClean="0">
                <a:latin typeface="UKIJ CJK"/>
                <a:cs typeface="UKIJ CJK"/>
              </a:rPr>
              <a:t>is </a:t>
            </a:r>
            <a:r>
              <a:rPr lang="en-US" sz="2000" spc="19" dirty="0" smtClean="0">
                <a:latin typeface="UKIJ CJK"/>
                <a:cs typeface="UKIJ CJK"/>
              </a:rPr>
              <a:t>large, partition </a:t>
            </a:r>
            <a:r>
              <a:rPr lang="en-US" sz="2000" spc="23" dirty="0" smtClean="0">
                <a:latin typeface="UKIJ CJK"/>
                <a:cs typeface="UKIJ CJK"/>
              </a:rPr>
              <a:t>the table </a:t>
            </a:r>
            <a:r>
              <a:rPr lang="en-US" sz="2000" spc="38" dirty="0" smtClean="0">
                <a:latin typeface="UKIJ CJK"/>
                <a:cs typeface="UKIJ CJK"/>
              </a:rPr>
              <a:t>by </a:t>
            </a:r>
            <a:r>
              <a:rPr lang="en-US" sz="2000" spc="23" dirty="0" smtClean="0">
                <a:latin typeface="UKIJ CJK"/>
                <a:cs typeface="UKIJ CJK"/>
              </a:rPr>
              <a:t>time </a:t>
            </a:r>
            <a:r>
              <a:rPr lang="en-US" sz="2000" spc="15" dirty="0" smtClean="0">
                <a:latin typeface="UKIJ CJK"/>
                <a:cs typeface="UKIJ CJK"/>
              </a:rPr>
              <a:t>or </a:t>
            </a:r>
            <a:r>
              <a:rPr lang="en-US" sz="2000" spc="38" dirty="0" smtClean="0">
                <a:latin typeface="UKIJ CJK"/>
                <a:cs typeface="UKIJ CJK"/>
              </a:rPr>
              <a:t>by </a:t>
            </a:r>
            <a:r>
              <a:rPr lang="en-US" sz="2000" spc="11" dirty="0" smtClean="0">
                <a:latin typeface="UKIJ CJK"/>
                <a:cs typeface="UKIJ CJK"/>
              </a:rPr>
              <a:t>area  </a:t>
            </a:r>
            <a:r>
              <a:rPr lang="en-US" sz="2000" u="sng" spc="34" dirty="0" smtClean="0">
                <a:latin typeface="UKIJ CJK"/>
                <a:cs typeface="UKIJ CJK"/>
              </a:rPr>
              <a:t>to </a:t>
            </a:r>
            <a:r>
              <a:rPr lang="en-US" sz="2000" u="sng" spc="19" dirty="0" smtClean="0">
                <a:latin typeface="UKIJ CJK"/>
                <a:cs typeface="UKIJ CJK"/>
              </a:rPr>
              <a:t>query </a:t>
            </a:r>
            <a:r>
              <a:rPr lang="en-US" sz="2000" u="sng" spc="15" dirty="0" smtClean="0">
                <a:latin typeface="UKIJ CJK"/>
                <a:cs typeface="UKIJ CJK"/>
              </a:rPr>
              <a:t>part </a:t>
            </a:r>
            <a:r>
              <a:rPr lang="en-US" sz="2000" u="sng" spc="30" dirty="0" smtClean="0">
                <a:latin typeface="UKIJ CJK"/>
                <a:cs typeface="UKIJ CJK"/>
              </a:rPr>
              <a:t>of </a:t>
            </a:r>
            <a:r>
              <a:rPr lang="en-US" sz="2000" u="sng" spc="19" dirty="0" smtClean="0">
                <a:latin typeface="UKIJ CJK"/>
                <a:cs typeface="UKIJ CJK"/>
              </a:rPr>
              <a:t>data</a:t>
            </a:r>
            <a:r>
              <a:rPr lang="en-US" sz="2000" spc="19" dirty="0" smtClean="0">
                <a:latin typeface="UKIJ CJK"/>
                <a:cs typeface="UKIJ CJK"/>
              </a:rPr>
              <a:t>, </a:t>
            </a:r>
            <a:r>
              <a:rPr lang="en-US" sz="2000" spc="23" dirty="0" smtClean="0">
                <a:latin typeface="UKIJ CJK"/>
                <a:cs typeface="UKIJ CJK"/>
              </a:rPr>
              <a:t>that </a:t>
            </a:r>
            <a:r>
              <a:rPr lang="en-US" sz="2000" dirty="0" smtClean="0">
                <a:latin typeface="UKIJ CJK"/>
                <a:cs typeface="UKIJ CJK"/>
              </a:rPr>
              <a:t>is, </a:t>
            </a:r>
            <a:r>
              <a:rPr lang="en-US" sz="2000" spc="15" dirty="0" smtClean="0">
                <a:latin typeface="UKIJ CJK"/>
                <a:cs typeface="UKIJ CJK"/>
              </a:rPr>
              <a:t>store </a:t>
            </a:r>
            <a:r>
              <a:rPr lang="en-US" sz="2000" spc="23" dirty="0" smtClean="0">
                <a:latin typeface="UKIJ CJK"/>
                <a:cs typeface="UKIJ CJK"/>
              </a:rPr>
              <a:t>data </a:t>
            </a:r>
            <a:r>
              <a:rPr lang="en-US" sz="2000" spc="19" dirty="0" smtClean="0">
                <a:latin typeface="UKIJ CJK"/>
                <a:cs typeface="UKIJ CJK"/>
              </a:rPr>
              <a:t>with </a:t>
            </a:r>
            <a:r>
              <a:rPr lang="en-US" sz="2000" spc="23" dirty="0" smtClean="0">
                <a:latin typeface="UKIJ CJK"/>
                <a:cs typeface="UKIJ CJK"/>
              </a:rPr>
              <a:t>the </a:t>
            </a:r>
            <a:r>
              <a:rPr lang="en-US" sz="2000" spc="19" dirty="0" smtClean="0">
                <a:latin typeface="UKIJ CJK"/>
                <a:cs typeface="UKIJ CJK"/>
              </a:rPr>
              <a:t>same attribute </a:t>
            </a:r>
            <a:r>
              <a:rPr lang="en-US" sz="2000" spc="34" dirty="0" smtClean="0">
                <a:latin typeface="UKIJ CJK"/>
                <a:cs typeface="UKIJ CJK"/>
              </a:rPr>
              <a:t>to </a:t>
            </a:r>
            <a:r>
              <a:rPr lang="en-US" sz="2000" spc="23" dirty="0" smtClean="0">
                <a:latin typeface="UKIJ CJK"/>
                <a:cs typeface="UKIJ CJK"/>
              </a:rPr>
              <a:t>the </a:t>
            </a:r>
            <a:r>
              <a:rPr lang="en-US" sz="2000" spc="19" dirty="0" smtClean="0">
                <a:latin typeface="UKIJ CJK"/>
                <a:cs typeface="UKIJ CJK"/>
              </a:rPr>
              <a:t>same </a:t>
            </a:r>
            <a:r>
              <a:rPr lang="en-US" sz="2000" spc="23" dirty="0" smtClean="0">
                <a:latin typeface="UKIJ CJK"/>
                <a:cs typeface="UKIJ CJK"/>
              </a:rPr>
              <a:t>disk </a:t>
            </a:r>
            <a:r>
              <a:rPr lang="en-US" sz="2000" spc="34" dirty="0" smtClean="0">
                <a:latin typeface="UKIJ CJK"/>
                <a:cs typeface="UKIJ CJK"/>
              </a:rPr>
              <a:t>to </a:t>
            </a:r>
            <a:r>
              <a:rPr lang="en-US" sz="2000" spc="23" dirty="0" smtClean="0">
                <a:latin typeface="UKIJ CJK"/>
                <a:cs typeface="UKIJ CJK"/>
              </a:rPr>
              <a:t>improve </a:t>
            </a:r>
            <a:r>
              <a:rPr lang="en-US" sz="2000" spc="19" dirty="0" smtClean="0">
                <a:latin typeface="UKIJ CJK"/>
                <a:cs typeface="UKIJ CJK"/>
              </a:rPr>
              <a:t>query</a:t>
            </a:r>
            <a:r>
              <a:rPr lang="en-US" sz="2000" spc="38" dirty="0" smtClean="0">
                <a:latin typeface="UKIJ CJK"/>
                <a:cs typeface="UKIJ CJK"/>
              </a:rPr>
              <a:t> </a:t>
            </a:r>
            <a:r>
              <a:rPr lang="en-US" sz="2000" spc="11" dirty="0" smtClean="0">
                <a:latin typeface="UKIJ CJK"/>
                <a:cs typeface="UKIJ CJK"/>
              </a:rPr>
              <a:t>efficiency.</a:t>
            </a:r>
            <a:endParaRPr lang="en-US" sz="2000" dirty="0">
              <a:latin typeface="UKIJ CJK"/>
              <a:cs typeface="UKIJ CJK"/>
            </a:endParaRPr>
          </a:p>
        </p:txBody>
      </p:sp>
    </p:spTree>
    <p:extLst>
      <p:ext uri="{BB962C8B-B14F-4D97-AF65-F5344CB8AC3E}">
        <p14:creationId xmlns:p14="http://schemas.microsoft.com/office/powerpoint/2010/main" val="3504074885"/>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742870" y="555912"/>
            <a:ext cx="9567876" cy="567463"/>
          </a:xfrm>
          <a:prstGeom prst="rect">
            <a:avLst/>
          </a:prstGeom>
        </p:spPr>
        <p:txBody>
          <a:bodyPr vert="horz" wrap="square" lIns="0" tIns="13335" rIns="0" bIns="0" rtlCol="0">
            <a:spAutoFit/>
          </a:bodyPr>
          <a:lstStyle/>
          <a:p>
            <a:pPr marL="12700">
              <a:lnSpc>
                <a:spcPct val="100000"/>
              </a:lnSpc>
              <a:spcBef>
                <a:spcPts val="105"/>
              </a:spcBef>
            </a:pPr>
            <a:r>
              <a:rPr spc="175" dirty="0"/>
              <a:t>Managed </a:t>
            </a:r>
            <a:r>
              <a:rPr spc="-10" dirty="0"/>
              <a:t>Table </a:t>
            </a:r>
            <a:r>
              <a:rPr spc="85" dirty="0"/>
              <a:t>and </a:t>
            </a:r>
            <a:r>
              <a:rPr spc="-15" dirty="0"/>
              <a:t>External</a:t>
            </a:r>
            <a:r>
              <a:rPr spc="-200" dirty="0"/>
              <a:t> </a:t>
            </a:r>
            <a:r>
              <a:rPr spc="-10" dirty="0"/>
              <a:t>Table</a:t>
            </a:r>
          </a:p>
        </p:txBody>
      </p:sp>
      <p:sp>
        <p:nvSpPr>
          <p:cNvPr id="4" name="object 4"/>
          <p:cNvSpPr txBox="1"/>
          <p:nvPr/>
        </p:nvSpPr>
        <p:spPr>
          <a:xfrm>
            <a:off x="1203147" y="1281160"/>
            <a:ext cx="6118860" cy="330835"/>
          </a:xfrm>
          <a:prstGeom prst="rect">
            <a:avLst/>
          </a:prstGeom>
        </p:spPr>
        <p:txBody>
          <a:bodyPr vert="horz" wrap="square" lIns="0" tIns="13335" rIns="0" bIns="0" rtlCol="0">
            <a:spAutoFit/>
          </a:bodyPr>
          <a:lstStyle/>
          <a:p>
            <a:pPr marL="12700">
              <a:lnSpc>
                <a:spcPct val="100000"/>
              </a:lnSpc>
              <a:spcBef>
                <a:spcPts val="105"/>
              </a:spcBef>
            </a:pPr>
            <a:r>
              <a:rPr sz="2000" spc="25" dirty="0">
                <a:latin typeface="Trebuchet MS"/>
                <a:cs typeface="Trebuchet MS"/>
              </a:rPr>
              <a:t>Hive </a:t>
            </a:r>
            <a:r>
              <a:rPr sz="2000" spc="15" dirty="0">
                <a:latin typeface="Trebuchet MS"/>
                <a:cs typeface="Trebuchet MS"/>
              </a:rPr>
              <a:t>can </a:t>
            </a:r>
            <a:r>
              <a:rPr sz="2000" spc="-30" dirty="0">
                <a:latin typeface="Trebuchet MS"/>
                <a:cs typeface="Trebuchet MS"/>
              </a:rPr>
              <a:t>create </a:t>
            </a:r>
            <a:r>
              <a:rPr sz="2000" spc="65" dirty="0">
                <a:latin typeface="Trebuchet MS"/>
                <a:cs typeface="Trebuchet MS"/>
              </a:rPr>
              <a:t>managed </a:t>
            </a:r>
            <a:r>
              <a:rPr sz="2000" spc="-10" dirty="0">
                <a:latin typeface="Trebuchet MS"/>
                <a:cs typeface="Trebuchet MS"/>
              </a:rPr>
              <a:t>tables </a:t>
            </a:r>
            <a:r>
              <a:rPr sz="2000" spc="50" dirty="0">
                <a:latin typeface="Trebuchet MS"/>
                <a:cs typeface="Trebuchet MS"/>
              </a:rPr>
              <a:t>and </a:t>
            </a:r>
            <a:r>
              <a:rPr sz="2000" spc="-15" dirty="0">
                <a:latin typeface="Trebuchet MS"/>
                <a:cs typeface="Trebuchet MS"/>
              </a:rPr>
              <a:t>external</a:t>
            </a:r>
            <a:r>
              <a:rPr sz="2000" dirty="0">
                <a:latin typeface="Trebuchet MS"/>
                <a:cs typeface="Trebuchet MS"/>
              </a:rPr>
              <a:t> </a:t>
            </a:r>
            <a:r>
              <a:rPr sz="2000" spc="-45" dirty="0">
                <a:latin typeface="Trebuchet MS"/>
                <a:cs typeface="Trebuchet MS"/>
              </a:rPr>
              <a:t>tables.</a:t>
            </a:r>
            <a:endParaRPr sz="2000" dirty="0">
              <a:latin typeface="Trebuchet MS"/>
              <a:cs typeface="Trebuchet MS"/>
            </a:endParaRPr>
          </a:p>
        </p:txBody>
      </p:sp>
      <p:sp>
        <p:nvSpPr>
          <p:cNvPr id="6" name="object 6"/>
          <p:cNvSpPr txBox="1"/>
          <p:nvPr/>
        </p:nvSpPr>
        <p:spPr>
          <a:xfrm>
            <a:off x="1203147" y="1740661"/>
            <a:ext cx="10607853" cy="1796646"/>
          </a:xfrm>
          <a:prstGeom prst="rect">
            <a:avLst/>
          </a:prstGeom>
        </p:spPr>
        <p:txBody>
          <a:bodyPr vert="horz" wrap="square" lIns="0" tIns="12700" rIns="0" bIns="0" rtlCol="0">
            <a:spAutoFit/>
          </a:bodyPr>
          <a:lstStyle/>
          <a:p>
            <a:pPr marL="298450" indent="-285750" algn="just">
              <a:lnSpc>
                <a:spcPct val="100000"/>
              </a:lnSpc>
              <a:buFont typeface="Arial" panose="020B0604020202020204" pitchFamily="34" charset="0"/>
              <a:buChar char="•"/>
            </a:pPr>
            <a:r>
              <a:rPr sz="1800" spc="25" dirty="0">
                <a:latin typeface="Trebuchet MS"/>
                <a:cs typeface="Trebuchet MS"/>
              </a:rPr>
              <a:t>By </a:t>
            </a:r>
            <a:r>
              <a:rPr sz="1800" spc="-35" dirty="0">
                <a:latin typeface="Trebuchet MS"/>
                <a:cs typeface="Trebuchet MS"/>
              </a:rPr>
              <a:t>default, </a:t>
            </a:r>
            <a:r>
              <a:rPr sz="1800" spc="50" dirty="0">
                <a:latin typeface="Trebuchet MS"/>
                <a:cs typeface="Trebuchet MS"/>
              </a:rPr>
              <a:t>a </a:t>
            </a:r>
            <a:r>
              <a:rPr sz="1800" spc="55" dirty="0">
                <a:latin typeface="Trebuchet MS"/>
                <a:cs typeface="Trebuchet MS"/>
              </a:rPr>
              <a:t>managed </a:t>
            </a:r>
            <a:r>
              <a:rPr sz="1800" spc="-15" dirty="0">
                <a:latin typeface="Trebuchet MS"/>
                <a:cs typeface="Trebuchet MS"/>
              </a:rPr>
              <a:t>table is </a:t>
            </a:r>
            <a:r>
              <a:rPr sz="1800" spc="-50" dirty="0">
                <a:latin typeface="Trebuchet MS"/>
                <a:cs typeface="Trebuchet MS"/>
              </a:rPr>
              <a:t>created, </a:t>
            </a:r>
            <a:r>
              <a:rPr sz="1800" spc="45" dirty="0">
                <a:latin typeface="Trebuchet MS"/>
                <a:cs typeface="Trebuchet MS"/>
              </a:rPr>
              <a:t>and </a:t>
            </a:r>
            <a:r>
              <a:rPr sz="1800" spc="15" dirty="0">
                <a:latin typeface="Trebuchet MS"/>
                <a:cs typeface="Trebuchet MS"/>
              </a:rPr>
              <a:t>Hive </a:t>
            </a:r>
            <a:r>
              <a:rPr sz="1800" spc="35" dirty="0">
                <a:latin typeface="Trebuchet MS"/>
                <a:cs typeface="Trebuchet MS"/>
              </a:rPr>
              <a:t>moves </a:t>
            </a:r>
            <a:r>
              <a:rPr sz="1800" spc="15" dirty="0">
                <a:latin typeface="Trebuchet MS"/>
                <a:cs typeface="Trebuchet MS"/>
              </a:rPr>
              <a:t>data </a:t>
            </a:r>
            <a:r>
              <a:rPr sz="1800" dirty="0">
                <a:latin typeface="Trebuchet MS"/>
                <a:cs typeface="Trebuchet MS"/>
              </a:rPr>
              <a:t>to </a:t>
            </a:r>
            <a:r>
              <a:rPr sz="1800" spc="-15" dirty="0">
                <a:latin typeface="Trebuchet MS"/>
                <a:cs typeface="Trebuchet MS"/>
              </a:rPr>
              <a:t>the </a:t>
            </a:r>
            <a:r>
              <a:rPr sz="1800" u="sng" spc="15" dirty="0">
                <a:latin typeface="Trebuchet MS"/>
                <a:cs typeface="Trebuchet MS"/>
              </a:rPr>
              <a:t>data </a:t>
            </a:r>
            <a:r>
              <a:rPr sz="1800" u="sng" spc="30" dirty="0">
                <a:latin typeface="Trebuchet MS"/>
                <a:cs typeface="Trebuchet MS"/>
              </a:rPr>
              <a:t>warehouse</a:t>
            </a:r>
            <a:r>
              <a:rPr sz="1800" u="sng" spc="280" dirty="0">
                <a:latin typeface="Trebuchet MS"/>
                <a:cs typeface="Trebuchet MS"/>
              </a:rPr>
              <a:t> </a:t>
            </a:r>
            <a:r>
              <a:rPr sz="1800" u="sng" spc="-45" dirty="0">
                <a:latin typeface="Trebuchet MS"/>
                <a:cs typeface="Trebuchet MS"/>
              </a:rPr>
              <a:t>directory</a:t>
            </a:r>
            <a:r>
              <a:rPr sz="1800" spc="-45" dirty="0">
                <a:latin typeface="Trebuchet MS"/>
                <a:cs typeface="Trebuchet MS"/>
              </a:rPr>
              <a:t>.</a:t>
            </a:r>
            <a:endParaRPr sz="1800" dirty="0">
              <a:latin typeface="Trebuchet MS"/>
              <a:cs typeface="Trebuchet MS"/>
            </a:endParaRPr>
          </a:p>
          <a:p>
            <a:pPr marL="298450" marR="772160" indent="-285750" algn="just">
              <a:lnSpc>
                <a:spcPct val="172200"/>
              </a:lnSpc>
              <a:buFont typeface="Arial" panose="020B0604020202020204" pitchFamily="34" charset="0"/>
              <a:buChar char="•"/>
            </a:pPr>
            <a:r>
              <a:rPr sz="1800" spc="75" dirty="0">
                <a:latin typeface="Trebuchet MS"/>
                <a:cs typeface="Trebuchet MS"/>
              </a:rPr>
              <a:t>When </a:t>
            </a:r>
            <a:r>
              <a:rPr sz="1800" spc="55" dirty="0">
                <a:latin typeface="Trebuchet MS"/>
                <a:cs typeface="Trebuchet MS"/>
              </a:rPr>
              <a:t>an </a:t>
            </a:r>
            <a:r>
              <a:rPr sz="1800" spc="-20" dirty="0">
                <a:latin typeface="Trebuchet MS"/>
                <a:cs typeface="Trebuchet MS"/>
              </a:rPr>
              <a:t>external </a:t>
            </a:r>
            <a:r>
              <a:rPr sz="1800" spc="-15" dirty="0">
                <a:latin typeface="Trebuchet MS"/>
                <a:cs typeface="Trebuchet MS"/>
              </a:rPr>
              <a:t>table is </a:t>
            </a:r>
            <a:r>
              <a:rPr sz="1800" spc="-50" dirty="0">
                <a:latin typeface="Trebuchet MS"/>
                <a:cs typeface="Trebuchet MS"/>
              </a:rPr>
              <a:t>created, </a:t>
            </a:r>
            <a:r>
              <a:rPr sz="1800" spc="15" dirty="0">
                <a:latin typeface="Trebuchet MS"/>
                <a:cs typeface="Trebuchet MS"/>
              </a:rPr>
              <a:t>Hive </a:t>
            </a:r>
            <a:r>
              <a:rPr sz="1800" spc="-15" dirty="0">
                <a:latin typeface="Trebuchet MS"/>
                <a:cs typeface="Trebuchet MS"/>
              </a:rPr>
              <a:t>accesses </a:t>
            </a:r>
            <a:r>
              <a:rPr sz="1800" u="sng" spc="15" dirty="0">
                <a:latin typeface="Trebuchet MS"/>
                <a:cs typeface="Trebuchet MS"/>
              </a:rPr>
              <a:t>data </a:t>
            </a:r>
            <a:r>
              <a:rPr sz="1800" u="sng" dirty="0">
                <a:latin typeface="Trebuchet MS"/>
                <a:cs typeface="Trebuchet MS"/>
              </a:rPr>
              <a:t>outside </a:t>
            </a:r>
            <a:r>
              <a:rPr sz="1800" u="sng" spc="-15" dirty="0">
                <a:latin typeface="Trebuchet MS"/>
                <a:cs typeface="Trebuchet MS"/>
              </a:rPr>
              <a:t>the </a:t>
            </a:r>
            <a:r>
              <a:rPr sz="1800" u="sng" spc="25" dirty="0">
                <a:latin typeface="Trebuchet MS"/>
                <a:cs typeface="Trebuchet MS"/>
              </a:rPr>
              <a:t>warehouse </a:t>
            </a:r>
            <a:r>
              <a:rPr sz="1800" u="sng" spc="-45" dirty="0">
                <a:latin typeface="Trebuchet MS"/>
                <a:cs typeface="Trebuchet MS"/>
              </a:rPr>
              <a:t>directory</a:t>
            </a:r>
            <a:r>
              <a:rPr sz="1800" spc="-45" dirty="0" smtClean="0">
                <a:latin typeface="Trebuchet MS"/>
                <a:cs typeface="Trebuchet MS"/>
              </a:rPr>
              <a:t>. </a:t>
            </a:r>
            <a:r>
              <a:rPr sz="1800" spc="-15" dirty="0" smtClean="0">
                <a:latin typeface="Trebuchet MS"/>
                <a:cs typeface="Trebuchet MS"/>
              </a:rPr>
              <a:t>If</a:t>
            </a:r>
            <a:r>
              <a:rPr lang="en-US" spc="-15" dirty="0" smtClean="0">
                <a:latin typeface="Trebuchet MS"/>
                <a:cs typeface="Trebuchet MS"/>
              </a:rPr>
              <a:t> </a:t>
            </a:r>
            <a:r>
              <a:rPr sz="1800" spc="-15" dirty="0" smtClean="0">
                <a:latin typeface="Trebuchet MS"/>
                <a:cs typeface="Trebuchet MS"/>
              </a:rPr>
              <a:t>all </a:t>
            </a:r>
            <a:r>
              <a:rPr lang="en-US" sz="1800" spc="-15" dirty="0" smtClean="0">
                <a:latin typeface="Trebuchet MS"/>
                <a:cs typeface="Trebuchet MS"/>
              </a:rPr>
              <a:t> </a:t>
            </a:r>
            <a:r>
              <a:rPr sz="1800" spc="15" dirty="0" smtClean="0">
                <a:latin typeface="Trebuchet MS"/>
                <a:cs typeface="Trebuchet MS"/>
              </a:rPr>
              <a:t>processing </a:t>
            </a:r>
            <a:r>
              <a:rPr sz="1800" spc="-15" dirty="0">
                <a:latin typeface="Trebuchet MS"/>
                <a:cs typeface="Trebuchet MS"/>
              </a:rPr>
              <a:t>is </a:t>
            </a:r>
            <a:r>
              <a:rPr sz="1800" spc="10" dirty="0">
                <a:latin typeface="Trebuchet MS"/>
                <a:cs typeface="Trebuchet MS"/>
              </a:rPr>
              <a:t>performed </a:t>
            </a:r>
            <a:r>
              <a:rPr sz="1800" spc="15" dirty="0">
                <a:latin typeface="Trebuchet MS"/>
                <a:cs typeface="Trebuchet MS"/>
              </a:rPr>
              <a:t>by </a:t>
            </a:r>
            <a:r>
              <a:rPr sz="1800" spc="-35" dirty="0">
                <a:latin typeface="Trebuchet MS"/>
                <a:cs typeface="Trebuchet MS"/>
              </a:rPr>
              <a:t>Hive, </a:t>
            </a:r>
            <a:r>
              <a:rPr sz="1800" spc="45" dirty="0">
                <a:latin typeface="Trebuchet MS"/>
                <a:cs typeface="Trebuchet MS"/>
              </a:rPr>
              <a:t>you </a:t>
            </a:r>
            <a:r>
              <a:rPr sz="1800" spc="-10" dirty="0">
                <a:latin typeface="Trebuchet MS"/>
                <a:cs typeface="Trebuchet MS"/>
              </a:rPr>
              <a:t>are </a:t>
            </a:r>
            <a:r>
              <a:rPr sz="1800" dirty="0">
                <a:latin typeface="Trebuchet MS"/>
                <a:cs typeface="Trebuchet MS"/>
              </a:rPr>
              <a:t>advised to </a:t>
            </a:r>
            <a:r>
              <a:rPr sz="1800" spc="15" dirty="0">
                <a:latin typeface="Trebuchet MS"/>
                <a:cs typeface="Trebuchet MS"/>
              </a:rPr>
              <a:t>use </a:t>
            </a:r>
            <a:r>
              <a:rPr sz="1800" spc="55" dirty="0">
                <a:latin typeface="Trebuchet MS"/>
                <a:cs typeface="Trebuchet MS"/>
              </a:rPr>
              <a:t>managed</a:t>
            </a:r>
            <a:r>
              <a:rPr sz="1800" spc="315" dirty="0">
                <a:latin typeface="Trebuchet MS"/>
                <a:cs typeface="Trebuchet MS"/>
              </a:rPr>
              <a:t> </a:t>
            </a:r>
            <a:r>
              <a:rPr sz="1800" spc="-45" dirty="0">
                <a:latin typeface="Trebuchet MS"/>
                <a:cs typeface="Trebuchet MS"/>
              </a:rPr>
              <a:t>tables.</a:t>
            </a:r>
            <a:endParaRPr sz="1800" dirty="0">
              <a:latin typeface="Trebuchet MS"/>
              <a:cs typeface="Trebuchet MS"/>
            </a:endParaRPr>
          </a:p>
          <a:p>
            <a:pPr marL="298450" indent="-285750" algn="just">
              <a:lnSpc>
                <a:spcPct val="100000"/>
              </a:lnSpc>
              <a:buFont typeface="Arial" panose="020B0604020202020204" pitchFamily="34" charset="0"/>
              <a:buChar char="•"/>
            </a:pPr>
            <a:r>
              <a:rPr sz="1800" spc="-15" dirty="0">
                <a:latin typeface="Trebuchet MS"/>
                <a:cs typeface="Trebuchet MS"/>
              </a:rPr>
              <a:t>If </a:t>
            </a:r>
            <a:r>
              <a:rPr sz="1800" spc="40" dirty="0">
                <a:latin typeface="Trebuchet MS"/>
                <a:cs typeface="Trebuchet MS"/>
              </a:rPr>
              <a:t>you </a:t>
            </a:r>
            <a:r>
              <a:rPr sz="1800" spc="30" dirty="0">
                <a:latin typeface="Trebuchet MS"/>
                <a:cs typeface="Trebuchet MS"/>
              </a:rPr>
              <a:t>want </a:t>
            </a:r>
            <a:r>
              <a:rPr sz="1800" dirty="0">
                <a:latin typeface="Trebuchet MS"/>
                <a:cs typeface="Trebuchet MS"/>
              </a:rPr>
              <a:t>to </a:t>
            </a:r>
            <a:r>
              <a:rPr sz="1800" spc="20" dirty="0">
                <a:latin typeface="Trebuchet MS"/>
                <a:cs typeface="Trebuchet MS"/>
              </a:rPr>
              <a:t>use Hive </a:t>
            </a:r>
            <a:r>
              <a:rPr sz="1800" spc="45" dirty="0">
                <a:latin typeface="Trebuchet MS"/>
                <a:cs typeface="Trebuchet MS"/>
              </a:rPr>
              <a:t>and </a:t>
            </a:r>
            <a:r>
              <a:rPr sz="1800" spc="-5" dirty="0">
                <a:latin typeface="Trebuchet MS"/>
                <a:cs typeface="Trebuchet MS"/>
              </a:rPr>
              <a:t>other </a:t>
            </a:r>
            <a:r>
              <a:rPr sz="1800" spc="10" dirty="0">
                <a:latin typeface="Trebuchet MS"/>
                <a:cs typeface="Trebuchet MS"/>
              </a:rPr>
              <a:t>tools </a:t>
            </a:r>
            <a:r>
              <a:rPr sz="1800" dirty="0">
                <a:latin typeface="Trebuchet MS"/>
                <a:cs typeface="Trebuchet MS"/>
              </a:rPr>
              <a:t>to process </a:t>
            </a:r>
            <a:r>
              <a:rPr sz="1800" spc="-15" dirty="0">
                <a:latin typeface="Trebuchet MS"/>
                <a:cs typeface="Trebuchet MS"/>
              </a:rPr>
              <a:t>the </a:t>
            </a:r>
            <a:r>
              <a:rPr sz="1800" spc="40" dirty="0">
                <a:latin typeface="Trebuchet MS"/>
                <a:cs typeface="Trebuchet MS"/>
              </a:rPr>
              <a:t>same </a:t>
            </a:r>
            <a:r>
              <a:rPr sz="1800" spc="15" dirty="0">
                <a:latin typeface="Trebuchet MS"/>
                <a:cs typeface="Trebuchet MS"/>
              </a:rPr>
              <a:t>data </a:t>
            </a:r>
            <a:r>
              <a:rPr sz="1800" spc="-80" dirty="0">
                <a:latin typeface="Trebuchet MS"/>
                <a:cs typeface="Trebuchet MS"/>
              </a:rPr>
              <a:t>set, </a:t>
            </a:r>
            <a:r>
              <a:rPr sz="1800" spc="45" dirty="0">
                <a:latin typeface="Trebuchet MS"/>
                <a:cs typeface="Trebuchet MS"/>
              </a:rPr>
              <a:t>you </a:t>
            </a:r>
            <a:r>
              <a:rPr sz="1800" spc="-5" dirty="0">
                <a:latin typeface="Trebuchet MS"/>
                <a:cs typeface="Trebuchet MS"/>
              </a:rPr>
              <a:t>are </a:t>
            </a:r>
            <a:r>
              <a:rPr sz="1800" dirty="0">
                <a:latin typeface="Trebuchet MS"/>
                <a:cs typeface="Trebuchet MS"/>
              </a:rPr>
              <a:t>advised to</a:t>
            </a:r>
            <a:r>
              <a:rPr sz="1800" spc="355" dirty="0">
                <a:latin typeface="Trebuchet MS"/>
                <a:cs typeface="Trebuchet MS"/>
              </a:rPr>
              <a:t> </a:t>
            </a:r>
            <a:r>
              <a:rPr sz="1800" spc="20" dirty="0" smtClean="0">
                <a:latin typeface="Trebuchet MS"/>
                <a:cs typeface="Trebuchet MS"/>
              </a:rPr>
              <a:t>use</a:t>
            </a:r>
            <a:r>
              <a:rPr lang="en-US" dirty="0">
                <a:latin typeface="Trebuchet MS"/>
                <a:cs typeface="Trebuchet MS"/>
              </a:rPr>
              <a:t> </a:t>
            </a:r>
            <a:r>
              <a:rPr sz="1800" spc="-20" dirty="0" smtClean="0">
                <a:latin typeface="Trebuchet MS"/>
                <a:cs typeface="Trebuchet MS"/>
              </a:rPr>
              <a:t>external</a:t>
            </a:r>
            <a:r>
              <a:rPr sz="1800" spc="10" dirty="0" smtClean="0">
                <a:latin typeface="Trebuchet MS"/>
                <a:cs typeface="Trebuchet MS"/>
              </a:rPr>
              <a:t> </a:t>
            </a:r>
            <a:r>
              <a:rPr sz="1800" spc="-45" dirty="0">
                <a:latin typeface="Trebuchet MS"/>
                <a:cs typeface="Trebuchet MS"/>
              </a:rPr>
              <a:t>tables.</a:t>
            </a:r>
            <a:endParaRPr sz="1800" dirty="0">
              <a:latin typeface="Trebuchet MS"/>
              <a:cs typeface="Trebuchet MS"/>
            </a:endParaRPr>
          </a:p>
        </p:txBody>
      </p:sp>
      <p:graphicFrame>
        <p:nvGraphicFramePr>
          <p:cNvPr id="10" name="object 10"/>
          <p:cNvGraphicFramePr>
            <a:graphicFrameLocks noGrp="1"/>
          </p:cNvGraphicFramePr>
          <p:nvPr>
            <p:extLst>
              <p:ext uri="{D42A27DB-BD31-4B8C-83A1-F6EECF244321}">
                <p14:modId xmlns:p14="http://schemas.microsoft.com/office/powerpoint/2010/main" val="2274057223"/>
              </p:ext>
            </p:extLst>
          </p:nvPr>
        </p:nvGraphicFramePr>
        <p:xfrm>
          <a:off x="1330782" y="3754704"/>
          <a:ext cx="9422130" cy="1535073"/>
        </p:xfrm>
        <a:graphic>
          <a:graphicData uri="http://schemas.openxmlformats.org/drawingml/2006/table">
            <a:tbl>
              <a:tblPr firstRow="1" bandRow="1">
                <a:tableStyleId>{2D5ABB26-0587-4C30-8999-92F81FD0307C}</a:tableStyleId>
              </a:tblPr>
              <a:tblGrid>
                <a:gridCol w="1638935">
                  <a:extLst>
                    <a:ext uri="{9D8B030D-6E8A-4147-A177-3AD203B41FA5}">
                      <a16:colId xmlns:a16="http://schemas.microsoft.com/office/drawing/2014/main" val="20000"/>
                    </a:ext>
                  </a:extLst>
                </a:gridCol>
                <a:gridCol w="4382135">
                  <a:extLst>
                    <a:ext uri="{9D8B030D-6E8A-4147-A177-3AD203B41FA5}">
                      <a16:colId xmlns:a16="http://schemas.microsoft.com/office/drawing/2014/main" val="20001"/>
                    </a:ext>
                  </a:extLst>
                </a:gridCol>
                <a:gridCol w="3401060">
                  <a:extLst>
                    <a:ext uri="{9D8B030D-6E8A-4147-A177-3AD203B41FA5}">
                      <a16:colId xmlns:a16="http://schemas.microsoft.com/office/drawing/2014/main" val="20002"/>
                    </a:ext>
                  </a:extLst>
                </a:gridCol>
              </a:tblGrid>
              <a:tr h="411861">
                <a:tc>
                  <a:txBody>
                    <a:bodyPr/>
                    <a:lstStyle/>
                    <a:p>
                      <a:pPr>
                        <a:lnSpc>
                          <a:spcPct val="100000"/>
                        </a:lnSpc>
                      </a:pPr>
                      <a:endParaRPr sz="1700">
                        <a:latin typeface="Times New Roman"/>
                        <a:cs typeface="Times New Roman"/>
                      </a:endParaRPr>
                    </a:p>
                  </a:txBody>
                  <a:tcPr marL="0" marR="0" marT="0" marB="0">
                    <a:lnL w="28575">
                      <a:solidFill>
                        <a:srgbClr val="000000"/>
                      </a:solidFill>
                      <a:prstDash val="solid"/>
                    </a:lnL>
                    <a:lnR w="12700">
                      <a:solidFill>
                        <a:srgbClr val="000000"/>
                      </a:solidFill>
                      <a:prstDash val="solid"/>
                    </a:lnR>
                    <a:lnT w="28575">
                      <a:solidFill>
                        <a:srgbClr val="000000"/>
                      </a:solidFill>
                      <a:prstDash val="solid"/>
                    </a:lnT>
                    <a:lnB w="12700">
                      <a:solidFill>
                        <a:srgbClr val="000000"/>
                      </a:solidFill>
                      <a:prstDash val="solid"/>
                    </a:lnB>
                    <a:solidFill>
                      <a:srgbClr val="D9D9D9"/>
                    </a:solidFill>
                  </a:tcPr>
                </a:tc>
                <a:tc>
                  <a:txBody>
                    <a:bodyPr/>
                    <a:lstStyle/>
                    <a:p>
                      <a:pPr marL="1270" algn="ctr">
                        <a:lnSpc>
                          <a:spcPct val="100000"/>
                        </a:lnSpc>
                        <a:spcBef>
                          <a:spcPts val="645"/>
                        </a:spcBef>
                      </a:pPr>
                      <a:r>
                        <a:rPr sz="1600" b="1" spc="95" dirty="0">
                          <a:latin typeface="Trebuchet MS"/>
                          <a:cs typeface="Trebuchet MS"/>
                        </a:rPr>
                        <a:t>Managed</a:t>
                      </a:r>
                      <a:r>
                        <a:rPr sz="1600" b="1" spc="25" dirty="0">
                          <a:latin typeface="Trebuchet MS"/>
                          <a:cs typeface="Trebuchet MS"/>
                        </a:rPr>
                        <a:t> </a:t>
                      </a:r>
                      <a:r>
                        <a:rPr sz="1600" b="1" spc="20" dirty="0">
                          <a:latin typeface="Trebuchet MS"/>
                          <a:cs typeface="Trebuchet MS"/>
                        </a:rPr>
                        <a:t>Table</a:t>
                      </a:r>
                      <a:endParaRPr sz="1600">
                        <a:latin typeface="Trebuchet MS"/>
                        <a:cs typeface="Trebuchet MS"/>
                      </a:endParaRPr>
                    </a:p>
                  </a:txBody>
                  <a:tcPr marL="0" marR="0" marT="81915" marB="0">
                    <a:lnL w="12700">
                      <a:solidFill>
                        <a:srgbClr val="000000"/>
                      </a:solidFill>
                      <a:prstDash val="solid"/>
                    </a:lnL>
                    <a:lnR w="12700">
                      <a:solidFill>
                        <a:srgbClr val="000000"/>
                      </a:solidFill>
                      <a:prstDash val="solid"/>
                    </a:lnR>
                    <a:lnT w="28575">
                      <a:solidFill>
                        <a:srgbClr val="000000"/>
                      </a:solidFill>
                      <a:prstDash val="solid"/>
                    </a:lnT>
                    <a:lnB w="12700">
                      <a:solidFill>
                        <a:srgbClr val="000000"/>
                      </a:solidFill>
                      <a:prstDash val="solid"/>
                    </a:lnB>
                    <a:solidFill>
                      <a:srgbClr val="D9D9D9"/>
                    </a:solidFill>
                  </a:tcPr>
                </a:tc>
                <a:tc>
                  <a:txBody>
                    <a:bodyPr/>
                    <a:lstStyle/>
                    <a:p>
                      <a:pPr marL="993140">
                        <a:lnSpc>
                          <a:spcPct val="100000"/>
                        </a:lnSpc>
                        <a:spcBef>
                          <a:spcPts val="645"/>
                        </a:spcBef>
                      </a:pPr>
                      <a:r>
                        <a:rPr sz="1600" b="1" spc="5" dirty="0">
                          <a:latin typeface="Trebuchet MS"/>
                          <a:cs typeface="Trebuchet MS"/>
                        </a:rPr>
                        <a:t>External</a:t>
                      </a:r>
                      <a:r>
                        <a:rPr sz="1600" b="1" spc="25" dirty="0">
                          <a:latin typeface="Trebuchet MS"/>
                          <a:cs typeface="Trebuchet MS"/>
                        </a:rPr>
                        <a:t> </a:t>
                      </a:r>
                      <a:r>
                        <a:rPr sz="1600" b="1" spc="15" dirty="0">
                          <a:latin typeface="Trebuchet MS"/>
                          <a:cs typeface="Trebuchet MS"/>
                        </a:rPr>
                        <a:t>Table</a:t>
                      </a:r>
                      <a:endParaRPr sz="1600">
                        <a:latin typeface="Trebuchet MS"/>
                        <a:cs typeface="Trebuchet MS"/>
                      </a:endParaRPr>
                    </a:p>
                  </a:txBody>
                  <a:tcPr marL="0" marR="0" marT="81915" marB="0">
                    <a:lnL w="12700">
                      <a:solidFill>
                        <a:srgbClr val="000000"/>
                      </a:solidFill>
                      <a:prstDash val="solid"/>
                    </a:lnL>
                    <a:lnR w="28575">
                      <a:solidFill>
                        <a:srgbClr val="000000"/>
                      </a:solidFill>
                      <a:prstDash val="solid"/>
                    </a:lnR>
                    <a:lnT w="28575">
                      <a:solidFill>
                        <a:srgbClr val="000000"/>
                      </a:solidFill>
                      <a:prstDash val="solid"/>
                    </a:lnT>
                    <a:lnB w="12700">
                      <a:solidFill>
                        <a:srgbClr val="000000"/>
                      </a:solidFill>
                      <a:prstDash val="solid"/>
                    </a:lnB>
                    <a:solidFill>
                      <a:srgbClr val="D9D9D9"/>
                    </a:solidFill>
                  </a:tcPr>
                </a:tc>
                <a:extLst>
                  <a:ext uri="{0D108BD9-81ED-4DB2-BD59-A6C34878D82A}">
                    <a16:rowId xmlns:a16="http://schemas.microsoft.com/office/drawing/2014/main" val="10000"/>
                  </a:ext>
                </a:extLst>
              </a:tr>
              <a:tr h="411860">
                <a:tc>
                  <a:txBody>
                    <a:bodyPr/>
                    <a:lstStyle/>
                    <a:p>
                      <a:pPr marL="91440">
                        <a:lnSpc>
                          <a:spcPct val="100000"/>
                        </a:lnSpc>
                        <a:spcBef>
                          <a:spcPts val="640"/>
                        </a:spcBef>
                      </a:pPr>
                      <a:r>
                        <a:rPr sz="1600" spc="30" dirty="0">
                          <a:latin typeface="Trebuchet MS"/>
                          <a:cs typeface="Trebuchet MS"/>
                        </a:rPr>
                        <a:t>CREATE/LOAD</a:t>
                      </a:r>
                      <a:endParaRPr sz="1600">
                        <a:latin typeface="Trebuchet MS"/>
                        <a:cs typeface="Trebuchet MS"/>
                      </a:endParaRPr>
                    </a:p>
                  </a:txBody>
                  <a:tcPr marL="0" marR="0" marT="81280" marB="0">
                    <a:lnL w="28575">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1440">
                        <a:lnSpc>
                          <a:spcPct val="100000"/>
                        </a:lnSpc>
                        <a:spcBef>
                          <a:spcPts val="640"/>
                        </a:spcBef>
                      </a:pPr>
                      <a:r>
                        <a:rPr sz="1600" spc="45" dirty="0">
                          <a:latin typeface="Trebuchet MS"/>
                          <a:cs typeface="Trebuchet MS"/>
                        </a:rPr>
                        <a:t>Data </a:t>
                      </a:r>
                      <a:r>
                        <a:rPr sz="1600" spc="-15" dirty="0">
                          <a:latin typeface="Trebuchet MS"/>
                          <a:cs typeface="Trebuchet MS"/>
                        </a:rPr>
                        <a:t>is </a:t>
                      </a:r>
                      <a:r>
                        <a:rPr sz="1600" spc="30" dirty="0">
                          <a:latin typeface="Trebuchet MS"/>
                          <a:cs typeface="Trebuchet MS"/>
                        </a:rPr>
                        <a:t>moved </a:t>
                      </a:r>
                      <a:r>
                        <a:rPr sz="1600" dirty="0">
                          <a:latin typeface="Trebuchet MS"/>
                          <a:cs typeface="Trebuchet MS"/>
                        </a:rPr>
                        <a:t>to </a:t>
                      </a:r>
                      <a:r>
                        <a:rPr sz="1600" spc="-15" dirty="0">
                          <a:latin typeface="Trebuchet MS"/>
                          <a:cs typeface="Trebuchet MS"/>
                        </a:rPr>
                        <a:t>the </a:t>
                      </a:r>
                      <a:r>
                        <a:rPr sz="1600" spc="-5" dirty="0">
                          <a:latin typeface="Trebuchet MS"/>
                          <a:cs typeface="Trebuchet MS"/>
                        </a:rPr>
                        <a:t>repository</a:t>
                      </a:r>
                      <a:r>
                        <a:rPr sz="1600" spc="155" dirty="0">
                          <a:latin typeface="Trebuchet MS"/>
                          <a:cs typeface="Trebuchet MS"/>
                        </a:rPr>
                        <a:t> </a:t>
                      </a:r>
                      <a:r>
                        <a:rPr sz="1600" spc="-40" dirty="0">
                          <a:latin typeface="Trebuchet MS"/>
                          <a:cs typeface="Trebuchet MS"/>
                        </a:rPr>
                        <a:t>directory.</a:t>
                      </a:r>
                      <a:endParaRPr sz="1600">
                        <a:latin typeface="Trebuchet MS"/>
                        <a:cs typeface="Trebuchet MS"/>
                      </a:endParaRPr>
                    </a:p>
                  </a:txBody>
                  <a:tcPr marL="0" marR="0" marT="812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640"/>
                        </a:spcBef>
                      </a:pPr>
                      <a:r>
                        <a:rPr sz="1600" spc="-5" dirty="0">
                          <a:latin typeface="Trebuchet MS"/>
                          <a:cs typeface="Trebuchet MS"/>
                        </a:rPr>
                        <a:t>The </a:t>
                      </a:r>
                      <a:r>
                        <a:rPr sz="1600" spc="10" dirty="0">
                          <a:latin typeface="Trebuchet MS"/>
                          <a:cs typeface="Trebuchet MS"/>
                        </a:rPr>
                        <a:t>data </a:t>
                      </a:r>
                      <a:r>
                        <a:rPr sz="1600" spc="-5" dirty="0">
                          <a:latin typeface="Trebuchet MS"/>
                          <a:cs typeface="Trebuchet MS"/>
                        </a:rPr>
                        <a:t>location </a:t>
                      </a:r>
                      <a:r>
                        <a:rPr sz="1600" spc="-15" dirty="0">
                          <a:latin typeface="Trebuchet MS"/>
                          <a:cs typeface="Trebuchet MS"/>
                        </a:rPr>
                        <a:t>is </a:t>
                      </a:r>
                      <a:r>
                        <a:rPr sz="1600" spc="20" dirty="0">
                          <a:latin typeface="Trebuchet MS"/>
                          <a:cs typeface="Trebuchet MS"/>
                        </a:rPr>
                        <a:t>not</a:t>
                      </a:r>
                      <a:r>
                        <a:rPr sz="1600" spc="160" dirty="0">
                          <a:latin typeface="Trebuchet MS"/>
                          <a:cs typeface="Trebuchet MS"/>
                        </a:rPr>
                        <a:t> </a:t>
                      </a:r>
                      <a:r>
                        <a:rPr sz="1600" spc="-15" dirty="0">
                          <a:latin typeface="Trebuchet MS"/>
                          <a:cs typeface="Trebuchet MS"/>
                        </a:rPr>
                        <a:t>moved.</a:t>
                      </a:r>
                      <a:endParaRPr sz="1600" dirty="0">
                        <a:latin typeface="Trebuchet MS"/>
                        <a:cs typeface="Trebuchet MS"/>
                      </a:endParaRPr>
                    </a:p>
                  </a:txBody>
                  <a:tcPr marL="0" marR="0" marT="81280" marB="0">
                    <a:lnL w="12700">
                      <a:solidFill>
                        <a:srgbClr val="000000"/>
                      </a:solidFill>
                      <a:prstDash val="solid"/>
                    </a:lnL>
                    <a:lnR w="28575">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711352">
                <a:tc>
                  <a:txBody>
                    <a:bodyPr/>
                    <a:lstStyle/>
                    <a:p>
                      <a:pPr algn="just">
                        <a:lnSpc>
                          <a:spcPct val="100000"/>
                        </a:lnSpc>
                        <a:spcBef>
                          <a:spcPts val="40"/>
                        </a:spcBef>
                      </a:pPr>
                      <a:endParaRPr sz="1550" dirty="0">
                        <a:latin typeface="Times New Roman"/>
                        <a:cs typeface="Times New Roman"/>
                      </a:endParaRPr>
                    </a:p>
                    <a:p>
                      <a:pPr marL="91440" algn="just">
                        <a:lnSpc>
                          <a:spcPct val="100000"/>
                        </a:lnSpc>
                      </a:pPr>
                      <a:r>
                        <a:rPr sz="1600" spc="95" dirty="0">
                          <a:latin typeface="Trebuchet MS"/>
                          <a:cs typeface="Trebuchet MS"/>
                        </a:rPr>
                        <a:t>DROP</a:t>
                      </a:r>
                      <a:endParaRPr sz="1600" dirty="0">
                        <a:latin typeface="Trebuchet MS"/>
                        <a:cs typeface="Trebuchet MS"/>
                      </a:endParaRPr>
                    </a:p>
                  </a:txBody>
                  <a:tcPr marL="0" marR="0" marT="5080" marB="0">
                    <a:lnL w="28575">
                      <a:solidFill>
                        <a:srgbClr val="000000"/>
                      </a:solidFill>
                      <a:prstDash val="solid"/>
                    </a:lnL>
                    <a:lnR w="12700">
                      <a:solidFill>
                        <a:srgbClr val="000000"/>
                      </a:solidFill>
                      <a:prstDash val="solid"/>
                    </a:lnR>
                    <a:lnT w="12700">
                      <a:solidFill>
                        <a:srgbClr val="000000"/>
                      </a:solidFill>
                      <a:prstDash val="solid"/>
                    </a:lnT>
                    <a:lnB w="28575">
                      <a:solidFill>
                        <a:srgbClr val="000000"/>
                      </a:solidFill>
                      <a:prstDash val="solid"/>
                    </a:lnB>
                  </a:tcPr>
                </a:tc>
                <a:tc>
                  <a:txBody>
                    <a:bodyPr/>
                    <a:lstStyle/>
                    <a:p>
                      <a:pPr marL="91440" marR="984250" algn="just">
                        <a:lnSpc>
                          <a:spcPct val="100000"/>
                        </a:lnSpc>
                        <a:spcBef>
                          <a:spcPts val="860"/>
                        </a:spcBef>
                      </a:pPr>
                      <a:r>
                        <a:rPr sz="1600" spc="-5" dirty="0">
                          <a:latin typeface="Trebuchet MS"/>
                          <a:cs typeface="Trebuchet MS"/>
                        </a:rPr>
                        <a:t>The </a:t>
                      </a:r>
                      <a:r>
                        <a:rPr sz="1600" spc="10" dirty="0">
                          <a:latin typeface="Trebuchet MS"/>
                          <a:cs typeface="Trebuchet MS"/>
                        </a:rPr>
                        <a:t>metadata </a:t>
                      </a:r>
                      <a:r>
                        <a:rPr sz="1600" spc="40" dirty="0">
                          <a:latin typeface="Trebuchet MS"/>
                          <a:cs typeface="Trebuchet MS"/>
                        </a:rPr>
                        <a:t>and </a:t>
                      </a:r>
                      <a:r>
                        <a:rPr sz="1600" spc="10" dirty="0">
                          <a:latin typeface="Trebuchet MS"/>
                          <a:cs typeface="Trebuchet MS"/>
                        </a:rPr>
                        <a:t>data </a:t>
                      </a:r>
                      <a:r>
                        <a:rPr sz="1600" spc="-5" dirty="0">
                          <a:latin typeface="Trebuchet MS"/>
                          <a:cs typeface="Trebuchet MS"/>
                        </a:rPr>
                        <a:t>are </a:t>
                      </a:r>
                      <a:r>
                        <a:rPr sz="1600" spc="-25" dirty="0">
                          <a:latin typeface="Trebuchet MS"/>
                          <a:cs typeface="Trebuchet MS"/>
                        </a:rPr>
                        <a:t>deleted  together.</a:t>
                      </a:r>
                      <a:endParaRPr sz="1600" dirty="0">
                        <a:latin typeface="Trebuchet MS"/>
                        <a:cs typeface="Trebuchet MS"/>
                      </a:endParaRPr>
                    </a:p>
                  </a:txBody>
                  <a:tcPr marL="0" marR="0" marT="109220" marB="0">
                    <a:lnL w="12700">
                      <a:solidFill>
                        <a:srgbClr val="000000"/>
                      </a:solidFill>
                      <a:prstDash val="solid"/>
                    </a:lnL>
                    <a:lnR w="12700">
                      <a:solidFill>
                        <a:srgbClr val="000000"/>
                      </a:solidFill>
                      <a:prstDash val="solid"/>
                    </a:lnR>
                    <a:lnT w="12700">
                      <a:solidFill>
                        <a:srgbClr val="000000"/>
                      </a:solidFill>
                      <a:prstDash val="solid"/>
                    </a:lnT>
                    <a:lnB w="28575">
                      <a:solidFill>
                        <a:srgbClr val="000000"/>
                      </a:solidFill>
                      <a:prstDash val="solid"/>
                    </a:lnB>
                  </a:tcPr>
                </a:tc>
                <a:tc>
                  <a:txBody>
                    <a:bodyPr/>
                    <a:lstStyle/>
                    <a:p>
                      <a:pPr algn="just">
                        <a:lnSpc>
                          <a:spcPct val="100000"/>
                        </a:lnSpc>
                        <a:spcBef>
                          <a:spcPts val="40"/>
                        </a:spcBef>
                      </a:pPr>
                      <a:endParaRPr sz="1550" dirty="0">
                        <a:latin typeface="Times New Roman"/>
                        <a:cs typeface="Times New Roman"/>
                      </a:endParaRPr>
                    </a:p>
                    <a:p>
                      <a:pPr marL="92075" algn="just">
                        <a:lnSpc>
                          <a:spcPct val="100000"/>
                        </a:lnSpc>
                      </a:pPr>
                      <a:r>
                        <a:rPr sz="1600" spc="45" dirty="0">
                          <a:latin typeface="Trebuchet MS"/>
                          <a:cs typeface="Trebuchet MS"/>
                        </a:rPr>
                        <a:t>Only </a:t>
                      </a:r>
                      <a:r>
                        <a:rPr sz="1600" spc="-15" dirty="0">
                          <a:latin typeface="Trebuchet MS"/>
                          <a:cs typeface="Trebuchet MS"/>
                        </a:rPr>
                        <a:t>the </a:t>
                      </a:r>
                      <a:r>
                        <a:rPr sz="1600" spc="10" dirty="0">
                          <a:latin typeface="Trebuchet MS"/>
                          <a:cs typeface="Trebuchet MS"/>
                        </a:rPr>
                        <a:t>metadata </a:t>
                      </a:r>
                      <a:r>
                        <a:rPr sz="1600" spc="-15" dirty="0">
                          <a:latin typeface="Trebuchet MS"/>
                          <a:cs typeface="Trebuchet MS"/>
                        </a:rPr>
                        <a:t>is</a:t>
                      </a:r>
                      <a:r>
                        <a:rPr sz="1600" spc="90" dirty="0">
                          <a:latin typeface="Trebuchet MS"/>
                          <a:cs typeface="Trebuchet MS"/>
                        </a:rPr>
                        <a:t> </a:t>
                      </a:r>
                      <a:r>
                        <a:rPr sz="1600" spc="-50" dirty="0">
                          <a:latin typeface="Trebuchet MS"/>
                          <a:cs typeface="Trebuchet MS"/>
                        </a:rPr>
                        <a:t>deleted.</a:t>
                      </a:r>
                      <a:endParaRPr sz="1600" dirty="0">
                        <a:latin typeface="Trebuchet MS"/>
                        <a:cs typeface="Trebuchet MS"/>
                      </a:endParaRPr>
                    </a:p>
                  </a:txBody>
                  <a:tcPr marL="0" marR="0" marT="5080" marB="0">
                    <a:lnL w="12700">
                      <a:solidFill>
                        <a:srgbClr val="000000"/>
                      </a:solidFill>
                      <a:prstDash val="solid"/>
                    </a:lnL>
                    <a:lnR w="28575">
                      <a:solidFill>
                        <a:srgbClr val="000000"/>
                      </a:solidFill>
                      <a:prstDash val="solid"/>
                    </a:lnR>
                    <a:lnT w="12700">
                      <a:solidFill>
                        <a:srgbClr val="000000"/>
                      </a:solidFill>
                      <a:prstDash val="solid"/>
                    </a:lnT>
                    <a:lnB w="28575">
                      <a:solidFill>
                        <a:srgbClr val="000000"/>
                      </a:solidFill>
                      <a:prstDash val="solid"/>
                    </a:lnB>
                  </a:tcPr>
                </a:tc>
                <a:extLst>
                  <a:ext uri="{0D108BD9-81ED-4DB2-BD59-A6C34878D82A}">
                    <a16:rowId xmlns:a16="http://schemas.microsoft.com/office/drawing/2014/main" val="10002"/>
                  </a:ext>
                </a:extLst>
              </a:tr>
            </a:tbl>
          </a:graphicData>
        </a:graphic>
      </p:graphicFrame>
      <p:sp>
        <p:nvSpPr>
          <p:cNvPr id="12" name="object 2"/>
          <p:cNvSpPr txBox="1"/>
          <p:nvPr/>
        </p:nvSpPr>
        <p:spPr>
          <a:xfrm>
            <a:off x="1454911" y="5641408"/>
            <a:ext cx="10239530" cy="932467"/>
          </a:xfrm>
          <a:prstGeom prst="rect">
            <a:avLst/>
          </a:prstGeom>
        </p:spPr>
        <p:txBody>
          <a:bodyPr vert="horz" wrap="square" lIns="0" tIns="9049" rIns="0" bIns="0" rtlCol="0">
            <a:spAutoFit/>
          </a:bodyPr>
          <a:lstStyle/>
          <a:p>
            <a:pPr marL="138113" marR="3810" indent="-128588" algn="just">
              <a:spcBef>
                <a:spcPts val="71"/>
              </a:spcBef>
              <a:buFont typeface="Wingdings"/>
              <a:buChar char=""/>
              <a:tabLst>
                <a:tab pos="138113" algn="l"/>
              </a:tabLst>
            </a:pPr>
            <a:r>
              <a:rPr sz="2000" u="sng" spc="41" dirty="0">
                <a:latin typeface="UKIJ CJK"/>
                <a:cs typeface="UKIJ CJK"/>
              </a:rPr>
              <a:t>When </a:t>
            </a:r>
            <a:r>
              <a:rPr sz="2000" u="sng" spc="30" dirty="0">
                <a:latin typeface="UKIJ CJK"/>
                <a:cs typeface="UKIJ CJK"/>
              </a:rPr>
              <a:t>Hive </a:t>
            </a:r>
            <a:r>
              <a:rPr sz="2000" u="sng" spc="4" dirty="0">
                <a:latin typeface="UKIJ CJK"/>
                <a:cs typeface="UKIJ CJK"/>
              </a:rPr>
              <a:t>is </a:t>
            </a:r>
            <a:r>
              <a:rPr sz="2000" u="sng" spc="23" dirty="0">
                <a:latin typeface="UKIJ CJK"/>
                <a:cs typeface="UKIJ CJK"/>
              </a:rPr>
              <a:t>used </a:t>
            </a:r>
            <a:r>
              <a:rPr sz="2000" u="sng" spc="34" dirty="0">
                <a:latin typeface="UKIJ CJK"/>
                <a:cs typeface="UKIJ CJK"/>
              </a:rPr>
              <a:t>to </a:t>
            </a:r>
            <a:r>
              <a:rPr sz="2000" u="sng" spc="15" dirty="0">
                <a:latin typeface="UKIJ CJK"/>
                <a:cs typeface="UKIJ CJK"/>
              </a:rPr>
              <a:t>create </a:t>
            </a:r>
            <a:r>
              <a:rPr sz="2000" u="sng" spc="19" dirty="0">
                <a:latin typeface="UKIJ CJK"/>
                <a:cs typeface="UKIJ CJK"/>
              </a:rPr>
              <a:t>an </a:t>
            </a:r>
            <a:r>
              <a:rPr sz="2000" u="sng" spc="11" dirty="0">
                <a:latin typeface="UKIJ CJK"/>
                <a:cs typeface="UKIJ CJK"/>
              </a:rPr>
              <a:t>internal </a:t>
            </a:r>
            <a:r>
              <a:rPr sz="2000" u="sng" spc="15" dirty="0">
                <a:latin typeface="UKIJ CJK"/>
                <a:cs typeface="UKIJ CJK"/>
              </a:rPr>
              <a:t>table, </a:t>
            </a:r>
            <a:r>
              <a:rPr sz="2000" u="sng" spc="23" dirty="0">
                <a:latin typeface="UKIJ CJK"/>
                <a:cs typeface="UKIJ CJK"/>
              </a:rPr>
              <a:t>data </a:t>
            </a:r>
            <a:r>
              <a:rPr sz="2000" u="sng" spc="4" dirty="0">
                <a:latin typeface="UKIJ CJK"/>
                <a:cs typeface="UKIJ CJK"/>
              </a:rPr>
              <a:t>is </a:t>
            </a:r>
            <a:r>
              <a:rPr sz="2000" u="sng" spc="26" dirty="0">
                <a:latin typeface="UKIJ CJK"/>
                <a:cs typeface="UKIJ CJK"/>
              </a:rPr>
              <a:t>migrated </a:t>
            </a:r>
            <a:r>
              <a:rPr sz="2000" u="sng" spc="34" dirty="0">
                <a:latin typeface="UKIJ CJK"/>
                <a:cs typeface="UKIJ CJK"/>
              </a:rPr>
              <a:t>to </a:t>
            </a:r>
            <a:r>
              <a:rPr sz="2000" u="sng" spc="23" dirty="0">
                <a:latin typeface="UKIJ CJK"/>
                <a:cs typeface="UKIJ CJK"/>
              </a:rPr>
              <a:t>the </a:t>
            </a:r>
            <a:r>
              <a:rPr sz="2000" u="sng" spc="26" dirty="0">
                <a:latin typeface="UKIJ CJK"/>
                <a:cs typeface="UKIJ CJK"/>
              </a:rPr>
              <a:t>path </a:t>
            </a:r>
            <a:r>
              <a:rPr sz="2000" u="sng" spc="15" dirty="0" smtClean="0">
                <a:latin typeface="UKIJ CJK"/>
                <a:cs typeface="UKIJ CJK"/>
              </a:rPr>
              <a:t>where </a:t>
            </a:r>
            <a:r>
              <a:rPr sz="2000" u="sng" spc="23" dirty="0">
                <a:latin typeface="UKIJ CJK"/>
                <a:cs typeface="UKIJ CJK"/>
              </a:rPr>
              <a:t>the data </a:t>
            </a:r>
            <a:r>
              <a:rPr sz="2000" u="sng" spc="19" dirty="0">
                <a:latin typeface="UKIJ CJK"/>
                <a:cs typeface="UKIJ CJK"/>
              </a:rPr>
              <a:t>warehouse </a:t>
            </a:r>
            <a:r>
              <a:rPr sz="2000" u="sng" spc="15" dirty="0">
                <a:latin typeface="UKIJ CJK"/>
                <a:cs typeface="UKIJ CJK"/>
              </a:rPr>
              <a:t>points</a:t>
            </a:r>
            <a:r>
              <a:rPr sz="2000" spc="15" dirty="0">
                <a:latin typeface="UKIJ CJK"/>
                <a:cs typeface="UKIJ CJK"/>
              </a:rPr>
              <a:t>. </a:t>
            </a:r>
            <a:r>
              <a:rPr sz="2000" spc="-15" dirty="0">
                <a:latin typeface="UKIJ CJK"/>
                <a:cs typeface="UKIJ CJK"/>
              </a:rPr>
              <a:t>If </a:t>
            </a:r>
            <a:r>
              <a:rPr sz="2000" spc="19" dirty="0">
                <a:latin typeface="UKIJ CJK"/>
                <a:cs typeface="UKIJ CJK"/>
              </a:rPr>
              <a:t>an </a:t>
            </a:r>
            <a:r>
              <a:rPr sz="2000" u="sng" spc="11" dirty="0">
                <a:latin typeface="UKIJ CJK"/>
                <a:cs typeface="UKIJ CJK"/>
              </a:rPr>
              <a:t>external </a:t>
            </a:r>
            <a:r>
              <a:rPr sz="2000" u="sng" spc="23" dirty="0">
                <a:latin typeface="UKIJ CJK"/>
                <a:cs typeface="UKIJ CJK"/>
              </a:rPr>
              <a:t>table </a:t>
            </a:r>
            <a:r>
              <a:rPr sz="2000" u="sng" spc="4" dirty="0">
                <a:latin typeface="UKIJ CJK"/>
                <a:cs typeface="UKIJ CJK"/>
              </a:rPr>
              <a:t>is </a:t>
            </a:r>
            <a:r>
              <a:rPr sz="2000" u="sng" spc="15" dirty="0">
                <a:latin typeface="UKIJ CJK"/>
                <a:cs typeface="UKIJ CJK"/>
              </a:rPr>
              <a:t>created, </a:t>
            </a:r>
            <a:r>
              <a:rPr sz="2000" u="sng" spc="26" dirty="0">
                <a:latin typeface="UKIJ CJK"/>
                <a:cs typeface="UKIJ CJK"/>
              </a:rPr>
              <a:t>path </a:t>
            </a:r>
            <a:r>
              <a:rPr sz="2000" u="sng" spc="15" dirty="0">
                <a:latin typeface="UKIJ CJK"/>
                <a:cs typeface="UKIJ CJK"/>
              </a:rPr>
              <a:t>where </a:t>
            </a:r>
            <a:r>
              <a:rPr sz="2000" u="sng" spc="26" dirty="0" smtClean="0">
                <a:latin typeface="UKIJ CJK"/>
                <a:cs typeface="UKIJ CJK"/>
              </a:rPr>
              <a:t>data </a:t>
            </a:r>
            <a:r>
              <a:rPr sz="2000" u="sng" spc="4" dirty="0">
                <a:latin typeface="UKIJ CJK"/>
                <a:cs typeface="UKIJ CJK"/>
              </a:rPr>
              <a:t>is </a:t>
            </a:r>
            <a:r>
              <a:rPr sz="2000" u="sng" spc="19" dirty="0">
                <a:latin typeface="UKIJ CJK"/>
                <a:cs typeface="UKIJ CJK"/>
              </a:rPr>
              <a:t>stored </a:t>
            </a:r>
            <a:r>
              <a:rPr sz="2000" u="sng" spc="4" dirty="0">
                <a:latin typeface="UKIJ CJK"/>
                <a:cs typeface="UKIJ CJK"/>
              </a:rPr>
              <a:t>is </a:t>
            </a:r>
            <a:r>
              <a:rPr sz="2000" u="sng" spc="23" dirty="0">
                <a:latin typeface="UKIJ CJK"/>
                <a:cs typeface="UKIJ CJK"/>
              </a:rPr>
              <a:t>recorded </a:t>
            </a:r>
            <a:r>
              <a:rPr sz="2000" u="sng" spc="26" dirty="0">
                <a:latin typeface="UKIJ CJK"/>
                <a:cs typeface="UKIJ CJK"/>
              </a:rPr>
              <a:t>and </a:t>
            </a:r>
            <a:r>
              <a:rPr sz="2000" u="sng" spc="23" dirty="0">
                <a:latin typeface="UKIJ CJK"/>
                <a:cs typeface="UKIJ CJK"/>
              </a:rPr>
              <a:t>the </a:t>
            </a:r>
            <a:r>
              <a:rPr sz="2000" u="sng" spc="26" dirty="0">
                <a:latin typeface="UKIJ CJK"/>
                <a:cs typeface="UKIJ CJK"/>
              </a:rPr>
              <a:t>data </a:t>
            </a:r>
            <a:r>
              <a:rPr sz="2000" u="sng" spc="19" dirty="0">
                <a:latin typeface="UKIJ CJK"/>
                <a:cs typeface="UKIJ CJK"/>
              </a:rPr>
              <a:t>location </a:t>
            </a:r>
            <a:r>
              <a:rPr sz="2000" u="sng" spc="11" dirty="0">
                <a:latin typeface="UKIJ CJK"/>
                <a:cs typeface="UKIJ CJK"/>
              </a:rPr>
              <a:t>remains </a:t>
            </a:r>
            <a:r>
              <a:rPr sz="2000" u="sng" spc="23" dirty="0">
                <a:latin typeface="UKIJ CJK"/>
                <a:cs typeface="UKIJ CJK"/>
              </a:rPr>
              <a:t>the</a:t>
            </a:r>
            <a:r>
              <a:rPr sz="2000" u="sng" spc="172" dirty="0">
                <a:latin typeface="UKIJ CJK"/>
                <a:cs typeface="UKIJ CJK"/>
              </a:rPr>
              <a:t> </a:t>
            </a:r>
            <a:r>
              <a:rPr sz="2000" u="sng" spc="11" dirty="0">
                <a:latin typeface="UKIJ CJK"/>
                <a:cs typeface="UKIJ CJK"/>
              </a:rPr>
              <a:t>same</a:t>
            </a:r>
            <a:r>
              <a:rPr sz="2000" spc="11" dirty="0" smtClean="0">
                <a:latin typeface="UKIJ CJK"/>
                <a:cs typeface="UKIJ CJK"/>
              </a:rPr>
              <a:t>.</a:t>
            </a:r>
            <a:endParaRPr sz="2000" dirty="0">
              <a:latin typeface="UKIJ CJK"/>
              <a:cs typeface="UKIJ CJK"/>
            </a:endParaRP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676400" y="649822"/>
            <a:ext cx="9796476" cy="567463"/>
          </a:xfrm>
          <a:prstGeom prst="rect">
            <a:avLst/>
          </a:prstGeom>
        </p:spPr>
        <p:txBody>
          <a:bodyPr vert="horz" wrap="square" lIns="0" tIns="13335" rIns="0" bIns="0" rtlCol="0">
            <a:spAutoFit/>
          </a:bodyPr>
          <a:lstStyle/>
          <a:p>
            <a:pPr marL="12700">
              <a:lnSpc>
                <a:spcPct val="100000"/>
              </a:lnSpc>
              <a:spcBef>
                <a:spcPts val="105"/>
              </a:spcBef>
            </a:pPr>
            <a:r>
              <a:rPr spc="175" dirty="0"/>
              <a:t>Managed </a:t>
            </a:r>
            <a:r>
              <a:rPr spc="-10" dirty="0"/>
              <a:t>Table </a:t>
            </a:r>
            <a:r>
              <a:rPr spc="85" dirty="0"/>
              <a:t>and </a:t>
            </a:r>
            <a:r>
              <a:rPr spc="-15" dirty="0"/>
              <a:t>External</a:t>
            </a:r>
            <a:r>
              <a:rPr spc="-200" dirty="0"/>
              <a:t> </a:t>
            </a:r>
            <a:r>
              <a:rPr spc="-10" dirty="0"/>
              <a:t>Table</a:t>
            </a:r>
          </a:p>
        </p:txBody>
      </p:sp>
      <p:sp>
        <p:nvSpPr>
          <p:cNvPr id="4" name="object 4"/>
          <p:cNvSpPr txBox="1"/>
          <p:nvPr/>
        </p:nvSpPr>
        <p:spPr>
          <a:xfrm>
            <a:off x="1203147" y="1323646"/>
            <a:ext cx="6118860" cy="330835"/>
          </a:xfrm>
          <a:prstGeom prst="rect">
            <a:avLst/>
          </a:prstGeom>
        </p:spPr>
        <p:txBody>
          <a:bodyPr vert="horz" wrap="square" lIns="0" tIns="13335" rIns="0" bIns="0" rtlCol="0">
            <a:spAutoFit/>
          </a:bodyPr>
          <a:lstStyle/>
          <a:p>
            <a:pPr marL="12700">
              <a:lnSpc>
                <a:spcPct val="100000"/>
              </a:lnSpc>
              <a:spcBef>
                <a:spcPts val="105"/>
              </a:spcBef>
            </a:pPr>
            <a:r>
              <a:rPr sz="2000" spc="25" dirty="0">
                <a:latin typeface="Trebuchet MS"/>
                <a:cs typeface="Trebuchet MS"/>
              </a:rPr>
              <a:t>Hive </a:t>
            </a:r>
            <a:r>
              <a:rPr sz="2000" spc="15" dirty="0">
                <a:latin typeface="Trebuchet MS"/>
                <a:cs typeface="Trebuchet MS"/>
              </a:rPr>
              <a:t>can </a:t>
            </a:r>
            <a:r>
              <a:rPr sz="2000" spc="-30" dirty="0">
                <a:latin typeface="Trebuchet MS"/>
                <a:cs typeface="Trebuchet MS"/>
              </a:rPr>
              <a:t>create </a:t>
            </a:r>
            <a:r>
              <a:rPr sz="2000" spc="65" dirty="0">
                <a:latin typeface="Trebuchet MS"/>
                <a:cs typeface="Trebuchet MS"/>
              </a:rPr>
              <a:t>managed </a:t>
            </a:r>
            <a:r>
              <a:rPr sz="2000" spc="-10" dirty="0">
                <a:latin typeface="Trebuchet MS"/>
                <a:cs typeface="Trebuchet MS"/>
              </a:rPr>
              <a:t>tables </a:t>
            </a:r>
            <a:r>
              <a:rPr sz="2000" spc="50" dirty="0">
                <a:latin typeface="Trebuchet MS"/>
                <a:cs typeface="Trebuchet MS"/>
              </a:rPr>
              <a:t>and </a:t>
            </a:r>
            <a:r>
              <a:rPr sz="2000" spc="-15" dirty="0">
                <a:latin typeface="Trebuchet MS"/>
                <a:cs typeface="Trebuchet MS"/>
              </a:rPr>
              <a:t>external</a:t>
            </a:r>
            <a:r>
              <a:rPr sz="2000" dirty="0">
                <a:latin typeface="Trebuchet MS"/>
                <a:cs typeface="Trebuchet MS"/>
              </a:rPr>
              <a:t> </a:t>
            </a:r>
            <a:r>
              <a:rPr sz="2000" spc="-45" dirty="0">
                <a:latin typeface="Trebuchet MS"/>
                <a:cs typeface="Trebuchet MS"/>
              </a:rPr>
              <a:t>tables.</a:t>
            </a:r>
            <a:endParaRPr sz="2000" dirty="0">
              <a:latin typeface="Trebuchet MS"/>
              <a:cs typeface="Trebuchet MS"/>
            </a:endParaRPr>
          </a:p>
        </p:txBody>
      </p:sp>
      <p:sp>
        <p:nvSpPr>
          <p:cNvPr id="5" name="object 5"/>
          <p:cNvSpPr txBox="1"/>
          <p:nvPr/>
        </p:nvSpPr>
        <p:spPr>
          <a:xfrm>
            <a:off x="1203147" y="1766061"/>
            <a:ext cx="127635" cy="162560"/>
          </a:xfrm>
          <a:prstGeom prst="rect">
            <a:avLst/>
          </a:prstGeom>
        </p:spPr>
        <p:txBody>
          <a:bodyPr vert="horz" wrap="square" lIns="0" tIns="12700" rIns="0" bIns="0" rtlCol="0">
            <a:spAutoFit/>
          </a:bodyPr>
          <a:lstStyle/>
          <a:p>
            <a:pPr marL="12700">
              <a:lnSpc>
                <a:spcPct val="100000"/>
              </a:lnSpc>
              <a:spcBef>
                <a:spcPts val="100"/>
              </a:spcBef>
            </a:pPr>
            <a:r>
              <a:rPr sz="900" dirty="0">
                <a:latin typeface="Wingdings"/>
                <a:cs typeface="Wingdings"/>
              </a:rPr>
              <a:t></a:t>
            </a:r>
            <a:endParaRPr sz="900">
              <a:latin typeface="Wingdings"/>
              <a:cs typeface="Wingdings"/>
            </a:endParaRPr>
          </a:p>
        </p:txBody>
      </p:sp>
      <p:sp>
        <p:nvSpPr>
          <p:cNvPr id="6" name="object 6"/>
          <p:cNvSpPr txBox="1"/>
          <p:nvPr/>
        </p:nvSpPr>
        <p:spPr>
          <a:xfrm>
            <a:off x="1454911" y="1702053"/>
            <a:ext cx="9855835" cy="1796646"/>
          </a:xfrm>
          <a:prstGeom prst="rect">
            <a:avLst/>
          </a:prstGeom>
        </p:spPr>
        <p:txBody>
          <a:bodyPr vert="horz" wrap="square" lIns="0" tIns="12700" rIns="0" bIns="0" rtlCol="0">
            <a:spAutoFit/>
          </a:bodyPr>
          <a:lstStyle/>
          <a:p>
            <a:pPr marL="12700">
              <a:lnSpc>
                <a:spcPct val="100000"/>
              </a:lnSpc>
            </a:pPr>
            <a:r>
              <a:rPr sz="1800" spc="25" dirty="0">
                <a:latin typeface="Trebuchet MS"/>
                <a:cs typeface="Trebuchet MS"/>
              </a:rPr>
              <a:t>By </a:t>
            </a:r>
            <a:r>
              <a:rPr sz="1800" spc="-35" dirty="0">
                <a:latin typeface="Trebuchet MS"/>
                <a:cs typeface="Trebuchet MS"/>
              </a:rPr>
              <a:t>default, </a:t>
            </a:r>
            <a:r>
              <a:rPr sz="1800" spc="50" dirty="0">
                <a:latin typeface="Trebuchet MS"/>
                <a:cs typeface="Trebuchet MS"/>
              </a:rPr>
              <a:t>a </a:t>
            </a:r>
            <a:r>
              <a:rPr sz="1800" spc="55" dirty="0">
                <a:latin typeface="Trebuchet MS"/>
                <a:cs typeface="Trebuchet MS"/>
              </a:rPr>
              <a:t>managed </a:t>
            </a:r>
            <a:r>
              <a:rPr sz="1800" spc="-15" dirty="0">
                <a:latin typeface="Trebuchet MS"/>
                <a:cs typeface="Trebuchet MS"/>
              </a:rPr>
              <a:t>table is </a:t>
            </a:r>
            <a:r>
              <a:rPr sz="1800" spc="-50" dirty="0">
                <a:latin typeface="Trebuchet MS"/>
                <a:cs typeface="Trebuchet MS"/>
              </a:rPr>
              <a:t>created, </a:t>
            </a:r>
            <a:r>
              <a:rPr sz="1800" spc="45" dirty="0">
                <a:latin typeface="Trebuchet MS"/>
                <a:cs typeface="Trebuchet MS"/>
              </a:rPr>
              <a:t>and </a:t>
            </a:r>
            <a:r>
              <a:rPr sz="1800" spc="15" dirty="0">
                <a:latin typeface="Trebuchet MS"/>
                <a:cs typeface="Trebuchet MS"/>
              </a:rPr>
              <a:t>Hive </a:t>
            </a:r>
            <a:r>
              <a:rPr sz="1800" spc="35" dirty="0">
                <a:latin typeface="Trebuchet MS"/>
                <a:cs typeface="Trebuchet MS"/>
              </a:rPr>
              <a:t>moves </a:t>
            </a:r>
            <a:r>
              <a:rPr sz="1800" spc="15" dirty="0">
                <a:latin typeface="Trebuchet MS"/>
                <a:cs typeface="Trebuchet MS"/>
              </a:rPr>
              <a:t>data </a:t>
            </a:r>
            <a:r>
              <a:rPr sz="1800" dirty="0">
                <a:latin typeface="Trebuchet MS"/>
                <a:cs typeface="Trebuchet MS"/>
              </a:rPr>
              <a:t>to </a:t>
            </a:r>
            <a:r>
              <a:rPr sz="1800" spc="-15" dirty="0">
                <a:latin typeface="Trebuchet MS"/>
                <a:cs typeface="Trebuchet MS"/>
              </a:rPr>
              <a:t>the </a:t>
            </a:r>
            <a:r>
              <a:rPr sz="1800" spc="15" dirty="0">
                <a:latin typeface="Trebuchet MS"/>
                <a:cs typeface="Trebuchet MS"/>
              </a:rPr>
              <a:t>data </a:t>
            </a:r>
            <a:r>
              <a:rPr sz="1800" spc="30" dirty="0">
                <a:latin typeface="Trebuchet MS"/>
                <a:cs typeface="Trebuchet MS"/>
              </a:rPr>
              <a:t>warehouse</a:t>
            </a:r>
            <a:r>
              <a:rPr sz="1800" spc="280" dirty="0">
                <a:latin typeface="Trebuchet MS"/>
                <a:cs typeface="Trebuchet MS"/>
              </a:rPr>
              <a:t> </a:t>
            </a:r>
            <a:r>
              <a:rPr sz="1800" spc="-45" dirty="0">
                <a:latin typeface="Trebuchet MS"/>
                <a:cs typeface="Trebuchet MS"/>
              </a:rPr>
              <a:t>directory.</a:t>
            </a:r>
            <a:endParaRPr sz="1800" dirty="0">
              <a:latin typeface="Trebuchet MS"/>
              <a:cs typeface="Trebuchet MS"/>
            </a:endParaRPr>
          </a:p>
          <a:p>
            <a:pPr marL="12700" marR="772160">
              <a:lnSpc>
                <a:spcPct val="172200"/>
              </a:lnSpc>
            </a:pPr>
            <a:r>
              <a:rPr sz="1800" spc="75" dirty="0">
                <a:latin typeface="Trebuchet MS"/>
                <a:cs typeface="Trebuchet MS"/>
              </a:rPr>
              <a:t>When </a:t>
            </a:r>
            <a:r>
              <a:rPr sz="1800" spc="55" dirty="0">
                <a:latin typeface="Trebuchet MS"/>
                <a:cs typeface="Trebuchet MS"/>
              </a:rPr>
              <a:t>an </a:t>
            </a:r>
            <a:r>
              <a:rPr sz="1800" spc="-20" dirty="0">
                <a:latin typeface="Trebuchet MS"/>
                <a:cs typeface="Trebuchet MS"/>
              </a:rPr>
              <a:t>external </a:t>
            </a:r>
            <a:r>
              <a:rPr sz="1800" spc="-15" dirty="0">
                <a:latin typeface="Trebuchet MS"/>
                <a:cs typeface="Trebuchet MS"/>
              </a:rPr>
              <a:t>table is </a:t>
            </a:r>
            <a:r>
              <a:rPr sz="1800" spc="-50" dirty="0">
                <a:latin typeface="Trebuchet MS"/>
                <a:cs typeface="Trebuchet MS"/>
              </a:rPr>
              <a:t>created, </a:t>
            </a:r>
            <a:r>
              <a:rPr sz="1800" spc="15" dirty="0">
                <a:latin typeface="Trebuchet MS"/>
                <a:cs typeface="Trebuchet MS"/>
              </a:rPr>
              <a:t>Hive </a:t>
            </a:r>
            <a:r>
              <a:rPr sz="1800" spc="-15" dirty="0">
                <a:latin typeface="Trebuchet MS"/>
                <a:cs typeface="Trebuchet MS"/>
              </a:rPr>
              <a:t>accesses </a:t>
            </a:r>
            <a:r>
              <a:rPr sz="1800" spc="15" dirty="0">
                <a:latin typeface="Trebuchet MS"/>
                <a:cs typeface="Trebuchet MS"/>
              </a:rPr>
              <a:t>data </a:t>
            </a:r>
            <a:r>
              <a:rPr sz="1800" dirty="0">
                <a:latin typeface="Trebuchet MS"/>
                <a:cs typeface="Trebuchet MS"/>
              </a:rPr>
              <a:t>outside </a:t>
            </a:r>
            <a:r>
              <a:rPr sz="1800" spc="-15" dirty="0">
                <a:latin typeface="Trebuchet MS"/>
                <a:cs typeface="Trebuchet MS"/>
              </a:rPr>
              <a:t>the </a:t>
            </a:r>
            <a:r>
              <a:rPr sz="1800" spc="25" dirty="0">
                <a:latin typeface="Trebuchet MS"/>
                <a:cs typeface="Trebuchet MS"/>
              </a:rPr>
              <a:t>warehouse </a:t>
            </a:r>
            <a:r>
              <a:rPr sz="1800" spc="-45" dirty="0">
                <a:latin typeface="Trebuchet MS"/>
                <a:cs typeface="Trebuchet MS"/>
              </a:rPr>
              <a:t>directory.  </a:t>
            </a:r>
            <a:r>
              <a:rPr sz="1800" spc="-15" dirty="0">
                <a:latin typeface="Trebuchet MS"/>
                <a:cs typeface="Trebuchet MS"/>
              </a:rPr>
              <a:t>If all </a:t>
            </a:r>
            <a:r>
              <a:rPr sz="1800" spc="15" dirty="0">
                <a:latin typeface="Trebuchet MS"/>
                <a:cs typeface="Trebuchet MS"/>
              </a:rPr>
              <a:t>processing </a:t>
            </a:r>
            <a:r>
              <a:rPr sz="1800" spc="-15" dirty="0">
                <a:latin typeface="Trebuchet MS"/>
                <a:cs typeface="Trebuchet MS"/>
              </a:rPr>
              <a:t>is </a:t>
            </a:r>
            <a:r>
              <a:rPr sz="1800" spc="10" dirty="0">
                <a:latin typeface="Trebuchet MS"/>
                <a:cs typeface="Trebuchet MS"/>
              </a:rPr>
              <a:t>performed </a:t>
            </a:r>
            <a:r>
              <a:rPr sz="1800" spc="15" dirty="0">
                <a:latin typeface="Trebuchet MS"/>
                <a:cs typeface="Trebuchet MS"/>
              </a:rPr>
              <a:t>by </a:t>
            </a:r>
            <a:r>
              <a:rPr sz="1800" spc="-35" dirty="0">
                <a:latin typeface="Trebuchet MS"/>
                <a:cs typeface="Trebuchet MS"/>
              </a:rPr>
              <a:t>Hive, </a:t>
            </a:r>
            <a:r>
              <a:rPr sz="1800" spc="45" dirty="0">
                <a:latin typeface="Trebuchet MS"/>
                <a:cs typeface="Trebuchet MS"/>
              </a:rPr>
              <a:t>you </a:t>
            </a:r>
            <a:r>
              <a:rPr sz="1800" spc="-10" dirty="0">
                <a:latin typeface="Trebuchet MS"/>
                <a:cs typeface="Trebuchet MS"/>
              </a:rPr>
              <a:t>are </a:t>
            </a:r>
            <a:r>
              <a:rPr sz="1800" dirty="0">
                <a:latin typeface="Trebuchet MS"/>
                <a:cs typeface="Trebuchet MS"/>
              </a:rPr>
              <a:t>advised to </a:t>
            </a:r>
            <a:r>
              <a:rPr sz="1800" spc="15" dirty="0">
                <a:latin typeface="Trebuchet MS"/>
                <a:cs typeface="Trebuchet MS"/>
              </a:rPr>
              <a:t>use </a:t>
            </a:r>
            <a:r>
              <a:rPr sz="1800" spc="55" dirty="0">
                <a:latin typeface="Trebuchet MS"/>
                <a:cs typeface="Trebuchet MS"/>
              </a:rPr>
              <a:t>managed</a:t>
            </a:r>
            <a:r>
              <a:rPr sz="1800" spc="315" dirty="0">
                <a:latin typeface="Trebuchet MS"/>
                <a:cs typeface="Trebuchet MS"/>
              </a:rPr>
              <a:t> </a:t>
            </a:r>
            <a:r>
              <a:rPr sz="1800" spc="-45" dirty="0">
                <a:latin typeface="Trebuchet MS"/>
                <a:cs typeface="Trebuchet MS"/>
              </a:rPr>
              <a:t>tables.</a:t>
            </a:r>
            <a:endParaRPr sz="1800" dirty="0">
              <a:latin typeface="Trebuchet MS"/>
              <a:cs typeface="Trebuchet MS"/>
            </a:endParaRPr>
          </a:p>
          <a:p>
            <a:pPr marL="12700">
              <a:lnSpc>
                <a:spcPct val="100000"/>
              </a:lnSpc>
            </a:pPr>
            <a:r>
              <a:rPr sz="1800" spc="-15" dirty="0">
                <a:latin typeface="Trebuchet MS"/>
                <a:cs typeface="Trebuchet MS"/>
              </a:rPr>
              <a:t>If </a:t>
            </a:r>
            <a:r>
              <a:rPr sz="1800" spc="40" dirty="0">
                <a:latin typeface="Trebuchet MS"/>
                <a:cs typeface="Trebuchet MS"/>
              </a:rPr>
              <a:t>you </a:t>
            </a:r>
            <a:r>
              <a:rPr sz="1800" spc="30" dirty="0">
                <a:latin typeface="Trebuchet MS"/>
                <a:cs typeface="Trebuchet MS"/>
              </a:rPr>
              <a:t>want </a:t>
            </a:r>
            <a:r>
              <a:rPr sz="1800" dirty="0">
                <a:latin typeface="Trebuchet MS"/>
                <a:cs typeface="Trebuchet MS"/>
              </a:rPr>
              <a:t>to </a:t>
            </a:r>
            <a:r>
              <a:rPr sz="1800" spc="20" dirty="0">
                <a:latin typeface="Trebuchet MS"/>
                <a:cs typeface="Trebuchet MS"/>
              </a:rPr>
              <a:t>use Hive </a:t>
            </a:r>
            <a:r>
              <a:rPr sz="1800" spc="45" dirty="0">
                <a:latin typeface="Trebuchet MS"/>
                <a:cs typeface="Trebuchet MS"/>
              </a:rPr>
              <a:t>and </a:t>
            </a:r>
            <a:r>
              <a:rPr sz="1800" spc="-5" dirty="0">
                <a:latin typeface="Trebuchet MS"/>
                <a:cs typeface="Trebuchet MS"/>
              </a:rPr>
              <a:t>other </a:t>
            </a:r>
            <a:r>
              <a:rPr sz="1800" spc="10" dirty="0">
                <a:latin typeface="Trebuchet MS"/>
                <a:cs typeface="Trebuchet MS"/>
              </a:rPr>
              <a:t>tools </a:t>
            </a:r>
            <a:r>
              <a:rPr sz="1800" dirty="0">
                <a:latin typeface="Trebuchet MS"/>
                <a:cs typeface="Trebuchet MS"/>
              </a:rPr>
              <a:t>to process </a:t>
            </a:r>
            <a:r>
              <a:rPr sz="1800" spc="-15" dirty="0">
                <a:latin typeface="Trebuchet MS"/>
                <a:cs typeface="Trebuchet MS"/>
              </a:rPr>
              <a:t>the </a:t>
            </a:r>
            <a:r>
              <a:rPr sz="1800" spc="40" dirty="0">
                <a:latin typeface="Trebuchet MS"/>
                <a:cs typeface="Trebuchet MS"/>
              </a:rPr>
              <a:t>same </a:t>
            </a:r>
            <a:r>
              <a:rPr sz="1800" spc="15" dirty="0">
                <a:latin typeface="Trebuchet MS"/>
                <a:cs typeface="Trebuchet MS"/>
              </a:rPr>
              <a:t>data </a:t>
            </a:r>
            <a:r>
              <a:rPr sz="1800" spc="-80" dirty="0">
                <a:latin typeface="Trebuchet MS"/>
                <a:cs typeface="Trebuchet MS"/>
              </a:rPr>
              <a:t>set, </a:t>
            </a:r>
            <a:r>
              <a:rPr sz="1800" spc="45" dirty="0">
                <a:latin typeface="Trebuchet MS"/>
                <a:cs typeface="Trebuchet MS"/>
              </a:rPr>
              <a:t>you </a:t>
            </a:r>
            <a:r>
              <a:rPr sz="1800" spc="-5" dirty="0">
                <a:latin typeface="Trebuchet MS"/>
                <a:cs typeface="Trebuchet MS"/>
              </a:rPr>
              <a:t>are </a:t>
            </a:r>
            <a:r>
              <a:rPr sz="1800" dirty="0">
                <a:latin typeface="Trebuchet MS"/>
                <a:cs typeface="Trebuchet MS"/>
              </a:rPr>
              <a:t>advised to</a:t>
            </a:r>
            <a:r>
              <a:rPr sz="1800" spc="355" dirty="0">
                <a:latin typeface="Trebuchet MS"/>
                <a:cs typeface="Trebuchet MS"/>
              </a:rPr>
              <a:t> </a:t>
            </a:r>
            <a:r>
              <a:rPr sz="1800" spc="20" dirty="0">
                <a:latin typeface="Trebuchet MS"/>
                <a:cs typeface="Trebuchet MS"/>
              </a:rPr>
              <a:t>use</a:t>
            </a:r>
            <a:endParaRPr sz="1800" dirty="0">
              <a:latin typeface="Trebuchet MS"/>
              <a:cs typeface="Trebuchet MS"/>
            </a:endParaRPr>
          </a:p>
          <a:p>
            <a:pPr marL="12700">
              <a:lnSpc>
                <a:spcPct val="100000"/>
              </a:lnSpc>
            </a:pPr>
            <a:r>
              <a:rPr sz="1800" spc="-20" dirty="0">
                <a:latin typeface="Trebuchet MS"/>
                <a:cs typeface="Trebuchet MS"/>
              </a:rPr>
              <a:t>external</a:t>
            </a:r>
            <a:r>
              <a:rPr sz="1800" spc="10" dirty="0">
                <a:latin typeface="Trebuchet MS"/>
                <a:cs typeface="Trebuchet MS"/>
              </a:rPr>
              <a:t> </a:t>
            </a:r>
            <a:r>
              <a:rPr sz="1800" spc="-45" dirty="0">
                <a:latin typeface="Trebuchet MS"/>
                <a:cs typeface="Trebuchet MS"/>
              </a:rPr>
              <a:t>tables.</a:t>
            </a:r>
            <a:endParaRPr sz="1800" dirty="0">
              <a:latin typeface="Trebuchet MS"/>
              <a:cs typeface="Trebuchet MS"/>
            </a:endParaRPr>
          </a:p>
        </p:txBody>
      </p:sp>
      <p:sp>
        <p:nvSpPr>
          <p:cNvPr id="7" name="object 7"/>
          <p:cNvSpPr txBox="1"/>
          <p:nvPr/>
        </p:nvSpPr>
        <p:spPr>
          <a:xfrm>
            <a:off x="1203147" y="2240407"/>
            <a:ext cx="127635" cy="162560"/>
          </a:xfrm>
          <a:prstGeom prst="rect">
            <a:avLst/>
          </a:prstGeom>
        </p:spPr>
        <p:txBody>
          <a:bodyPr vert="horz" wrap="square" lIns="0" tIns="12700" rIns="0" bIns="0" rtlCol="0">
            <a:spAutoFit/>
          </a:bodyPr>
          <a:lstStyle/>
          <a:p>
            <a:pPr marL="12700">
              <a:lnSpc>
                <a:spcPct val="100000"/>
              </a:lnSpc>
              <a:spcBef>
                <a:spcPts val="100"/>
              </a:spcBef>
            </a:pPr>
            <a:r>
              <a:rPr sz="900" dirty="0">
                <a:latin typeface="Wingdings"/>
                <a:cs typeface="Wingdings"/>
              </a:rPr>
              <a:t></a:t>
            </a:r>
            <a:endParaRPr sz="900">
              <a:latin typeface="Wingdings"/>
              <a:cs typeface="Wingdings"/>
            </a:endParaRPr>
          </a:p>
        </p:txBody>
      </p:sp>
      <p:sp>
        <p:nvSpPr>
          <p:cNvPr id="8" name="object 8"/>
          <p:cNvSpPr txBox="1"/>
          <p:nvPr/>
        </p:nvSpPr>
        <p:spPr>
          <a:xfrm>
            <a:off x="1203147" y="2712846"/>
            <a:ext cx="127635" cy="162560"/>
          </a:xfrm>
          <a:prstGeom prst="rect">
            <a:avLst/>
          </a:prstGeom>
        </p:spPr>
        <p:txBody>
          <a:bodyPr vert="horz" wrap="square" lIns="0" tIns="12700" rIns="0" bIns="0" rtlCol="0">
            <a:spAutoFit/>
          </a:bodyPr>
          <a:lstStyle/>
          <a:p>
            <a:pPr marL="12700">
              <a:lnSpc>
                <a:spcPct val="100000"/>
              </a:lnSpc>
              <a:spcBef>
                <a:spcPts val="100"/>
              </a:spcBef>
            </a:pPr>
            <a:r>
              <a:rPr sz="900" dirty="0">
                <a:latin typeface="Wingdings"/>
                <a:cs typeface="Wingdings"/>
              </a:rPr>
              <a:t></a:t>
            </a:r>
            <a:endParaRPr sz="900">
              <a:latin typeface="Wingdings"/>
              <a:cs typeface="Wingdings"/>
            </a:endParaRPr>
          </a:p>
        </p:txBody>
      </p:sp>
      <p:sp>
        <p:nvSpPr>
          <p:cNvPr id="9" name="object 9"/>
          <p:cNvSpPr txBox="1"/>
          <p:nvPr/>
        </p:nvSpPr>
        <p:spPr>
          <a:xfrm>
            <a:off x="1203147" y="3185286"/>
            <a:ext cx="127635" cy="162560"/>
          </a:xfrm>
          <a:prstGeom prst="rect">
            <a:avLst/>
          </a:prstGeom>
        </p:spPr>
        <p:txBody>
          <a:bodyPr vert="horz" wrap="square" lIns="0" tIns="12700" rIns="0" bIns="0" rtlCol="0">
            <a:spAutoFit/>
          </a:bodyPr>
          <a:lstStyle/>
          <a:p>
            <a:pPr marL="12700">
              <a:lnSpc>
                <a:spcPct val="100000"/>
              </a:lnSpc>
              <a:spcBef>
                <a:spcPts val="100"/>
              </a:spcBef>
            </a:pPr>
            <a:r>
              <a:rPr sz="900" dirty="0">
                <a:latin typeface="Wingdings"/>
                <a:cs typeface="Wingdings"/>
              </a:rPr>
              <a:t></a:t>
            </a:r>
            <a:endParaRPr sz="900">
              <a:latin typeface="Wingdings"/>
              <a:cs typeface="Wingdings"/>
            </a:endParaRPr>
          </a:p>
        </p:txBody>
      </p:sp>
      <p:graphicFrame>
        <p:nvGraphicFramePr>
          <p:cNvPr id="10" name="object 10"/>
          <p:cNvGraphicFramePr>
            <a:graphicFrameLocks noGrp="1"/>
          </p:cNvGraphicFramePr>
          <p:nvPr/>
        </p:nvGraphicFramePr>
        <p:xfrm>
          <a:off x="1319555" y="3595383"/>
          <a:ext cx="9422130" cy="1535073"/>
        </p:xfrm>
        <a:graphic>
          <a:graphicData uri="http://schemas.openxmlformats.org/drawingml/2006/table">
            <a:tbl>
              <a:tblPr firstRow="1" bandRow="1">
                <a:tableStyleId>{2D5ABB26-0587-4C30-8999-92F81FD0307C}</a:tableStyleId>
              </a:tblPr>
              <a:tblGrid>
                <a:gridCol w="1638935">
                  <a:extLst>
                    <a:ext uri="{9D8B030D-6E8A-4147-A177-3AD203B41FA5}">
                      <a16:colId xmlns:a16="http://schemas.microsoft.com/office/drawing/2014/main" val="20000"/>
                    </a:ext>
                  </a:extLst>
                </a:gridCol>
                <a:gridCol w="4382135">
                  <a:extLst>
                    <a:ext uri="{9D8B030D-6E8A-4147-A177-3AD203B41FA5}">
                      <a16:colId xmlns:a16="http://schemas.microsoft.com/office/drawing/2014/main" val="20001"/>
                    </a:ext>
                  </a:extLst>
                </a:gridCol>
                <a:gridCol w="3401060">
                  <a:extLst>
                    <a:ext uri="{9D8B030D-6E8A-4147-A177-3AD203B41FA5}">
                      <a16:colId xmlns:a16="http://schemas.microsoft.com/office/drawing/2014/main" val="20002"/>
                    </a:ext>
                  </a:extLst>
                </a:gridCol>
              </a:tblGrid>
              <a:tr h="411861">
                <a:tc>
                  <a:txBody>
                    <a:bodyPr/>
                    <a:lstStyle/>
                    <a:p>
                      <a:pPr>
                        <a:lnSpc>
                          <a:spcPct val="100000"/>
                        </a:lnSpc>
                      </a:pPr>
                      <a:endParaRPr sz="1700">
                        <a:latin typeface="Times New Roman"/>
                        <a:cs typeface="Times New Roman"/>
                      </a:endParaRPr>
                    </a:p>
                  </a:txBody>
                  <a:tcPr marL="0" marR="0" marT="0" marB="0">
                    <a:lnL w="28575">
                      <a:solidFill>
                        <a:srgbClr val="000000"/>
                      </a:solidFill>
                      <a:prstDash val="solid"/>
                    </a:lnL>
                    <a:lnR w="12700">
                      <a:solidFill>
                        <a:srgbClr val="000000"/>
                      </a:solidFill>
                      <a:prstDash val="solid"/>
                    </a:lnR>
                    <a:lnT w="28575">
                      <a:solidFill>
                        <a:srgbClr val="000000"/>
                      </a:solidFill>
                      <a:prstDash val="solid"/>
                    </a:lnT>
                    <a:lnB w="12700">
                      <a:solidFill>
                        <a:srgbClr val="000000"/>
                      </a:solidFill>
                      <a:prstDash val="solid"/>
                    </a:lnB>
                    <a:solidFill>
                      <a:srgbClr val="D9D9D9"/>
                    </a:solidFill>
                  </a:tcPr>
                </a:tc>
                <a:tc>
                  <a:txBody>
                    <a:bodyPr/>
                    <a:lstStyle/>
                    <a:p>
                      <a:pPr marL="1270" algn="ctr">
                        <a:lnSpc>
                          <a:spcPct val="100000"/>
                        </a:lnSpc>
                        <a:spcBef>
                          <a:spcPts val="645"/>
                        </a:spcBef>
                      </a:pPr>
                      <a:r>
                        <a:rPr sz="1600" b="1" spc="95" dirty="0">
                          <a:latin typeface="Trebuchet MS"/>
                          <a:cs typeface="Trebuchet MS"/>
                        </a:rPr>
                        <a:t>Managed</a:t>
                      </a:r>
                      <a:r>
                        <a:rPr sz="1600" b="1" spc="25" dirty="0">
                          <a:latin typeface="Trebuchet MS"/>
                          <a:cs typeface="Trebuchet MS"/>
                        </a:rPr>
                        <a:t> </a:t>
                      </a:r>
                      <a:r>
                        <a:rPr sz="1600" b="1" spc="20" dirty="0">
                          <a:latin typeface="Trebuchet MS"/>
                          <a:cs typeface="Trebuchet MS"/>
                        </a:rPr>
                        <a:t>Table</a:t>
                      </a:r>
                      <a:endParaRPr sz="1600">
                        <a:latin typeface="Trebuchet MS"/>
                        <a:cs typeface="Trebuchet MS"/>
                      </a:endParaRPr>
                    </a:p>
                  </a:txBody>
                  <a:tcPr marL="0" marR="0" marT="81915" marB="0">
                    <a:lnL w="12700">
                      <a:solidFill>
                        <a:srgbClr val="000000"/>
                      </a:solidFill>
                      <a:prstDash val="solid"/>
                    </a:lnL>
                    <a:lnR w="12700">
                      <a:solidFill>
                        <a:srgbClr val="000000"/>
                      </a:solidFill>
                      <a:prstDash val="solid"/>
                    </a:lnR>
                    <a:lnT w="28575">
                      <a:solidFill>
                        <a:srgbClr val="000000"/>
                      </a:solidFill>
                      <a:prstDash val="solid"/>
                    </a:lnT>
                    <a:lnB w="12700">
                      <a:solidFill>
                        <a:srgbClr val="000000"/>
                      </a:solidFill>
                      <a:prstDash val="solid"/>
                    </a:lnB>
                    <a:solidFill>
                      <a:srgbClr val="D9D9D9"/>
                    </a:solidFill>
                  </a:tcPr>
                </a:tc>
                <a:tc>
                  <a:txBody>
                    <a:bodyPr/>
                    <a:lstStyle/>
                    <a:p>
                      <a:pPr marL="993140">
                        <a:lnSpc>
                          <a:spcPct val="100000"/>
                        </a:lnSpc>
                        <a:spcBef>
                          <a:spcPts val="645"/>
                        </a:spcBef>
                      </a:pPr>
                      <a:r>
                        <a:rPr sz="1600" b="1" spc="5" dirty="0">
                          <a:latin typeface="Trebuchet MS"/>
                          <a:cs typeface="Trebuchet MS"/>
                        </a:rPr>
                        <a:t>External</a:t>
                      </a:r>
                      <a:r>
                        <a:rPr sz="1600" b="1" spc="25" dirty="0">
                          <a:latin typeface="Trebuchet MS"/>
                          <a:cs typeface="Trebuchet MS"/>
                        </a:rPr>
                        <a:t> </a:t>
                      </a:r>
                      <a:r>
                        <a:rPr sz="1600" b="1" spc="15" dirty="0">
                          <a:latin typeface="Trebuchet MS"/>
                          <a:cs typeface="Trebuchet MS"/>
                        </a:rPr>
                        <a:t>Table</a:t>
                      </a:r>
                      <a:endParaRPr sz="1600">
                        <a:latin typeface="Trebuchet MS"/>
                        <a:cs typeface="Trebuchet MS"/>
                      </a:endParaRPr>
                    </a:p>
                  </a:txBody>
                  <a:tcPr marL="0" marR="0" marT="81915" marB="0">
                    <a:lnL w="12700">
                      <a:solidFill>
                        <a:srgbClr val="000000"/>
                      </a:solidFill>
                      <a:prstDash val="solid"/>
                    </a:lnL>
                    <a:lnR w="28575">
                      <a:solidFill>
                        <a:srgbClr val="000000"/>
                      </a:solidFill>
                      <a:prstDash val="solid"/>
                    </a:lnR>
                    <a:lnT w="28575">
                      <a:solidFill>
                        <a:srgbClr val="000000"/>
                      </a:solidFill>
                      <a:prstDash val="solid"/>
                    </a:lnT>
                    <a:lnB w="12700">
                      <a:solidFill>
                        <a:srgbClr val="000000"/>
                      </a:solidFill>
                      <a:prstDash val="solid"/>
                    </a:lnB>
                    <a:solidFill>
                      <a:srgbClr val="D9D9D9"/>
                    </a:solidFill>
                  </a:tcPr>
                </a:tc>
                <a:extLst>
                  <a:ext uri="{0D108BD9-81ED-4DB2-BD59-A6C34878D82A}">
                    <a16:rowId xmlns:a16="http://schemas.microsoft.com/office/drawing/2014/main" val="10000"/>
                  </a:ext>
                </a:extLst>
              </a:tr>
              <a:tr h="411860">
                <a:tc>
                  <a:txBody>
                    <a:bodyPr/>
                    <a:lstStyle/>
                    <a:p>
                      <a:pPr marL="91440">
                        <a:lnSpc>
                          <a:spcPct val="100000"/>
                        </a:lnSpc>
                        <a:spcBef>
                          <a:spcPts val="640"/>
                        </a:spcBef>
                      </a:pPr>
                      <a:r>
                        <a:rPr sz="1600" spc="30" dirty="0">
                          <a:latin typeface="Trebuchet MS"/>
                          <a:cs typeface="Trebuchet MS"/>
                        </a:rPr>
                        <a:t>CREATE/LOAD</a:t>
                      </a:r>
                      <a:endParaRPr sz="1600">
                        <a:latin typeface="Trebuchet MS"/>
                        <a:cs typeface="Trebuchet MS"/>
                      </a:endParaRPr>
                    </a:p>
                  </a:txBody>
                  <a:tcPr marL="0" marR="0" marT="81280" marB="0">
                    <a:lnL w="28575">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1440">
                        <a:lnSpc>
                          <a:spcPct val="100000"/>
                        </a:lnSpc>
                        <a:spcBef>
                          <a:spcPts val="640"/>
                        </a:spcBef>
                      </a:pPr>
                      <a:r>
                        <a:rPr sz="1600" spc="45" dirty="0">
                          <a:latin typeface="Trebuchet MS"/>
                          <a:cs typeface="Trebuchet MS"/>
                        </a:rPr>
                        <a:t>Data </a:t>
                      </a:r>
                      <a:r>
                        <a:rPr sz="1600" spc="-15" dirty="0">
                          <a:latin typeface="Trebuchet MS"/>
                          <a:cs typeface="Trebuchet MS"/>
                        </a:rPr>
                        <a:t>is </a:t>
                      </a:r>
                      <a:r>
                        <a:rPr sz="1600" spc="30" dirty="0">
                          <a:latin typeface="Trebuchet MS"/>
                          <a:cs typeface="Trebuchet MS"/>
                        </a:rPr>
                        <a:t>moved </a:t>
                      </a:r>
                      <a:r>
                        <a:rPr sz="1600" dirty="0">
                          <a:latin typeface="Trebuchet MS"/>
                          <a:cs typeface="Trebuchet MS"/>
                        </a:rPr>
                        <a:t>to </a:t>
                      </a:r>
                      <a:r>
                        <a:rPr sz="1600" spc="-15" dirty="0">
                          <a:latin typeface="Trebuchet MS"/>
                          <a:cs typeface="Trebuchet MS"/>
                        </a:rPr>
                        <a:t>the </a:t>
                      </a:r>
                      <a:r>
                        <a:rPr sz="1600" spc="-5" dirty="0">
                          <a:latin typeface="Trebuchet MS"/>
                          <a:cs typeface="Trebuchet MS"/>
                        </a:rPr>
                        <a:t>repository</a:t>
                      </a:r>
                      <a:r>
                        <a:rPr sz="1600" spc="155" dirty="0">
                          <a:latin typeface="Trebuchet MS"/>
                          <a:cs typeface="Trebuchet MS"/>
                        </a:rPr>
                        <a:t> </a:t>
                      </a:r>
                      <a:r>
                        <a:rPr sz="1600" spc="-40" dirty="0">
                          <a:latin typeface="Trebuchet MS"/>
                          <a:cs typeface="Trebuchet MS"/>
                        </a:rPr>
                        <a:t>directory.</a:t>
                      </a:r>
                      <a:endParaRPr sz="1600">
                        <a:latin typeface="Trebuchet MS"/>
                        <a:cs typeface="Trebuchet MS"/>
                      </a:endParaRPr>
                    </a:p>
                  </a:txBody>
                  <a:tcPr marL="0" marR="0" marT="812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640"/>
                        </a:spcBef>
                      </a:pPr>
                      <a:r>
                        <a:rPr sz="1600" spc="-5" dirty="0">
                          <a:latin typeface="Trebuchet MS"/>
                          <a:cs typeface="Trebuchet MS"/>
                        </a:rPr>
                        <a:t>The </a:t>
                      </a:r>
                      <a:r>
                        <a:rPr sz="1600" spc="10" dirty="0">
                          <a:latin typeface="Trebuchet MS"/>
                          <a:cs typeface="Trebuchet MS"/>
                        </a:rPr>
                        <a:t>data </a:t>
                      </a:r>
                      <a:r>
                        <a:rPr sz="1600" spc="-5" dirty="0">
                          <a:latin typeface="Trebuchet MS"/>
                          <a:cs typeface="Trebuchet MS"/>
                        </a:rPr>
                        <a:t>location </a:t>
                      </a:r>
                      <a:r>
                        <a:rPr sz="1600" spc="-15" dirty="0">
                          <a:latin typeface="Trebuchet MS"/>
                          <a:cs typeface="Trebuchet MS"/>
                        </a:rPr>
                        <a:t>is </a:t>
                      </a:r>
                      <a:r>
                        <a:rPr sz="1600" spc="20" dirty="0">
                          <a:latin typeface="Trebuchet MS"/>
                          <a:cs typeface="Trebuchet MS"/>
                        </a:rPr>
                        <a:t>not</a:t>
                      </a:r>
                      <a:r>
                        <a:rPr sz="1600" spc="160" dirty="0">
                          <a:latin typeface="Trebuchet MS"/>
                          <a:cs typeface="Trebuchet MS"/>
                        </a:rPr>
                        <a:t> </a:t>
                      </a:r>
                      <a:r>
                        <a:rPr sz="1600" spc="-15" dirty="0">
                          <a:latin typeface="Trebuchet MS"/>
                          <a:cs typeface="Trebuchet MS"/>
                        </a:rPr>
                        <a:t>moved.</a:t>
                      </a:r>
                      <a:endParaRPr sz="1600">
                        <a:latin typeface="Trebuchet MS"/>
                        <a:cs typeface="Trebuchet MS"/>
                      </a:endParaRPr>
                    </a:p>
                  </a:txBody>
                  <a:tcPr marL="0" marR="0" marT="81280" marB="0">
                    <a:lnL w="12700">
                      <a:solidFill>
                        <a:srgbClr val="000000"/>
                      </a:solidFill>
                      <a:prstDash val="solid"/>
                    </a:lnL>
                    <a:lnR w="28575">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711352">
                <a:tc>
                  <a:txBody>
                    <a:bodyPr/>
                    <a:lstStyle/>
                    <a:p>
                      <a:pPr>
                        <a:lnSpc>
                          <a:spcPct val="100000"/>
                        </a:lnSpc>
                        <a:spcBef>
                          <a:spcPts val="40"/>
                        </a:spcBef>
                      </a:pPr>
                      <a:endParaRPr sz="1550" dirty="0">
                        <a:latin typeface="Times New Roman"/>
                        <a:cs typeface="Times New Roman"/>
                      </a:endParaRPr>
                    </a:p>
                    <a:p>
                      <a:pPr marL="91440">
                        <a:lnSpc>
                          <a:spcPct val="100000"/>
                        </a:lnSpc>
                      </a:pPr>
                      <a:r>
                        <a:rPr sz="1600" spc="95" dirty="0">
                          <a:latin typeface="Trebuchet MS"/>
                          <a:cs typeface="Trebuchet MS"/>
                        </a:rPr>
                        <a:t>DROP</a:t>
                      </a:r>
                      <a:endParaRPr sz="1600" dirty="0">
                        <a:latin typeface="Trebuchet MS"/>
                        <a:cs typeface="Trebuchet MS"/>
                      </a:endParaRPr>
                    </a:p>
                  </a:txBody>
                  <a:tcPr marL="0" marR="0" marT="5080" marB="0">
                    <a:lnL w="28575">
                      <a:solidFill>
                        <a:srgbClr val="000000"/>
                      </a:solidFill>
                      <a:prstDash val="solid"/>
                    </a:lnL>
                    <a:lnR w="12700">
                      <a:solidFill>
                        <a:srgbClr val="000000"/>
                      </a:solidFill>
                      <a:prstDash val="solid"/>
                    </a:lnR>
                    <a:lnT w="12700">
                      <a:solidFill>
                        <a:srgbClr val="000000"/>
                      </a:solidFill>
                      <a:prstDash val="solid"/>
                    </a:lnT>
                    <a:lnB w="28575">
                      <a:solidFill>
                        <a:srgbClr val="000000"/>
                      </a:solidFill>
                      <a:prstDash val="solid"/>
                    </a:lnB>
                  </a:tcPr>
                </a:tc>
                <a:tc>
                  <a:txBody>
                    <a:bodyPr/>
                    <a:lstStyle/>
                    <a:p>
                      <a:pPr marL="91440" marR="984250">
                        <a:lnSpc>
                          <a:spcPct val="100000"/>
                        </a:lnSpc>
                        <a:spcBef>
                          <a:spcPts val="860"/>
                        </a:spcBef>
                      </a:pPr>
                      <a:r>
                        <a:rPr sz="1600" spc="-5" dirty="0">
                          <a:latin typeface="Trebuchet MS"/>
                          <a:cs typeface="Trebuchet MS"/>
                        </a:rPr>
                        <a:t>The </a:t>
                      </a:r>
                      <a:r>
                        <a:rPr sz="1600" spc="10" dirty="0">
                          <a:latin typeface="Trebuchet MS"/>
                          <a:cs typeface="Trebuchet MS"/>
                        </a:rPr>
                        <a:t>metadata </a:t>
                      </a:r>
                      <a:r>
                        <a:rPr sz="1600" spc="40" dirty="0">
                          <a:latin typeface="Trebuchet MS"/>
                          <a:cs typeface="Trebuchet MS"/>
                        </a:rPr>
                        <a:t>and </a:t>
                      </a:r>
                      <a:r>
                        <a:rPr sz="1600" spc="10" dirty="0">
                          <a:latin typeface="Trebuchet MS"/>
                          <a:cs typeface="Trebuchet MS"/>
                        </a:rPr>
                        <a:t>data </a:t>
                      </a:r>
                      <a:r>
                        <a:rPr sz="1600" spc="-5" dirty="0">
                          <a:latin typeface="Trebuchet MS"/>
                          <a:cs typeface="Trebuchet MS"/>
                        </a:rPr>
                        <a:t>are </a:t>
                      </a:r>
                      <a:r>
                        <a:rPr sz="1600" spc="-25" dirty="0">
                          <a:latin typeface="Trebuchet MS"/>
                          <a:cs typeface="Trebuchet MS"/>
                        </a:rPr>
                        <a:t>deleted  together.</a:t>
                      </a:r>
                      <a:endParaRPr sz="1600">
                        <a:latin typeface="Trebuchet MS"/>
                        <a:cs typeface="Trebuchet MS"/>
                      </a:endParaRPr>
                    </a:p>
                  </a:txBody>
                  <a:tcPr marL="0" marR="0" marT="109220" marB="0">
                    <a:lnL w="12700">
                      <a:solidFill>
                        <a:srgbClr val="000000"/>
                      </a:solidFill>
                      <a:prstDash val="solid"/>
                    </a:lnL>
                    <a:lnR w="12700">
                      <a:solidFill>
                        <a:srgbClr val="000000"/>
                      </a:solidFill>
                      <a:prstDash val="solid"/>
                    </a:lnR>
                    <a:lnT w="12700">
                      <a:solidFill>
                        <a:srgbClr val="000000"/>
                      </a:solidFill>
                      <a:prstDash val="solid"/>
                    </a:lnT>
                    <a:lnB w="28575">
                      <a:solidFill>
                        <a:srgbClr val="000000"/>
                      </a:solidFill>
                      <a:prstDash val="solid"/>
                    </a:lnB>
                  </a:tcPr>
                </a:tc>
                <a:tc>
                  <a:txBody>
                    <a:bodyPr/>
                    <a:lstStyle/>
                    <a:p>
                      <a:pPr>
                        <a:lnSpc>
                          <a:spcPct val="100000"/>
                        </a:lnSpc>
                        <a:spcBef>
                          <a:spcPts val="40"/>
                        </a:spcBef>
                      </a:pPr>
                      <a:endParaRPr sz="1550" dirty="0">
                        <a:latin typeface="Times New Roman"/>
                        <a:cs typeface="Times New Roman"/>
                      </a:endParaRPr>
                    </a:p>
                    <a:p>
                      <a:pPr marL="92075">
                        <a:lnSpc>
                          <a:spcPct val="100000"/>
                        </a:lnSpc>
                      </a:pPr>
                      <a:r>
                        <a:rPr sz="1600" spc="45" dirty="0">
                          <a:latin typeface="Trebuchet MS"/>
                          <a:cs typeface="Trebuchet MS"/>
                        </a:rPr>
                        <a:t>Only </a:t>
                      </a:r>
                      <a:r>
                        <a:rPr sz="1600" spc="-15" dirty="0">
                          <a:latin typeface="Trebuchet MS"/>
                          <a:cs typeface="Trebuchet MS"/>
                        </a:rPr>
                        <a:t>the </a:t>
                      </a:r>
                      <a:r>
                        <a:rPr sz="1600" spc="10" dirty="0">
                          <a:latin typeface="Trebuchet MS"/>
                          <a:cs typeface="Trebuchet MS"/>
                        </a:rPr>
                        <a:t>metadata </a:t>
                      </a:r>
                      <a:r>
                        <a:rPr sz="1600" spc="-15" dirty="0">
                          <a:latin typeface="Trebuchet MS"/>
                          <a:cs typeface="Trebuchet MS"/>
                        </a:rPr>
                        <a:t>is</a:t>
                      </a:r>
                      <a:r>
                        <a:rPr sz="1600" spc="90" dirty="0">
                          <a:latin typeface="Trebuchet MS"/>
                          <a:cs typeface="Trebuchet MS"/>
                        </a:rPr>
                        <a:t> </a:t>
                      </a:r>
                      <a:r>
                        <a:rPr sz="1600" spc="-50" dirty="0">
                          <a:latin typeface="Trebuchet MS"/>
                          <a:cs typeface="Trebuchet MS"/>
                        </a:rPr>
                        <a:t>deleted.</a:t>
                      </a:r>
                      <a:endParaRPr sz="1600" dirty="0">
                        <a:latin typeface="Trebuchet MS"/>
                        <a:cs typeface="Trebuchet MS"/>
                      </a:endParaRPr>
                    </a:p>
                  </a:txBody>
                  <a:tcPr marL="0" marR="0" marT="5080" marB="0">
                    <a:lnL w="12700">
                      <a:solidFill>
                        <a:srgbClr val="000000"/>
                      </a:solidFill>
                      <a:prstDash val="solid"/>
                    </a:lnL>
                    <a:lnR w="28575">
                      <a:solidFill>
                        <a:srgbClr val="000000"/>
                      </a:solidFill>
                      <a:prstDash val="solid"/>
                    </a:lnR>
                    <a:lnT w="12700">
                      <a:solidFill>
                        <a:srgbClr val="000000"/>
                      </a:solidFill>
                      <a:prstDash val="solid"/>
                    </a:lnT>
                    <a:lnB w="28575">
                      <a:solidFill>
                        <a:srgbClr val="000000"/>
                      </a:solidFill>
                      <a:prstDash val="solid"/>
                    </a:lnB>
                  </a:tcPr>
                </a:tc>
                <a:extLst>
                  <a:ext uri="{0D108BD9-81ED-4DB2-BD59-A6C34878D82A}">
                    <a16:rowId xmlns:a16="http://schemas.microsoft.com/office/drawing/2014/main" val="10002"/>
                  </a:ext>
                </a:extLst>
              </a:tr>
            </a:tbl>
          </a:graphicData>
        </a:graphic>
      </p:graphicFrame>
      <p:sp>
        <p:nvSpPr>
          <p:cNvPr id="12" name="object 2"/>
          <p:cNvSpPr txBox="1"/>
          <p:nvPr/>
        </p:nvSpPr>
        <p:spPr>
          <a:xfrm>
            <a:off x="1203147" y="5449638"/>
            <a:ext cx="10491294" cy="932467"/>
          </a:xfrm>
          <a:prstGeom prst="rect">
            <a:avLst/>
          </a:prstGeom>
        </p:spPr>
        <p:txBody>
          <a:bodyPr vert="horz" wrap="square" lIns="0" tIns="9049" rIns="0" bIns="0" rtlCol="0">
            <a:spAutoFit/>
          </a:bodyPr>
          <a:lstStyle/>
          <a:p>
            <a:pPr marL="138113" marR="110490" indent="-128588" algn="just">
              <a:spcBef>
                <a:spcPts val="4"/>
              </a:spcBef>
              <a:buFont typeface="Wingdings"/>
              <a:buChar char=""/>
              <a:tabLst>
                <a:tab pos="138113" algn="l"/>
              </a:tabLst>
            </a:pPr>
            <a:r>
              <a:rPr lang="en-US" sz="2000" u="sng" spc="30" dirty="0" smtClean="0">
                <a:latin typeface="UKIJ CJK"/>
                <a:cs typeface="UKIJ CJK"/>
              </a:rPr>
              <a:t>During </a:t>
            </a:r>
            <a:r>
              <a:rPr lang="en-US" sz="2000" u="sng" spc="23" dirty="0" smtClean="0">
                <a:latin typeface="UKIJ CJK"/>
                <a:cs typeface="UKIJ CJK"/>
              </a:rPr>
              <a:t>table </a:t>
            </a:r>
            <a:r>
              <a:rPr lang="en-US" sz="2000" u="sng" spc="19" dirty="0" smtClean="0">
                <a:latin typeface="UKIJ CJK"/>
                <a:cs typeface="UKIJ CJK"/>
              </a:rPr>
              <a:t>deletion, </a:t>
            </a:r>
            <a:r>
              <a:rPr lang="en-US" sz="2000" u="sng" spc="23" dirty="0" smtClean="0">
                <a:latin typeface="UKIJ CJK"/>
                <a:cs typeface="UKIJ CJK"/>
              </a:rPr>
              <a:t>metadata </a:t>
            </a:r>
            <a:r>
              <a:rPr lang="en-US" sz="2000" u="sng" spc="26" dirty="0" smtClean="0">
                <a:latin typeface="UKIJ CJK"/>
                <a:cs typeface="UKIJ CJK"/>
              </a:rPr>
              <a:t>and </a:t>
            </a:r>
            <a:r>
              <a:rPr lang="en-US" sz="2000" u="sng" spc="23" dirty="0" smtClean="0">
                <a:latin typeface="UKIJ CJK"/>
                <a:cs typeface="UKIJ CJK"/>
              </a:rPr>
              <a:t>data </a:t>
            </a:r>
            <a:r>
              <a:rPr lang="en-US" sz="2000" u="sng" spc="30" dirty="0" smtClean="0">
                <a:latin typeface="UKIJ CJK"/>
                <a:cs typeface="UKIJ CJK"/>
              </a:rPr>
              <a:t>of </a:t>
            </a:r>
            <a:r>
              <a:rPr lang="en-US" sz="2000" u="sng" spc="11" dirty="0" smtClean="0">
                <a:latin typeface="UKIJ CJK"/>
                <a:cs typeface="UKIJ CJK"/>
              </a:rPr>
              <a:t>internal </a:t>
            </a:r>
            <a:r>
              <a:rPr lang="en-US" sz="2000" u="sng" spc="19" dirty="0" smtClean="0">
                <a:latin typeface="UKIJ CJK"/>
                <a:cs typeface="UKIJ CJK"/>
              </a:rPr>
              <a:t>tables </a:t>
            </a:r>
            <a:r>
              <a:rPr lang="en-US" sz="2000" u="sng" spc="4" dirty="0" smtClean="0">
                <a:latin typeface="UKIJ CJK"/>
                <a:cs typeface="UKIJ CJK"/>
              </a:rPr>
              <a:t>is </a:t>
            </a:r>
            <a:r>
              <a:rPr lang="en-US" sz="2000" u="sng" spc="23" dirty="0" smtClean="0">
                <a:latin typeface="UKIJ CJK"/>
                <a:cs typeface="UKIJ CJK"/>
              </a:rPr>
              <a:t>deleted</a:t>
            </a:r>
            <a:r>
              <a:rPr lang="en-US" sz="2000" spc="23" dirty="0" smtClean="0">
                <a:latin typeface="UKIJ CJK"/>
                <a:cs typeface="UKIJ CJK"/>
              </a:rPr>
              <a:t>, </a:t>
            </a:r>
            <a:r>
              <a:rPr lang="en-US" sz="2000" u="sng" spc="26" dirty="0" smtClean="0">
                <a:latin typeface="UKIJ CJK"/>
                <a:cs typeface="UKIJ CJK"/>
              </a:rPr>
              <a:t>but  </a:t>
            </a:r>
            <a:r>
              <a:rPr lang="en-US" sz="2000" u="sng" spc="23" dirty="0" smtClean="0">
                <a:latin typeface="UKIJ CJK"/>
                <a:cs typeface="UKIJ CJK"/>
              </a:rPr>
              <a:t>only metadata </a:t>
            </a:r>
            <a:r>
              <a:rPr lang="en-US" sz="2000" u="sng" spc="30" dirty="0" smtClean="0">
                <a:latin typeface="UKIJ CJK"/>
                <a:cs typeface="UKIJ CJK"/>
              </a:rPr>
              <a:t>of </a:t>
            </a:r>
            <a:r>
              <a:rPr lang="en-US" sz="2000" u="sng" spc="11" dirty="0" smtClean="0">
                <a:latin typeface="UKIJ CJK"/>
                <a:cs typeface="UKIJ CJK"/>
              </a:rPr>
              <a:t>external </a:t>
            </a:r>
            <a:r>
              <a:rPr lang="en-US" sz="2000" u="sng" spc="19" dirty="0" smtClean="0">
                <a:latin typeface="UKIJ CJK"/>
                <a:cs typeface="UKIJ CJK"/>
              </a:rPr>
              <a:t>tables </a:t>
            </a:r>
            <a:r>
              <a:rPr lang="en-US" sz="2000" u="sng" spc="4" dirty="0" smtClean="0">
                <a:latin typeface="UKIJ CJK"/>
                <a:cs typeface="UKIJ CJK"/>
              </a:rPr>
              <a:t>is </a:t>
            </a:r>
            <a:r>
              <a:rPr lang="en-US" sz="2000" u="sng" spc="19" dirty="0" smtClean="0">
                <a:latin typeface="UKIJ CJK"/>
                <a:cs typeface="UKIJ CJK"/>
              </a:rPr>
              <a:t>deleted. </a:t>
            </a:r>
            <a:r>
              <a:rPr lang="en-US" sz="2000" u="sng" spc="-8" dirty="0" smtClean="0">
                <a:latin typeface="UKIJ CJK"/>
                <a:cs typeface="UKIJ CJK"/>
              </a:rPr>
              <a:t>It </a:t>
            </a:r>
            <a:r>
              <a:rPr lang="en-US" sz="2000" u="sng" spc="19" dirty="0" smtClean="0">
                <a:latin typeface="UKIJ CJK"/>
                <a:cs typeface="UKIJ CJK"/>
              </a:rPr>
              <a:t>can </a:t>
            </a:r>
            <a:r>
              <a:rPr lang="en-US" sz="2000" u="sng" spc="34" dirty="0" smtClean="0">
                <a:latin typeface="UKIJ CJK"/>
                <a:cs typeface="UKIJ CJK"/>
              </a:rPr>
              <a:t>be </a:t>
            </a:r>
            <a:r>
              <a:rPr lang="en-US" sz="2000" u="sng" spc="19" dirty="0" smtClean="0">
                <a:latin typeface="UKIJ CJK"/>
                <a:cs typeface="UKIJ CJK"/>
              </a:rPr>
              <a:t>seen </a:t>
            </a:r>
            <a:r>
              <a:rPr lang="en-US" sz="2000" u="sng" spc="23" dirty="0" smtClean="0">
                <a:latin typeface="UKIJ CJK"/>
                <a:cs typeface="UKIJ CJK"/>
              </a:rPr>
              <a:t>that </a:t>
            </a:r>
            <a:r>
              <a:rPr lang="en-US" sz="2000" u="sng" spc="11" dirty="0" smtClean="0">
                <a:latin typeface="UKIJ CJK"/>
                <a:cs typeface="UKIJ CJK"/>
              </a:rPr>
              <a:t>external  </a:t>
            </a:r>
            <a:r>
              <a:rPr lang="en-US" sz="2000" u="sng" spc="19" dirty="0" smtClean="0">
                <a:latin typeface="UKIJ CJK"/>
                <a:cs typeface="UKIJ CJK"/>
              </a:rPr>
              <a:t>tables </a:t>
            </a:r>
            <a:r>
              <a:rPr lang="en-US" sz="2000" u="sng" spc="8" dirty="0" smtClean="0">
                <a:latin typeface="UKIJ CJK"/>
                <a:cs typeface="UKIJ CJK"/>
              </a:rPr>
              <a:t>are </a:t>
            </a:r>
            <a:r>
              <a:rPr lang="en-US" sz="2000" u="sng" spc="4" dirty="0" smtClean="0">
                <a:latin typeface="UKIJ CJK"/>
                <a:cs typeface="UKIJ CJK"/>
              </a:rPr>
              <a:t>safer. </a:t>
            </a:r>
            <a:r>
              <a:rPr lang="en-US" sz="2000" spc="26" dirty="0" smtClean="0">
                <a:latin typeface="UKIJ CJK"/>
                <a:cs typeface="UKIJ CJK"/>
              </a:rPr>
              <a:t>The </a:t>
            </a:r>
            <a:r>
              <a:rPr lang="en-US" sz="2000" spc="23" dirty="0" smtClean="0">
                <a:latin typeface="UKIJ CJK"/>
                <a:cs typeface="UKIJ CJK"/>
              </a:rPr>
              <a:t>data </a:t>
            </a:r>
            <a:r>
              <a:rPr lang="en-US" sz="2000" spc="11" dirty="0" smtClean="0">
                <a:latin typeface="UKIJ CJK"/>
                <a:cs typeface="UKIJ CJK"/>
              </a:rPr>
              <a:t>structure </a:t>
            </a:r>
            <a:r>
              <a:rPr lang="en-US" sz="2000" spc="30" dirty="0" smtClean="0">
                <a:latin typeface="UKIJ CJK"/>
                <a:cs typeface="UKIJ CJK"/>
              </a:rPr>
              <a:t>of </a:t>
            </a:r>
            <a:r>
              <a:rPr lang="en-US" sz="2000" spc="11" dirty="0" smtClean="0">
                <a:latin typeface="UKIJ CJK"/>
                <a:cs typeface="UKIJ CJK"/>
              </a:rPr>
              <a:t>external </a:t>
            </a:r>
            <a:r>
              <a:rPr lang="en-US" sz="2000" spc="19" dirty="0" smtClean="0">
                <a:latin typeface="UKIJ CJK"/>
                <a:cs typeface="UKIJ CJK"/>
              </a:rPr>
              <a:t>tables </a:t>
            </a:r>
            <a:r>
              <a:rPr lang="en-US" sz="2000" spc="4" dirty="0" smtClean="0">
                <a:latin typeface="UKIJ CJK"/>
                <a:cs typeface="UKIJ CJK"/>
              </a:rPr>
              <a:t>is </a:t>
            </a:r>
            <a:r>
              <a:rPr lang="en-US" sz="2000" spc="23" dirty="0" smtClean="0">
                <a:latin typeface="UKIJ CJK"/>
                <a:cs typeface="UKIJ CJK"/>
              </a:rPr>
              <a:t>more </a:t>
            </a:r>
            <a:r>
              <a:rPr lang="en-US" sz="2000" spc="11" dirty="0" smtClean="0">
                <a:latin typeface="UKIJ CJK"/>
                <a:cs typeface="UKIJ CJK"/>
              </a:rPr>
              <a:t>flexible,  </a:t>
            </a:r>
            <a:r>
              <a:rPr lang="en-US" sz="2000" spc="23" dirty="0" smtClean="0">
                <a:latin typeface="UKIJ CJK"/>
                <a:cs typeface="UKIJ CJK"/>
              </a:rPr>
              <a:t>thereby facilitating metadata</a:t>
            </a:r>
            <a:r>
              <a:rPr lang="en-US" sz="2000" spc="68" dirty="0" smtClean="0">
                <a:latin typeface="UKIJ CJK"/>
                <a:cs typeface="UKIJ CJK"/>
              </a:rPr>
              <a:t> </a:t>
            </a:r>
            <a:r>
              <a:rPr lang="en-US" sz="2000" spc="15" dirty="0" smtClean="0">
                <a:latin typeface="UKIJ CJK"/>
                <a:cs typeface="UKIJ CJK"/>
              </a:rPr>
              <a:t>sharing.</a:t>
            </a:r>
            <a:endParaRPr lang="en-US" sz="2000" dirty="0">
              <a:latin typeface="UKIJ CJK"/>
              <a:cs typeface="UKIJ CJK"/>
            </a:endParaRPr>
          </a:p>
        </p:txBody>
      </p:sp>
    </p:spTree>
    <p:extLst>
      <p:ext uri="{BB962C8B-B14F-4D97-AF65-F5344CB8AC3E}">
        <p14:creationId xmlns:p14="http://schemas.microsoft.com/office/powerpoint/2010/main" val="4148896599"/>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752600" y="643862"/>
            <a:ext cx="8501076" cy="567463"/>
          </a:xfrm>
          <a:prstGeom prst="rect">
            <a:avLst/>
          </a:prstGeom>
        </p:spPr>
        <p:txBody>
          <a:bodyPr vert="horz" wrap="square" lIns="0" tIns="13335" rIns="0" bIns="0" rtlCol="0">
            <a:spAutoFit/>
          </a:bodyPr>
          <a:lstStyle/>
          <a:p>
            <a:pPr marL="12700">
              <a:lnSpc>
                <a:spcPct val="100000"/>
              </a:lnSpc>
              <a:spcBef>
                <a:spcPts val="105"/>
              </a:spcBef>
            </a:pPr>
            <a:r>
              <a:rPr spc="20" dirty="0"/>
              <a:t>Functions </a:t>
            </a:r>
            <a:r>
              <a:rPr spc="35" dirty="0"/>
              <a:t>Supported </a:t>
            </a:r>
            <a:r>
              <a:rPr spc="25" dirty="0"/>
              <a:t>by</a:t>
            </a:r>
            <a:r>
              <a:rPr spc="15" dirty="0"/>
              <a:t> </a:t>
            </a:r>
            <a:r>
              <a:rPr spc="40" dirty="0"/>
              <a:t>Hive</a:t>
            </a:r>
          </a:p>
        </p:txBody>
      </p:sp>
      <p:sp>
        <p:nvSpPr>
          <p:cNvPr id="4" name="object 4"/>
          <p:cNvSpPr txBox="1"/>
          <p:nvPr/>
        </p:nvSpPr>
        <p:spPr>
          <a:xfrm>
            <a:off x="1224918" y="2161159"/>
            <a:ext cx="2907030" cy="360680"/>
          </a:xfrm>
          <a:prstGeom prst="rect">
            <a:avLst/>
          </a:prstGeom>
        </p:spPr>
        <p:txBody>
          <a:bodyPr vert="horz" wrap="square" lIns="0" tIns="12065" rIns="0" bIns="0" rtlCol="0">
            <a:spAutoFit/>
          </a:bodyPr>
          <a:lstStyle/>
          <a:p>
            <a:pPr marL="12700">
              <a:lnSpc>
                <a:spcPct val="100000"/>
              </a:lnSpc>
              <a:spcBef>
                <a:spcPts val="95"/>
              </a:spcBef>
            </a:pPr>
            <a:r>
              <a:rPr sz="2200" dirty="0">
                <a:latin typeface="Trebuchet MS"/>
                <a:cs typeface="Trebuchet MS"/>
              </a:rPr>
              <a:t>Built-in </a:t>
            </a:r>
            <a:r>
              <a:rPr sz="2200" spc="20" dirty="0">
                <a:latin typeface="Trebuchet MS"/>
                <a:cs typeface="Trebuchet MS"/>
              </a:rPr>
              <a:t>Hive</a:t>
            </a:r>
            <a:r>
              <a:rPr sz="2200" spc="15" dirty="0">
                <a:latin typeface="Trebuchet MS"/>
                <a:cs typeface="Trebuchet MS"/>
              </a:rPr>
              <a:t> </a:t>
            </a:r>
            <a:r>
              <a:rPr sz="2200" spc="10" dirty="0">
                <a:latin typeface="Trebuchet MS"/>
                <a:cs typeface="Trebuchet MS"/>
              </a:rPr>
              <a:t>Functions</a:t>
            </a:r>
            <a:endParaRPr sz="2200" dirty="0">
              <a:latin typeface="Trebuchet MS"/>
              <a:cs typeface="Trebuchet MS"/>
            </a:endParaRPr>
          </a:p>
        </p:txBody>
      </p:sp>
      <p:sp>
        <p:nvSpPr>
          <p:cNvPr id="6" name="object 6"/>
          <p:cNvSpPr txBox="1"/>
          <p:nvPr/>
        </p:nvSpPr>
        <p:spPr>
          <a:xfrm>
            <a:off x="1272362" y="2674747"/>
            <a:ext cx="9395638" cy="3206647"/>
          </a:xfrm>
          <a:prstGeom prst="rect">
            <a:avLst/>
          </a:prstGeom>
        </p:spPr>
        <p:txBody>
          <a:bodyPr vert="horz" wrap="square" lIns="0" tIns="13335" rIns="0" bIns="0" rtlCol="0">
            <a:spAutoFit/>
          </a:bodyPr>
          <a:lstStyle/>
          <a:p>
            <a:pPr marL="355600" indent="-342900">
              <a:lnSpc>
                <a:spcPct val="100000"/>
              </a:lnSpc>
              <a:spcBef>
                <a:spcPts val="105"/>
              </a:spcBef>
              <a:buFont typeface="Arial" panose="020B0604020202020204" pitchFamily="34" charset="0"/>
              <a:buChar char="•"/>
            </a:pPr>
            <a:r>
              <a:rPr sz="2000" spc="35" dirty="0">
                <a:latin typeface="Trebuchet MS"/>
                <a:cs typeface="Trebuchet MS"/>
              </a:rPr>
              <a:t>Mathematical </a:t>
            </a:r>
            <a:r>
              <a:rPr sz="2000" spc="-20" dirty="0">
                <a:latin typeface="Trebuchet MS"/>
                <a:cs typeface="Trebuchet MS"/>
              </a:rPr>
              <a:t>functions, </a:t>
            </a:r>
            <a:r>
              <a:rPr sz="2000" spc="30" dirty="0">
                <a:latin typeface="Trebuchet MS"/>
                <a:cs typeface="Trebuchet MS"/>
              </a:rPr>
              <a:t>such </a:t>
            </a:r>
            <a:r>
              <a:rPr sz="2000" spc="45" dirty="0">
                <a:latin typeface="Trebuchet MS"/>
                <a:cs typeface="Trebuchet MS"/>
              </a:rPr>
              <a:t>as </a:t>
            </a:r>
            <a:r>
              <a:rPr sz="2000" b="1" spc="35" dirty="0">
                <a:latin typeface="Trebuchet MS"/>
                <a:cs typeface="Trebuchet MS"/>
              </a:rPr>
              <a:t>round()</a:t>
            </a:r>
            <a:r>
              <a:rPr sz="2000" spc="35" dirty="0">
                <a:latin typeface="Trebuchet MS"/>
                <a:cs typeface="Trebuchet MS"/>
              </a:rPr>
              <a:t>, </a:t>
            </a:r>
            <a:r>
              <a:rPr sz="2000" b="1" spc="30" dirty="0">
                <a:latin typeface="Trebuchet MS"/>
                <a:cs typeface="Trebuchet MS"/>
              </a:rPr>
              <a:t>floor()</a:t>
            </a:r>
            <a:r>
              <a:rPr sz="2000" spc="30" dirty="0">
                <a:latin typeface="Trebuchet MS"/>
                <a:cs typeface="Trebuchet MS"/>
              </a:rPr>
              <a:t>, </a:t>
            </a:r>
            <a:r>
              <a:rPr sz="2000" b="1" spc="40" dirty="0">
                <a:latin typeface="Trebuchet MS"/>
                <a:cs typeface="Trebuchet MS"/>
              </a:rPr>
              <a:t>abs()</a:t>
            </a:r>
            <a:r>
              <a:rPr sz="2000" spc="40" dirty="0">
                <a:latin typeface="Trebuchet MS"/>
                <a:cs typeface="Trebuchet MS"/>
              </a:rPr>
              <a:t>, </a:t>
            </a:r>
            <a:r>
              <a:rPr sz="2000" spc="50" dirty="0">
                <a:latin typeface="Trebuchet MS"/>
                <a:cs typeface="Trebuchet MS"/>
              </a:rPr>
              <a:t>and</a:t>
            </a:r>
            <a:r>
              <a:rPr sz="2000" spc="-114" dirty="0">
                <a:latin typeface="Trebuchet MS"/>
                <a:cs typeface="Trebuchet MS"/>
              </a:rPr>
              <a:t> </a:t>
            </a:r>
            <a:r>
              <a:rPr sz="2000" b="1" spc="35" dirty="0">
                <a:latin typeface="Trebuchet MS"/>
                <a:cs typeface="Trebuchet MS"/>
              </a:rPr>
              <a:t>rand()</a:t>
            </a:r>
            <a:r>
              <a:rPr sz="2000" spc="35" dirty="0">
                <a:latin typeface="Trebuchet MS"/>
                <a:cs typeface="Trebuchet MS"/>
              </a:rPr>
              <a:t>.</a:t>
            </a:r>
            <a:endParaRPr sz="2000" dirty="0">
              <a:latin typeface="Trebuchet MS"/>
              <a:cs typeface="Trebuchet MS"/>
            </a:endParaRPr>
          </a:p>
          <a:p>
            <a:pPr marL="355600" marR="1518285" indent="-342900">
              <a:lnSpc>
                <a:spcPts val="4070"/>
              </a:lnSpc>
              <a:spcBef>
                <a:spcPts val="400"/>
              </a:spcBef>
              <a:buFont typeface="Arial" panose="020B0604020202020204" pitchFamily="34" charset="0"/>
              <a:buChar char="•"/>
            </a:pPr>
            <a:r>
              <a:rPr sz="2000" spc="40" dirty="0">
                <a:latin typeface="Trebuchet MS"/>
                <a:cs typeface="Trebuchet MS"/>
              </a:rPr>
              <a:t>Date </a:t>
            </a:r>
            <a:r>
              <a:rPr sz="2000" spc="-20" dirty="0">
                <a:latin typeface="Trebuchet MS"/>
                <a:cs typeface="Trebuchet MS"/>
              </a:rPr>
              <a:t>functions, </a:t>
            </a:r>
            <a:r>
              <a:rPr sz="2000" spc="30" dirty="0">
                <a:latin typeface="Trebuchet MS"/>
                <a:cs typeface="Trebuchet MS"/>
              </a:rPr>
              <a:t>such </a:t>
            </a:r>
            <a:r>
              <a:rPr sz="2000" spc="40" dirty="0">
                <a:latin typeface="Trebuchet MS"/>
                <a:cs typeface="Trebuchet MS"/>
              </a:rPr>
              <a:t>as </a:t>
            </a:r>
            <a:r>
              <a:rPr sz="2000" b="1" spc="10" dirty="0">
                <a:latin typeface="Trebuchet MS"/>
                <a:cs typeface="Trebuchet MS"/>
              </a:rPr>
              <a:t>to_date()</a:t>
            </a:r>
            <a:r>
              <a:rPr sz="2000" spc="10" dirty="0">
                <a:latin typeface="Trebuchet MS"/>
                <a:cs typeface="Trebuchet MS"/>
              </a:rPr>
              <a:t>, </a:t>
            </a:r>
            <a:r>
              <a:rPr sz="2000" b="1" spc="60" dirty="0">
                <a:latin typeface="Trebuchet MS"/>
                <a:cs typeface="Trebuchet MS"/>
              </a:rPr>
              <a:t>month()</a:t>
            </a:r>
            <a:r>
              <a:rPr sz="2000" spc="60" dirty="0">
                <a:latin typeface="Trebuchet MS"/>
                <a:cs typeface="Trebuchet MS"/>
              </a:rPr>
              <a:t>, </a:t>
            </a:r>
            <a:r>
              <a:rPr sz="2000" spc="50" dirty="0">
                <a:latin typeface="Trebuchet MS"/>
                <a:cs typeface="Trebuchet MS"/>
              </a:rPr>
              <a:t>and </a:t>
            </a:r>
            <a:r>
              <a:rPr sz="2000" b="1" spc="35" dirty="0">
                <a:latin typeface="Trebuchet MS"/>
                <a:cs typeface="Trebuchet MS"/>
              </a:rPr>
              <a:t>day</a:t>
            </a:r>
            <a:r>
              <a:rPr sz="2000" b="1" spc="35">
                <a:latin typeface="Trebuchet MS"/>
                <a:cs typeface="Trebuchet MS"/>
              </a:rPr>
              <a:t>()</a:t>
            </a:r>
            <a:r>
              <a:rPr sz="2000" spc="35">
                <a:latin typeface="Trebuchet MS"/>
                <a:cs typeface="Trebuchet MS"/>
              </a:rPr>
              <a:t>.  </a:t>
            </a:r>
            <a:endParaRPr lang="en-US" sz="2000" spc="35" smtClean="0">
              <a:latin typeface="Trebuchet MS"/>
              <a:cs typeface="Trebuchet MS"/>
            </a:endParaRPr>
          </a:p>
          <a:p>
            <a:pPr marL="355600" marR="1518285" indent="-342900">
              <a:lnSpc>
                <a:spcPts val="4070"/>
              </a:lnSpc>
              <a:spcBef>
                <a:spcPts val="400"/>
              </a:spcBef>
              <a:buFont typeface="Arial" panose="020B0604020202020204" pitchFamily="34" charset="0"/>
              <a:buChar char="•"/>
            </a:pPr>
            <a:r>
              <a:rPr sz="2000" spc="25" smtClean="0">
                <a:latin typeface="Trebuchet MS"/>
                <a:cs typeface="Trebuchet MS"/>
              </a:rPr>
              <a:t>String </a:t>
            </a:r>
            <a:r>
              <a:rPr sz="2000" spc="-20" dirty="0">
                <a:latin typeface="Trebuchet MS"/>
                <a:cs typeface="Trebuchet MS"/>
              </a:rPr>
              <a:t>functions, </a:t>
            </a:r>
            <a:r>
              <a:rPr sz="2000" spc="30" dirty="0">
                <a:latin typeface="Trebuchet MS"/>
                <a:cs typeface="Trebuchet MS"/>
              </a:rPr>
              <a:t>such </a:t>
            </a:r>
            <a:r>
              <a:rPr sz="2000" spc="40" dirty="0">
                <a:latin typeface="Trebuchet MS"/>
                <a:cs typeface="Trebuchet MS"/>
              </a:rPr>
              <a:t>as </a:t>
            </a:r>
            <a:r>
              <a:rPr sz="2000" b="1" spc="35" dirty="0">
                <a:latin typeface="Trebuchet MS"/>
                <a:cs typeface="Trebuchet MS"/>
              </a:rPr>
              <a:t>trim()</a:t>
            </a:r>
            <a:r>
              <a:rPr sz="2000" spc="35" dirty="0">
                <a:latin typeface="Trebuchet MS"/>
                <a:cs typeface="Trebuchet MS"/>
              </a:rPr>
              <a:t>, </a:t>
            </a:r>
            <a:r>
              <a:rPr sz="2000" b="1" spc="50" dirty="0">
                <a:latin typeface="Trebuchet MS"/>
                <a:cs typeface="Trebuchet MS"/>
              </a:rPr>
              <a:t>length()</a:t>
            </a:r>
            <a:r>
              <a:rPr sz="2000" spc="50" dirty="0">
                <a:latin typeface="Trebuchet MS"/>
                <a:cs typeface="Trebuchet MS"/>
              </a:rPr>
              <a:t>, and</a:t>
            </a:r>
            <a:r>
              <a:rPr sz="2000" spc="-100" dirty="0">
                <a:latin typeface="Trebuchet MS"/>
                <a:cs typeface="Trebuchet MS"/>
              </a:rPr>
              <a:t> </a:t>
            </a:r>
            <a:r>
              <a:rPr sz="2000" b="1" spc="25" dirty="0" err="1">
                <a:latin typeface="Trebuchet MS"/>
                <a:cs typeface="Trebuchet MS"/>
              </a:rPr>
              <a:t>substr</a:t>
            </a:r>
            <a:r>
              <a:rPr sz="2000" b="1" spc="25" dirty="0" smtClean="0">
                <a:latin typeface="Trebuchet MS"/>
                <a:cs typeface="Trebuchet MS"/>
              </a:rPr>
              <a:t>()</a:t>
            </a:r>
            <a:r>
              <a:rPr sz="2000" spc="25" dirty="0" smtClean="0">
                <a:latin typeface="Trebuchet MS"/>
                <a:cs typeface="Trebuchet MS"/>
              </a:rPr>
              <a:t>.</a:t>
            </a:r>
            <a:endParaRPr lang="en-US" sz="2000" spc="25" dirty="0" smtClean="0">
              <a:latin typeface="Trebuchet MS"/>
              <a:cs typeface="Trebuchet MS"/>
            </a:endParaRPr>
          </a:p>
          <a:p>
            <a:pPr marL="355600" marR="1518285" indent="-342900">
              <a:lnSpc>
                <a:spcPts val="4070"/>
              </a:lnSpc>
              <a:spcBef>
                <a:spcPts val="400"/>
              </a:spcBef>
              <a:buFont typeface="Arial" panose="020B0604020202020204" pitchFamily="34" charset="0"/>
              <a:buChar char="•"/>
            </a:pPr>
            <a:r>
              <a:rPr lang="en-US" sz="2000" spc="25" dirty="0">
                <a:latin typeface="Trebuchet MS"/>
                <a:cs typeface="Trebuchet MS"/>
              </a:rPr>
              <a:t>User-Defined </a:t>
            </a:r>
            <a:r>
              <a:rPr lang="en-US" sz="2000" spc="5" dirty="0">
                <a:latin typeface="Trebuchet MS"/>
                <a:cs typeface="Trebuchet MS"/>
              </a:rPr>
              <a:t>Function</a:t>
            </a:r>
            <a:r>
              <a:rPr lang="en-US" sz="2000" spc="50" dirty="0">
                <a:latin typeface="Trebuchet MS"/>
                <a:cs typeface="Trebuchet MS"/>
              </a:rPr>
              <a:t> </a:t>
            </a:r>
            <a:r>
              <a:rPr lang="en-US" sz="2000" spc="125" dirty="0">
                <a:latin typeface="Trebuchet MS"/>
                <a:cs typeface="Trebuchet MS"/>
              </a:rPr>
              <a:t>(UDF)</a:t>
            </a:r>
            <a:endParaRPr lang="en-US" sz="2000" dirty="0">
              <a:latin typeface="Trebuchet MS"/>
              <a:cs typeface="Trebuchet MS"/>
            </a:endParaRPr>
          </a:p>
          <a:p>
            <a:pPr marL="12700" marR="1518285">
              <a:lnSpc>
                <a:spcPts val="4070"/>
              </a:lnSpc>
              <a:spcBef>
                <a:spcPts val="400"/>
              </a:spcBef>
            </a:pPr>
            <a:endParaRPr lang="en-US" sz="2000" spc="25" dirty="0" smtClean="0">
              <a:latin typeface="Trebuchet MS"/>
              <a:cs typeface="Trebuchet MS"/>
            </a:endParaRPr>
          </a:p>
          <a:p>
            <a:pPr marL="12700" marR="1518285">
              <a:lnSpc>
                <a:spcPts val="4070"/>
              </a:lnSpc>
              <a:spcBef>
                <a:spcPts val="400"/>
              </a:spcBef>
            </a:pPr>
            <a:endParaRPr sz="2000" dirty="0">
              <a:latin typeface="Trebuchet MS"/>
              <a:cs typeface="Trebuchet MS"/>
            </a:endParaRP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EBEBEB"/>
          </a:solidFill>
        </p:spPr>
        <p:txBody>
          <a:bodyPr wrap="square" lIns="0" tIns="0" rIns="0" bIns="0" rtlCol="0"/>
          <a:lstStyle/>
          <a:p>
            <a:endParaRPr/>
          </a:p>
        </p:txBody>
      </p:sp>
      <p:sp>
        <p:nvSpPr>
          <p:cNvPr id="3" name="object 3"/>
          <p:cNvSpPr/>
          <p:nvPr/>
        </p:nvSpPr>
        <p:spPr>
          <a:xfrm>
            <a:off x="10195559" y="6320028"/>
            <a:ext cx="1269492" cy="271272"/>
          </a:xfrm>
          <a:prstGeom prst="rect">
            <a:avLst/>
          </a:prstGeom>
          <a:blipFill>
            <a:blip r:embed="rId2" cstate="print"/>
            <a:stretch>
              <a:fillRect/>
            </a:stretch>
          </a:blipFill>
        </p:spPr>
        <p:txBody>
          <a:bodyPr wrap="square" lIns="0" tIns="0" rIns="0" bIns="0" rtlCol="0"/>
          <a:lstStyle/>
          <a:p>
            <a:endParaRPr/>
          </a:p>
        </p:txBody>
      </p:sp>
      <p:sp>
        <p:nvSpPr>
          <p:cNvPr id="4" name="object 4"/>
          <p:cNvSpPr/>
          <p:nvPr/>
        </p:nvSpPr>
        <p:spPr>
          <a:xfrm>
            <a:off x="1030986" y="1349502"/>
            <a:ext cx="2016125" cy="0"/>
          </a:xfrm>
          <a:custGeom>
            <a:avLst/>
            <a:gdLst/>
            <a:ahLst/>
            <a:cxnLst/>
            <a:rect l="l" t="t" r="r" b="b"/>
            <a:pathLst>
              <a:path w="2016125">
                <a:moveTo>
                  <a:pt x="2015997" y="0"/>
                </a:moveTo>
                <a:lnTo>
                  <a:pt x="0" y="0"/>
                </a:lnTo>
              </a:path>
            </a:pathLst>
          </a:custGeom>
          <a:ln w="28956">
            <a:solidFill>
              <a:srgbClr val="C6000A"/>
            </a:solidFill>
          </a:ln>
        </p:spPr>
        <p:txBody>
          <a:bodyPr wrap="square" lIns="0" tIns="0" rIns="0" bIns="0" rtlCol="0"/>
          <a:lstStyle/>
          <a:p>
            <a:endParaRPr/>
          </a:p>
        </p:txBody>
      </p:sp>
      <p:sp>
        <p:nvSpPr>
          <p:cNvPr id="5" name="object 5"/>
          <p:cNvSpPr txBox="1">
            <a:spLocks noGrp="1"/>
          </p:cNvSpPr>
          <p:nvPr>
            <p:ph type="title"/>
          </p:nvPr>
        </p:nvSpPr>
        <p:spPr>
          <a:xfrm>
            <a:off x="997711" y="657301"/>
            <a:ext cx="3955289" cy="635000"/>
          </a:xfrm>
          <a:prstGeom prst="rect">
            <a:avLst/>
          </a:prstGeom>
        </p:spPr>
        <p:txBody>
          <a:bodyPr vert="horz" wrap="square" lIns="0" tIns="12065" rIns="0" bIns="0" rtlCol="0">
            <a:spAutoFit/>
          </a:bodyPr>
          <a:lstStyle/>
          <a:p>
            <a:pPr marL="12700">
              <a:lnSpc>
                <a:spcPct val="100000"/>
              </a:lnSpc>
              <a:spcBef>
                <a:spcPts val="95"/>
              </a:spcBef>
            </a:pPr>
            <a:r>
              <a:rPr sz="4000" spc="40" dirty="0">
                <a:solidFill>
                  <a:srgbClr val="404040"/>
                </a:solidFill>
              </a:rPr>
              <a:t>Conte</a:t>
            </a:r>
            <a:r>
              <a:rPr sz="4000" spc="55" dirty="0">
                <a:solidFill>
                  <a:srgbClr val="404040"/>
                </a:solidFill>
              </a:rPr>
              <a:t>n</a:t>
            </a:r>
            <a:r>
              <a:rPr sz="4000" spc="-40" dirty="0">
                <a:solidFill>
                  <a:srgbClr val="404040"/>
                </a:solidFill>
              </a:rPr>
              <a:t>ts</a:t>
            </a:r>
            <a:endParaRPr sz="4000" dirty="0"/>
          </a:p>
        </p:txBody>
      </p:sp>
      <p:sp>
        <p:nvSpPr>
          <p:cNvPr id="6" name="object 6"/>
          <p:cNvSpPr txBox="1"/>
          <p:nvPr/>
        </p:nvSpPr>
        <p:spPr>
          <a:xfrm>
            <a:off x="1097991" y="2009393"/>
            <a:ext cx="4547870" cy="1500505"/>
          </a:xfrm>
          <a:prstGeom prst="rect">
            <a:avLst/>
          </a:prstGeom>
        </p:spPr>
        <p:txBody>
          <a:bodyPr vert="horz" wrap="square" lIns="0" tIns="12065" rIns="0" bIns="0" rtlCol="0">
            <a:spAutoFit/>
          </a:bodyPr>
          <a:lstStyle/>
          <a:p>
            <a:pPr marL="469900" indent="-457834">
              <a:lnSpc>
                <a:spcPct val="100000"/>
              </a:lnSpc>
              <a:spcBef>
                <a:spcPts val="95"/>
              </a:spcBef>
              <a:buAutoNum type="arabicPeriod"/>
              <a:tabLst>
                <a:tab pos="469265" algn="l"/>
                <a:tab pos="470534" algn="l"/>
              </a:tabLst>
            </a:pPr>
            <a:r>
              <a:rPr sz="2200" spc="20" dirty="0">
                <a:solidFill>
                  <a:srgbClr val="7E7E7E"/>
                </a:solidFill>
                <a:latin typeface="Trebuchet MS"/>
                <a:cs typeface="Trebuchet MS"/>
              </a:rPr>
              <a:t>Hive</a:t>
            </a:r>
            <a:r>
              <a:rPr sz="2200" spc="25" dirty="0">
                <a:solidFill>
                  <a:srgbClr val="7E7E7E"/>
                </a:solidFill>
                <a:latin typeface="Trebuchet MS"/>
                <a:cs typeface="Trebuchet MS"/>
              </a:rPr>
              <a:t> </a:t>
            </a:r>
            <a:r>
              <a:rPr sz="2200" spc="15" dirty="0">
                <a:solidFill>
                  <a:srgbClr val="7E7E7E"/>
                </a:solidFill>
                <a:latin typeface="Trebuchet MS"/>
                <a:cs typeface="Trebuchet MS"/>
              </a:rPr>
              <a:t>Overview</a:t>
            </a:r>
            <a:endParaRPr sz="2200">
              <a:latin typeface="Trebuchet MS"/>
              <a:cs typeface="Trebuchet MS"/>
            </a:endParaRPr>
          </a:p>
          <a:p>
            <a:pPr marL="469900" indent="-457834">
              <a:lnSpc>
                <a:spcPct val="100000"/>
              </a:lnSpc>
              <a:spcBef>
                <a:spcPts val="1850"/>
              </a:spcBef>
              <a:buAutoNum type="arabicPeriod"/>
              <a:tabLst>
                <a:tab pos="469265" algn="l"/>
                <a:tab pos="470534" algn="l"/>
              </a:tabLst>
            </a:pPr>
            <a:r>
              <a:rPr sz="2200" spc="25" dirty="0">
                <a:solidFill>
                  <a:srgbClr val="7E7E7E"/>
                </a:solidFill>
                <a:latin typeface="Trebuchet MS"/>
                <a:cs typeface="Trebuchet MS"/>
              </a:rPr>
              <a:t>Hive </a:t>
            </a:r>
            <a:r>
              <a:rPr sz="2200" spc="10" dirty="0">
                <a:solidFill>
                  <a:srgbClr val="7E7E7E"/>
                </a:solidFill>
                <a:latin typeface="Trebuchet MS"/>
                <a:cs typeface="Trebuchet MS"/>
              </a:rPr>
              <a:t>Functions </a:t>
            </a:r>
            <a:r>
              <a:rPr sz="2200" spc="55" dirty="0">
                <a:solidFill>
                  <a:srgbClr val="7E7E7E"/>
                </a:solidFill>
                <a:latin typeface="Trebuchet MS"/>
                <a:cs typeface="Trebuchet MS"/>
              </a:rPr>
              <a:t>and</a:t>
            </a:r>
            <a:r>
              <a:rPr sz="2200" spc="-15" dirty="0">
                <a:solidFill>
                  <a:srgbClr val="7E7E7E"/>
                </a:solidFill>
                <a:latin typeface="Trebuchet MS"/>
                <a:cs typeface="Trebuchet MS"/>
              </a:rPr>
              <a:t> </a:t>
            </a:r>
            <a:r>
              <a:rPr sz="2200" spc="-20" dirty="0">
                <a:solidFill>
                  <a:srgbClr val="7E7E7E"/>
                </a:solidFill>
                <a:latin typeface="Trebuchet MS"/>
                <a:cs typeface="Trebuchet MS"/>
              </a:rPr>
              <a:t>Architecture</a:t>
            </a:r>
            <a:endParaRPr sz="2200">
              <a:latin typeface="Trebuchet MS"/>
              <a:cs typeface="Trebuchet MS"/>
            </a:endParaRPr>
          </a:p>
          <a:p>
            <a:pPr marL="469900" indent="-457834">
              <a:lnSpc>
                <a:spcPct val="100000"/>
              </a:lnSpc>
              <a:spcBef>
                <a:spcPts val="1845"/>
              </a:spcBef>
              <a:buAutoNum type="arabicPeriod"/>
              <a:tabLst>
                <a:tab pos="469265" algn="l"/>
                <a:tab pos="470534" algn="l"/>
              </a:tabLst>
            </a:pPr>
            <a:r>
              <a:rPr sz="2200" b="1" spc="15" dirty="0">
                <a:latin typeface="Trebuchet MS"/>
                <a:cs typeface="Trebuchet MS"/>
              </a:rPr>
              <a:t>Basic </a:t>
            </a:r>
            <a:r>
              <a:rPr sz="2200" b="1" spc="35" dirty="0">
                <a:latin typeface="Trebuchet MS"/>
                <a:cs typeface="Trebuchet MS"/>
              </a:rPr>
              <a:t>Hive</a:t>
            </a:r>
            <a:r>
              <a:rPr sz="2200" b="1" spc="30" dirty="0">
                <a:latin typeface="Trebuchet MS"/>
                <a:cs typeface="Trebuchet MS"/>
              </a:rPr>
              <a:t> </a:t>
            </a:r>
            <a:r>
              <a:rPr sz="2200" b="1" spc="40" dirty="0">
                <a:latin typeface="Trebuchet MS"/>
                <a:cs typeface="Trebuchet MS"/>
              </a:rPr>
              <a:t>Operations</a:t>
            </a:r>
            <a:endParaRPr sz="2200">
              <a:latin typeface="Trebuchet MS"/>
              <a:cs typeface="Trebuchet MS"/>
            </a:endParaRP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752600" y="694082"/>
            <a:ext cx="6519876" cy="567463"/>
          </a:xfrm>
          <a:prstGeom prst="rect">
            <a:avLst/>
          </a:prstGeom>
        </p:spPr>
        <p:txBody>
          <a:bodyPr vert="horz" wrap="square" lIns="0" tIns="13335" rIns="0" bIns="0" rtlCol="0">
            <a:spAutoFit/>
          </a:bodyPr>
          <a:lstStyle/>
          <a:p>
            <a:pPr marL="12700">
              <a:lnSpc>
                <a:spcPct val="100000"/>
              </a:lnSpc>
              <a:spcBef>
                <a:spcPts val="105"/>
              </a:spcBef>
            </a:pPr>
            <a:r>
              <a:rPr spc="40" dirty="0"/>
              <a:t>Hive </a:t>
            </a:r>
            <a:r>
              <a:rPr spc="175" dirty="0"/>
              <a:t>SQL</a:t>
            </a:r>
            <a:r>
              <a:rPr spc="-40" dirty="0"/>
              <a:t> </a:t>
            </a:r>
            <a:r>
              <a:rPr spc="25" dirty="0"/>
              <a:t>Overview</a:t>
            </a:r>
          </a:p>
        </p:txBody>
      </p:sp>
      <p:sp>
        <p:nvSpPr>
          <p:cNvPr id="4" name="object 4"/>
          <p:cNvSpPr txBox="1"/>
          <p:nvPr/>
        </p:nvSpPr>
        <p:spPr>
          <a:xfrm>
            <a:off x="1341577" y="1983359"/>
            <a:ext cx="8895080" cy="2528256"/>
          </a:xfrm>
          <a:prstGeom prst="rect">
            <a:avLst/>
          </a:prstGeom>
        </p:spPr>
        <p:txBody>
          <a:bodyPr vert="horz" wrap="square" lIns="0" tIns="12065" rIns="0" bIns="0" rtlCol="0">
            <a:spAutoFit/>
          </a:bodyPr>
          <a:lstStyle/>
          <a:p>
            <a:pPr marL="76200">
              <a:lnSpc>
                <a:spcPct val="100000"/>
              </a:lnSpc>
              <a:spcBef>
                <a:spcPts val="95"/>
              </a:spcBef>
            </a:pPr>
            <a:r>
              <a:rPr sz="2200" spc="100" dirty="0">
                <a:latin typeface="Trebuchet MS"/>
                <a:cs typeface="Trebuchet MS"/>
              </a:rPr>
              <a:t>DDL-Data </a:t>
            </a:r>
            <a:r>
              <a:rPr sz="2200" spc="10" dirty="0">
                <a:latin typeface="Trebuchet MS"/>
                <a:cs typeface="Trebuchet MS"/>
              </a:rPr>
              <a:t>Definition</a:t>
            </a:r>
            <a:r>
              <a:rPr sz="2200" spc="-25" dirty="0">
                <a:latin typeface="Trebuchet MS"/>
                <a:cs typeface="Trebuchet MS"/>
              </a:rPr>
              <a:t> </a:t>
            </a:r>
            <a:r>
              <a:rPr sz="2200" spc="25" dirty="0" smtClean="0">
                <a:latin typeface="Trebuchet MS"/>
                <a:cs typeface="Trebuchet MS"/>
              </a:rPr>
              <a:t>Language:</a:t>
            </a:r>
            <a:endParaRPr sz="2200" dirty="0" smtClean="0">
              <a:latin typeface="Trebuchet MS"/>
              <a:cs typeface="Trebuchet MS"/>
            </a:endParaRPr>
          </a:p>
          <a:p>
            <a:pPr marL="520066" indent="-342900">
              <a:lnSpc>
                <a:spcPct val="100000"/>
              </a:lnSpc>
              <a:spcBef>
                <a:spcPts val="1664"/>
              </a:spcBef>
              <a:buSzPct val="50000"/>
              <a:buFont typeface="Wingdings" panose="05000000000000000000" pitchFamily="2" charset="2"/>
              <a:buChar char="§"/>
              <a:tabLst>
                <a:tab pos="429895" algn="l"/>
                <a:tab pos="430530" algn="l"/>
              </a:tabLst>
            </a:pPr>
            <a:r>
              <a:rPr sz="2000" spc="-10" dirty="0" smtClean="0">
                <a:latin typeface="Trebuchet MS"/>
                <a:cs typeface="Trebuchet MS"/>
              </a:rPr>
              <a:t>Creates </a:t>
            </a:r>
            <a:r>
              <a:rPr sz="2000" spc="-45" dirty="0" smtClean="0">
                <a:latin typeface="Trebuchet MS"/>
                <a:cs typeface="Trebuchet MS"/>
              </a:rPr>
              <a:t>tables, </a:t>
            </a:r>
            <a:r>
              <a:rPr sz="2000" spc="10" dirty="0" smtClean="0">
                <a:latin typeface="Trebuchet MS"/>
                <a:cs typeface="Trebuchet MS"/>
              </a:rPr>
              <a:t>modifies </a:t>
            </a:r>
            <a:r>
              <a:rPr sz="2000" spc="-45" dirty="0" smtClean="0">
                <a:latin typeface="Trebuchet MS"/>
                <a:cs typeface="Trebuchet MS"/>
              </a:rPr>
              <a:t>tables, </a:t>
            </a:r>
            <a:r>
              <a:rPr sz="2000" spc="-20" dirty="0" smtClean="0">
                <a:latin typeface="Trebuchet MS"/>
                <a:cs typeface="Trebuchet MS"/>
              </a:rPr>
              <a:t>deletes </a:t>
            </a:r>
            <a:r>
              <a:rPr sz="2000" spc="-45" dirty="0" smtClean="0">
                <a:latin typeface="Trebuchet MS"/>
                <a:cs typeface="Trebuchet MS"/>
              </a:rPr>
              <a:t>tables, </a:t>
            </a:r>
            <a:r>
              <a:rPr sz="2000" spc="-25" dirty="0" smtClean="0">
                <a:latin typeface="Trebuchet MS"/>
                <a:cs typeface="Trebuchet MS"/>
              </a:rPr>
              <a:t>partitions, </a:t>
            </a:r>
            <a:r>
              <a:rPr sz="2000" spc="50" dirty="0" smtClean="0">
                <a:latin typeface="Trebuchet MS"/>
                <a:cs typeface="Trebuchet MS"/>
              </a:rPr>
              <a:t>and </a:t>
            </a:r>
            <a:r>
              <a:rPr sz="2000" spc="20" dirty="0" smtClean="0">
                <a:latin typeface="Trebuchet MS"/>
                <a:cs typeface="Trebuchet MS"/>
              </a:rPr>
              <a:t>data</a:t>
            </a:r>
            <a:r>
              <a:rPr sz="2000" spc="155" dirty="0" smtClean="0">
                <a:latin typeface="Trebuchet MS"/>
                <a:cs typeface="Trebuchet MS"/>
              </a:rPr>
              <a:t> </a:t>
            </a:r>
            <a:r>
              <a:rPr sz="2000" spc="-55" dirty="0" smtClean="0">
                <a:latin typeface="Trebuchet MS"/>
                <a:cs typeface="Trebuchet MS"/>
              </a:rPr>
              <a:t>types.</a:t>
            </a:r>
            <a:endParaRPr sz="2000" dirty="0" smtClean="0">
              <a:latin typeface="Trebuchet MS"/>
              <a:cs typeface="Trebuchet MS"/>
            </a:endParaRPr>
          </a:p>
          <a:p>
            <a:pPr marL="76200">
              <a:lnSpc>
                <a:spcPct val="100000"/>
              </a:lnSpc>
              <a:spcBef>
                <a:spcPts val="1745"/>
              </a:spcBef>
            </a:pPr>
            <a:r>
              <a:rPr sz="2200" spc="130" dirty="0" smtClean="0">
                <a:latin typeface="Trebuchet MS"/>
                <a:cs typeface="Trebuchet MS"/>
              </a:rPr>
              <a:t>DML-Data </a:t>
            </a:r>
            <a:r>
              <a:rPr sz="2200" spc="85" dirty="0">
                <a:latin typeface="Trebuchet MS"/>
                <a:cs typeface="Trebuchet MS"/>
              </a:rPr>
              <a:t>Management</a:t>
            </a:r>
            <a:r>
              <a:rPr sz="2200" spc="-65" dirty="0">
                <a:latin typeface="Trebuchet MS"/>
                <a:cs typeface="Trebuchet MS"/>
              </a:rPr>
              <a:t> </a:t>
            </a:r>
            <a:r>
              <a:rPr sz="2200" spc="25" dirty="0" smtClean="0">
                <a:latin typeface="Trebuchet MS"/>
                <a:cs typeface="Trebuchet MS"/>
              </a:rPr>
              <a:t>Language:</a:t>
            </a:r>
            <a:endParaRPr lang="en-US" sz="2200" dirty="0">
              <a:latin typeface="Trebuchet MS"/>
              <a:cs typeface="Trebuchet MS"/>
            </a:endParaRPr>
          </a:p>
          <a:p>
            <a:pPr marL="419100" indent="-342900">
              <a:lnSpc>
                <a:spcPct val="100000"/>
              </a:lnSpc>
              <a:spcBef>
                <a:spcPts val="1745"/>
              </a:spcBef>
              <a:buFont typeface="Arial" panose="020B0604020202020204" pitchFamily="34" charset="0"/>
              <a:buChar char="•"/>
            </a:pPr>
            <a:r>
              <a:rPr sz="2000" spc="30" dirty="0" smtClean="0">
                <a:latin typeface="Trebuchet MS"/>
                <a:cs typeface="Trebuchet MS"/>
              </a:rPr>
              <a:t>Imports </a:t>
            </a:r>
            <a:r>
              <a:rPr sz="2000" spc="50" dirty="0">
                <a:latin typeface="Trebuchet MS"/>
                <a:cs typeface="Trebuchet MS"/>
              </a:rPr>
              <a:t>and </a:t>
            </a:r>
            <a:r>
              <a:rPr sz="2000" spc="-5" dirty="0">
                <a:latin typeface="Trebuchet MS"/>
                <a:cs typeface="Trebuchet MS"/>
              </a:rPr>
              <a:t>exports</a:t>
            </a:r>
            <a:r>
              <a:rPr sz="2000" spc="-90" dirty="0">
                <a:latin typeface="Trebuchet MS"/>
                <a:cs typeface="Trebuchet MS"/>
              </a:rPr>
              <a:t> </a:t>
            </a:r>
            <a:r>
              <a:rPr sz="2000" spc="-40" dirty="0">
                <a:latin typeface="Trebuchet MS"/>
                <a:cs typeface="Trebuchet MS"/>
              </a:rPr>
              <a:t>data.</a:t>
            </a:r>
            <a:endParaRPr sz="2000" dirty="0">
              <a:latin typeface="Trebuchet MS"/>
              <a:cs typeface="Trebuchet MS"/>
            </a:endParaRPr>
          </a:p>
          <a:p>
            <a:pPr marL="76200">
              <a:lnSpc>
                <a:spcPct val="100000"/>
              </a:lnSpc>
              <a:spcBef>
                <a:spcPts val="1750"/>
              </a:spcBef>
            </a:pPr>
            <a:r>
              <a:rPr sz="2200" spc="100" dirty="0">
                <a:latin typeface="Trebuchet MS"/>
                <a:cs typeface="Trebuchet MS"/>
              </a:rPr>
              <a:t>DQL-Data </a:t>
            </a:r>
            <a:r>
              <a:rPr sz="2200" spc="45" dirty="0">
                <a:latin typeface="Trebuchet MS"/>
                <a:cs typeface="Trebuchet MS"/>
              </a:rPr>
              <a:t>Query</a:t>
            </a:r>
            <a:r>
              <a:rPr sz="2200" spc="-35" dirty="0">
                <a:latin typeface="Trebuchet MS"/>
                <a:cs typeface="Trebuchet MS"/>
              </a:rPr>
              <a:t> </a:t>
            </a:r>
            <a:r>
              <a:rPr sz="2200" spc="25" dirty="0">
                <a:latin typeface="Trebuchet MS"/>
                <a:cs typeface="Trebuchet MS"/>
              </a:rPr>
              <a:t>Language:</a:t>
            </a:r>
            <a:endParaRPr sz="2200" dirty="0">
              <a:latin typeface="Trebuchet MS"/>
              <a:cs typeface="Trebuchet MS"/>
            </a:endParaRPr>
          </a:p>
        </p:txBody>
      </p:sp>
      <p:sp>
        <p:nvSpPr>
          <p:cNvPr id="8" name="object 8"/>
          <p:cNvSpPr txBox="1"/>
          <p:nvPr/>
        </p:nvSpPr>
        <p:spPr>
          <a:xfrm>
            <a:off x="1447800" y="4669409"/>
            <a:ext cx="8788857" cy="846386"/>
          </a:xfrm>
          <a:prstGeom prst="rect">
            <a:avLst/>
          </a:prstGeom>
        </p:spPr>
        <p:txBody>
          <a:bodyPr vert="horz" wrap="square" lIns="0" tIns="12700" rIns="0" bIns="0" rtlCol="0">
            <a:spAutoFit/>
          </a:bodyPr>
          <a:lstStyle/>
          <a:p>
            <a:pPr marL="355600" indent="-342900">
              <a:lnSpc>
                <a:spcPct val="100000"/>
              </a:lnSpc>
              <a:spcBef>
                <a:spcPts val="100"/>
              </a:spcBef>
              <a:buFont typeface="Arial" panose="020B0604020202020204" pitchFamily="34" charset="0"/>
              <a:buChar char="•"/>
            </a:pPr>
            <a:r>
              <a:rPr sz="2000" spc="15" dirty="0">
                <a:latin typeface="Trebuchet MS"/>
                <a:cs typeface="Trebuchet MS"/>
              </a:rPr>
              <a:t>Performs </a:t>
            </a:r>
            <a:r>
              <a:rPr sz="2000" spc="10" dirty="0">
                <a:latin typeface="Trebuchet MS"/>
                <a:cs typeface="Trebuchet MS"/>
              </a:rPr>
              <a:t>simple</a:t>
            </a:r>
            <a:r>
              <a:rPr sz="2000" spc="-5" dirty="0">
                <a:latin typeface="Trebuchet MS"/>
                <a:cs typeface="Trebuchet MS"/>
              </a:rPr>
              <a:t> </a:t>
            </a:r>
            <a:r>
              <a:rPr sz="2000" spc="-35" dirty="0">
                <a:latin typeface="Trebuchet MS"/>
                <a:cs typeface="Trebuchet MS"/>
              </a:rPr>
              <a:t>queries.</a:t>
            </a:r>
            <a:endParaRPr sz="2000" dirty="0">
              <a:latin typeface="Trebuchet MS"/>
              <a:cs typeface="Trebuchet MS"/>
            </a:endParaRPr>
          </a:p>
          <a:p>
            <a:pPr marL="355600" indent="-342900">
              <a:lnSpc>
                <a:spcPct val="100000"/>
              </a:lnSpc>
              <a:spcBef>
                <a:spcPts val="1660"/>
              </a:spcBef>
              <a:buFont typeface="Arial" panose="020B0604020202020204" pitchFamily="34" charset="0"/>
              <a:buChar char="•"/>
            </a:pPr>
            <a:r>
              <a:rPr sz="2000" spc="15" dirty="0">
                <a:latin typeface="Trebuchet MS"/>
                <a:cs typeface="Trebuchet MS"/>
              </a:rPr>
              <a:t>Performs </a:t>
            </a:r>
            <a:r>
              <a:rPr sz="2000" spc="5" dirty="0">
                <a:latin typeface="Trebuchet MS"/>
                <a:cs typeface="Trebuchet MS"/>
              </a:rPr>
              <a:t>complex </a:t>
            </a:r>
            <a:r>
              <a:rPr sz="2000" spc="-5" dirty="0">
                <a:latin typeface="Trebuchet MS"/>
                <a:cs typeface="Trebuchet MS"/>
              </a:rPr>
              <a:t>queries </a:t>
            </a:r>
            <a:r>
              <a:rPr sz="2000" spc="30" dirty="0">
                <a:latin typeface="Trebuchet MS"/>
                <a:cs typeface="Trebuchet MS"/>
              </a:rPr>
              <a:t>such </a:t>
            </a:r>
            <a:r>
              <a:rPr sz="2000" spc="45" dirty="0">
                <a:latin typeface="Trebuchet MS"/>
                <a:cs typeface="Trebuchet MS"/>
              </a:rPr>
              <a:t>as </a:t>
            </a:r>
            <a:r>
              <a:rPr sz="2000" b="1" spc="45" dirty="0">
                <a:latin typeface="Trebuchet MS"/>
                <a:cs typeface="Trebuchet MS"/>
              </a:rPr>
              <a:t>Group </a:t>
            </a:r>
            <a:r>
              <a:rPr sz="2000" b="1" spc="-70" dirty="0">
                <a:latin typeface="Trebuchet MS"/>
                <a:cs typeface="Trebuchet MS"/>
              </a:rPr>
              <a:t>by</a:t>
            </a:r>
            <a:r>
              <a:rPr sz="2000" spc="-70" dirty="0">
                <a:latin typeface="Trebuchet MS"/>
                <a:cs typeface="Trebuchet MS"/>
              </a:rPr>
              <a:t>, </a:t>
            </a:r>
            <a:r>
              <a:rPr sz="2000" b="1" spc="30" dirty="0">
                <a:latin typeface="Trebuchet MS"/>
                <a:cs typeface="Trebuchet MS"/>
              </a:rPr>
              <a:t>Order </a:t>
            </a:r>
            <a:r>
              <a:rPr sz="2000" b="1" spc="25" dirty="0">
                <a:latin typeface="Trebuchet MS"/>
                <a:cs typeface="Trebuchet MS"/>
              </a:rPr>
              <a:t>by </a:t>
            </a:r>
            <a:r>
              <a:rPr sz="2000" spc="55" dirty="0">
                <a:latin typeface="Trebuchet MS"/>
                <a:cs typeface="Trebuchet MS"/>
              </a:rPr>
              <a:t>and</a:t>
            </a:r>
            <a:r>
              <a:rPr sz="2000" spc="-15" dirty="0">
                <a:latin typeface="Trebuchet MS"/>
                <a:cs typeface="Trebuchet MS"/>
              </a:rPr>
              <a:t> </a:t>
            </a:r>
            <a:r>
              <a:rPr sz="2000" b="1" spc="-100" dirty="0">
                <a:latin typeface="Trebuchet MS"/>
                <a:cs typeface="Trebuchet MS"/>
              </a:rPr>
              <a:t>Join</a:t>
            </a:r>
            <a:r>
              <a:rPr sz="2000" spc="-100" dirty="0">
                <a:latin typeface="Trebuchet MS"/>
                <a:cs typeface="Trebuchet MS"/>
              </a:rPr>
              <a:t>.</a:t>
            </a:r>
            <a:endParaRPr sz="2000" dirty="0">
              <a:latin typeface="Trebuchet MS"/>
              <a:cs typeface="Trebuchet MS"/>
            </a:endParaRP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676400" y="711649"/>
            <a:ext cx="6291276" cy="567463"/>
          </a:xfrm>
          <a:prstGeom prst="rect">
            <a:avLst/>
          </a:prstGeom>
        </p:spPr>
        <p:txBody>
          <a:bodyPr vert="horz" wrap="square" lIns="0" tIns="13335" rIns="0" bIns="0" rtlCol="0">
            <a:spAutoFit/>
          </a:bodyPr>
          <a:lstStyle/>
          <a:p>
            <a:pPr marL="12700">
              <a:lnSpc>
                <a:spcPct val="100000"/>
              </a:lnSpc>
              <a:spcBef>
                <a:spcPts val="105"/>
              </a:spcBef>
            </a:pPr>
            <a:r>
              <a:rPr spc="245" dirty="0"/>
              <a:t>DDL</a:t>
            </a:r>
            <a:r>
              <a:rPr spc="-40" dirty="0"/>
              <a:t> </a:t>
            </a:r>
            <a:r>
              <a:rPr spc="45" dirty="0"/>
              <a:t>Operations</a:t>
            </a:r>
          </a:p>
        </p:txBody>
      </p:sp>
      <p:sp>
        <p:nvSpPr>
          <p:cNvPr id="3" name="object 3"/>
          <p:cNvSpPr txBox="1"/>
          <p:nvPr/>
        </p:nvSpPr>
        <p:spPr>
          <a:xfrm>
            <a:off x="1160221" y="1447800"/>
            <a:ext cx="1691005" cy="269240"/>
          </a:xfrm>
          <a:prstGeom prst="rect">
            <a:avLst/>
          </a:prstGeom>
        </p:spPr>
        <p:txBody>
          <a:bodyPr vert="horz" wrap="square" lIns="0" tIns="12065" rIns="0" bIns="0" rtlCol="0">
            <a:spAutoFit/>
          </a:bodyPr>
          <a:lstStyle/>
          <a:p>
            <a:pPr marL="12700">
              <a:lnSpc>
                <a:spcPct val="100000"/>
              </a:lnSpc>
              <a:spcBef>
                <a:spcPts val="95"/>
              </a:spcBef>
            </a:pPr>
            <a:r>
              <a:rPr sz="1600" b="1" spc="35" dirty="0">
                <a:latin typeface="Trebuchet MS"/>
                <a:cs typeface="Trebuchet MS"/>
              </a:rPr>
              <a:t>-- </a:t>
            </a:r>
            <a:r>
              <a:rPr sz="1600" b="1" spc="5" dirty="0">
                <a:latin typeface="Trebuchet MS"/>
                <a:cs typeface="Trebuchet MS"/>
              </a:rPr>
              <a:t>Create </a:t>
            </a:r>
            <a:r>
              <a:rPr sz="1600" b="1" spc="70" dirty="0">
                <a:latin typeface="Trebuchet MS"/>
                <a:cs typeface="Trebuchet MS"/>
              </a:rPr>
              <a:t>a</a:t>
            </a:r>
            <a:r>
              <a:rPr sz="1600" b="1" spc="-40" dirty="0">
                <a:latin typeface="Trebuchet MS"/>
                <a:cs typeface="Trebuchet MS"/>
              </a:rPr>
              <a:t> </a:t>
            </a:r>
            <a:r>
              <a:rPr sz="1600" b="1" spc="-10" dirty="0">
                <a:latin typeface="Trebuchet MS"/>
                <a:cs typeface="Trebuchet MS"/>
              </a:rPr>
              <a:t>table:</a:t>
            </a:r>
            <a:endParaRPr sz="1600">
              <a:latin typeface="Trebuchet MS"/>
              <a:cs typeface="Trebuchet MS"/>
            </a:endParaRPr>
          </a:p>
        </p:txBody>
      </p:sp>
      <p:sp>
        <p:nvSpPr>
          <p:cNvPr id="4" name="object 4"/>
          <p:cNvSpPr txBox="1"/>
          <p:nvPr/>
        </p:nvSpPr>
        <p:spPr>
          <a:xfrm>
            <a:off x="1160221" y="3239008"/>
            <a:ext cx="1967230" cy="269240"/>
          </a:xfrm>
          <a:prstGeom prst="rect">
            <a:avLst/>
          </a:prstGeom>
        </p:spPr>
        <p:txBody>
          <a:bodyPr vert="horz" wrap="square" lIns="0" tIns="12065" rIns="0" bIns="0" rtlCol="0">
            <a:spAutoFit/>
          </a:bodyPr>
          <a:lstStyle/>
          <a:p>
            <a:pPr marL="12700">
              <a:lnSpc>
                <a:spcPct val="100000"/>
              </a:lnSpc>
              <a:spcBef>
                <a:spcPts val="95"/>
              </a:spcBef>
            </a:pPr>
            <a:r>
              <a:rPr sz="1600" b="1" spc="35" dirty="0">
                <a:latin typeface="Trebuchet MS"/>
                <a:cs typeface="Trebuchet MS"/>
              </a:rPr>
              <a:t>-- </a:t>
            </a:r>
            <a:r>
              <a:rPr sz="1600" b="1" spc="25" dirty="0">
                <a:latin typeface="Trebuchet MS"/>
                <a:cs typeface="Trebuchet MS"/>
              </a:rPr>
              <a:t>Browse </a:t>
            </a:r>
            <a:r>
              <a:rPr sz="1600" b="1" spc="15" dirty="0">
                <a:latin typeface="Trebuchet MS"/>
                <a:cs typeface="Trebuchet MS"/>
              </a:rPr>
              <a:t>the</a:t>
            </a:r>
            <a:r>
              <a:rPr sz="1600" b="1" spc="-50" dirty="0">
                <a:latin typeface="Trebuchet MS"/>
                <a:cs typeface="Trebuchet MS"/>
              </a:rPr>
              <a:t> </a:t>
            </a:r>
            <a:r>
              <a:rPr sz="1600" b="1" spc="-10" dirty="0">
                <a:latin typeface="Trebuchet MS"/>
                <a:cs typeface="Trebuchet MS"/>
              </a:rPr>
              <a:t>table:</a:t>
            </a:r>
            <a:endParaRPr sz="1600">
              <a:latin typeface="Trebuchet MS"/>
              <a:cs typeface="Trebuchet MS"/>
            </a:endParaRPr>
          </a:p>
        </p:txBody>
      </p:sp>
      <p:sp>
        <p:nvSpPr>
          <p:cNvPr id="5" name="object 5"/>
          <p:cNvSpPr txBox="1"/>
          <p:nvPr/>
        </p:nvSpPr>
        <p:spPr>
          <a:xfrm>
            <a:off x="1160221" y="3964127"/>
            <a:ext cx="1882139" cy="269240"/>
          </a:xfrm>
          <a:prstGeom prst="rect">
            <a:avLst/>
          </a:prstGeom>
        </p:spPr>
        <p:txBody>
          <a:bodyPr vert="horz" wrap="square" lIns="0" tIns="12065" rIns="0" bIns="0" rtlCol="0">
            <a:spAutoFit/>
          </a:bodyPr>
          <a:lstStyle/>
          <a:p>
            <a:pPr marL="12700">
              <a:lnSpc>
                <a:spcPct val="100000"/>
              </a:lnSpc>
              <a:spcBef>
                <a:spcPts val="95"/>
              </a:spcBef>
            </a:pPr>
            <a:r>
              <a:rPr sz="1600" b="1" spc="35" dirty="0">
                <a:latin typeface="Trebuchet MS"/>
                <a:cs typeface="Trebuchet MS"/>
              </a:rPr>
              <a:t>-- </a:t>
            </a:r>
            <a:r>
              <a:rPr sz="1600" b="1" spc="5" dirty="0">
                <a:latin typeface="Trebuchet MS"/>
                <a:cs typeface="Trebuchet MS"/>
              </a:rPr>
              <a:t>Describe </a:t>
            </a:r>
            <a:r>
              <a:rPr sz="1600" b="1" spc="70" dirty="0">
                <a:latin typeface="Trebuchet MS"/>
                <a:cs typeface="Trebuchet MS"/>
              </a:rPr>
              <a:t>a</a:t>
            </a:r>
            <a:r>
              <a:rPr sz="1600" b="1" spc="-10" dirty="0">
                <a:latin typeface="Trebuchet MS"/>
                <a:cs typeface="Trebuchet MS"/>
              </a:rPr>
              <a:t> table:</a:t>
            </a:r>
            <a:endParaRPr sz="1600">
              <a:latin typeface="Trebuchet MS"/>
              <a:cs typeface="Trebuchet MS"/>
            </a:endParaRPr>
          </a:p>
        </p:txBody>
      </p:sp>
      <p:sp>
        <p:nvSpPr>
          <p:cNvPr id="6" name="object 6"/>
          <p:cNvSpPr txBox="1"/>
          <p:nvPr/>
        </p:nvSpPr>
        <p:spPr>
          <a:xfrm>
            <a:off x="1160221" y="4690109"/>
            <a:ext cx="1731645" cy="269240"/>
          </a:xfrm>
          <a:prstGeom prst="rect">
            <a:avLst/>
          </a:prstGeom>
        </p:spPr>
        <p:txBody>
          <a:bodyPr vert="horz" wrap="square" lIns="0" tIns="12065" rIns="0" bIns="0" rtlCol="0">
            <a:spAutoFit/>
          </a:bodyPr>
          <a:lstStyle/>
          <a:p>
            <a:pPr marL="12700">
              <a:lnSpc>
                <a:spcPct val="100000"/>
              </a:lnSpc>
              <a:spcBef>
                <a:spcPts val="95"/>
              </a:spcBef>
            </a:pPr>
            <a:r>
              <a:rPr sz="1600" b="1" spc="35" dirty="0">
                <a:latin typeface="Trebuchet MS"/>
                <a:cs typeface="Trebuchet MS"/>
              </a:rPr>
              <a:t>-- </a:t>
            </a:r>
            <a:r>
              <a:rPr sz="1600" b="1" spc="70" dirty="0">
                <a:latin typeface="Trebuchet MS"/>
                <a:cs typeface="Trebuchet MS"/>
              </a:rPr>
              <a:t>Modify a</a:t>
            </a:r>
            <a:r>
              <a:rPr sz="1600" b="1" spc="-135" dirty="0">
                <a:latin typeface="Trebuchet MS"/>
                <a:cs typeface="Trebuchet MS"/>
              </a:rPr>
              <a:t> </a:t>
            </a:r>
            <a:r>
              <a:rPr sz="1600" b="1" spc="-10" dirty="0">
                <a:latin typeface="Trebuchet MS"/>
                <a:cs typeface="Trebuchet MS"/>
              </a:rPr>
              <a:t>table:</a:t>
            </a:r>
            <a:endParaRPr sz="1600" dirty="0">
              <a:latin typeface="Trebuchet MS"/>
              <a:cs typeface="Trebuchet MS"/>
            </a:endParaRPr>
          </a:p>
        </p:txBody>
      </p:sp>
      <p:sp>
        <p:nvSpPr>
          <p:cNvPr id="7" name="object 7"/>
          <p:cNvSpPr txBox="1"/>
          <p:nvPr/>
        </p:nvSpPr>
        <p:spPr>
          <a:xfrm>
            <a:off x="1403350" y="1833626"/>
            <a:ext cx="9493250" cy="259686"/>
          </a:xfrm>
          <a:prstGeom prst="rect">
            <a:avLst/>
          </a:prstGeom>
          <a:solidFill>
            <a:srgbClr val="D9D9D9"/>
          </a:solidFill>
        </p:spPr>
        <p:txBody>
          <a:bodyPr vert="horz" wrap="square" lIns="0" tIns="43815" rIns="0" bIns="0" rtlCol="0">
            <a:spAutoFit/>
          </a:bodyPr>
          <a:lstStyle/>
          <a:p>
            <a:pPr marL="91440">
              <a:lnSpc>
                <a:spcPct val="100000"/>
              </a:lnSpc>
              <a:spcBef>
                <a:spcPts val="345"/>
              </a:spcBef>
            </a:pPr>
            <a:r>
              <a:rPr sz="1400" spc="10" dirty="0">
                <a:latin typeface="Trebuchet MS"/>
                <a:cs typeface="Trebuchet MS"/>
              </a:rPr>
              <a:t>hive&gt; </a:t>
            </a:r>
            <a:r>
              <a:rPr lang="en-US" sz="1400" spc="25" dirty="0">
                <a:latin typeface="Trebuchet MS"/>
                <a:cs typeface="Trebuchet MS"/>
              </a:rPr>
              <a:t>CREATE TABLE pokes (foo INT, bar STRING</a:t>
            </a:r>
            <a:r>
              <a:rPr lang="en-US" sz="1400" spc="25" dirty="0" smtClean="0">
                <a:latin typeface="Trebuchet MS"/>
                <a:cs typeface="Trebuchet MS"/>
              </a:rPr>
              <a:t>) row </a:t>
            </a:r>
            <a:r>
              <a:rPr lang="en-US" sz="1400" spc="25" dirty="0">
                <a:latin typeface="Trebuchet MS"/>
                <a:cs typeface="Trebuchet MS"/>
              </a:rPr>
              <a:t>format delimited fields terminated by ',' stored as </a:t>
            </a:r>
            <a:r>
              <a:rPr lang="en-US" sz="1400" spc="25" dirty="0" err="1">
                <a:latin typeface="Trebuchet MS"/>
                <a:cs typeface="Trebuchet MS"/>
              </a:rPr>
              <a:t>textfile</a:t>
            </a:r>
            <a:r>
              <a:rPr lang="en-US" sz="1400" spc="25" dirty="0">
                <a:latin typeface="Trebuchet MS"/>
                <a:cs typeface="Trebuchet MS"/>
              </a:rPr>
              <a:t>;</a:t>
            </a:r>
            <a:endParaRPr sz="1400" dirty="0">
              <a:latin typeface="Trebuchet MS"/>
              <a:cs typeface="Trebuchet MS"/>
            </a:endParaRPr>
          </a:p>
        </p:txBody>
      </p:sp>
      <p:sp>
        <p:nvSpPr>
          <p:cNvPr id="8" name="object 8"/>
          <p:cNvSpPr txBox="1"/>
          <p:nvPr/>
        </p:nvSpPr>
        <p:spPr>
          <a:xfrm>
            <a:off x="1403350" y="2712733"/>
            <a:ext cx="10026650" cy="475130"/>
          </a:xfrm>
          <a:prstGeom prst="rect">
            <a:avLst/>
          </a:prstGeom>
          <a:solidFill>
            <a:srgbClr val="D9D9D9"/>
          </a:solidFill>
        </p:spPr>
        <p:txBody>
          <a:bodyPr vert="horz" wrap="square" lIns="0" tIns="43815" rIns="0" bIns="0" rtlCol="0">
            <a:spAutoFit/>
          </a:bodyPr>
          <a:lstStyle/>
          <a:p>
            <a:pPr marL="146050">
              <a:spcBef>
                <a:spcPts val="345"/>
              </a:spcBef>
            </a:pPr>
            <a:r>
              <a:rPr sz="1400" spc="10" dirty="0">
                <a:latin typeface="Trebuchet MS"/>
                <a:cs typeface="Trebuchet MS"/>
              </a:rPr>
              <a:t>hive&gt; </a:t>
            </a:r>
            <a:r>
              <a:rPr sz="1400" spc="25" dirty="0">
                <a:latin typeface="Trebuchet MS"/>
                <a:cs typeface="Trebuchet MS"/>
              </a:rPr>
              <a:t>CREATE </a:t>
            </a:r>
            <a:r>
              <a:rPr sz="1400" spc="40" dirty="0">
                <a:latin typeface="Trebuchet MS"/>
                <a:cs typeface="Trebuchet MS"/>
              </a:rPr>
              <a:t>EXTERNAL </a:t>
            </a:r>
            <a:r>
              <a:rPr sz="1400" spc="25" dirty="0">
                <a:latin typeface="Trebuchet MS"/>
                <a:cs typeface="Trebuchet MS"/>
              </a:rPr>
              <a:t>TABLE </a:t>
            </a:r>
            <a:r>
              <a:rPr sz="1400" spc="-15" dirty="0">
                <a:latin typeface="Trebuchet MS"/>
                <a:cs typeface="Trebuchet MS"/>
              </a:rPr>
              <a:t>invites </a:t>
            </a:r>
            <a:r>
              <a:rPr sz="1400" spc="30" dirty="0">
                <a:latin typeface="Trebuchet MS"/>
                <a:cs typeface="Trebuchet MS"/>
              </a:rPr>
              <a:t>(foo </a:t>
            </a:r>
            <a:r>
              <a:rPr sz="1400" spc="-10" dirty="0">
                <a:latin typeface="Trebuchet MS"/>
                <a:cs typeface="Trebuchet MS"/>
              </a:rPr>
              <a:t>INT, </a:t>
            </a:r>
            <a:r>
              <a:rPr sz="1400" spc="15" dirty="0">
                <a:latin typeface="Trebuchet MS"/>
                <a:cs typeface="Trebuchet MS"/>
              </a:rPr>
              <a:t>bar </a:t>
            </a:r>
            <a:r>
              <a:rPr sz="1400" spc="50" dirty="0">
                <a:latin typeface="Trebuchet MS"/>
                <a:cs typeface="Trebuchet MS"/>
              </a:rPr>
              <a:t>STRING) PARTITIONED </a:t>
            </a:r>
            <a:r>
              <a:rPr sz="1400" spc="15" dirty="0">
                <a:latin typeface="Trebuchet MS"/>
                <a:cs typeface="Trebuchet MS"/>
              </a:rPr>
              <a:t>BY </a:t>
            </a:r>
            <a:r>
              <a:rPr sz="1400" spc="30" dirty="0">
                <a:latin typeface="Trebuchet MS"/>
                <a:cs typeface="Trebuchet MS"/>
              </a:rPr>
              <a:t>(ds</a:t>
            </a:r>
            <a:r>
              <a:rPr sz="1400" spc="-125" dirty="0">
                <a:latin typeface="Trebuchet MS"/>
                <a:cs typeface="Trebuchet MS"/>
              </a:rPr>
              <a:t> </a:t>
            </a:r>
            <a:r>
              <a:rPr sz="1400" spc="20" dirty="0">
                <a:latin typeface="Trebuchet MS"/>
                <a:cs typeface="Trebuchet MS"/>
              </a:rPr>
              <a:t>STRING</a:t>
            </a:r>
            <a:r>
              <a:rPr sz="1400" spc="20" dirty="0" smtClean="0">
                <a:latin typeface="Trebuchet MS"/>
                <a:cs typeface="Trebuchet MS"/>
              </a:rPr>
              <a:t>)</a:t>
            </a:r>
            <a:r>
              <a:rPr lang="en-US" sz="1400" spc="20" dirty="0" smtClean="0">
                <a:latin typeface="Trebuchet MS"/>
                <a:cs typeface="Trebuchet MS"/>
              </a:rPr>
              <a:t> </a:t>
            </a:r>
            <a:r>
              <a:rPr lang="en-US" sz="1400" spc="25" dirty="0">
                <a:latin typeface="Trebuchet MS"/>
                <a:cs typeface="Trebuchet MS"/>
              </a:rPr>
              <a:t>row format delimited fields terminated by ',' stored as </a:t>
            </a:r>
            <a:r>
              <a:rPr lang="en-US" sz="1400" spc="25" dirty="0" err="1">
                <a:latin typeface="Trebuchet MS"/>
                <a:cs typeface="Trebuchet MS"/>
              </a:rPr>
              <a:t>textfile</a:t>
            </a:r>
            <a:r>
              <a:rPr lang="en-US" sz="1400" spc="25" dirty="0" smtClean="0">
                <a:latin typeface="Trebuchet MS"/>
                <a:cs typeface="Trebuchet MS"/>
              </a:rPr>
              <a:t>;</a:t>
            </a:r>
            <a:endParaRPr lang="en-US" sz="1400" dirty="0">
              <a:latin typeface="Trebuchet MS"/>
              <a:cs typeface="Trebuchet MS"/>
            </a:endParaRPr>
          </a:p>
        </p:txBody>
      </p:sp>
      <p:sp>
        <p:nvSpPr>
          <p:cNvPr id="9" name="object 9"/>
          <p:cNvSpPr txBox="1"/>
          <p:nvPr/>
        </p:nvSpPr>
        <p:spPr>
          <a:xfrm>
            <a:off x="1403350" y="3563493"/>
            <a:ext cx="2270760" cy="307975"/>
          </a:xfrm>
          <a:prstGeom prst="rect">
            <a:avLst/>
          </a:prstGeom>
          <a:solidFill>
            <a:srgbClr val="D9D9D9"/>
          </a:solidFill>
        </p:spPr>
        <p:txBody>
          <a:bodyPr vert="horz" wrap="square" lIns="0" tIns="44450" rIns="0" bIns="0" rtlCol="0">
            <a:spAutoFit/>
          </a:bodyPr>
          <a:lstStyle/>
          <a:p>
            <a:pPr marL="91440">
              <a:lnSpc>
                <a:spcPct val="100000"/>
              </a:lnSpc>
              <a:spcBef>
                <a:spcPts val="350"/>
              </a:spcBef>
            </a:pPr>
            <a:r>
              <a:rPr sz="1400" spc="10" dirty="0">
                <a:latin typeface="Trebuchet MS"/>
                <a:cs typeface="Trebuchet MS"/>
              </a:rPr>
              <a:t>hive&gt; </a:t>
            </a:r>
            <a:r>
              <a:rPr sz="1400" spc="130" dirty="0">
                <a:latin typeface="Trebuchet MS"/>
                <a:cs typeface="Trebuchet MS"/>
              </a:rPr>
              <a:t>SHOW</a:t>
            </a:r>
            <a:r>
              <a:rPr sz="1400" spc="20" dirty="0">
                <a:latin typeface="Trebuchet MS"/>
                <a:cs typeface="Trebuchet MS"/>
              </a:rPr>
              <a:t> </a:t>
            </a:r>
            <a:r>
              <a:rPr sz="1400" dirty="0">
                <a:latin typeface="Trebuchet MS"/>
                <a:cs typeface="Trebuchet MS"/>
              </a:rPr>
              <a:t>TABLES;</a:t>
            </a:r>
          </a:p>
        </p:txBody>
      </p:sp>
      <p:sp>
        <p:nvSpPr>
          <p:cNvPr id="10" name="object 10"/>
          <p:cNvSpPr txBox="1"/>
          <p:nvPr/>
        </p:nvSpPr>
        <p:spPr>
          <a:xfrm>
            <a:off x="1403350" y="4288917"/>
            <a:ext cx="3272154" cy="307975"/>
          </a:xfrm>
          <a:prstGeom prst="rect">
            <a:avLst/>
          </a:prstGeom>
          <a:solidFill>
            <a:srgbClr val="D9D9D9"/>
          </a:solidFill>
        </p:spPr>
        <p:txBody>
          <a:bodyPr vert="horz" wrap="square" lIns="0" tIns="43815" rIns="0" bIns="0" rtlCol="0">
            <a:spAutoFit/>
          </a:bodyPr>
          <a:lstStyle/>
          <a:p>
            <a:pPr marL="91440">
              <a:lnSpc>
                <a:spcPct val="100000"/>
              </a:lnSpc>
              <a:spcBef>
                <a:spcPts val="345"/>
              </a:spcBef>
            </a:pPr>
            <a:r>
              <a:rPr sz="1400" spc="10" dirty="0">
                <a:latin typeface="Trebuchet MS"/>
                <a:cs typeface="Trebuchet MS"/>
              </a:rPr>
              <a:t>hive&gt; </a:t>
            </a:r>
            <a:r>
              <a:rPr sz="1400" spc="40" dirty="0">
                <a:latin typeface="Trebuchet MS"/>
                <a:cs typeface="Trebuchet MS"/>
              </a:rPr>
              <a:t>DESCRIBE</a:t>
            </a:r>
            <a:r>
              <a:rPr sz="1400" spc="5" dirty="0">
                <a:latin typeface="Trebuchet MS"/>
                <a:cs typeface="Trebuchet MS"/>
              </a:rPr>
              <a:t> </a:t>
            </a:r>
            <a:r>
              <a:rPr sz="1400" spc="-35" dirty="0">
                <a:latin typeface="Trebuchet MS"/>
                <a:cs typeface="Trebuchet MS"/>
              </a:rPr>
              <a:t>invites;</a:t>
            </a:r>
            <a:endParaRPr sz="1400" dirty="0">
              <a:latin typeface="Trebuchet MS"/>
              <a:cs typeface="Trebuchet MS"/>
            </a:endParaRPr>
          </a:p>
        </p:txBody>
      </p:sp>
      <p:sp>
        <p:nvSpPr>
          <p:cNvPr id="11" name="object 11"/>
          <p:cNvSpPr txBox="1"/>
          <p:nvPr/>
        </p:nvSpPr>
        <p:spPr>
          <a:xfrm>
            <a:off x="1403350" y="5105400"/>
            <a:ext cx="10255250" cy="691215"/>
          </a:xfrm>
          <a:prstGeom prst="rect">
            <a:avLst/>
          </a:prstGeom>
          <a:solidFill>
            <a:srgbClr val="D9D9D9"/>
          </a:solidFill>
        </p:spPr>
        <p:txBody>
          <a:bodyPr vert="horz" wrap="square" lIns="0" tIns="44450" rIns="0" bIns="0" rtlCol="0">
            <a:spAutoFit/>
          </a:bodyPr>
          <a:lstStyle/>
          <a:p>
            <a:pPr marL="91440">
              <a:lnSpc>
                <a:spcPct val="100000"/>
              </a:lnSpc>
              <a:spcBef>
                <a:spcPts val="350"/>
              </a:spcBef>
            </a:pPr>
            <a:r>
              <a:rPr sz="1400" spc="10" dirty="0">
                <a:latin typeface="Trebuchet MS"/>
                <a:cs typeface="Trebuchet MS"/>
              </a:rPr>
              <a:t>hive&gt; </a:t>
            </a:r>
            <a:r>
              <a:rPr sz="1400" spc="25" dirty="0">
                <a:latin typeface="Trebuchet MS"/>
                <a:cs typeface="Trebuchet MS"/>
              </a:rPr>
              <a:t>ALTER TABLE </a:t>
            </a:r>
            <a:r>
              <a:rPr sz="1400" spc="-5" dirty="0">
                <a:latin typeface="Trebuchet MS"/>
                <a:cs typeface="Trebuchet MS"/>
              </a:rPr>
              <a:t>events </a:t>
            </a:r>
            <a:r>
              <a:rPr sz="1400" spc="105" dirty="0">
                <a:latin typeface="Trebuchet MS"/>
                <a:cs typeface="Trebuchet MS"/>
              </a:rPr>
              <a:t>RENAME </a:t>
            </a:r>
            <a:r>
              <a:rPr sz="1400" spc="65" dirty="0">
                <a:latin typeface="Trebuchet MS"/>
                <a:cs typeface="Trebuchet MS"/>
              </a:rPr>
              <a:t>TO</a:t>
            </a:r>
            <a:r>
              <a:rPr sz="1400" spc="-190" dirty="0">
                <a:latin typeface="Trebuchet MS"/>
                <a:cs typeface="Trebuchet MS"/>
              </a:rPr>
              <a:t> </a:t>
            </a:r>
            <a:r>
              <a:rPr lang="en-US" sz="1400" spc="-5" dirty="0" smtClean="0">
                <a:latin typeface="Trebuchet MS"/>
                <a:cs typeface="Trebuchet MS"/>
              </a:rPr>
              <a:t>workshops</a:t>
            </a:r>
            <a:r>
              <a:rPr sz="1400" spc="-5" dirty="0" smtClean="0">
                <a:latin typeface="Trebuchet MS"/>
                <a:cs typeface="Trebuchet MS"/>
              </a:rPr>
              <a:t>;</a:t>
            </a:r>
            <a:endParaRPr sz="1400" dirty="0">
              <a:latin typeface="Trebuchet MS"/>
              <a:cs typeface="Trebuchet MS"/>
            </a:endParaRPr>
          </a:p>
          <a:p>
            <a:pPr marL="91440">
              <a:lnSpc>
                <a:spcPct val="100000"/>
              </a:lnSpc>
              <a:spcBef>
                <a:spcPts val="5"/>
              </a:spcBef>
            </a:pPr>
            <a:r>
              <a:rPr sz="1400" spc="10" dirty="0">
                <a:latin typeface="Trebuchet MS"/>
                <a:cs typeface="Trebuchet MS"/>
              </a:rPr>
              <a:t>hive&gt; </a:t>
            </a:r>
            <a:r>
              <a:rPr sz="1400" spc="25" dirty="0">
                <a:latin typeface="Trebuchet MS"/>
                <a:cs typeface="Trebuchet MS"/>
              </a:rPr>
              <a:t>ALTER TABLE </a:t>
            </a:r>
            <a:r>
              <a:rPr sz="1400" spc="20" dirty="0">
                <a:latin typeface="Trebuchet MS"/>
                <a:cs typeface="Trebuchet MS"/>
              </a:rPr>
              <a:t>pokes </a:t>
            </a:r>
            <a:r>
              <a:rPr sz="1400" spc="135" dirty="0">
                <a:latin typeface="Trebuchet MS"/>
                <a:cs typeface="Trebuchet MS"/>
              </a:rPr>
              <a:t>ADD </a:t>
            </a:r>
            <a:r>
              <a:rPr sz="1400" spc="114" dirty="0">
                <a:latin typeface="Trebuchet MS"/>
                <a:cs typeface="Trebuchet MS"/>
              </a:rPr>
              <a:t>COLUMNS</a:t>
            </a:r>
            <a:r>
              <a:rPr sz="1400" spc="-225" dirty="0">
                <a:latin typeface="Trebuchet MS"/>
                <a:cs typeface="Trebuchet MS"/>
              </a:rPr>
              <a:t> </a:t>
            </a:r>
            <a:r>
              <a:rPr sz="1400" dirty="0">
                <a:latin typeface="Trebuchet MS"/>
                <a:cs typeface="Trebuchet MS"/>
              </a:rPr>
              <a:t>(new_col </a:t>
            </a:r>
            <a:r>
              <a:rPr sz="1400" spc="5" dirty="0">
                <a:latin typeface="Trebuchet MS"/>
                <a:cs typeface="Trebuchet MS"/>
              </a:rPr>
              <a:t>INT</a:t>
            </a:r>
            <a:r>
              <a:rPr sz="1400" spc="5" dirty="0" smtClean="0">
                <a:latin typeface="Trebuchet MS"/>
                <a:cs typeface="Trebuchet MS"/>
              </a:rPr>
              <a:t>);</a:t>
            </a:r>
            <a:endParaRPr lang="en-US" sz="1400" spc="5" dirty="0" smtClean="0">
              <a:latin typeface="Trebuchet MS"/>
              <a:cs typeface="Trebuchet MS"/>
            </a:endParaRPr>
          </a:p>
          <a:p>
            <a:pPr marL="91440">
              <a:lnSpc>
                <a:spcPct val="100000"/>
              </a:lnSpc>
              <a:spcBef>
                <a:spcPts val="5"/>
              </a:spcBef>
            </a:pPr>
            <a:r>
              <a:rPr lang="en-US" sz="1400" spc="10" dirty="0">
                <a:latin typeface="Trebuchet MS"/>
                <a:cs typeface="Trebuchet MS"/>
              </a:rPr>
              <a:t>hive&gt; </a:t>
            </a:r>
            <a:r>
              <a:rPr lang="en-US" sz="1400" dirty="0" smtClean="0">
                <a:latin typeface="Trebuchet MS"/>
                <a:cs typeface="Trebuchet MS"/>
              </a:rPr>
              <a:t>ALTER </a:t>
            </a:r>
            <a:r>
              <a:rPr lang="en-US" sz="1400" dirty="0">
                <a:latin typeface="Trebuchet MS"/>
                <a:cs typeface="Trebuchet MS"/>
              </a:rPr>
              <a:t>TABLE pokes REPLACE COLUMNs (foo INT</a:t>
            </a:r>
            <a:r>
              <a:rPr lang="en-US" sz="1400" dirty="0" smtClean="0">
                <a:latin typeface="Trebuchet MS"/>
                <a:cs typeface="Trebuchet MS"/>
              </a:rPr>
              <a:t>, bar </a:t>
            </a:r>
            <a:r>
              <a:rPr lang="en-US" sz="1400" dirty="0">
                <a:latin typeface="Trebuchet MS"/>
                <a:cs typeface="Trebuchet MS"/>
              </a:rPr>
              <a:t>STRING</a:t>
            </a:r>
            <a:r>
              <a:rPr lang="en-US" sz="1400" dirty="0" smtClean="0">
                <a:latin typeface="Trebuchet MS"/>
                <a:cs typeface="Trebuchet MS"/>
              </a:rPr>
              <a:t>);  -- This will drop the column </a:t>
            </a:r>
            <a:r>
              <a:rPr lang="en-US" sz="1400" dirty="0" err="1" smtClean="0">
                <a:latin typeface="Trebuchet MS"/>
                <a:cs typeface="Trebuchet MS"/>
              </a:rPr>
              <a:t>new_col</a:t>
            </a:r>
            <a:endParaRPr sz="1400" dirty="0">
              <a:latin typeface="Trebuchet MS"/>
              <a:cs typeface="Trebuchet MS"/>
            </a:endParaRPr>
          </a:p>
        </p:txBody>
      </p:sp>
      <p:sp>
        <p:nvSpPr>
          <p:cNvPr id="12" name="object 7"/>
          <p:cNvSpPr txBox="1"/>
          <p:nvPr/>
        </p:nvSpPr>
        <p:spPr>
          <a:xfrm>
            <a:off x="1371600" y="2293522"/>
            <a:ext cx="9525000" cy="259686"/>
          </a:xfrm>
          <a:prstGeom prst="rect">
            <a:avLst/>
          </a:prstGeom>
          <a:solidFill>
            <a:srgbClr val="D9D9D9"/>
          </a:solidFill>
        </p:spPr>
        <p:txBody>
          <a:bodyPr vert="horz" wrap="square" lIns="0" tIns="43815" rIns="0" bIns="0" rtlCol="0">
            <a:spAutoFit/>
          </a:bodyPr>
          <a:lstStyle/>
          <a:p>
            <a:pPr marL="91440">
              <a:spcBef>
                <a:spcPts val="345"/>
              </a:spcBef>
            </a:pPr>
            <a:r>
              <a:rPr sz="1400" spc="10" dirty="0">
                <a:latin typeface="Trebuchet MS"/>
                <a:cs typeface="Trebuchet MS"/>
              </a:rPr>
              <a:t>hive&gt; </a:t>
            </a:r>
            <a:r>
              <a:rPr sz="1400" spc="25" dirty="0">
                <a:latin typeface="Trebuchet MS"/>
                <a:cs typeface="Trebuchet MS"/>
              </a:rPr>
              <a:t>CREATE TABLE </a:t>
            </a:r>
            <a:r>
              <a:rPr lang="en-US" sz="1400" spc="20" dirty="0" smtClean="0">
                <a:latin typeface="Trebuchet MS"/>
                <a:cs typeface="Trebuchet MS"/>
              </a:rPr>
              <a:t>events</a:t>
            </a:r>
            <a:r>
              <a:rPr sz="1400" spc="20" dirty="0" smtClean="0">
                <a:latin typeface="Trebuchet MS"/>
                <a:cs typeface="Trebuchet MS"/>
              </a:rPr>
              <a:t> </a:t>
            </a:r>
            <a:r>
              <a:rPr sz="1400" spc="30" dirty="0" smtClean="0">
                <a:latin typeface="Trebuchet MS"/>
                <a:cs typeface="Trebuchet MS"/>
              </a:rPr>
              <a:t>(</a:t>
            </a:r>
            <a:r>
              <a:rPr lang="en-US" sz="1400" spc="30" dirty="0" smtClean="0">
                <a:latin typeface="Trebuchet MS"/>
                <a:cs typeface="Trebuchet MS"/>
              </a:rPr>
              <a:t>id</a:t>
            </a:r>
            <a:r>
              <a:rPr sz="1400" spc="30" dirty="0" smtClean="0">
                <a:latin typeface="Trebuchet MS"/>
                <a:cs typeface="Trebuchet MS"/>
              </a:rPr>
              <a:t> </a:t>
            </a:r>
            <a:r>
              <a:rPr sz="1400" spc="-10" dirty="0">
                <a:latin typeface="Trebuchet MS"/>
                <a:cs typeface="Trebuchet MS"/>
              </a:rPr>
              <a:t>INT, </a:t>
            </a:r>
            <a:r>
              <a:rPr lang="en-US" sz="1400" spc="15" dirty="0" smtClean="0">
                <a:latin typeface="Trebuchet MS"/>
                <a:cs typeface="Trebuchet MS"/>
              </a:rPr>
              <a:t>name</a:t>
            </a:r>
            <a:r>
              <a:rPr sz="1400" spc="-75" dirty="0" smtClean="0">
                <a:latin typeface="Trebuchet MS"/>
                <a:cs typeface="Trebuchet MS"/>
              </a:rPr>
              <a:t> </a:t>
            </a:r>
            <a:r>
              <a:rPr sz="1400" spc="20" dirty="0">
                <a:latin typeface="Trebuchet MS"/>
                <a:cs typeface="Trebuchet MS"/>
              </a:rPr>
              <a:t>STRING</a:t>
            </a:r>
            <a:r>
              <a:rPr sz="1400" spc="20" dirty="0" smtClean="0">
                <a:latin typeface="Trebuchet MS"/>
                <a:cs typeface="Trebuchet MS"/>
              </a:rPr>
              <a:t>)</a:t>
            </a:r>
            <a:r>
              <a:rPr lang="en-US" sz="1400" spc="20" dirty="0" smtClean="0">
                <a:latin typeface="Trebuchet MS"/>
                <a:cs typeface="Trebuchet MS"/>
              </a:rPr>
              <a:t> </a:t>
            </a:r>
            <a:r>
              <a:rPr lang="en-US" sz="1400" spc="25" dirty="0">
                <a:latin typeface="Trebuchet MS"/>
                <a:cs typeface="Trebuchet MS"/>
              </a:rPr>
              <a:t>row format delimited fields terminated by ',' stored as </a:t>
            </a:r>
            <a:r>
              <a:rPr lang="en-US" sz="1400" spc="25" dirty="0" err="1">
                <a:latin typeface="Trebuchet MS"/>
                <a:cs typeface="Trebuchet MS"/>
              </a:rPr>
              <a:t>textfile</a:t>
            </a:r>
            <a:r>
              <a:rPr lang="en-US" sz="1400" spc="25" dirty="0" smtClean="0">
                <a:latin typeface="Trebuchet MS"/>
                <a:cs typeface="Trebuchet MS"/>
              </a:rPr>
              <a:t>;</a:t>
            </a:r>
            <a:endParaRPr lang="en-US" sz="1400" dirty="0">
              <a:latin typeface="Trebuchet MS"/>
              <a:cs typeface="Trebuchet MS"/>
            </a:endParaRPr>
          </a:p>
        </p:txBody>
      </p:sp>
      <p:sp>
        <p:nvSpPr>
          <p:cNvPr id="13" name="Rectangle 12"/>
          <p:cNvSpPr/>
          <p:nvPr/>
        </p:nvSpPr>
        <p:spPr>
          <a:xfrm>
            <a:off x="1090823" y="5867400"/>
            <a:ext cx="1887696" cy="369332"/>
          </a:xfrm>
          <a:prstGeom prst="rect">
            <a:avLst/>
          </a:prstGeom>
        </p:spPr>
        <p:txBody>
          <a:bodyPr wrap="none">
            <a:spAutoFit/>
          </a:bodyPr>
          <a:lstStyle/>
          <a:p>
            <a:pPr marL="12700">
              <a:lnSpc>
                <a:spcPct val="100000"/>
              </a:lnSpc>
              <a:spcBef>
                <a:spcPts val="95"/>
              </a:spcBef>
            </a:pPr>
            <a:r>
              <a:rPr lang="en-US" b="1" spc="35" dirty="0">
                <a:latin typeface="Trebuchet MS"/>
                <a:cs typeface="Trebuchet MS"/>
              </a:rPr>
              <a:t>-- </a:t>
            </a:r>
            <a:r>
              <a:rPr lang="en-US" b="1" spc="70" dirty="0" smtClean="0">
                <a:latin typeface="Trebuchet MS"/>
                <a:cs typeface="Trebuchet MS"/>
              </a:rPr>
              <a:t>Drop </a:t>
            </a:r>
            <a:r>
              <a:rPr lang="en-US" b="1" spc="70" dirty="0">
                <a:latin typeface="Trebuchet MS"/>
                <a:cs typeface="Trebuchet MS"/>
              </a:rPr>
              <a:t>a</a:t>
            </a:r>
            <a:r>
              <a:rPr lang="en-US" b="1" spc="-135" dirty="0">
                <a:latin typeface="Trebuchet MS"/>
                <a:cs typeface="Trebuchet MS"/>
              </a:rPr>
              <a:t> </a:t>
            </a:r>
            <a:r>
              <a:rPr lang="en-US" b="1" spc="-10" dirty="0">
                <a:latin typeface="Trebuchet MS"/>
                <a:cs typeface="Trebuchet MS"/>
              </a:rPr>
              <a:t>table:</a:t>
            </a:r>
            <a:endParaRPr lang="en-US" dirty="0">
              <a:latin typeface="Trebuchet MS"/>
              <a:cs typeface="Trebuchet MS"/>
            </a:endParaRPr>
          </a:p>
        </p:txBody>
      </p:sp>
      <p:sp>
        <p:nvSpPr>
          <p:cNvPr id="14" name="object 10"/>
          <p:cNvSpPr txBox="1"/>
          <p:nvPr/>
        </p:nvSpPr>
        <p:spPr>
          <a:xfrm>
            <a:off x="1371600" y="6245225"/>
            <a:ext cx="3272154" cy="259686"/>
          </a:xfrm>
          <a:prstGeom prst="rect">
            <a:avLst/>
          </a:prstGeom>
          <a:solidFill>
            <a:srgbClr val="D9D9D9"/>
          </a:solidFill>
        </p:spPr>
        <p:txBody>
          <a:bodyPr vert="horz" wrap="square" lIns="0" tIns="43815" rIns="0" bIns="0" rtlCol="0">
            <a:spAutoFit/>
          </a:bodyPr>
          <a:lstStyle/>
          <a:p>
            <a:pPr marL="91440">
              <a:lnSpc>
                <a:spcPct val="100000"/>
              </a:lnSpc>
              <a:spcBef>
                <a:spcPts val="345"/>
              </a:spcBef>
            </a:pPr>
            <a:r>
              <a:rPr sz="1400" spc="10" dirty="0">
                <a:latin typeface="Trebuchet MS"/>
                <a:cs typeface="Trebuchet MS"/>
              </a:rPr>
              <a:t>hive&gt; </a:t>
            </a:r>
            <a:r>
              <a:rPr lang="en-US" sz="1400" spc="40" dirty="0">
                <a:latin typeface="Trebuchet MS"/>
                <a:cs typeface="Trebuchet MS"/>
              </a:rPr>
              <a:t>drop table invites;</a:t>
            </a:r>
            <a:endParaRPr sz="1400" dirty="0">
              <a:latin typeface="Trebuchet MS"/>
              <a:cs typeface="Trebuchet MS"/>
            </a:endParaRP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819808" y="720641"/>
            <a:ext cx="5834076" cy="567463"/>
          </a:xfrm>
          <a:prstGeom prst="rect">
            <a:avLst/>
          </a:prstGeom>
        </p:spPr>
        <p:txBody>
          <a:bodyPr vert="horz" wrap="square" lIns="0" tIns="13335" rIns="0" bIns="0" rtlCol="0">
            <a:spAutoFit/>
          </a:bodyPr>
          <a:lstStyle/>
          <a:p>
            <a:pPr marL="12700">
              <a:lnSpc>
                <a:spcPct val="100000"/>
              </a:lnSpc>
              <a:spcBef>
                <a:spcPts val="105"/>
              </a:spcBef>
            </a:pPr>
            <a:r>
              <a:rPr spc="355" dirty="0"/>
              <a:t>DML</a:t>
            </a:r>
            <a:r>
              <a:rPr spc="-50" dirty="0"/>
              <a:t> </a:t>
            </a:r>
            <a:r>
              <a:rPr spc="45" dirty="0"/>
              <a:t>Operations</a:t>
            </a:r>
          </a:p>
        </p:txBody>
      </p:sp>
      <p:sp>
        <p:nvSpPr>
          <p:cNvPr id="3" name="object 3"/>
          <p:cNvSpPr txBox="1"/>
          <p:nvPr/>
        </p:nvSpPr>
        <p:spPr>
          <a:xfrm>
            <a:off x="977595" y="1712594"/>
            <a:ext cx="2294890" cy="269240"/>
          </a:xfrm>
          <a:prstGeom prst="rect">
            <a:avLst/>
          </a:prstGeom>
        </p:spPr>
        <p:txBody>
          <a:bodyPr vert="horz" wrap="square" lIns="0" tIns="12065" rIns="0" bIns="0" rtlCol="0">
            <a:spAutoFit/>
          </a:bodyPr>
          <a:lstStyle/>
          <a:p>
            <a:pPr marL="12700">
              <a:lnSpc>
                <a:spcPct val="100000"/>
              </a:lnSpc>
              <a:spcBef>
                <a:spcPts val="95"/>
              </a:spcBef>
            </a:pPr>
            <a:r>
              <a:rPr sz="1600" b="1" spc="35" dirty="0">
                <a:latin typeface="Trebuchet MS"/>
                <a:cs typeface="Trebuchet MS"/>
              </a:rPr>
              <a:t>-- </a:t>
            </a:r>
            <a:r>
              <a:rPr sz="1600" b="1" spc="25" dirty="0">
                <a:latin typeface="Trebuchet MS"/>
                <a:cs typeface="Trebuchet MS"/>
              </a:rPr>
              <a:t>Load </a:t>
            </a:r>
            <a:r>
              <a:rPr sz="1600" b="1" spc="50" dirty="0">
                <a:latin typeface="Trebuchet MS"/>
                <a:cs typeface="Trebuchet MS"/>
              </a:rPr>
              <a:t>data </a:t>
            </a:r>
            <a:r>
              <a:rPr sz="1600" b="1" spc="30" dirty="0">
                <a:latin typeface="Trebuchet MS"/>
                <a:cs typeface="Trebuchet MS"/>
              </a:rPr>
              <a:t>to </a:t>
            </a:r>
            <a:r>
              <a:rPr sz="1600" b="1" spc="70" dirty="0">
                <a:latin typeface="Trebuchet MS"/>
                <a:cs typeface="Trebuchet MS"/>
              </a:rPr>
              <a:t>a</a:t>
            </a:r>
            <a:r>
              <a:rPr sz="1600" b="1" spc="-85" dirty="0">
                <a:latin typeface="Trebuchet MS"/>
                <a:cs typeface="Trebuchet MS"/>
              </a:rPr>
              <a:t> </a:t>
            </a:r>
            <a:r>
              <a:rPr sz="1600" b="1" spc="-10" dirty="0">
                <a:latin typeface="Trebuchet MS"/>
                <a:cs typeface="Trebuchet MS"/>
              </a:rPr>
              <a:t>table:</a:t>
            </a:r>
            <a:endParaRPr sz="1600">
              <a:latin typeface="Trebuchet MS"/>
              <a:cs typeface="Trebuchet MS"/>
            </a:endParaRPr>
          </a:p>
        </p:txBody>
      </p:sp>
      <p:sp>
        <p:nvSpPr>
          <p:cNvPr id="4" name="object 4"/>
          <p:cNvSpPr txBox="1"/>
          <p:nvPr/>
        </p:nvSpPr>
        <p:spPr>
          <a:xfrm>
            <a:off x="1181100" y="5902960"/>
            <a:ext cx="2302510" cy="269240"/>
          </a:xfrm>
          <a:prstGeom prst="rect">
            <a:avLst/>
          </a:prstGeom>
        </p:spPr>
        <p:txBody>
          <a:bodyPr vert="horz" wrap="square" lIns="0" tIns="12065" rIns="0" bIns="0" rtlCol="0">
            <a:spAutoFit/>
          </a:bodyPr>
          <a:lstStyle/>
          <a:p>
            <a:pPr marL="12700">
              <a:lnSpc>
                <a:spcPct val="100000"/>
              </a:lnSpc>
              <a:spcBef>
                <a:spcPts val="95"/>
              </a:spcBef>
            </a:pPr>
            <a:r>
              <a:rPr sz="1600" b="1" spc="35" dirty="0">
                <a:latin typeface="Trebuchet MS"/>
                <a:cs typeface="Trebuchet MS"/>
              </a:rPr>
              <a:t>-- </a:t>
            </a:r>
            <a:r>
              <a:rPr sz="1600" b="1" dirty="0">
                <a:latin typeface="Trebuchet MS"/>
                <a:cs typeface="Trebuchet MS"/>
              </a:rPr>
              <a:t>Export </a:t>
            </a:r>
            <a:r>
              <a:rPr sz="1600" b="1" spc="50" dirty="0">
                <a:latin typeface="Trebuchet MS"/>
                <a:cs typeface="Trebuchet MS"/>
              </a:rPr>
              <a:t>data </a:t>
            </a:r>
            <a:r>
              <a:rPr sz="1600" b="1" spc="30" dirty="0">
                <a:latin typeface="Trebuchet MS"/>
                <a:cs typeface="Trebuchet MS"/>
              </a:rPr>
              <a:t>to</a:t>
            </a:r>
            <a:r>
              <a:rPr sz="1600" b="1" spc="-50" dirty="0">
                <a:latin typeface="Trebuchet MS"/>
                <a:cs typeface="Trebuchet MS"/>
              </a:rPr>
              <a:t> </a:t>
            </a:r>
            <a:r>
              <a:rPr sz="1600" b="1" spc="20" dirty="0">
                <a:latin typeface="Trebuchet MS"/>
                <a:cs typeface="Trebuchet MS"/>
              </a:rPr>
              <a:t>HDFS:</a:t>
            </a:r>
            <a:endParaRPr sz="1600" dirty="0">
              <a:latin typeface="Trebuchet MS"/>
              <a:cs typeface="Trebuchet MS"/>
            </a:endParaRPr>
          </a:p>
        </p:txBody>
      </p:sp>
      <p:sp>
        <p:nvSpPr>
          <p:cNvPr id="5" name="object 5"/>
          <p:cNvSpPr txBox="1"/>
          <p:nvPr/>
        </p:nvSpPr>
        <p:spPr>
          <a:xfrm>
            <a:off x="1225295" y="2119756"/>
            <a:ext cx="10235565" cy="259686"/>
          </a:xfrm>
          <a:prstGeom prst="rect">
            <a:avLst/>
          </a:prstGeom>
          <a:solidFill>
            <a:srgbClr val="D9D9D9"/>
          </a:solidFill>
        </p:spPr>
        <p:txBody>
          <a:bodyPr vert="horz" wrap="square" lIns="0" tIns="43815" rIns="0" bIns="0" rtlCol="0">
            <a:spAutoFit/>
          </a:bodyPr>
          <a:lstStyle/>
          <a:p>
            <a:pPr marL="146685">
              <a:lnSpc>
                <a:spcPct val="100000"/>
              </a:lnSpc>
              <a:spcBef>
                <a:spcPts val="345"/>
              </a:spcBef>
            </a:pPr>
            <a:r>
              <a:rPr sz="1400" spc="10" dirty="0">
                <a:latin typeface="Trebuchet MS"/>
                <a:cs typeface="Trebuchet MS"/>
              </a:rPr>
              <a:t>hive&gt;</a:t>
            </a:r>
            <a:r>
              <a:rPr sz="1400" spc="25" dirty="0">
                <a:latin typeface="Trebuchet MS"/>
                <a:cs typeface="Trebuchet MS"/>
              </a:rPr>
              <a:t> </a:t>
            </a:r>
            <a:r>
              <a:rPr lang="en-US" sz="1400" spc="100" dirty="0">
                <a:latin typeface="Trebuchet MS"/>
                <a:cs typeface="Trebuchet MS"/>
              </a:rPr>
              <a:t>LOAD DATA LOCAL INPATH  '/home/</a:t>
            </a:r>
            <a:r>
              <a:rPr lang="en-US" sz="1400" spc="100" dirty="0" err="1">
                <a:latin typeface="Trebuchet MS"/>
                <a:cs typeface="Trebuchet MS"/>
              </a:rPr>
              <a:t>bigdata</a:t>
            </a:r>
            <a:r>
              <a:rPr lang="en-US" sz="1400" spc="100" dirty="0">
                <a:latin typeface="Trebuchet MS"/>
                <a:cs typeface="Trebuchet MS"/>
              </a:rPr>
              <a:t>/Desktop/pokes.txt' OVERWRITE INTO TABLE pokes;</a:t>
            </a:r>
            <a:endParaRPr sz="1400" dirty="0">
              <a:latin typeface="Trebuchet MS"/>
              <a:cs typeface="Trebuchet MS"/>
            </a:endParaRPr>
          </a:p>
        </p:txBody>
      </p:sp>
      <p:sp>
        <p:nvSpPr>
          <p:cNvPr id="6" name="object 6"/>
          <p:cNvSpPr txBox="1"/>
          <p:nvPr/>
        </p:nvSpPr>
        <p:spPr>
          <a:xfrm>
            <a:off x="1243810" y="2514600"/>
            <a:ext cx="10241660" cy="474489"/>
          </a:xfrm>
          <a:prstGeom prst="rect">
            <a:avLst/>
          </a:prstGeom>
          <a:solidFill>
            <a:srgbClr val="D9D9D9"/>
          </a:solidFill>
        </p:spPr>
        <p:txBody>
          <a:bodyPr vert="horz" wrap="square" lIns="0" tIns="43180" rIns="0" bIns="0" rtlCol="0">
            <a:spAutoFit/>
          </a:bodyPr>
          <a:lstStyle/>
          <a:p>
            <a:pPr marL="92075">
              <a:lnSpc>
                <a:spcPct val="100000"/>
              </a:lnSpc>
              <a:spcBef>
                <a:spcPts val="340"/>
              </a:spcBef>
            </a:pPr>
            <a:r>
              <a:rPr sz="1400" spc="10" dirty="0">
                <a:latin typeface="Trebuchet MS"/>
                <a:cs typeface="Trebuchet MS"/>
              </a:rPr>
              <a:t>hive&gt; </a:t>
            </a:r>
            <a:r>
              <a:rPr lang="en-US" sz="1400" spc="100" dirty="0">
                <a:latin typeface="Trebuchet MS"/>
                <a:cs typeface="Trebuchet MS"/>
              </a:rPr>
              <a:t>LOAD DATA LOCAL INPATH '/home/</a:t>
            </a:r>
            <a:r>
              <a:rPr lang="en-US" sz="1400" spc="100" dirty="0" err="1">
                <a:latin typeface="Trebuchet MS"/>
                <a:cs typeface="Trebuchet MS"/>
              </a:rPr>
              <a:t>bigdata</a:t>
            </a:r>
            <a:r>
              <a:rPr lang="en-US" sz="1400" spc="100" dirty="0">
                <a:latin typeface="Trebuchet MS"/>
                <a:cs typeface="Trebuchet MS"/>
              </a:rPr>
              <a:t>/Desktop/invites.txt' OVERWRITE INTO TABLE invites PARTITION (ds</a:t>
            </a:r>
            <a:r>
              <a:rPr lang="en-US" sz="1400" spc="100" dirty="0" smtClean="0">
                <a:latin typeface="Trebuchet MS"/>
                <a:cs typeface="Trebuchet MS"/>
              </a:rPr>
              <a:t>=‘First</a:t>
            </a:r>
            <a:r>
              <a:rPr lang="en-US" sz="1400" spc="100" dirty="0">
                <a:latin typeface="Trebuchet MS"/>
                <a:cs typeface="Trebuchet MS"/>
              </a:rPr>
              <a:t>');</a:t>
            </a:r>
          </a:p>
        </p:txBody>
      </p:sp>
      <p:sp>
        <p:nvSpPr>
          <p:cNvPr id="7" name="object 7"/>
          <p:cNvSpPr txBox="1"/>
          <p:nvPr/>
        </p:nvSpPr>
        <p:spPr>
          <a:xfrm>
            <a:off x="1229307" y="6390005"/>
            <a:ext cx="3511550" cy="315595"/>
          </a:xfrm>
          <a:prstGeom prst="rect">
            <a:avLst/>
          </a:prstGeom>
          <a:solidFill>
            <a:srgbClr val="D9D9D9"/>
          </a:solidFill>
        </p:spPr>
        <p:txBody>
          <a:bodyPr vert="horz" wrap="square" lIns="0" tIns="43180" rIns="0" bIns="0" rtlCol="0">
            <a:spAutoFit/>
          </a:bodyPr>
          <a:lstStyle/>
          <a:p>
            <a:pPr marL="92075">
              <a:lnSpc>
                <a:spcPct val="100000"/>
              </a:lnSpc>
              <a:spcBef>
                <a:spcPts val="340"/>
              </a:spcBef>
            </a:pPr>
            <a:r>
              <a:rPr sz="1400" spc="35" dirty="0">
                <a:latin typeface="Trebuchet MS"/>
                <a:cs typeface="Trebuchet MS"/>
              </a:rPr>
              <a:t>EXPORT </a:t>
            </a:r>
            <a:r>
              <a:rPr sz="1400" spc="25" dirty="0">
                <a:latin typeface="Trebuchet MS"/>
                <a:cs typeface="Trebuchet MS"/>
              </a:rPr>
              <a:t>TABLE </a:t>
            </a:r>
            <a:r>
              <a:rPr sz="1400" spc="-15" dirty="0">
                <a:latin typeface="Trebuchet MS"/>
                <a:cs typeface="Trebuchet MS"/>
              </a:rPr>
              <a:t>invites </a:t>
            </a:r>
            <a:r>
              <a:rPr sz="1400" spc="65" dirty="0">
                <a:latin typeface="Trebuchet MS"/>
                <a:cs typeface="Trebuchet MS"/>
              </a:rPr>
              <a:t>TO</a:t>
            </a:r>
            <a:r>
              <a:rPr sz="1400" spc="-40" dirty="0">
                <a:latin typeface="Trebuchet MS"/>
                <a:cs typeface="Trebuchet MS"/>
              </a:rPr>
              <a:t> </a:t>
            </a:r>
            <a:r>
              <a:rPr sz="1400" spc="-15" dirty="0">
                <a:latin typeface="Trebuchet MS"/>
                <a:cs typeface="Trebuchet MS"/>
              </a:rPr>
              <a:t>'/department';</a:t>
            </a:r>
            <a:endParaRPr sz="1400" dirty="0">
              <a:latin typeface="Trebuchet MS"/>
              <a:cs typeface="Trebuchet MS"/>
            </a:endParaRPr>
          </a:p>
        </p:txBody>
      </p:sp>
      <p:sp>
        <p:nvSpPr>
          <p:cNvPr id="10" name="object 6"/>
          <p:cNvSpPr txBox="1"/>
          <p:nvPr/>
        </p:nvSpPr>
        <p:spPr>
          <a:xfrm>
            <a:off x="1243810" y="3906892"/>
            <a:ext cx="9442704" cy="1274708"/>
          </a:xfrm>
          <a:prstGeom prst="rect">
            <a:avLst/>
          </a:prstGeom>
          <a:solidFill>
            <a:srgbClr val="D9D9D9"/>
          </a:solidFill>
        </p:spPr>
        <p:txBody>
          <a:bodyPr vert="horz" wrap="square" lIns="0" tIns="43180" rIns="0" bIns="0" rtlCol="0">
            <a:spAutoFit/>
          </a:bodyPr>
          <a:lstStyle/>
          <a:p>
            <a:pPr marL="92075">
              <a:lnSpc>
                <a:spcPct val="100000"/>
              </a:lnSpc>
              <a:spcBef>
                <a:spcPts val="340"/>
              </a:spcBef>
            </a:pPr>
            <a:r>
              <a:rPr sz="1400" spc="10" dirty="0">
                <a:latin typeface="Trebuchet MS"/>
                <a:cs typeface="Trebuchet MS"/>
              </a:rPr>
              <a:t>hive&gt; </a:t>
            </a:r>
            <a:r>
              <a:rPr lang="en-US" sz="1400" spc="100" dirty="0" smtClean="0">
                <a:latin typeface="Trebuchet MS"/>
                <a:cs typeface="Trebuchet MS"/>
              </a:rPr>
              <a:t>insert</a:t>
            </a:r>
            <a:r>
              <a:rPr sz="1400" spc="50" dirty="0" smtClean="0">
                <a:latin typeface="Trebuchet MS"/>
                <a:cs typeface="Trebuchet MS"/>
              </a:rPr>
              <a:t> </a:t>
            </a:r>
            <a:r>
              <a:rPr sz="1400" spc="75" dirty="0">
                <a:latin typeface="Trebuchet MS"/>
                <a:cs typeface="Trebuchet MS"/>
              </a:rPr>
              <a:t>INTO </a:t>
            </a:r>
            <a:r>
              <a:rPr sz="1400" spc="-15" dirty="0" smtClean="0">
                <a:latin typeface="Trebuchet MS"/>
                <a:cs typeface="Trebuchet MS"/>
              </a:rPr>
              <a:t>invites </a:t>
            </a:r>
            <a:r>
              <a:rPr sz="1400" spc="45" dirty="0">
                <a:latin typeface="Trebuchet MS"/>
                <a:cs typeface="Trebuchet MS"/>
              </a:rPr>
              <a:t>PARTITION </a:t>
            </a:r>
            <a:r>
              <a:rPr sz="1400" spc="35" dirty="0">
                <a:latin typeface="Trebuchet MS"/>
                <a:cs typeface="Trebuchet MS"/>
              </a:rPr>
              <a:t>(ds=</a:t>
            </a:r>
            <a:r>
              <a:rPr sz="1400" spc="35" dirty="0" smtClean="0">
                <a:latin typeface="Trebuchet MS"/>
                <a:cs typeface="Trebuchet MS"/>
              </a:rPr>
              <a:t>'</a:t>
            </a:r>
            <a:r>
              <a:rPr lang="en-US" sz="1400" spc="35" dirty="0" smtClean="0">
                <a:latin typeface="Trebuchet MS"/>
                <a:cs typeface="Trebuchet MS"/>
              </a:rPr>
              <a:t>second</a:t>
            </a:r>
            <a:r>
              <a:rPr sz="1400" spc="35" dirty="0" smtClean="0">
                <a:latin typeface="Trebuchet MS"/>
                <a:cs typeface="Trebuchet MS"/>
              </a:rPr>
              <a:t>')</a:t>
            </a:r>
            <a:r>
              <a:rPr lang="en-US" sz="1400" spc="35" dirty="0" smtClean="0">
                <a:latin typeface="Trebuchet MS"/>
                <a:cs typeface="Trebuchet MS"/>
              </a:rPr>
              <a:t> values (6, </a:t>
            </a:r>
            <a:r>
              <a:rPr lang="en-US" sz="1400" spc="-35" dirty="0" smtClean="0">
                <a:latin typeface="Trebuchet MS"/>
                <a:cs typeface="Trebuchet MS"/>
              </a:rPr>
              <a:t>'</a:t>
            </a:r>
            <a:r>
              <a:rPr lang="en-US" sz="1400" spc="-35" dirty="0">
                <a:latin typeface="Trebuchet MS"/>
                <a:cs typeface="Trebuchet MS"/>
              </a:rPr>
              <a:t> </a:t>
            </a:r>
            <a:r>
              <a:rPr lang="en-US" sz="1400" spc="-35" dirty="0" smtClean="0">
                <a:latin typeface="Trebuchet MS"/>
                <a:cs typeface="Trebuchet MS"/>
              </a:rPr>
              <a:t>Luxor'</a:t>
            </a:r>
            <a:r>
              <a:rPr lang="en-US" sz="1400" spc="35" dirty="0" smtClean="0">
                <a:latin typeface="Trebuchet MS"/>
                <a:cs typeface="Trebuchet MS"/>
              </a:rPr>
              <a:t>)</a:t>
            </a:r>
            <a:r>
              <a:rPr sz="1400" spc="35" dirty="0" smtClean="0">
                <a:latin typeface="Trebuchet MS"/>
                <a:cs typeface="Trebuchet MS"/>
              </a:rPr>
              <a:t>;</a:t>
            </a:r>
            <a:endParaRPr lang="en-US" sz="1400" spc="35" dirty="0" smtClean="0">
              <a:latin typeface="Trebuchet MS"/>
              <a:cs typeface="Trebuchet MS"/>
            </a:endParaRPr>
          </a:p>
          <a:p>
            <a:pPr marL="92075">
              <a:spcBef>
                <a:spcPts val="340"/>
              </a:spcBef>
            </a:pPr>
            <a:r>
              <a:rPr lang="en-US" sz="1400" spc="100" dirty="0">
                <a:latin typeface="Trebuchet MS"/>
                <a:cs typeface="Trebuchet MS"/>
              </a:rPr>
              <a:t>insert</a:t>
            </a:r>
            <a:r>
              <a:rPr lang="en-US" sz="1400" spc="50" dirty="0">
                <a:latin typeface="Trebuchet MS"/>
                <a:cs typeface="Trebuchet MS"/>
              </a:rPr>
              <a:t> </a:t>
            </a:r>
            <a:r>
              <a:rPr lang="en-US" sz="1400" spc="75" dirty="0">
                <a:latin typeface="Trebuchet MS"/>
                <a:cs typeface="Trebuchet MS"/>
              </a:rPr>
              <a:t>INTO </a:t>
            </a:r>
            <a:r>
              <a:rPr lang="en-US" sz="1400" spc="-15" dirty="0">
                <a:latin typeface="Trebuchet MS"/>
                <a:cs typeface="Trebuchet MS"/>
              </a:rPr>
              <a:t>invites </a:t>
            </a:r>
            <a:r>
              <a:rPr lang="en-US" sz="1400" spc="45" dirty="0">
                <a:latin typeface="Trebuchet MS"/>
                <a:cs typeface="Trebuchet MS"/>
              </a:rPr>
              <a:t>PARTITION </a:t>
            </a:r>
            <a:r>
              <a:rPr lang="en-US" sz="1400" spc="35" dirty="0">
                <a:latin typeface="Trebuchet MS"/>
                <a:cs typeface="Trebuchet MS"/>
              </a:rPr>
              <a:t>(ds</a:t>
            </a:r>
            <a:r>
              <a:rPr lang="en-US" sz="1400" spc="35" dirty="0" smtClean="0">
                <a:latin typeface="Trebuchet MS"/>
                <a:cs typeface="Trebuchet MS"/>
              </a:rPr>
              <a:t>=</a:t>
            </a:r>
            <a:r>
              <a:rPr lang="en-US" sz="1400" spc="35" dirty="0">
                <a:latin typeface="Trebuchet MS"/>
                <a:cs typeface="Trebuchet MS"/>
              </a:rPr>
              <a:t>'</a:t>
            </a:r>
            <a:r>
              <a:rPr lang="en-US" sz="1400" spc="35" dirty="0" smtClean="0">
                <a:latin typeface="Trebuchet MS"/>
                <a:cs typeface="Trebuchet MS"/>
              </a:rPr>
              <a:t>First') </a:t>
            </a:r>
            <a:r>
              <a:rPr lang="en-US" sz="1400" spc="35" dirty="0">
                <a:latin typeface="Trebuchet MS"/>
                <a:cs typeface="Trebuchet MS"/>
              </a:rPr>
              <a:t>values </a:t>
            </a:r>
            <a:r>
              <a:rPr lang="en-US" sz="1400" spc="35" dirty="0" smtClean="0">
                <a:latin typeface="Trebuchet MS"/>
                <a:cs typeface="Trebuchet MS"/>
              </a:rPr>
              <a:t>(1, </a:t>
            </a:r>
            <a:r>
              <a:rPr lang="en-US" sz="1400" spc="-35" dirty="0">
                <a:latin typeface="Trebuchet MS"/>
                <a:cs typeface="Trebuchet MS"/>
              </a:rPr>
              <a:t>' </a:t>
            </a:r>
            <a:r>
              <a:rPr lang="en-US" sz="1400" spc="-35" dirty="0" smtClean="0">
                <a:latin typeface="Trebuchet MS"/>
                <a:cs typeface="Trebuchet MS"/>
              </a:rPr>
              <a:t>Cairo'</a:t>
            </a:r>
            <a:r>
              <a:rPr lang="en-US" sz="1400" spc="35" dirty="0" smtClean="0">
                <a:latin typeface="Trebuchet MS"/>
                <a:cs typeface="Trebuchet MS"/>
              </a:rPr>
              <a:t>);</a:t>
            </a:r>
          </a:p>
          <a:p>
            <a:pPr marL="92075">
              <a:spcBef>
                <a:spcPts val="340"/>
              </a:spcBef>
            </a:pPr>
            <a:r>
              <a:rPr lang="en-US" sz="1400" spc="100" dirty="0" smtClean="0">
                <a:latin typeface="Trebuchet MS"/>
                <a:cs typeface="Trebuchet MS"/>
              </a:rPr>
              <a:t>insert</a:t>
            </a:r>
            <a:r>
              <a:rPr lang="en-US" sz="1400" spc="50" dirty="0" smtClean="0">
                <a:latin typeface="Trebuchet MS"/>
                <a:cs typeface="Trebuchet MS"/>
              </a:rPr>
              <a:t> </a:t>
            </a:r>
            <a:r>
              <a:rPr lang="en-US" sz="1400" spc="75" dirty="0" smtClean="0">
                <a:latin typeface="Trebuchet MS"/>
                <a:cs typeface="Trebuchet MS"/>
              </a:rPr>
              <a:t>INTO </a:t>
            </a:r>
            <a:r>
              <a:rPr lang="en-US" sz="1400" spc="-15" dirty="0" smtClean="0">
                <a:latin typeface="Trebuchet MS"/>
                <a:cs typeface="Trebuchet MS"/>
              </a:rPr>
              <a:t>invites </a:t>
            </a:r>
            <a:r>
              <a:rPr lang="en-US" sz="1400" spc="45" dirty="0" smtClean="0">
                <a:latin typeface="Trebuchet MS"/>
                <a:cs typeface="Trebuchet MS"/>
              </a:rPr>
              <a:t>PARTITION </a:t>
            </a:r>
            <a:r>
              <a:rPr lang="en-US" sz="1400" spc="35" dirty="0" smtClean="0">
                <a:latin typeface="Trebuchet MS"/>
                <a:cs typeface="Trebuchet MS"/>
              </a:rPr>
              <a:t>(ds= 'First') values (2, </a:t>
            </a:r>
            <a:r>
              <a:rPr lang="en-US" sz="1400" spc="-35" dirty="0" smtClean="0">
                <a:latin typeface="Trebuchet MS"/>
                <a:cs typeface="Trebuchet MS"/>
              </a:rPr>
              <a:t>' Giza'</a:t>
            </a:r>
            <a:r>
              <a:rPr lang="en-US" sz="1400" spc="35" dirty="0" smtClean="0">
                <a:latin typeface="Trebuchet MS"/>
                <a:cs typeface="Trebuchet MS"/>
              </a:rPr>
              <a:t>);</a:t>
            </a:r>
          </a:p>
          <a:p>
            <a:pPr marL="92075">
              <a:spcBef>
                <a:spcPts val="340"/>
              </a:spcBef>
            </a:pPr>
            <a:r>
              <a:rPr lang="en-US" sz="1400" spc="100" dirty="0" smtClean="0">
                <a:latin typeface="Trebuchet MS"/>
                <a:cs typeface="Trebuchet MS"/>
              </a:rPr>
              <a:t>insert</a:t>
            </a:r>
            <a:r>
              <a:rPr lang="en-US" sz="1400" spc="50" dirty="0" smtClean="0">
                <a:latin typeface="Trebuchet MS"/>
                <a:cs typeface="Trebuchet MS"/>
              </a:rPr>
              <a:t> </a:t>
            </a:r>
            <a:r>
              <a:rPr lang="en-US" sz="1400" spc="75" dirty="0">
                <a:latin typeface="Trebuchet MS"/>
                <a:cs typeface="Trebuchet MS"/>
              </a:rPr>
              <a:t>INTO </a:t>
            </a:r>
            <a:r>
              <a:rPr lang="en-US" sz="1400" spc="-15" dirty="0">
                <a:latin typeface="Trebuchet MS"/>
                <a:cs typeface="Trebuchet MS"/>
              </a:rPr>
              <a:t>invites </a:t>
            </a:r>
            <a:r>
              <a:rPr lang="en-US" sz="1400" spc="45" dirty="0">
                <a:latin typeface="Trebuchet MS"/>
                <a:cs typeface="Trebuchet MS"/>
              </a:rPr>
              <a:t>PARTITION </a:t>
            </a:r>
            <a:r>
              <a:rPr lang="en-US" sz="1400" spc="35" dirty="0">
                <a:latin typeface="Trebuchet MS"/>
                <a:cs typeface="Trebuchet MS"/>
              </a:rPr>
              <a:t>(ds= </a:t>
            </a:r>
            <a:r>
              <a:rPr lang="en-US" sz="1400" spc="35" dirty="0" smtClean="0">
                <a:latin typeface="Trebuchet MS"/>
                <a:cs typeface="Trebuchet MS"/>
              </a:rPr>
              <a:t>'First') </a:t>
            </a:r>
            <a:r>
              <a:rPr lang="en-US" sz="1400" spc="35" dirty="0">
                <a:latin typeface="Trebuchet MS"/>
                <a:cs typeface="Trebuchet MS"/>
              </a:rPr>
              <a:t>values </a:t>
            </a:r>
            <a:r>
              <a:rPr lang="en-US" sz="1400" spc="35" dirty="0" smtClean="0">
                <a:latin typeface="Trebuchet MS"/>
                <a:cs typeface="Trebuchet MS"/>
              </a:rPr>
              <a:t>(3, </a:t>
            </a:r>
            <a:r>
              <a:rPr lang="en-US" sz="1400" spc="-35" dirty="0">
                <a:latin typeface="Trebuchet MS"/>
                <a:cs typeface="Trebuchet MS"/>
              </a:rPr>
              <a:t>' </a:t>
            </a:r>
            <a:r>
              <a:rPr lang="en-US" sz="1400" spc="-35" dirty="0" smtClean="0">
                <a:latin typeface="Trebuchet MS"/>
                <a:cs typeface="Trebuchet MS"/>
              </a:rPr>
              <a:t>Alex'</a:t>
            </a:r>
            <a:r>
              <a:rPr lang="en-US" sz="1400" spc="35" dirty="0" smtClean="0">
                <a:latin typeface="Trebuchet MS"/>
                <a:cs typeface="Trebuchet MS"/>
              </a:rPr>
              <a:t>);</a:t>
            </a:r>
          </a:p>
          <a:p>
            <a:pPr marL="92075">
              <a:spcBef>
                <a:spcPts val="340"/>
              </a:spcBef>
            </a:pPr>
            <a:r>
              <a:rPr lang="en-US" sz="1400" spc="100" dirty="0">
                <a:latin typeface="Trebuchet MS"/>
                <a:cs typeface="Trebuchet MS"/>
              </a:rPr>
              <a:t>insert</a:t>
            </a:r>
            <a:r>
              <a:rPr lang="en-US" sz="1400" spc="50" dirty="0">
                <a:latin typeface="Trebuchet MS"/>
                <a:cs typeface="Trebuchet MS"/>
              </a:rPr>
              <a:t> </a:t>
            </a:r>
            <a:r>
              <a:rPr lang="en-US" sz="1400" spc="75" dirty="0">
                <a:latin typeface="Trebuchet MS"/>
                <a:cs typeface="Trebuchet MS"/>
              </a:rPr>
              <a:t>INTO </a:t>
            </a:r>
            <a:r>
              <a:rPr lang="en-US" sz="1400" spc="-15" dirty="0">
                <a:latin typeface="Trebuchet MS"/>
                <a:cs typeface="Trebuchet MS"/>
              </a:rPr>
              <a:t>invites </a:t>
            </a:r>
            <a:r>
              <a:rPr lang="en-US" sz="1400" spc="45" dirty="0">
                <a:latin typeface="Trebuchet MS"/>
                <a:cs typeface="Trebuchet MS"/>
              </a:rPr>
              <a:t>PARTITION </a:t>
            </a:r>
            <a:r>
              <a:rPr lang="en-US" sz="1400" spc="35" dirty="0">
                <a:latin typeface="Trebuchet MS"/>
                <a:cs typeface="Trebuchet MS"/>
              </a:rPr>
              <a:t>(ds= </a:t>
            </a:r>
            <a:r>
              <a:rPr lang="en-US" sz="1400" spc="35" dirty="0" smtClean="0">
                <a:latin typeface="Trebuchet MS"/>
                <a:cs typeface="Trebuchet MS"/>
              </a:rPr>
              <a:t>'second') </a:t>
            </a:r>
            <a:r>
              <a:rPr lang="en-US" sz="1400" spc="35" dirty="0">
                <a:latin typeface="Trebuchet MS"/>
                <a:cs typeface="Trebuchet MS"/>
              </a:rPr>
              <a:t>values (2, </a:t>
            </a:r>
            <a:r>
              <a:rPr lang="en-US" sz="1400" spc="-35" dirty="0">
                <a:latin typeface="Trebuchet MS"/>
                <a:cs typeface="Trebuchet MS"/>
              </a:rPr>
              <a:t>' </a:t>
            </a:r>
            <a:r>
              <a:rPr lang="en-US" sz="1400" spc="-35" dirty="0" smtClean="0">
                <a:latin typeface="Trebuchet MS"/>
                <a:cs typeface="Trebuchet MS"/>
              </a:rPr>
              <a:t>Aswan'</a:t>
            </a:r>
            <a:r>
              <a:rPr lang="en-US" sz="1400" spc="35" dirty="0" smtClean="0">
                <a:latin typeface="Trebuchet MS"/>
                <a:cs typeface="Trebuchet MS"/>
              </a:rPr>
              <a:t>);</a:t>
            </a:r>
            <a:endParaRPr lang="en-US" sz="1400" spc="35" dirty="0">
              <a:latin typeface="Trebuchet MS"/>
              <a:cs typeface="Trebuchet MS"/>
            </a:endParaRPr>
          </a:p>
        </p:txBody>
      </p:sp>
      <p:sp>
        <p:nvSpPr>
          <p:cNvPr id="11" name="Rectangle 1"/>
          <p:cNvSpPr>
            <a:spLocks noChangeArrowheads="1"/>
          </p:cNvSpPr>
          <p:nvPr/>
        </p:nvSpPr>
        <p:spPr bwMode="auto">
          <a:xfrm>
            <a:off x="1243810" y="5334000"/>
            <a:ext cx="10241660" cy="457200"/>
          </a:xfrm>
          <a:prstGeom prst="rect">
            <a:avLst/>
          </a:prstGeom>
          <a:solidFill>
            <a:srgbClr val="27282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smtClean="0">
                <a:ln>
                  <a:noFill/>
                </a:ln>
                <a:solidFill>
                  <a:srgbClr val="66D9EF"/>
                </a:solidFill>
                <a:effectLst/>
                <a:latin typeface="inherit"/>
                <a:cs typeface="Consolas" panose="020B0609020204030204" pitchFamily="49" charset="0"/>
              </a:rPr>
              <a:t>INSERT</a:t>
            </a:r>
            <a:r>
              <a:rPr kumimoji="0" lang="en-US" altLang="en-US" sz="1000" b="0" i="0" u="none" strike="noStrike" cap="none" normalizeH="0" baseline="0" dirty="0" smtClean="0">
                <a:ln>
                  <a:noFill/>
                </a:ln>
                <a:solidFill>
                  <a:srgbClr val="F8F8F2"/>
                </a:solidFill>
                <a:effectLst/>
                <a:latin typeface="Consolas" panose="020B0609020204030204" pitchFamily="49" charset="0"/>
                <a:cs typeface="Consolas" panose="020B0609020204030204" pitchFamily="49" charset="0"/>
              </a:rPr>
              <a:t> </a:t>
            </a:r>
            <a:r>
              <a:rPr kumimoji="0" lang="en-US" altLang="en-US" sz="1100" b="0" i="0" u="none" strike="noStrike" cap="none" normalizeH="0" baseline="0" dirty="0" smtClean="0">
                <a:ln>
                  <a:noFill/>
                </a:ln>
                <a:solidFill>
                  <a:srgbClr val="66D9EF"/>
                </a:solidFill>
                <a:effectLst/>
                <a:latin typeface="inherit"/>
                <a:cs typeface="Consolas" panose="020B0609020204030204" pitchFamily="49" charset="0"/>
              </a:rPr>
              <a:t>INTO</a:t>
            </a:r>
            <a:r>
              <a:rPr kumimoji="0" lang="en-US" altLang="en-US" sz="1000" b="0" i="0" u="none" strike="noStrike" cap="none" normalizeH="0" baseline="0" dirty="0" smtClean="0">
                <a:ln>
                  <a:noFill/>
                </a:ln>
                <a:solidFill>
                  <a:srgbClr val="F8F8F2"/>
                </a:solidFill>
                <a:effectLst/>
                <a:latin typeface="Consolas" panose="020B0609020204030204" pitchFamily="49" charset="0"/>
                <a:cs typeface="Consolas" panose="020B0609020204030204" pitchFamily="49" charset="0"/>
              </a:rPr>
              <a:t> </a:t>
            </a:r>
            <a:r>
              <a:rPr kumimoji="0" lang="en-US" altLang="en-US" sz="1000" b="0" i="0" u="none" strike="noStrike" cap="none" normalizeH="0" baseline="0" dirty="0" err="1" smtClean="0">
                <a:ln>
                  <a:noFill/>
                </a:ln>
                <a:solidFill>
                  <a:srgbClr val="F8F8F2"/>
                </a:solidFill>
                <a:effectLst/>
                <a:latin typeface="Consolas" panose="020B0609020204030204" pitchFamily="49" charset="0"/>
                <a:cs typeface="Consolas" panose="020B0609020204030204" pitchFamily="49" charset="0"/>
              </a:rPr>
              <a:t>zipcodes</a:t>
            </a:r>
            <a:r>
              <a:rPr kumimoji="0" lang="en-US" altLang="en-US" sz="1000" b="0" i="0" u="none" strike="noStrike" cap="none" normalizeH="0" baseline="0" dirty="0" smtClean="0">
                <a:ln>
                  <a:noFill/>
                </a:ln>
                <a:solidFill>
                  <a:srgbClr val="F8F8F2"/>
                </a:solidFill>
                <a:effectLst/>
                <a:latin typeface="Consolas" panose="020B0609020204030204" pitchFamily="49" charset="0"/>
                <a:cs typeface="Consolas" panose="020B0609020204030204" pitchFamily="49" charset="0"/>
              </a:rPr>
              <a:t> </a:t>
            </a:r>
            <a:r>
              <a:rPr kumimoji="0" lang="en-US" altLang="en-US" sz="1100" b="0" i="0" u="none" strike="noStrike" cap="none" normalizeH="0" baseline="0" dirty="0" smtClean="0">
                <a:ln>
                  <a:noFill/>
                </a:ln>
                <a:solidFill>
                  <a:srgbClr val="66D9EF"/>
                </a:solidFill>
                <a:effectLst/>
                <a:latin typeface="inherit"/>
                <a:cs typeface="Consolas" panose="020B0609020204030204" pitchFamily="49" charset="0"/>
              </a:rPr>
              <a:t>PARTITION</a:t>
            </a:r>
            <a:r>
              <a:rPr kumimoji="0" lang="en-US" altLang="en-US" sz="1100" b="0" i="0" u="none" strike="noStrike" cap="none" normalizeH="0" baseline="0" dirty="0" smtClean="0">
                <a:ln>
                  <a:noFill/>
                </a:ln>
                <a:solidFill>
                  <a:srgbClr val="F8F8F2"/>
                </a:solidFill>
                <a:effectLst/>
                <a:latin typeface="inherit"/>
                <a:cs typeface="Consolas" panose="020B0609020204030204" pitchFamily="49" charset="0"/>
              </a:rPr>
              <a:t>(</a:t>
            </a:r>
            <a:r>
              <a:rPr kumimoji="0" lang="en-US" altLang="en-US" sz="1000" b="0" i="0" u="none" strike="noStrike" cap="none" normalizeH="0" baseline="0" dirty="0" smtClean="0">
                <a:ln>
                  <a:noFill/>
                </a:ln>
                <a:solidFill>
                  <a:srgbClr val="F8F8F2"/>
                </a:solidFill>
                <a:effectLst/>
                <a:latin typeface="Consolas" panose="020B0609020204030204" pitchFamily="49" charset="0"/>
                <a:cs typeface="Consolas" panose="020B0609020204030204" pitchFamily="49" charset="0"/>
              </a:rPr>
              <a:t>state</a:t>
            </a:r>
            <a:r>
              <a:rPr kumimoji="0" lang="en-US" altLang="en-US" sz="1100" b="0" i="0" u="none" strike="noStrike" cap="none" normalizeH="0" baseline="0" dirty="0" smtClean="0">
                <a:ln>
                  <a:noFill/>
                </a:ln>
                <a:solidFill>
                  <a:srgbClr val="F8F8F2"/>
                </a:solidFill>
                <a:effectLst/>
                <a:latin typeface="inherit"/>
                <a:cs typeface="Consolas" panose="020B0609020204030204" pitchFamily="49" charset="0"/>
              </a:rPr>
              <a:t>=</a:t>
            </a:r>
            <a:r>
              <a:rPr kumimoji="0" lang="en-US" altLang="en-US" sz="1100" b="0" i="0" u="none" strike="noStrike" cap="none" normalizeH="0" baseline="0" dirty="0" smtClean="0">
                <a:ln>
                  <a:noFill/>
                </a:ln>
                <a:solidFill>
                  <a:srgbClr val="A6E22E"/>
                </a:solidFill>
                <a:effectLst/>
                <a:latin typeface="inherit"/>
                <a:cs typeface="Consolas" panose="020B0609020204030204" pitchFamily="49" charset="0"/>
              </a:rPr>
              <a:t>'FL'</a:t>
            </a:r>
            <a:r>
              <a:rPr kumimoji="0" lang="en-US" altLang="en-US" sz="1100" b="0" i="0" u="none" strike="noStrike" cap="none" normalizeH="0" baseline="0" dirty="0" smtClean="0">
                <a:ln>
                  <a:noFill/>
                </a:ln>
                <a:solidFill>
                  <a:srgbClr val="F8F8F2"/>
                </a:solidFill>
                <a:effectLst/>
                <a:latin typeface="inherit"/>
                <a:cs typeface="Consolas" panose="020B0609020204030204" pitchFamily="49" charset="0"/>
              </a:rPr>
              <a:t>)</a:t>
            </a:r>
            <a:r>
              <a:rPr kumimoji="0" lang="en-US" altLang="en-US" sz="1000" b="0" i="0" u="none" strike="noStrike" cap="none" normalizeH="0" baseline="0" dirty="0" smtClean="0">
                <a:ln>
                  <a:noFill/>
                </a:ln>
                <a:solidFill>
                  <a:srgbClr val="F8F8F2"/>
                </a:solidFill>
                <a:effectLst/>
                <a:latin typeface="Consolas" panose="020B0609020204030204" pitchFamily="49" charset="0"/>
                <a:cs typeface="Consolas" panose="020B0609020204030204" pitchFamily="49" charset="0"/>
              </a:rPr>
              <a:t> </a:t>
            </a:r>
            <a:r>
              <a:rPr kumimoji="0" lang="en-US" altLang="en-US" sz="1100" b="0" i="0" u="none" strike="noStrike" cap="none" normalizeH="0" baseline="0" dirty="0" smtClean="0">
                <a:ln>
                  <a:noFill/>
                </a:ln>
                <a:solidFill>
                  <a:srgbClr val="66D9EF"/>
                </a:solidFill>
                <a:effectLst/>
                <a:latin typeface="inherit"/>
                <a:cs typeface="Consolas" panose="020B0609020204030204" pitchFamily="49" charset="0"/>
              </a:rPr>
              <a:t>VALUES</a:t>
            </a:r>
            <a:r>
              <a:rPr kumimoji="0" lang="en-US" altLang="en-US" sz="1000" b="0" i="0" u="none" strike="noStrike" cap="none" normalizeH="0" baseline="0" dirty="0" smtClean="0">
                <a:ln>
                  <a:noFill/>
                </a:ln>
                <a:solidFill>
                  <a:srgbClr val="F8F8F2"/>
                </a:solidFill>
                <a:effectLst/>
                <a:latin typeface="Consolas" panose="020B0609020204030204" pitchFamily="49" charset="0"/>
                <a:cs typeface="Consolas" panose="020B0609020204030204" pitchFamily="49" charset="0"/>
              </a:rPr>
              <a:t> </a:t>
            </a:r>
            <a:r>
              <a:rPr kumimoji="0" lang="en-US" altLang="en-US" sz="1100" b="0" i="0" u="none" strike="noStrike" cap="none" normalizeH="0" baseline="0" dirty="0" smtClean="0">
                <a:ln>
                  <a:noFill/>
                </a:ln>
                <a:solidFill>
                  <a:srgbClr val="F8F8F2"/>
                </a:solidFill>
                <a:effectLst/>
                <a:latin typeface="inherit"/>
                <a:cs typeface="Consolas" panose="020B0609020204030204" pitchFamily="49" charset="0"/>
              </a:rPr>
              <a:t>(</a:t>
            </a:r>
            <a:r>
              <a:rPr kumimoji="0" lang="en-US" altLang="en-US" sz="1100" b="0" i="0" u="none" strike="noStrike" cap="none" normalizeH="0" baseline="0" dirty="0" smtClean="0">
                <a:ln>
                  <a:noFill/>
                </a:ln>
                <a:solidFill>
                  <a:srgbClr val="AE81FF"/>
                </a:solidFill>
                <a:effectLst/>
                <a:latin typeface="inherit"/>
                <a:cs typeface="Consolas" panose="020B0609020204030204" pitchFamily="49" charset="0"/>
              </a:rPr>
              <a:t>891</a:t>
            </a:r>
            <a:r>
              <a:rPr kumimoji="0" lang="en-US" altLang="en-US" sz="1100" b="0" i="0" u="none" strike="noStrike" cap="none" normalizeH="0" baseline="0" dirty="0" smtClean="0">
                <a:ln>
                  <a:noFill/>
                </a:ln>
                <a:solidFill>
                  <a:srgbClr val="F8F8F2"/>
                </a:solidFill>
                <a:effectLst/>
                <a:latin typeface="inherit"/>
                <a:cs typeface="Consolas" panose="020B0609020204030204" pitchFamily="49" charset="0"/>
              </a:rPr>
              <a:t>,</a:t>
            </a:r>
            <a:r>
              <a:rPr kumimoji="0" lang="en-US" altLang="en-US" sz="1100" b="0" i="0" u="none" strike="noStrike" cap="none" normalizeH="0" baseline="0" dirty="0" smtClean="0">
                <a:ln>
                  <a:noFill/>
                </a:ln>
                <a:solidFill>
                  <a:srgbClr val="A6E22E"/>
                </a:solidFill>
                <a:effectLst/>
                <a:latin typeface="inherit"/>
                <a:cs typeface="Consolas" panose="020B0609020204030204" pitchFamily="49" charset="0"/>
              </a:rPr>
              <a:t>'US'</a:t>
            </a:r>
            <a:r>
              <a:rPr kumimoji="0" lang="en-US" altLang="en-US" sz="1100" b="0" i="0" u="none" strike="noStrike" cap="none" normalizeH="0" baseline="0" dirty="0" smtClean="0">
                <a:ln>
                  <a:noFill/>
                </a:ln>
                <a:solidFill>
                  <a:srgbClr val="F8F8F2"/>
                </a:solidFill>
                <a:effectLst/>
                <a:latin typeface="inherit"/>
                <a:cs typeface="Consolas" panose="020B0609020204030204" pitchFamily="49" charset="0"/>
              </a:rPr>
              <a:t>,</a:t>
            </a:r>
            <a:r>
              <a:rPr kumimoji="0" lang="en-US" altLang="en-US" sz="1100" b="0" i="0" u="none" strike="noStrike" cap="none" normalizeH="0" baseline="0" dirty="0" smtClean="0">
                <a:ln>
                  <a:noFill/>
                </a:ln>
                <a:solidFill>
                  <a:srgbClr val="A6E22E"/>
                </a:solidFill>
                <a:effectLst/>
                <a:latin typeface="inherit"/>
                <a:cs typeface="Consolas" panose="020B0609020204030204" pitchFamily="49" charset="0"/>
              </a:rPr>
              <a:t>'TAMPA'</a:t>
            </a:r>
            <a:r>
              <a:rPr kumimoji="0" lang="en-US" altLang="en-US" sz="1100" b="0" i="0" u="none" strike="noStrike" cap="none" normalizeH="0" baseline="0" dirty="0" smtClean="0">
                <a:ln>
                  <a:noFill/>
                </a:ln>
                <a:solidFill>
                  <a:srgbClr val="F8F8F2"/>
                </a:solidFill>
                <a:effectLst/>
                <a:latin typeface="inherit"/>
                <a:cs typeface="Consolas" panose="020B0609020204030204" pitchFamily="49" charset="0"/>
              </a:rPr>
              <a:t>,</a:t>
            </a:r>
            <a:r>
              <a:rPr kumimoji="0" lang="en-US" altLang="en-US" sz="1100" b="0" i="0" u="none" strike="noStrike" cap="none" normalizeH="0" baseline="0" dirty="0" smtClean="0">
                <a:ln>
                  <a:noFill/>
                </a:ln>
                <a:solidFill>
                  <a:srgbClr val="AE81FF"/>
                </a:solidFill>
                <a:effectLst/>
                <a:latin typeface="inherit"/>
                <a:cs typeface="Consolas" panose="020B0609020204030204" pitchFamily="49" charset="0"/>
              </a:rPr>
              <a:t>33605</a:t>
            </a:r>
            <a:r>
              <a:rPr kumimoji="0" lang="en-US" altLang="en-US" sz="1100" b="0" i="0" u="none" strike="noStrike" cap="none" normalizeH="0" baseline="0" dirty="0" smtClean="0">
                <a:ln>
                  <a:noFill/>
                </a:ln>
                <a:solidFill>
                  <a:srgbClr val="F8F8F2"/>
                </a:solidFill>
                <a:effectLst/>
                <a:latin typeface="inherit"/>
                <a:cs typeface="Consolas" panose="020B0609020204030204" pitchFamily="49" charset="0"/>
              </a:rPr>
              <a:t>);</a:t>
            </a:r>
            <a:r>
              <a:rPr kumimoji="0" lang="en-US" altLang="en-US" sz="1000" b="0" i="0" u="none" strike="noStrike" cap="none" normalizeH="0" baseline="0" dirty="0" smtClean="0">
                <a:ln>
                  <a:noFill/>
                </a:ln>
                <a:solidFill>
                  <a:srgbClr val="F8F8F2"/>
                </a:solidFill>
                <a:effectLst/>
                <a:latin typeface="Consolas" panose="020B0609020204030204" pitchFamily="49" charset="0"/>
                <a:cs typeface="Consolas" panose="020B0609020204030204" pitchFamily="49" charset="0"/>
              </a:rPr>
              <a:t> </a:t>
            </a:r>
            <a:r>
              <a:rPr kumimoji="0" lang="en-US" altLang="en-US" sz="1100" b="0" i="0" u="none" strike="noStrike" cap="none" normalizeH="0" baseline="0" dirty="0" smtClean="0">
                <a:ln>
                  <a:noFill/>
                </a:ln>
                <a:solidFill>
                  <a:schemeClr val="tx1"/>
                </a:solidFill>
                <a:effectLst/>
              </a:rPr>
              <a:t/>
            </a:r>
            <a:br>
              <a:rPr kumimoji="0" lang="en-US" altLang="en-US" sz="1100" b="0" i="0" u="none" strike="noStrike" cap="none" normalizeH="0" baseline="0" dirty="0" smtClean="0">
                <a:ln>
                  <a:noFill/>
                </a:ln>
                <a:solidFill>
                  <a:schemeClr val="tx1"/>
                </a:solidFill>
                <a:effectLst/>
              </a:rPr>
            </a:b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8" name="Rectangle 7"/>
          <p:cNvSpPr/>
          <p:nvPr/>
        </p:nvSpPr>
        <p:spPr>
          <a:xfrm>
            <a:off x="1268420" y="3124200"/>
            <a:ext cx="10217050" cy="561692"/>
          </a:xfrm>
          <a:prstGeom prst="rect">
            <a:avLst/>
          </a:prstGeom>
          <a:solidFill>
            <a:schemeClr val="accent2">
              <a:lumMod val="40000"/>
              <a:lumOff val="60000"/>
            </a:schemeClr>
          </a:solidFill>
        </p:spPr>
        <p:txBody>
          <a:bodyPr wrap="square">
            <a:spAutoFit/>
          </a:bodyPr>
          <a:lstStyle/>
          <a:p>
            <a:pPr marL="92075">
              <a:spcBef>
                <a:spcPts val="340"/>
              </a:spcBef>
            </a:pPr>
            <a:r>
              <a:rPr lang="en-US" sz="1400" b="1" spc="10" dirty="0" smtClean="0">
                <a:latin typeface="Trebuchet MS"/>
                <a:cs typeface="Trebuchet MS"/>
              </a:rPr>
              <a:t>Loading data from HDFS</a:t>
            </a:r>
          </a:p>
          <a:p>
            <a:pPr marL="92075">
              <a:spcBef>
                <a:spcPts val="340"/>
              </a:spcBef>
            </a:pPr>
            <a:r>
              <a:rPr lang="en-US" sz="1400" spc="10" dirty="0" smtClean="0">
                <a:latin typeface="Trebuchet MS"/>
                <a:cs typeface="Trebuchet MS"/>
              </a:rPr>
              <a:t>LOAD </a:t>
            </a:r>
            <a:r>
              <a:rPr lang="en-US" sz="1400" spc="10" dirty="0">
                <a:latin typeface="Trebuchet MS"/>
                <a:cs typeface="Trebuchet MS"/>
              </a:rPr>
              <a:t>DATA INPATH '/user/hive/profs.txt' INTO TABLE profs;</a:t>
            </a: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752600" y="714334"/>
            <a:ext cx="6672276" cy="567463"/>
          </a:xfrm>
          <a:prstGeom prst="rect">
            <a:avLst/>
          </a:prstGeom>
        </p:spPr>
        <p:txBody>
          <a:bodyPr vert="horz" wrap="square" lIns="0" tIns="13335" rIns="0" bIns="0" rtlCol="0">
            <a:spAutoFit/>
          </a:bodyPr>
          <a:lstStyle/>
          <a:p>
            <a:pPr marL="12700">
              <a:lnSpc>
                <a:spcPct val="100000"/>
              </a:lnSpc>
              <a:spcBef>
                <a:spcPts val="105"/>
              </a:spcBef>
            </a:pPr>
            <a:r>
              <a:rPr spc="240" dirty="0"/>
              <a:t>DQL </a:t>
            </a:r>
            <a:r>
              <a:rPr spc="45" dirty="0"/>
              <a:t>Operations</a:t>
            </a:r>
            <a:r>
              <a:rPr spc="-245" dirty="0"/>
              <a:t> </a:t>
            </a:r>
            <a:r>
              <a:rPr spc="130" dirty="0"/>
              <a:t>(1)</a:t>
            </a:r>
          </a:p>
        </p:txBody>
      </p:sp>
      <p:sp>
        <p:nvSpPr>
          <p:cNvPr id="3" name="object 3"/>
          <p:cNvSpPr txBox="1"/>
          <p:nvPr/>
        </p:nvSpPr>
        <p:spPr>
          <a:xfrm>
            <a:off x="977595" y="1646682"/>
            <a:ext cx="2311400" cy="269240"/>
          </a:xfrm>
          <a:prstGeom prst="rect">
            <a:avLst/>
          </a:prstGeom>
        </p:spPr>
        <p:txBody>
          <a:bodyPr vert="horz" wrap="square" lIns="0" tIns="12065" rIns="0" bIns="0" rtlCol="0">
            <a:spAutoFit/>
          </a:bodyPr>
          <a:lstStyle/>
          <a:p>
            <a:pPr marL="12700">
              <a:lnSpc>
                <a:spcPct val="100000"/>
              </a:lnSpc>
              <a:spcBef>
                <a:spcPts val="95"/>
              </a:spcBef>
            </a:pPr>
            <a:r>
              <a:rPr sz="1600" b="1" spc="15" dirty="0">
                <a:latin typeface="Trebuchet MS"/>
                <a:cs typeface="Trebuchet MS"/>
              </a:rPr>
              <a:t>--SELECTS </a:t>
            </a:r>
            <a:r>
              <a:rPr sz="1600" b="1" spc="50" dirty="0">
                <a:latin typeface="Trebuchet MS"/>
                <a:cs typeface="Trebuchet MS"/>
              </a:rPr>
              <a:t>and</a:t>
            </a:r>
            <a:r>
              <a:rPr sz="1600" b="1" spc="-30" dirty="0">
                <a:latin typeface="Trebuchet MS"/>
                <a:cs typeface="Trebuchet MS"/>
              </a:rPr>
              <a:t> </a:t>
            </a:r>
            <a:r>
              <a:rPr sz="1600" b="1" spc="-15" dirty="0">
                <a:latin typeface="Trebuchet MS"/>
                <a:cs typeface="Trebuchet MS"/>
              </a:rPr>
              <a:t>FILTERS:</a:t>
            </a:r>
            <a:endParaRPr sz="1600">
              <a:latin typeface="Trebuchet MS"/>
              <a:cs typeface="Trebuchet MS"/>
            </a:endParaRPr>
          </a:p>
        </p:txBody>
      </p:sp>
      <p:sp>
        <p:nvSpPr>
          <p:cNvPr id="4" name="object 4"/>
          <p:cNvSpPr txBox="1"/>
          <p:nvPr/>
        </p:nvSpPr>
        <p:spPr>
          <a:xfrm>
            <a:off x="977595" y="3012568"/>
            <a:ext cx="1266825" cy="269240"/>
          </a:xfrm>
          <a:prstGeom prst="rect">
            <a:avLst/>
          </a:prstGeom>
        </p:spPr>
        <p:txBody>
          <a:bodyPr vert="horz" wrap="square" lIns="0" tIns="12065" rIns="0" bIns="0" rtlCol="0">
            <a:spAutoFit/>
          </a:bodyPr>
          <a:lstStyle/>
          <a:p>
            <a:pPr marL="12700">
              <a:lnSpc>
                <a:spcPct val="100000"/>
              </a:lnSpc>
              <a:spcBef>
                <a:spcPts val="95"/>
              </a:spcBef>
            </a:pPr>
            <a:r>
              <a:rPr sz="1600" b="1" spc="65" dirty="0">
                <a:latin typeface="Trebuchet MS"/>
                <a:cs typeface="Trebuchet MS"/>
              </a:rPr>
              <a:t>--GROUP</a:t>
            </a:r>
            <a:r>
              <a:rPr sz="1600" b="1" spc="-10" dirty="0">
                <a:latin typeface="Trebuchet MS"/>
                <a:cs typeface="Trebuchet MS"/>
              </a:rPr>
              <a:t> </a:t>
            </a:r>
            <a:r>
              <a:rPr sz="1600" b="1" spc="-55" dirty="0">
                <a:latin typeface="Trebuchet MS"/>
                <a:cs typeface="Trebuchet MS"/>
              </a:rPr>
              <a:t>BY:</a:t>
            </a:r>
            <a:endParaRPr sz="1600">
              <a:latin typeface="Trebuchet MS"/>
              <a:cs typeface="Trebuchet MS"/>
            </a:endParaRPr>
          </a:p>
        </p:txBody>
      </p:sp>
      <p:sp>
        <p:nvSpPr>
          <p:cNvPr id="5" name="object 5"/>
          <p:cNvSpPr txBox="1"/>
          <p:nvPr/>
        </p:nvSpPr>
        <p:spPr>
          <a:xfrm>
            <a:off x="1155191" y="2078229"/>
            <a:ext cx="5264150" cy="259045"/>
          </a:xfrm>
          <a:prstGeom prst="rect">
            <a:avLst/>
          </a:prstGeom>
          <a:solidFill>
            <a:srgbClr val="D9D9D9"/>
          </a:solidFill>
        </p:spPr>
        <p:txBody>
          <a:bodyPr vert="horz" wrap="square" lIns="0" tIns="43180" rIns="0" bIns="0" rtlCol="0">
            <a:spAutoFit/>
          </a:bodyPr>
          <a:lstStyle/>
          <a:p>
            <a:pPr marL="90805">
              <a:lnSpc>
                <a:spcPct val="100000"/>
              </a:lnSpc>
              <a:spcBef>
                <a:spcPts val="340"/>
              </a:spcBef>
            </a:pPr>
            <a:r>
              <a:rPr sz="1400" spc="10" dirty="0">
                <a:latin typeface="Trebuchet MS"/>
                <a:cs typeface="Trebuchet MS"/>
              </a:rPr>
              <a:t>hive&gt; </a:t>
            </a:r>
            <a:r>
              <a:rPr sz="1400" spc="15" dirty="0">
                <a:latin typeface="Trebuchet MS"/>
                <a:cs typeface="Trebuchet MS"/>
              </a:rPr>
              <a:t>SELECT </a:t>
            </a:r>
            <a:r>
              <a:rPr sz="1400" spc="-15" dirty="0">
                <a:latin typeface="Trebuchet MS"/>
                <a:cs typeface="Trebuchet MS"/>
              </a:rPr>
              <a:t>a.foo </a:t>
            </a:r>
            <a:r>
              <a:rPr sz="1400" spc="125" dirty="0">
                <a:latin typeface="Trebuchet MS"/>
                <a:cs typeface="Trebuchet MS"/>
              </a:rPr>
              <a:t>FROM </a:t>
            </a:r>
            <a:r>
              <a:rPr sz="1400" spc="-15" dirty="0">
                <a:latin typeface="Trebuchet MS"/>
                <a:cs typeface="Trebuchet MS"/>
              </a:rPr>
              <a:t>invites </a:t>
            </a:r>
            <a:r>
              <a:rPr sz="1400" spc="40" dirty="0">
                <a:latin typeface="Trebuchet MS"/>
                <a:cs typeface="Trebuchet MS"/>
              </a:rPr>
              <a:t>a </a:t>
            </a:r>
            <a:r>
              <a:rPr sz="1400" spc="70" dirty="0">
                <a:latin typeface="Trebuchet MS"/>
                <a:cs typeface="Trebuchet MS"/>
              </a:rPr>
              <a:t>WHERE</a:t>
            </a:r>
            <a:r>
              <a:rPr sz="1400" spc="-110" dirty="0">
                <a:latin typeface="Trebuchet MS"/>
                <a:cs typeface="Trebuchet MS"/>
              </a:rPr>
              <a:t> </a:t>
            </a:r>
            <a:r>
              <a:rPr sz="1400" spc="20" dirty="0">
                <a:latin typeface="Trebuchet MS"/>
                <a:cs typeface="Trebuchet MS"/>
              </a:rPr>
              <a:t>a.ds=</a:t>
            </a:r>
            <a:r>
              <a:rPr sz="1400" spc="20" dirty="0" smtClean="0">
                <a:latin typeface="Trebuchet MS"/>
                <a:cs typeface="Trebuchet MS"/>
              </a:rPr>
              <a:t>'</a:t>
            </a:r>
            <a:r>
              <a:rPr lang="en-US" sz="1400" spc="20" dirty="0" smtClean="0">
                <a:latin typeface="Trebuchet MS"/>
                <a:cs typeface="Trebuchet MS"/>
              </a:rPr>
              <a:t>First</a:t>
            </a:r>
            <a:r>
              <a:rPr sz="1400" spc="20" dirty="0" smtClean="0">
                <a:latin typeface="Trebuchet MS"/>
                <a:cs typeface="Trebuchet MS"/>
              </a:rPr>
              <a:t>';</a:t>
            </a:r>
            <a:endParaRPr sz="1400" dirty="0">
              <a:latin typeface="Trebuchet MS"/>
              <a:cs typeface="Trebuchet MS"/>
            </a:endParaRPr>
          </a:p>
        </p:txBody>
      </p:sp>
      <p:sp>
        <p:nvSpPr>
          <p:cNvPr id="6" name="object 6"/>
          <p:cNvSpPr txBox="1"/>
          <p:nvPr/>
        </p:nvSpPr>
        <p:spPr>
          <a:xfrm>
            <a:off x="1155191" y="2520188"/>
            <a:ext cx="9206865" cy="260328"/>
          </a:xfrm>
          <a:prstGeom prst="rect">
            <a:avLst/>
          </a:prstGeom>
          <a:solidFill>
            <a:srgbClr val="D9D9D9"/>
          </a:solidFill>
        </p:spPr>
        <p:txBody>
          <a:bodyPr vert="horz" wrap="square" lIns="0" tIns="44450" rIns="0" bIns="0" rtlCol="0">
            <a:spAutoFit/>
          </a:bodyPr>
          <a:lstStyle/>
          <a:p>
            <a:pPr marL="90805">
              <a:lnSpc>
                <a:spcPct val="100000"/>
              </a:lnSpc>
              <a:spcBef>
                <a:spcPts val="350"/>
              </a:spcBef>
            </a:pPr>
            <a:r>
              <a:rPr sz="1400" spc="10" dirty="0">
                <a:latin typeface="Trebuchet MS"/>
                <a:cs typeface="Trebuchet MS"/>
              </a:rPr>
              <a:t>hive&gt; </a:t>
            </a:r>
            <a:r>
              <a:rPr sz="1400" spc="45" dirty="0">
                <a:latin typeface="Trebuchet MS"/>
                <a:cs typeface="Trebuchet MS"/>
              </a:rPr>
              <a:t>INSERT </a:t>
            </a:r>
            <a:r>
              <a:rPr sz="1400" spc="50" dirty="0">
                <a:latin typeface="Trebuchet MS"/>
                <a:cs typeface="Trebuchet MS"/>
              </a:rPr>
              <a:t>OVERWRITE </a:t>
            </a:r>
            <a:r>
              <a:rPr sz="1400" spc="40" dirty="0">
                <a:latin typeface="Trebuchet MS"/>
                <a:cs typeface="Trebuchet MS"/>
              </a:rPr>
              <a:t>DIRECTORY </a:t>
            </a:r>
            <a:r>
              <a:rPr sz="1400" spc="-10" dirty="0">
                <a:latin typeface="Trebuchet MS"/>
                <a:cs typeface="Trebuchet MS"/>
              </a:rPr>
              <a:t>'/tmp/hdfs_out' </a:t>
            </a:r>
            <a:r>
              <a:rPr sz="1400" spc="15" dirty="0">
                <a:latin typeface="Trebuchet MS"/>
                <a:cs typeface="Trebuchet MS"/>
              </a:rPr>
              <a:t>SELECT </a:t>
            </a:r>
            <a:r>
              <a:rPr sz="1400" spc="-55" dirty="0">
                <a:latin typeface="Trebuchet MS"/>
                <a:cs typeface="Trebuchet MS"/>
              </a:rPr>
              <a:t>a.* </a:t>
            </a:r>
            <a:r>
              <a:rPr sz="1400" spc="125" dirty="0">
                <a:latin typeface="Trebuchet MS"/>
                <a:cs typeface="Trebuchet MS"/>
              </a:rPr>
              <a:t>FROM </a:t>
            </a:r>
            <a:r>
              <a:rPr sz="1400" spc="-15" dirty="0">
                <a:latin typeface="Trebuchet MS"/>
                <a:cs typeface="Trebuchet MS"/>
              </a:rPr>
              <a:t>invites </a:t>
            </a:r>
            <a:r>
              <a:rPr sz="1400" spc="40" dirty="0">
                <a:latin typeface="Trebuchet MS"/>
                <a:cs typeface="Trebuchet MS"/>
              </a:rPr>
              <a:t>a </a:t>
            </a:r>
            <a:r>
              <a:rPr sz="1400" spc="70" dirty="0">
                <a:latin typeface="Trebuchet MS"/>
                <a:cs typeface="Trebuchet MS"/>
              </a:rPr>
              <a:t>WHERE</a:t>
            </a:r>
            <a:r>
              <a:rPr sz="1400" spc="-130" dirty="0">
                <a:latin typeface="Trebuchet MS"/>
                <a:cs typeface="Trebuchet MS"/>
              </a:rPr>
              <a:t> </a:t>
            </a:r>
            <a:r>
              <a:rPr sz="1400" spc="20" dirty="0">
                <a:latin typeface="Trebuchet MS"/>
                <a:cs typeface="Trebuchet MS"/>
              </a:rPr>
              <a:t>a.ds=</a:t>
            </a:r>
            <a:r>
              <a:rPr sz="1400" spc="20" dirty="0" smtClean="0">
                <a:latin typeface="Trebuchet MS"/>
                <a:cs typeface="Trebuchet MS"/>
              </a:rPr>
              <a:t>'</a:t>
            </a:r>
            <a:r>
              <a:rPr lang="en-US" sz="1400" spc="20" dirty="0" smtClean="0">
                <a:latin typeface="Trebuchet MS"/>
                <a:cs typeface="Trebuchet MS"/>
              </a:rPr>
              <a:t>First</a:t>
            </a:r>
            <a:r>
              <a:rPr sz="1400" spc="20" dirty="0" smtClean="0">
                <a:latin typeface="Trebuchet MS"/>
                <a:cs typeface="Trebuchet MS"/>
              </a:rPr>
              <a:t>';</a:t>
            </a:r>
            <a:endParaRPr sz="1400" dirty="0">
              <a:latin typeface="Trebuchet MS"/>
              <a:cs typeface="Trebuchet MS"/>
            </a:endParaRPr>
          </a:p>
        </p:txBody>
      </p:sp>
      <p:sp>
        <p:nvSpPr>
          <p:cNvPr id="7" name="object 7"/>
          <p:cNvSpPr txBox="1"/>
          <p:nvPr/>
        </p:nvSpPr>
        <p:spPr>
          <a:xfrm>
            <a:off x="1155191" y="3439160"/>
            <a:ext cx="9677400" cy="474489"/>
          </a:xfrm>
          <a:prstGeom prst="rect">
            <a:avLst/>
          </a:prstGeom>
          <a:solidFill>
            <a:srgbClr val="D9D9D9"/>
          </a:solidFill>
        </p:spPr>
        <p:txBody>
          <a:bodyPr vert="horz" wrap="square" lIns="0" tIns="43180" rIns="0" bIns="0" rtlCol="0">
            <a:spAutoFit/>
          </a:bodyPr>
          <a:lstStyle/>
          <a:p>
            <a:pPr marL="90805">
              <a:lnSpc>
                <a:spcPct val="100000"/>
              </a:lnSpc>
              <a:spcBef>
                <a:spcPts val="340"/>
              </a:spcBef>
            </a:pPr>
            <a:r>
              <a:rPr sz="1400" spc="10" dirty="0">
                <a:latin typeface="Trebuchet MS"/>
                <a:cs typeface="Trebuchet MS"/>
              </a:rPr>
              <a:t>hive&gt; </a:t>
            </a:r>
            <a:r>
              <a:rPr sz="1400" spc="125" dirty="0">
                <a:latin typeface="Trebuchet MS"/>
                <a:cs typeface="Trebuchet MS"/>
              </a:rPr>
              <a:t>FROM </a:t>
            </a:r>
            <a:r>
              <a:rPr sz="1400" spc="-15" dirty="0">
                <a:latin typeface="Trebuchet MS"/>
                <a:cs typeface="Trebuchet MS"/>
              </a:rPr>
              <a:t>invites </a:t>
            </a:r>
            <a:r>
              <a:rPr sz="1400" spc="40" dirty="0">
                <a:latin typeface="Trebuchet MS"/>
                <a:cs typeface="Trebuchet MS"/>
              </a:rPr>
              <a:t>a </a:t>
            </a:r>
            <a:r>
              <a:rPr sz="1400" spc="45" dirty="0">
                <a:latin typeface="Trebuchet MS"/>
                <a:cs typeface="Trebuchet MS"/>
              </a:rPr>
              <a:t>INSERT </a:t>
            </a:r>
            <a:r>
              <a:rPr sz="1400" spc="50" dirty="0">
                <a:latin typeface="Trebuchet MS"/>
                <a:cs typeface="Trebuchet MS"/>
              </a:rPr>
              <a:t>OVERWRITE </a:t>
            </a:r>
            <a:r>
              <a:rPr sz="1400" spc="25" dirty="0">
                <a:latin typeface="Trebuchet MS"/>
                <a:cs typeface="Trebuchet MS"/>
              </a:rPr>
              <a:t>TABLE </a:t>
            </a:r>
            <a:r>
              <a:rPr lang="en-US" sz="1400" spc="-5" dirty="0">
                <a:latin typeface="Trebuchet MS"/>
                <a:cs typeface="Trebuchet MS"/>
              </a:rPr>
              <a:t>workshops</a:t>
            </a:r>
            <a:r>
              <a:rPr sz="1400" spc="-5" dirty="0" smtClean="0">
                <a:latin typeface="Trebuchet MS"/>
                <a:cs typeface="Trebuchet MS"/>
              </a:rPr>
              <a:t> </a:t>
            </a:r>
            <a:r>
              <a:rPr sz="1400" spc="15" dirty="0">
                <a:latin typeface="Trebuchet MS"/>
                <a:cs typeface="Trebuchet MS"/>
              </a:rPr>
              <a:t>SELECT </a:t>
            </a:r>
            <a:r>
              <a:rPr sz="1400" spc="-50" dirty="0">
                <a:latin typeface="Trebuchet MS"/>
                <a:cs typeface="Trebuchet MS"/>
              </a:rPr>
              <a:t>a.bar, </a:t>
            </a:r>
            <a:r>
              <a:rPr sz="1400" spc="20" dirty="0">
                <a:latin typeface="Trebuchet MS"/>
                <a:cs typeface="Trebuchet MS"/>
              </a:rPr>
              <a:t>count(*) </a:t>
            </a:r>
            <a:r>
              <a:rPr sz="1400" spc="70" dirty="0">
                <a:latin typeface="Trebuchet MS"/>
                <a:cs typeface="Trebuchet MS"/>
              </a:rPr>
              <a:t>WHERE </a:t>
            </a:r>
            <a:r>
              <a:rPr sz="1400" spc="-15" dirty="0">
                <a:latin typeface="Trebuchet MS"/>
                <a:cs typeface="Trebuchet MS"/>
              </a:rPr>
              <a:t>a.foo </a:t>
            </a:r>
            <a:r>
              <a:rPr sz="1400" spc="70" dirty="0">
                <a:latin typeface="Trebuchet MS"/>
                <a:cs typeface="Trebuchet MS"/>
              </a:rPr>
              <a:t>&gt; </a:t>
            </a:r>
            <a:r>
              <a:rPr sz="1400" spc="50" dirty="0">
                <a:latin typeface="Trebuchet MS"/>
                <a:cs typeface="Trebuchet MS"/>
              </a:rPr>
              <a:t>0 </a:t>
            </a:r>
            <a:r>
              <a:rPr sz="1400" spc="70" dirty="0">
                <a:latin typeface="Trebuchet MS"/>
                <a:cs typeface="Trebuchet MS"/>
              </a:rPr>
              <a:t>GROUP</a:t>
            </a:r>
            <a:r>
              <a:rPr sz="1400" spc="-265" dirty="0">
                <a:latin typeface="Trebuchet MS"/>
                <a:cs typeface="Trebuchet MS"/>
              </a:rPr>
              <a:t> </a:t>
            </a:r>
            <a:r>
              <a:rPr sz="1400" spc="15" dirty="0">
                <a:latin typeface="Trebuchet MS"/>
                <a:cs typeface="Trebuchet MS"/>
              </a:rPr>
              <a:t>BY </a:t>
            </a:r>
            <a:r>
              <a:rPr sz="1400" spc="-50" dirty="0">
                <a:latin typeface="Trebuchet MS"/>
                <a:cs typeface="Trebuchet MS"/>
              </a:rPr>
              <a:t>a.bar;</a:t>
            </a:r>
            <a:endParaRPr sz="1400" dirty="0">
              <a:latin typeface="Trebuchet MS"/>
              <a:cs typeface="Trebuchet MS"/>
            </a:endParaRPr>
          </a:p>
          <a:p>
            <a:pPr marL="90805">
              <a:lnSpc>
                <a:spcPct val="100000"/>
              </a:lnSpc>
            </a:pPr>
            <a:r>
              <a:rPr sz="1400" spc="10" dirty="0">
                <a:latin typeface="Trebuchet MS"/>
                <a:cs typeface="Trebuchet MS"/>
              </a:rPr>
              <a:t>hive&gt; </a:t>
            </a:r>
            <a:r>
              <a:rPr sz="1400" spc="45" dirty="0">
                <a:latin typeface="Trebuchet MS"/>
                <a:cs typeface="Trebuchet MS"/>
              </a:rPr>
              <a:t>INSERT </a:t>
            </a:r>
            <a:r>
              <a:rPr sz="1400" spc="50" dirty="0">
                <a:latin typeface="Trebuchet MS"/>
                <a:cs typeface="Trebuchet MS"/>
              </a:rPr>
              <a:t>OVERWRITE </a:t>
            </a:r>
            <a:r>
              <a:rPr sz="1400" spc="25" dirty="0">
                <a:latin typeface="Trebuchet MS"/>
                <a:cs typeface="Trebuchet MS"/>
              </a:rPr>
              <a:t>TABLE </a:t>
            </a:r>
            <a:r>
              <a:rPr lang="en-US" sz="1400" spc="-5" dirty="0">
                <a:latin typeface="Trebuchet MS"/>
                <a:cs typeface="Trebuchet MS"/>
              </a:rPr>
              <a:t>workshops</a:t>
            </a:r>
            <a:r>
              <a:rPr sz="1400" spc="-5" dirty="0" smtClean="0">
                <a:latin typeface="Trebuchet MS"/>
                <a:cs typeface="Trebuchet MS"/>
              </a:rPr>
              <a:t> </a:t>
            </a:r>
            <a:r>
              <a:rPr sz="1400" spc="15" dirty="0">
                <a:latin typeface="Trebuchet MS"/>
                <a:cs typeface="Trebuchet MS"/>
              </a:rPr>
              <a:t>SELECT </a:t>
            </a:r>
            <a:r>
              <a:rPr lang="en-US" sz="1400" spc="20" dirty="0">
                <a:latin typeface="Trebuchet MS"/>
                <a:cs typeface="Trebuchet MS"/>
              </a:rPr>
              <a:t>count</a:t>
            </a:r>
            <a:r>
              <a:rPr lang="en-US" sz="1400" spc="20" dirty="0" smtClean="0">
                <a:latin typeface="Trebuchet MS"/>
                <a:cs typeface="Trebuchet MS"/>
              </a:rPr>
              <a:t>(*), </a:t>
            </a:r>
            <a:r>
              <a:rPr sz="1400" spc="-50" dirty="0" err="1" smtClean="0">
                <a:latin typeface="Trebuchet MS"/>
                <a:cs typeface="Trebuchet MS"/>
              </a:rPr>
              <a:t>a.bar</a:t>
            </a:r>
            <a:r>
              <a:rPr sz="1400" spc="-50" dirty="0" smtClean="0">
                <a:latin typeface="Trebuchet MS"/>
                <a:cs typeface="Trebuchet MS"/>
              </a:rPr>
              <a:t> </a:t>
            </a:r>
            <a:r>
              <a:rPr sz="1400" spc="125" dirty="0" smtClean="0">
                <a:latin typeface="Trebuchet MS"/>
                <a:cs typeface="Trebuchet MS"/>
              </a:rPr>
              <a:t>FROM</a:t>
            </a:r>
            <a:r>
              <a:rPr sz="1400" spc="-275" dirty="0" smtClean="0">
                <a:latin typeface="Trebuchet MS"/>
                <a:cs typeface="Trebuchet MS"/>
              </a:rPr>
              <a:t> </a:t>
            </a:r>
            <a:r>
              <a:rPr sz="1400" spc="-10" dirty="0">
                <a:latin typeface="Trebuchet MS"/>
                <a:cs typeface="Trebuchet MS"/>
              </a:rPr>
              <a:t>invites </a:t>
            </a:r>
            <a:r>
              <a:rPr sz="1400" spc="40" dirty="0">
                <a:latin typeface="Trebuchet MS"/>
                <a:cs typeface="Trebuchet MS"/>
              </a:rPr>
              <a:t>a </a:t>
            </a:r>
            <a:r>
              <a:rPr sz="1400" spc="70" dirty="0">
                <a:latin typeface="Trebuchet MS"/>
                <a:cs typeface="Trebuchet MS"/>
              </a:rPr>
              <a:t>WHERE </a:t>
            </a:r>
            <a:r>
              <a:rPr sz="1400" spc="-15" dirty="0">
                <a:latin typeface="Trebuchet MS"/>
                <a:cs typeface="Trebuchet MS"/>
              </a:rPr>
              <a:t>a.foo </a:t>
            </a:r>
            <a:r>
              <a:rPr sz="1400" spc="75" dirty="0">
                <a:latin typeface="Trebuchet MS"/>
                <a:cs typeface="Trebuchet MS"/>
              </a:rPr>
              <a:t>&gt; </a:t>
            </a:r>
            <a:r>
              <a:rPr sz="1400" spc="50" dirty="0">
                <a:latin typeface="Trebuchet MS"/>
                <a:cs typeface="Trebuchet MS"/>
              </a:rPr>
              <a:t>0 </a:t>
            </a:r>
            <a:r>
              <a:rPr sz="1400" spc="70" dirty="0">
                <a:latin typeface="Trebuchet MS"/>
                <a:cs typeface="Trebuchet MS"/>
              </a:rPr>
              <a:t>GROUP </a:t>
            </a:r>
            <a:r>
              <a:rPr sz="1400" spc="15" dirty="0">
                <a:latin typeface="Trebuchet MS"/>
                <a:cs typeface="Trebuchet MS"/>
              </a:rPr>
              <a:t>BY </a:t>
            </a:r>
            <a:r>
              <a:rPr sz="1400" spc="-50" dirty="0">
                <a:latin typeface="Trebuchet MS"/>
                <a:cs typeface="Trebuchet MS"/>
              </a:rPr>
              <a:t>a.bar;</a:t>
            </a:r>
            <a:endParaRPr sz="1400" dirty="0">
              <a:latin typeface="Trebuchet MS"/>
              <a:cs typeface="Trebuchet MS"/>
            </a:endParaRP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690065" y="727937"/>
            <a:ext cx="7510476" cy="567463"/>
          </a:xfrm>
          <a:prstGeom prst="rect">
            <a:avLst/>
          </a:prstGeom>
        </p:spPr>
        <p:txBody>
          <a:bodyPr vert="horz" wrap="square" lIns="0" tIns="13335" rIns="0" bIns="0" rtlCol="0">
            <a:spAutoFit/>
          </a:bodyPr>
          <a:lstStyle/>
          <a:p>
            <a:pPr marL="12700">
              <a:lnSpc>
                <a:spcPct val="100000"/>
              </a:lnSpc>
              <a:spcBef>
                <a:spcPts val="105"/>
              </a:spcBef>
            </a:pPr>
            <a:r>
              <a:rPr spc="240" dirty="0"/>
              <a:t>DQL </a:t>
            </a:r>
            <a:r>
              <a:rPr spc="45" dirty="0"/>
              <a:t>Operations</a:t>
            </a:r>
            <a:r>
              <a:rPr spc="-245" dirty="0"/>
              <a:t> </a:t>
            </a:r>
            <a:r>
              <a:rPr spc="130" dirty="0"/>
              <a:t>(2)</a:t>
            </a:r>
          </a:p>
        </p:txBody>
      </p:sp>
      <p:sp>
        <p:nvSpPr>
          <p:cNvPr id="3" name="object 3"/>
          <p:cNvSpPr txBox="1"/>
          <p:nvPr/>
        </p:nvSpPr>
        <p:spPr>
          <a:xfrm>
            <a:off x="977595" y="1721611"/>
            <a:ext cx="2265045" cy="269240"/>
          </a:xfrm>
          <a:prstGeom prst="rect">
            <a:avLst/>
          </a:prstGeom>
        </p:spPr>
        <p:txBody>
          <a:bodyPr vert="horz" wrap="square" lIns="0" tIns="12065" rIns="0" bIns="0" rtlCol="0">
            <a:spAutoFit/>
          </a:bodyPr>
          <a:lstStyle/>
          <a:p>
            <a:pPr marL="12700">
              <a:lnSpc>
                <a:spcPct val="100000"/>
              </a:lnSpc>
              <a:spcBef>
                <a:spcPts val="95"/>
              </a:spcBef>
            </a:pPr>
            <a:r>
              <a:rPr sz="1600" b="1" spc="45" dirty="0">
                <a:latin typeface="Trebuchet MS"/>
                <a:cs typeface="Trebuchet MS"/>
              </a:rPr>
              <a:t>--MULTITABLE</a:t>
            </a:r>
            <a:r>
              <a:rPr sz="1600" b="1" spc="10" dirty="0">
                <a:latin typeface="Trebuchet MS"/>
                <a:cs typeface="Trebuchet MS"/>
              </a:rPr>
              <a:t> </a:t>
            </a:r>
            <a:r>
              <a:rPr sz="1600" b="1" spc="25" dirty="0">
                <a:latin typeface="Trebuchet MS"/>
                <a:cs typeface="Trebuchet MS"/>
              </a:rPr>
              <a:t>INSERT:</a:t>
            </a:r>
            <a:endParaRPr sz="1600" dirty="0">
              <a:latin typeface="Trebuchet MS"/>
              <a:cs typeface="Trebuchet MS"/>
            </a:endParaRPr>
          </a:p>
        </p:txBody>
      </p:sp>
      <p:sp>
        <p:nvSpPr>
          <p:cNvPr id="4" name="object 4"/>
          <p:cNvSpPr txBox="1"/>
          <p:nvPr/>
        </p:nvSpPr>
        <p:spPr>
          <a:xfrm>
            <a:off x="977595" y="3087497"/>
            <a:ext cx="700405" cy="269240"/>
          </a:xfrm>
          <a:prstGeom prst="rect">
            <a:avLst/>
          </a:prstGeom>
        </p:spPr>
        <p:txBody>
          <a:bodyPr vert="horz" wrap="square" lIns="0" tIns="12065" rIns="0" bIns="0" rtlCol="0">
            <a:spAutoFit/>
          </a:bodyPr>
          <a:lstStyle/>
          <a:p>
            <a:pPr marL="12700">
              <a:lnSpc>
                <a:spcPct val="100000"/>
              </a:lnSpc>
              <a:spcBef>
                <a:spcPts val="95"/>
              </a:spcBef>
            </a:pPr>
            <a:r>
              <a:rPr sz="1600" b="1" spc="30" dirty="0">
                <a:latin typeface="Trebuchet MS"/>
                <a:cs typeface="Trebuchet MS"/>
              </a:rPr>
              <a:t>--</a:t>
            </a:r>
            <a:r>
              <a:rPr sz="1600" b="1" spc="-45" dirty="0">
                <a:latin typeface="Trebuchet MS"/>
                <a:cs typeface="Trebuchet MS"/>
              </a:rPr>
              <a:t>J</a:t>
            </a:r>
            <a:r>
              <a:rPr sz="1600" b="1" spc="-55" dirty="0">
                <a:latin typeface="Trebuchet MS"/>
                <a:cs typeface="Trebuchet MS"/>
              </a:rPr>
              <a:t>O</a:t>
            </a:r>
            <a:r>
              <a:rPr sz="1600" b="1" spc="25" dirty="0">
                <a:latin typeface="Trebuchet MS"/>
                <a:cs typeface="Trebuchet MS"/>
              </a:rPr>
              <a:t>IN:</a:t>
            </a:r>
            <a:endParaRPr sz="1600">
              <a:latin typeface="Trebuchet MS"/>
              <a:cs typeface="Trebuchet MS"/>
            </a:endParaRPr>
          </a:p>
        </p:txBody>
      </p:sp>
      <p:sp>
        <p:nvSpPr>
          <p:cNvPr id="6" name="object 6"/>
          <p:cNvSpPr txBox="1"/>
          <p:nvPr/>
        </p:nvSpPr>
        <p:spPr>
          <a:xfrm>
            <a:off x="1129283" y="2156206"/>
            <a:ext cx="8488680" cy="739140"/>
          </a:xfrm>
          <a:prstGeom prst="rect">
            <a:avLst/>
          </a:prstGeom>
          <a:solidFill>
            <a:srgbClr val="D9D9D9"/>
          </a:solidFill>
        </p:spPr>
        <p:txBody>
          <a:bodyPr vert="horz" wrap="square" lIns="0" tIns="43180" rIns="0" bIns="0" rtlCol="0">
            <a:spAutoFit/>
          </a:bodyPr>
          <a:lstStyle/>
          <a:p>
            <a:pPr marL="91440">
              <a:lnSpc>
                <a:spcPct val="100000"/>
              </a:lnSpc>
              <a:spcBef>
                <a:spcPts val="340"/>
              </a:spcBef>
            </a:pPr>
            <a:r>
              <a:rPr sz="1400" spc="125" dirty="0">
                <a:latin typeface="Trebuchet MS"/>
                <a:cs typeface="Trebuchet MS"/>
              </a:rPr>
              <a:t>FROM</a:t>
            </a:r>
            <a:r>
              <a:rPr sz="1400" spc="-5" dirty="0">
                <a:latin typeface="Trebuchet MS"/>
                <a:cs typeface="Trebuchet MS"/>
              </a:rPr>
              <a:t> </a:t>
            </a:r>
            <a:r>
              <a:rPr sz="1400" spc="-20" dirty="0">
                <a:latin typeface="Trebuchet MS"/>
                <a:cs typeface="Trebuchet MS"/>
              </a:rPr>
              <a:t>src</a:t>
            </a:r>
            <a:endParaRPr sz="1400">
              <a:latin typeface="Trebuchet MS"/>
              <a:cs typeface="Trebuchet MS"/>
            </a:endParaRPr>
          </a:p>
          <a:p>
            <a:pPr marL="203200">
              <a:lnSpc>
                <a:spcPct val="100000"/>
              </a:lnSpc>
            </a:pPr>
            <a:r>
              <a:rPr sz="1400" spc="45" dirty="0">
                <a:latin typeface="Trebuchet MS"/>
                <a:cs typeface="Trebuchet MS"/>
              </a:rPr>
              <a:t>INSERT </a:t>
            </a:r>
            <a:r>
              <a:rPr sz="1400" spc="50" dirty="0">
                <a:latin typeface="Trebuchet MS"/>
                <a:cs typeface="Trebuchet MS"/>
              </a:rPr>
              <a:t>OVERWRITE </a:t>
            </a:r>
            <a:r>
              <a:rPr sz="1400" spc="25" dirty="0">
                <a:latin typeface="Trebuchet MS"/>
                <a:cs typeface="Trebuchet MS"/>
              </a:rPr>
              <a:t>TABLE </a:t>
            </a:r>
            <a:r>
              <a:rPr sz="1400" spc="5" dirty="0">
                <a:latin typeface="Trebuchet MS"/>
                <a:cs typeface="Trebuchet MS"/>
              </a:rPr>
              <a:t>dest1 </a:t>
            </a:r>
            <a:r>
              <a:rPr sz="1400" spc="15" dirty="0">
                <a:latin typeface="Trebuchet MS"/>
                <a:cs typeface="Trebuchet MS"/>
              </a:rPr>
              <a:t>SELECT </a:t>
            </a:r>
            <a:r>
              <a:rPr sz="1400" spc="-55" dirty="0">
                <a:latin typeface="Trebuchet MS"/>
                <a:cs typeface="Trebuchet MS"/>
              </a:rPr>
              <a:t>src.* </a:t>
            </a:r>
            <a:r>
              <a:rPr sz="1400" spc="70" dirty="0">
                <a:latin typeface="Trebuchet MS"/>
                <a:cs typeface="Trebuchet MS"/>
              </a:rPr>
              <a:t>WHERE </a:t>
            </a:r>
            <a:r>
              <a:rPr sz="1400" spc="-35" dirty="0">
                <a:latin typeface="Trebuchet MS"/>
                <a:cs typeface="Trebuchet MS"/>
              </a:rPr>
              <a:t>src.key </a:t>
            </a:r>
            <a:r>
              <a:rPr sz="1400" spc="70" dirty="0">
                <a:latin typeface="Trebuchet MS"/>
                <a:cs typeface="Trebuchet MS"/>
              </a:rPr>
              <a:t>&lt;</a:t>
            </a:r>
            <a:r>
              <a:rPr sz="1400" spc="-114" dirty="0">
                <a:latin typeface="Trebuchet MS"/>
                <a:cs typeface="Trebuchet MS"/>
              </a:rPr>
              <a:t> </a:t>
            </a:r>
            <a:r>
              <a:rPr sz="1400" spc="45" dirty="0">
                <a:latin typeface="Trebuchet MS"/>
                <a:cs typeface="Trebuchet MS"/>
              </a:rPr>
              <a:t>100</a:t>
            </a:r>
            <a:endParaRPr sz="1400">
              <a:latin typeface="Trebuchet MS"/>
              <a:cs typeface="Trebuchet MS"/>
            </a:endParaRPr>
          </a:p>
          <a:p>
            <a:pPr marL="203200">
              <a:lnSpc>
                <a:spcPct val="100000"/>
              </a:lnSpc>
            </a:pPr>
            <a:r>
              <a:rPr sz="1400" spc="45" dirty="0">
                <a:latin typeface="Trebuchet MS"/>
                <a:cs typeface="Trebuchet MS"/>
              </a:rPr>
              <a:t>INSERT </a:t>
            </a:r>
            <a:r>
              <a:rPr sz="1400" spc="50" dirty="0">
                <a:latin typeface="Trebuchet MS"/>
                <a:cs typeface="Trebuchet MS"/>
              </a:rPr>
              <a:t>OVERWRITE </a:t>
            </a:r>
            <a:r>
              <a:rPr sz="1400" spc="25" dirty="0">
                <a:latin typeface="Trebuchet MS"/>
                <a:cs typeface="Trebuchet MS"/>
              </a:rPr>
              <a:t>TABLE </a:t>
            </a:r>
            <a:r>
              <a:rPr sz="1400" spc="5" dirty="0">
                <a:latin typeface="Trebuchet MS"/>
                <a:cs typeface="Trebuchet MS"/>
              </a:rPr>
              <a:t>dest2 </a:t>
            </a:r>
            <a:r>
              <a:rPr sz="1400" spc="15" dirty="0">
                <a:latin typeface="Trebuchet MS"/>
                <a:cs typeface="Trebuchet MS"/>
              </a:rPr>
              <a:t>SELECT </a:t>
            </a:r>
            <a:r>
              <a:rPr sz="1400" spc="-55" dirty="0">
                <a:latin typeface="Trebuchet MS"/>
                <a:cs typeface="Trebuchet MS"/>
              </a:rPr>
              <a:t>src.key, </a:t>
            </a:r>
            <a:r>
              <a:rPr sz="1400" spc="-25" dirty="0">
                <a:latin typeface="Trebuchet MS"/>
                <a:cs typeface="Trebuchet MS"/>
              </a:rPr>
              <a:t>src.value </a:t>
            </a:r>
            <a:r>
              <a:rPr sz="1400" spc="70" dirty="0">
                <a:latin typeface="Trebuchet MS"/>
                <a:cs typeface="Trebuchet MS"/>
              </a:rPr>
              <a:t>WHERE </a:t>
            </a:r>
            <a:r>
              <a:rPr sz="1400" spc="-35" dirty="0">
                <a:latin typeface="Trebuchet MS"/>
                <a:cs typeface="Trebuchet MS"/>
              </a:rPr>
              <a:t>src.key </a:t>
            </a:r>
            <a:r>
              <a:rPr sz="1400" spc="70" dirty="0">
                <a:latin typeface="Trebuchet MS"/>
                <a:cs typeface="Trebuchet MS"/>
              </a:rPr>
              <a:t>&gt;= </a:t>
            </a:r>
            <a:r>
              <a:rPr sz="1400" spc="45" dirty="0">
                <a:latin typeface="Trebuchet MS"/>
                <a:cs typeface="Trebuchet MS"/>
              </a:rPr>
              <a:t>100 </a:t>
            </a:r>
            <a:r>
              <a:rPr sz="1400" spc="35" dirty="0">
                <a:latin typeface="Trebuchet MS"/>
                <a:cs typeface="Trebuchet MS"/>
              </a:rPr>
              <a:t>and </a:t>
            </a:r>
            <a:r>
              <a:rPr sz="1400" spc="-35" dirty="0">
                <a:latin typeface="Trebuchet MS"/>
                <a:cs typeface="Trebuchet MS"/>
              </a:rPr>
              <a:t>src.key </a:t>
            </a:r>
            <a:r>
              <a:rPr sz="1400" spc="70" dirty="0">
                <a:latin typeface="Trebuchet MS"/>
                <a:cs typeface="Trebuchet MS"/>
              </a:rPr>
              <a:t>&lt;</a:t>
            </a:r>
            <a:r>
              <a:rPr sz="1400" spc="-110" dirty="0">
                <a:latin typeface="Trebuchet MS"/>
                <a:cs typeface="Trebuchet MS"/>
              </a:rPr>
              <a:t> </a:t>
            </a:r>
            <a:r>
              <a:rPr sz="1400" spc="-10" dirty="0">
                <a:latin typeface="Trebuchet MS"/>
                <a:cs typeface="Trebuchet MS"/>
              </a:rPr>
              <a:t>200;</a:t>
            </a:r>
            <a:endParaRPr sz="1400">
              <a:latin typeface="Trebuchet MS"/>
              <a:cs typeface="Trebuchet MS"/>
            </a:endParaRPr>
          </a:p>
        </p:txBody>
      </p:sp>
      <p:sp>
        <p:nvSpPr>
          <p:cNvPr id="7" name="object 7"/>
          <p:cNvSpPr txBox="1"/>
          <p:nvPr/>
        </p:nvSpPr>
        <p:spPr>
          <a:xfrm>
            <a:off x="1129283" y="3463797"/>
            <a:ext cx="10210800" cy="307975"/>
          </a:xfrm>
          <a:prstGeom prst="rect">
            <a:avLst/>
          </a:prstGeom>
          <a:solidFill>
            <a:srgbClr val="D9D9D9"/>
          </a:solidFill>
        </p:spPr>
        <p:txBody>
          <a:bodyPr vert="horz" wrap="square" lIns="0" tIns="44450" rIns="0" bIns="0" rtlCol="0">
            <a:spAutoFit/>
          </a:bodyPr>
          <a:lstStyle/>
          <a:p>
            <a:pPr marL="91440">
              <a:lnSpc>
                <a:spcPct val="100000"/>
              </a:lnSpc>
              <a:spcBef>
                <a:spcPts val="350"/>
              </a:spcBef>
            </a:pPr>
            <a:r>
              <a:rPr sz="1400" spc="10" dirty="0">
                <a:latin typeface="Trebuchet MS"/>
                <a:cs typeface="Trebuchet MS"/>
              </a:rPr>
              <a:t>hive&gt; </a:t>
            </a:r>
            <a:r>
              <a:rPr sz="1400" spc="125" dirty="0">
                <a:latin typeface="Trebuchet MS"/>
                <a:cs typeface="Trebuchet MS"/>
              </a:rPr>
              <a:t>FROM </a:t>
            </a:r>
            <a:r>
              <a:rPr sz="1400" spc="20" dirty="0">
                <a:latin typeface="Trebuchet MS"/>
                <a:cs typeface="Trebuchet MS"/>
              </a:rPr>
              <a:t>pokes </a:t>
            </a:r>
            <a:r>
              <a:rPr sz="1400" spc="5" dirty="0">
                <a:latin typeface="Trebuchet MS"/>
                <a:cs typeface="Trebuchet MS"/>
              </a:rPr>
              <a:t>t1 </a:t>
            </a:r>
            <a:r>
              <a:rPr sz="1400" spc="35" dirty="0">
                <a:latin typeface="Trebuchet MS"/>
                <a:cs typeface="Trebuchet MS"/>
              </a:rPr>
              <a:t>JOIN </a:t>
            </a:r>
            <a:r>
              <a:rPr sz="1400" spc="-15" dirty="0">
                <a:latin typeface="Trebuchet MS"/>
                <a:cs typeface="Trebuchet MS"/>
              </a:rPr>
              <a:t>invites </a:t>
            </a:r>
            <a:r>
              <a:rPr sz="1400" spc="5" dirty="0">
                <a:latin typeface="Trebuchet MS"/>
                <a:cs typeface="Trebuchet MS"/>
              </a:rPr>
              <a:t>t2 </a:t>
            </a:r>
            <a:r>
              <a:rPr sz="1400" spc="165" dirty="0">
                <a:latin typeface="Trebuchet MS"/>
                <a:cs typeface="Trebuchet MS"/>
              </a:rPr>
              <a:t>ON </a:t>
            </a:r>
            <a:r>
              <a:rPr sz="1400" spc="-15" dirty="0">
                <a:latin typeface="Trebuchet MS"/>
                <a:cs typeface="Trebuchet MS"/>
              </a:rPr>
              <a:t>(t1.bar </a:t>
            </a:r>
            <a:r>
              <a:rPr sz="1400" spc="70" dirty="0">
                <a:latin typeface="Trebuchet MS"/>
                <a:cs typeface="Trebuchet MS"/>
              </a:rPr>
              <a:t>= </a:t>
            </a:r>
            <a:r>
              <a:rPr sz="1400" spc="-15" dirty="0">
                <a:latin typeface="Trebuchet MS"/>
                <a:cs typeface="Trebuchet MS"/>
              </a:rPr>
              <a:t>t2.bar) </a:t>
            </a:r>
            <a:r>
              <a:rPr sz="1400" spc="45" dirty="0">
                <a:latin typeface="Trebuchet MS"/>
                <a:cs typeface="Trebuchet MS"/>
              </a:rPr>
              <a:t>INSERT </a:t>
            </a:r>
            <a:r>
              <a:rPr sz="1400" spc="50" dirty="0">
                <a:latin typeface="Trebuchet MS"/>
                <a:cs typeface="Trebuchet MS"/>
              </a:rPr>
              <a:t>OVERWRITE </a:t>
            </a:r>
            <a:r>
              <a:rPr sz="1400" spc="25" dirty="0">
                <a:latin typeface="Trebuchet MS"/>
                <a:cs typeface="Trebuchet MS"/>
              </a:rPr>
              <a:t>TABLE </a:t>
            </a:r>
            <a:r>
              <a:rPr sz="1400" spc="-5" dirty="0">
                <a:latin typeface="Trebuchet MS"/>
                <a:cs typeface="Trebuchet MS"/>
              </a:rPr>
              <a:t>events </a:t>
            </a:r>
            <a:r>
              <a:rPr sz="1400" spc="15" dirty="0">
                <a:latin typeface="Trebuchet MS"/>
                <a:cs typeface="Trebuchet MS"/>
              </a:rPr>
              <a:t>SELECT </a:t>
            </a:r>
            <a:r>
              <a:rPr sz="1400" spc="-50" dirty="0">
                <a:latin typeface="Trebuchet MS"/>
                <a:cs typeface="Trebuchet MS"/>
              </a:rPr>
              <a:t>t1.bar, </a:t>
            </a:r>
            <a:r>
              <a:rPr sz="1400" spc="-45" dirty="0">
                <a:latin typeface="Trebuchet MS"/>
                <a:cs typeface="Trebuchet MS"/>
              </a:rPr>
              <a:t>t1.foo,</a:t>
            </a:r>
            <a:r>
              <a:rPr sz="1400" spc="-280" dirty="0">
                <a:latin typeface="Trebuchet MS"/>
                <a:cs typeface="Trebuchet MS"/>
              </a:rPr>
              <a:t> </a:t>
            </a:r>
            <a:r>
              <a:rPr sz="1400" spc="-45" dirty="0">
                <a:latin typeface="Trebuchet MS"/>
                <a:cs typeface="Trebuchet MS"/>
              </a:rPr>
              <a:t>t2.foo;</a:t>
            </a:r>
            <a:endParaRPr sz="1400">
              <a:latin typeface="Trebuchet MS"/>
              <a:cs typeface="Trebuchet MS"/>
            </a:endParaRP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object 5"/>
          <p:cNvSpPr txBox="1"/>
          <p:nvPr/>
        </p:nvSpPr>
        <p:spPr>
          <a:xfrm>
            <a:off x="977595" y="3941190"/>
            <a:ext cx="1424940" cy="258404"/>
          </a:xfrm>
          <a:prstGeom prst="rect">
            <a:avLst/>
          </a:prstGeom>
        </p:spPr>
        <p:txBody>
          <a:bodyPr vert="horz" wrap="square" lIns="0" tIns="12065" rIns="0" bIns="0" rtlCol="0">
            <a:spAutoFit/>
          </a:bodyPr>
          <a:lstStyle/>
          <a:p>
            <a:pPr marL="12700">
              <a:lnSpc>
                <a:spcPct val="100000"/>
              </a:lnSpc>
              <a:spcBef>
                <a:spcPts val="95"/>
              </a:spcBef>
            </a:pPr>
            <a:r>
              <a:rPr sz="1600" b="1" spc="60" dirty="0">
                <a:latin typeface="Trebuchet MS"/>
                <a:cs typeface="Trebuchet MS"/>
              </a:rPr>
              <a:t>--STREAMING:</a:t>
            </a:r>
            <a:endParaRPr sz="1600" dirty="0">
              <a:latin typeface="Trebuchet MS"/>
              <a:cs typeface="Trebuchet MS"/>
            </a:endParaRPr>
          </a:p>
        </p:txBody>
      </p:sp>
      <p:sp>
        <p:nvSpPr>
          <p:cNvPr id="5" name="object 8"/>
          <p:cNvSpPr txBox="1"/>
          <p:nvPr/>
        </p:nvSpPr>
        <p:spPr>
          <a:xfrm>
            <a:off x="1129283" y="4344670"/>
            <a:ext cx="9392920" cy="475130"/>
          </a:xfrm>
          <a:prstGeom prst="rect">
            <a:avLst/>
          </a:prstGeom>
          <a:solidFill>
            <a:srgbClr val="D9D9D9"/>
          </a:solidFill>
        </p:spPr>
        <p:txBody>
          <a:bodyPr vert="horz" wrap="square" lIns="0" tIns="43815" rIns="0" bIns="0" rtlCol="0">
            <a:spAutoFit/>
          </a:bodyPr>
          <a:lstStyle/>
          <a:p>
            <a:pPr marL="91440">
              <a:lnSpc>
                <a:spcPct val="100000"/>
              </a:lnSpc>
              <a:spcBef>
                <a:spcPts val="345"/>
              </a:spcBef>
            </a:pPr>
            <a:r>
              <a:rPr sz="1400" spc="10" dirty="0">
                <a:latin typeface="Trebuchet MS"/>
                <a:cs typeface="Trebuchet MS"/>
              </a:rPr>
              <a:t>hive&gt; </a:t>
            </a:r>
            <a:r>
              <a:rPr sz="1400" spc="125" dirty="0">
                <a:latin typeface="Trebuchet MS"/>
                <a:cs typeface="Trebuchet MS"/>
              </a:rPr>
              <a:t>FROM </a:t>
            </a:r>
            <a:r>
              <a:rPr sz="1400" spc="-10" dirty="0">
                <a:latin typeface="Trebuchet MS"/>
                <a:cs typeface="Trebuchet MS"/>
              </a:rPr>
              <a:t>invites </a:t>
            </a:r>
            <a:r>
              <a:rPr sz="1400" spc="40" dirty="0">
                <a:latin typeface="Trebuchet MS"/>
                <a:cs typeface="Trebuchet MS"/>
              </a:rPr>
              <a:t>a </a:t>
            </a:r>
            <a:r>
              <a:rPr sz="1400" spc="45" dirty="0">
                <a:latin typeface="Trebuchet MS"/>
                <a:cs typeface="Trebuchet MS"/>
              </a:rPr>
              <a:t>INSERT </a:t>
            </a:r>
            <a:r>
              <a:rPr sz="1400" spc="50" dirty="0">
                <a:latin typeface="Trebuchet MS"/>
                <a:cs typeface="Trebuchet MS"/>
              </a:rPr>
              <a:t>OVERWRITE </a:t>
            </a:r>
            <a:r>
              <a:rPr sz="1400" spc="25" dirty="0">
                <a:latin typeface="Trebuchet MS"/>
                <a:cs typeface="Trebuchet MS"/>
              </a:rPr>
              <a:t>TABLE </a:t>
            </a:r>
            <a:r>
              <a:rPr sz="1400" spc="-5" dirty="0">
                <a:latin typeface="Trebuchet MS"/>
                <a:cs typeface="Trebuchet MS"/>
              </a:rPr>
              <a:t>events </a:t>
            </a:r>
            <a:r>
              <a:rPr sz="1400" spc="15" dirty="0">
                <a:latin typeface="Trebuchet MS"/>
                <a:cs typeface="Trebuchet MS"/>
              </a:rPr>
              <a:t>SELECT </a:t>
            </a:r>
            <a:r>
              <a:rPr sz="1400" spc="40" dirty="0">
                <a:latin typeface="Trebuchet MS"/>
                <a:cs typeface="Trebuchet MS"/>
              </a:rPr>
              <a:t>TRANSFORM(a.foo, </a:t>
            </a:r>
            <a:r>
              <a:rPr sz="1400" spc="-10" dirty="0">
                <a:latin typeface="Trebuchet MS"/>
                <a:cs typeface="Trebuchet MS"/>
              </a:rPr>
              <a:t>a.bar) </a:t>
            </a:r>
            <a:r>
              <a:rPr sz="1400" spc="85" dirty="0">
                <a:latin typeface="Trebuchet MS"/>
                <a:cs typeface="Trebuchet MS"/>
              </a:rPr>
              <a:t>AS</a:t>
            </a:r>
            <a:r>
              <a:rPr sz="1400" spc="-280" dirty="0">
                <a:latin typeface="Trebuchet MS"/>
                <a:cs typeface="Trebuchet MS"/>
              </a:rPr>
              <a:t> </a:t>
            </a:r>
            <a:r>
              <a:rPr sz="1400" spc="-15" dirty="0">
                <a:latin typeface="Trebuchet MS"/>
                <a:cs typeface="Trebuchet MS"/>
              </a:rPr>
              <a:t>(oof, </a:t>
            </a:r>
            <a:r>
              <a:rPr sz="1400" spc="25" dirty="0">
                <a:latin typeface="Trebuchet MS"/>
                <a:cs typeface="Trebuchet MS"/>
              </a:rPr>
              <a:t>rab) </a:t>
            </a:r>
            <a:r>
              <a:rPr sz="1400" spc="80" dirty="0">
                <a:latin typeface="Trebuchet MS"/>
                <a:cs typeface="Trebuchet MS"/>
              </a:rPr>
              <a:t>USING</a:t>
            </a:r>
            <a:endParaRPr sz="1400" dirty="0">
              <a:latin typeface="Trebuchet MS"/>
              <a:cs typeface="Trebuchet MS"/>
            </a:endParaRPr>
          </a:p>
          <a:p>
            <a:pPr marL="91440">
              <a:lnSpc>
                <a:spcPct val="100000"/>
              </a:lnSpc>
            </a:pPr>
            <a:r>
              <a:rPr sz="1400" spc="-25" dirty="0">
                <a:latin typeface="Trebuchet MS"/>
                <a:cs typeface="Trebuchet MS"/>
              </a:rPr>
              <a:t>'/bin/cat' </a:t>
            </a:r>
            <a:r>
              <a:rPr sz="1400" spc="70" dirty="0">
                <a:latin typeface="Trebuchet MS"/>
                <a:cs typeface="Trebuchet MS"/>
              </a:rPr>
              <a:t>WHERE </a:t>
            </a:r>
            <a:r>
              <a:rPr sz="1400" spc="-30" dirty="0">
                <a:latin typeface="Trebuchet MS"/>
                <a:cs typeface="Trebuchet MS"/>
              </a:rPr>
              <a:t>a.ds </a:t>
            </a:r>
            <a:r>
              <a:rPr sz="1400" spc="70" dirty="0">
                <a:latin typeface="Trebuchet MS"/>
                <a:cs typeface="Trebuchet MS"/>
              </a:rPr>
              <a:t>&gt;</a:t>
            </a:r>
            <a:r>
              <a:rPr sz="1400" spc="-10" dirty="0">
                <a:latin typeface="Trebuchet MS"/>
                <a:cs typeface="Trebuchet MS"/>
              </a:rPr>
              <a:t> </a:t>
            </a:r>
            <a:r>
              <a:rPr sz="1400" spc="30" dirty="0" smtClean="0">
                <a:latin typeface="Trebuchet MS"/>
                <a:cs typeface="Trebuchet MS"/>
              </a:rPr>
              <a:t>'</a:t>
            </a:r>
            <a:r>
              <a:rPr lang="en-US" sz="1400" spc="30" dirty="0" smtClean="0">
                <a:latin typeface="Trebuchet MS"/>
                <a:cs typeface="Trebuchet MS"/>
              </a:rPr>
              <a:t>First</a:t>
            </a:r>
            <a:r>
              <a:rPr sz="1400" spc="30" dirty="0" smtClean="0">
                <a:latin typeface="Trebuchet MS"/>
                <a:cs typeface="Trebuchet MS"/>
              </a:rPr>
              <a:t>';</a:t>
            </a:r>
            <a:endParaRPr sz="1400" dirty="0">
              <a:latin typeface="Trebuchet MS"/>
              <a:cs typeface="Trebuchet MS"/>
            </a:endParaRPr>
          </a:p>
        </p:txBody>
      </p:sp>
    </p:spTree>
    <p:extLst>
      <p:ext uri="{BB962C8B-B14F-4D97-AF65-F5344CB8AC3E}">
        <p14:creationId xmlns:p14="http://schemas.microsoft.com/office/powerpoint/2010/main" val="61871768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EBEBEB"/>
          </a:solidFill>
        </p:spPr>
        <p:txBody>
          <a:bodyPr wrap="square" lIns="0" tIns="0" rIns="0" bIns="0" rtlCol="0"/>
          <a:lstStyle/>
          <a:p>
            <a:endParaRPr/>
          </a:p>
        </p:txBody>
      </p:sp>
      <p:sp>
        <p:nvSpPr>
          <p:cNvPr id="3" name="object 3"/>
          <p:cNvSpPr/>
          <p:nvPr/>
        </p:nvSpPr>
        <p:spPr>
          <a:xfrm>
            <a:off x="10195559" y="6320028"/>
            <a:ext cx="1269492" cy="271272"/>
          </a:xfrm>
          <a:prstGeom prst="rect">
            <a:avLst/>
          </a:prstGeom>
          <a:blipFill>
            <a:blip r:embed="rId2" cstate="print"/>
            <a:stretch>
              <a:fillRect/>
            </a:stretch>
          </a:blipFill>
        </p:spPr>
        <p:txBody>
          <a:bodyPr wrap="square" lIns="0" tIns="0" rIns="0" bIns="0" rtlCol="0"/>
          <a:lstStyle/>
          <a:p>
            <a:endParaRPr/>
          </a:p>
        </p:txBody>
      </p:sp>
      <p:sp>
        <p:nvSpPr>
          <p:cNvPr id="4" name="object 4"/>
          <p:cNvSpPr/>
          <p:nvPr/>
        </p:nvSpPr>
        <p:spPr>
          <a:xfrm>
            <a:off x="1030986" y="1349502"/>
            <a:ext cx="2196465" cy="0"/>
          </a:xfrm>
          <a:custGeom>
            <a:avLst/>
            <a:gdLst/>
            <a:ahLst/>
            <a:cxnLst/>
            <a:rect l="l" t="t" r="r" b="b"/>
            <a:pathLst>
              <a:path w="2196465">
                <a:moveTo>
                  <a:pt x="2195957" y="0"/>
                </a:moveTo>
                <a:lnTo>
                  <a:pt x="0" y="0"/>
                </a:lnTo>
              </a:path>
            </a:pathLst>
          </a:custGeom>
          <a:ln w="28956">
            <a:solidFill>
              <a:srgbClr val="C6000A"/>
            </a:solidFill>
          </a:ln>
        </p:spPr>
        <p:txBody>
          <a:bodyPr wrap="square" lIns="0" tIns="0" rIns="0" bIns="0" rtlCol="0"/>
          <a:lstStyle/>
          <a:p>
            <a:endParaRPr/>
          </a:p>
        </p:txBody>
      </p:sp>
      <p:sp>
        <p:nvSpPr>
          <p:cNvPr id="5" name="object 5"/>
          <p:cNvSpPr txBox="1">
            <a:spLocks noGrp="1"/>
          </p:cNvSpPr>
          <p:nvPr>
            <p:ph type="title"/>
          </p:nvPr>
        </p:nvSpPr>
        <p:spPr>
          <a:xfrm>
            <a:off x="997711" y="657301"/>
            <a:ext cx="4107689" cy="635000"/>
          </a:xfrm>
          <a:prstGeom prst="rect">
            <a:avLst/>
          </a:prstGeom>
        </p:spPr>
        <p:txBody>
          <a:bodyPr vert="horz" wrap="square" lIns="0" tIns="12065" rIns="0" bIns="0" rtlCol="0">
            <a:spAutoFit/>
          </a:bodyPr>
          <a:lstStyle/>
          <a:p>
            <a:pPr marL="12700">
              <a:lnSpc>
                <a:spcPct val="100000"/>
              </a:lnSpc>
              <a:spcBef>
                <a:spcPts val="95"/>
              </a:spcBef>
            </a:pPr>
            <a:r>
              <a:rPr sz="4000" spc="135" dirty="0">
                <a:solidFill>
                  <a:srgbClr val="404040"/>
                </a:solidFill>
              </a:rPr>
              <a:t>Summary</a:t>
            </a:r>
            <a:endParaRPr sz="4000" dirty="0"/>
          </a:p>
        </p:txBody>
      </p:sp>
      <p:sp>
        <p:nvSpPr>
          <p:cNvPr id="6" name="object 6"/>
          <p:cNvSpPr txBox="1"/>
          <p:nvPr/>
        </p:nvSpPr>
        <p:spPr>
          <a:xfrm>
            <a:off x="1097991" y="2088642"/>
            <a:ext cx="130175" cy="193675"/>
          </a:xfrm>
          <a:prstGeom prst="rect">
            <a:avLst/>
          </a:prstGeom>
        </p:spPr>
        <p:txBody>
          <a:bodyPr vert="horz" wrap="square" lIns="0" tIns="13335" rIns="0" bIns="0" rtlCol="0">
            <a:spAutoFit/>
          </a:bodyPr>
          <a:lstStyle/>
          <a:p>
            <a:pPr marL="12700">
              <a:lnSpc>
                <a:spcPct val="100000"/>
              </a:lnSpc>
              <a:spcBef>
                <a:spcPts val="105"/>
              </a:spcBef>
            </a:pPr>
            <a:r>
              <a:rPr sz="1100" dirty="0">
                <a:latin typeface="Wingdings"/>
                <a:cs typeface="Wingdings"/>
              </a:rPr>
              <a:t></a:t>
            </a:r>
            <a:endParaRPr sz="1100">
              <a:latin typeface="Wingdings"/>
              <a:cs typeface="Wingdings"/>
            </a:endParaRPr>
          </a:p>
        </p:txBody>
      </p:sp>
      <p:sp>
        <p:nvSpPr>
          <p:cNvPr id="7" name="object 7"/>
          <p:cNvSpPr txBox="1"/>
          <p:nvPr/>
        </p:nvSpPr>
        <p:spPr>
          <a:xfrm>
            <a:off x="1399794" y="1875123"/>
            <a:ext cx="9031605" cy="963930"/>
          </a:xfrm>
          <a:prstGeom prst="rect">
            <a:avLst/>
          </a:prstGeom>
        </p:spPr>
        <p:txBody>
          <a:bodyPr vert="horz" wrap="square" lIns="0" tIns="146050" rIns="0" bIns="0" rtlCol="0">
            <a:spAutoFit/>
          </a:bodyPr>
          <a:lstStyle/>
          <a:p>
            <a:pPr marL="12700">
              <a:lnSpc>
                <a:spcPct val="100000"/>
              </a:lnSpc>
              <a:spcBef>
                <a:spcPts val="1150"/>
              </a:spcBef>
            </a:pPr>
            <a:r>
              <a:rPr sz="2200" dirty="0">
                <a:latin typeface="Trebuchet MS"/>
                <a:cs typeface="Trebuchet MS"/>
              </a:rPr>
              <a:t>This </a:t>
            </a:r>
            <a:r>
              <a:rPr sz="2200" spc="5" dirty="0">
                <a:latin typeface="Trebuchet MS"/>
                <a:cs typeface="Trebuchet MS"/>
              </a:rPr>
              <a:t>course </a:t>
            </a:r>
            <a:r>
              <a:rPr sz="2200" dirty="0">
                <a:latin typeface="Trebuchet MS"/>
                <a:cs typeface="Trebuchet MS"/>
              </a:rPr>
              <a:t>introduces </a:t>
            </a:r>
            <a:r>
              <a:rPr sz="2200" spc="20" dirty="0">
                <a:latin typeface="Trebuchet MS"/>
                <a:cs typeface="Trebuchet MS"/>
              </a:rPr>
              <a:t>Hive </a:t>
            </a:r>
            <a:r>
              <a:rPr sz="2200" spc="-5" dirty="0">
                <a:latin typeface="Trebuchet MS"/>
                <a:cs typeface="Trebuchet MS"/>
              </a:rPr>
              <a:t>application </a:t>
            </a:r>
            <a:r>
              <a:rPr sz="2200" spc="-25" dirty="0">
                <a:latin typeface="Trebuchet MS"/>
                <a:cs typeface="Trebuchet MS"/>
              </a:rPr>
              <a:t>scenarios, </a:t>
            </a:r>
            <a:r>
              <a:rPr sz="2200" spc="-10" dirty="0">
                <a:latin typeface="Trebuchet MS"/>
                <a:cs typeface="Trebuchet MS"/>
              </a:rPr>
              <a:t>basic </a:t>
            </a:r>
            <a:r>
              <a:rPr sz="2200" spc="-40" dirty="0">
                <a:latin typeface="Trebuchet MS"/>
                <a:cs typeface="Trebuchet MS"/>
              </a:rPr>
              <a:t>principles,</a:t>
            </a:r>
            <a:r>
              <a:rPr sz="2200" spc="235" dirty="0">
                <a:latin typeface="Trebuchet MS"/>
                <a:cs typeface="Trebuchet MS"/>
              </a:rPr>
              <a:t> </a:t>
            </a:r>
            <a:r>
              <a:rPr sz="2200" spc="20" dirty="0">
                <a:latin typeface="Trebuchet MS"/>
                <a:cs typeface="Trebuchet MS"/>
              </a:rPr>
              <a:t>Hive</a:t>
            </a:r>
            <a:endParaRPr sz="2200" dirty="0">
              <a:latin typeface="Trebuchet MS"/>
              <a:cs typeface="Trebuchet MS"/>
            </a:endParaRPr>
          </a:p>
          <a:p>
            <a:pPr marL="12700">
              <a:lnSpc>
                <a:spcPct val="100000"/>
              </a:lnSpc>
              <a:spcBef>
                <a:spcPts val="1060"/>
              </a:spcBef>
            </a:pPr>
            <a:r>
              <a:rPr sz="2200" spc="-50" dirty="0">
                <a:latin typeface="Trebuchet MS"/>
                <a:cs typeface="Trebuchet MS"/>
              </a:rPr>
              <a:t>architecture, </a:t>
            </a:r>
            <a:r>
              <a:rPr sz="2200" spc="55" dirty="0">
                <a:latin typeface="Trebuchet MS"/>
                <a:cs typeface="Trebuchet MS"/>
              </a:rPr>
              <a:t>running </a:t>
            </a:r>
            <a:r>
              <a:rPr sz="2200" spc="-35" dirty="0">
                <a:latin typeface="Trebuchet MS"/>
                <a:cs typeface="Trebuchet MS"/>
              </a:rPr>
              <a:t>process, </a:t>
            </a:r>
            <a:r>
              <a:rPr sz="2200" spc="55" dirty="0">
                <a:latin typeface="Trebuchet MS"/>
                <a:cs typeface="Trebuchet MS"/>
              </a:rPr>
              <a:t>and </a:t>
            </a:r>
            <a:r>
              <a:rPr sz="2200" spc="75" dirty="0">
                <a:latin typeface="Trebuchet MS"/>
                <a:cs typeface="Trebuchet MS"/>
              </a:rPr>
              <a:t>common </a:t>
            </a:r>
            <a:r>
              <a:rPr sz="2200" spc="25" dirty="0">
                <a:latin typeface="Trebuchet MS"/>
                <a:cs typeface="Trebuchet MS"/>
              </a:rPr>
              <a:t>Hive </a:t>
            </a:r>
            <a:r>
              <a:rPr sz="2200" spc="114" dirty="0">
                <a:latin typeface="Trebuchet MS"/>
                <a:cs typeface="Trebuchet MS"/>
              </a:rPr>
              <a:t>SQL</a:t>
            </a:r>
            <a:r>
              <a:rPr sz="2200" spc="50" dirty="0">
                <a:latin typeface="Trebuchet MS"/>
                <a:cs typeface="Trebuchet MS"/>
              </a:rPr>
              <a:t> </a:t>
            </a:r>
            <a:r>
              <a:rPr sz="2200" spc="-30" dirty="0">
                <a:latin typeface="Trebuchet MS"/>
                <a:cs typeface="Trebuchet MS"/>
              </a:rPr>
              <a:t>statements.</a:t>
            </a:r>
            <a:endParaRPr sz="2200" dirty="0">
              <a:latin typeface="Trebuchet MS"/>
              <a:cs typeface="Trebuchet MS"/>
            </a:endParaRPr>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EBEBEB"/>
          </a:solidFill>
        </p:spPr>
        <p:txBody>
          <a:bodyPr wrap="square" lIns="0" tIns="0" rIns="0" bIns="0" rtlCol="0"/>
          <a:lstStyle/>
          <a:p>
            <a:endParaRPr/>
          </a:p>
        </p:txBody>
      </p:sp>
      <p:sp>
        <p:nvSpPr>
          <p:cNvPr id="3" name="object 3"/>
          <p:cNvSpPr/>
          <p:nvPr/>
        </p:nvSpPr>
        <p:spPr>
          <a:xfrm>
            <a:off x="10195559" y="6320028"/>
            <a:ext cx="1269492" cy="271272"/>
          </a:xfrm>
          <a:prstGeom prst="rect">
            <a:avLst/>
          </a:prstGeom>
          <a:blipFill>
            <a:blip r:embed="rId2" cstate="print"/>
            <a:stretch>
              <a:fillRect/>
            </a:stretch>
          </a:blipFill>
        </p:spPr>
        <p:txBody>
          <a:bodyPr wrap="square" lIns="0" tIns="0" rIns="0" bIns="0" rtlCol="0"/>
          <a:lstStyle/>
          <a:p>
            <a:endParaRPr/>
          </a:p>
        </p:txBody>
      </p:sp>
      <p:sp>
        <p:nvSpPr>
          <p:cNvPr id="4" name="object 4"/>
          <p:cNvSpPr/>
          <p:nvPr/>
        </p:nvSpPr>
        <p:spPr>
          <a:xfrm>
            <a:off x="1030986" y="1349502"/>
            <a:ext cx="1043940" cy="0"/>
          </a:xfrm>
          <a:custGeom>
            <a:avLst/>
            <a:gdLst/>
            <a:ahLst/>
            <a:cxnLst/>
            <a:rect l="l" t="t" r="r" b="b"/>
            <a:pathLst>
              <a:path w="1043939">
                <a:moveTo>
                  <a:pt x="1043939" y="0"/>
                </a:moveTo>
                <a:lnTo>
                  <a:pt x="0" y="0"/>
                </a:lnTo>
              </a:path>
            </a:pathLst>
          </a:custGeom>
          <a:ln w="28956">
            <a:solidFill>
              <a:srgbClr val="C6000A"/>
            </a:solidFill>
          </a:ln>
        </p:spPr>
        <p:txBody>
          <a:bodyPr wrap="square" lIns="0" tIns="0" rIns="0" bIns="0" rtlCol="0"/>
          <a:lstStyle/>
          <a:p>
            <a:endParaRPr/>
          </a:p>
        </p:txBody>
      </p:sp>
      <p:sp>
        <p:nvSpPr>
          <p:cNvPr id="5" name="object 5"/>
          <p:cNvSpPr txBox="1">
            <a:spLocks noGrp="1"/>
          </p:cNvSpPr>
          <p:nvPr>
            <p:ph type="title"/>
          </p:nvPr>
        </p:nvSpPr>
        <p:spPr>
          <a:xfrm>
            <a:off x="997711" y="657301"/>
            <a:ext cx="3269489" cy="635000"/>
          </a:xfrm>
          <a:prstGeom prst="rect">
            <a:avLst/>
          </a:prstGeom>
        </p:spPr>
        <p:txBody>
          <a:bodyPr vert="horz" wrap="square" lIns="0" tIns="12065" rIns="0" bIns="0" rtlCol="0">
            <a:spAutoFit/>
          </a:bodyPr>
          <a:lstStyle/>
          <a:p>
            <a:pPr marL="12700">
              <a:lnSpc>
                <a:spcPct val="100000"/>
              </a:lnSpc>
              <a:spcBef>
                <a:spcPts val="95"/>
              </a:spcBef>
            </a:pPr>
            <a:r>
              <a:rPr sz="4000" spc="110" dirty="0">
                <a:solidFill>
                  <a:srgbClr val="404040"/>
                </a:solidFill>
              </a:rPr>
              <a:t>Quiz</a:t>
            </a:r>
            <a:endParaRPr sz="4000" dirty="0"/>
          </a:p>
        </p:txBody>
      </p:sp>
      <p:sp>
        <p:nvSpPr>
          <p:cNvPr id="6" name="object 6"/>
          <p:cNvSpPr txBox="1"/>
          <p:nvPr/>
        </p:nvSpPr>
        <p:spPr>
          <a:xfrm>
            <a:off x="1097991" y="1875006"/>
            <a:ext cx="9339580" cy="3866515"/>
          </a:xfrm>
          <a:prstGeom prst="rect">
            <a:avLst/>
          </a:prstGeom>
        </p:spPr>
        <p:txBody>
          <a:bodyPr vert="horz" wrap="square" lIns="0" tIns="122555" rIns="0" bIns="0" rtlCol="0">
            <a:spAutoFit/>
          </a:bodyPr>
          <a:lstStyle/>
          <a:p>
            <a:pPr marL="469900" indent="-457834">
              <a:lnSpc>
                <a:spcPct val="100000"/>
              </a:lnSpc>
              <a:spcBef>
                <a:spcPts val="965"/>
              </a:spcBef>
              <a:buAutoNum type="arabicPeriod"/>
              <a:tabLst>
                <a:tab pos="469265" algn="l"/>
                <a:tab pos="470534" algn="l"/>
                <a:tab pos="6866890" algn="l"/>
              </a:tabLst>
            </a:pPr>
            <a:r>
              <a:rPr sz="1800" spc="40" dirty="0">
                <a:latin typeface="Trebuchet MS"/>
                <a:cs typeface="Trebuchet MS"/>
              </a:rPr>
              <a:t>Which </a:t>
            </a:r>
            <a:r>
              <a:rPr sz="1800" spc="15" dirty="0">
                <a:latin typeface="Trebuchet MS"/>
                <a:cs typeface="Trebuchet MS"/>
              </a:rPr>
              <a:t>of </a:t>
            </a:r>
            <a:r>
              <a:rPr sz="1800" spc="-15" dirty="0">
                <a:latin typeface="Trebuchet MS"/>
                <a:cs typeface="Trebuchet MS"/>
              </a:rPr>
              <a:t>the </a:t>
            </a:r>
            <a:r>
              <a:rPr sz="1800" spc="25" dirty="0">
                <a:latin typeface="Trebuchet MS"/>
                <a:cs typeface="Trebuchet MS"/>
              </a:rPr>
              <a:t>following </a:t>
            </a:r>
            <a:r>
              <a:rPr sz="1800" dirty="0">
                <a:latin typeface="Trebuchet MS"/>
                <a:cs typeface="Trebuchet MS"/>
              </a:rPr>
              <a:t>scenarios </a:t>
            </a:r>
            <a:r>
              <a:rPr sz="1800" spc="-10" dirty="0">
                <a:latin typeface="Trebuchet MS"/>
                <a:cs typeface="Trebuchet MS"/>
              </a:rPr>
              <a:t>are applicable </a:t>
            </a:r>
            <a:r>
              <a:rPr sz="1800" dirty="0">
                <a:latin typeface="Trebuchet MS"/>
                <a:cs typeface="Trebuchet MS"/>
              </a:rPr>
              <a:t>to</a:t>
            </a:r>
            <a:r>
              <a:rPr sz="1800" spc="220" dirty="0">
                <a:latin typeface="Trebuchet MS"/>
                <a:cs typeface="Trebuchet MS"/>
              </a:rPr>
              <a:t> </a:t>
            </a:r>
            <a:r>
              <a:rPr sz="1800" spc="50" dirty="0">
                <a:latin typeface="Trebuchet MS"/>
                <a:cs typeface="Trebuchet MS"/>
              </a:rPr>
              <a:t>Hive? </a:t>
            </a:r>
            <a:r>
              <a:rPr sz="1800" spc="80" dirty="0">
                <a:latin typeface="Trebuchet MS"/>
                <a:cs typeface="Trebuchet MS"/>
              </a:rPr>
              <a:t>(	)</a:t>
            </a:r>
            <a:endParaRPr sz="1800" dirty="0">
              <a:latin typeface="Trebuchet MS"/>
              <a:cs typeface="Trebuchet MS"/>
            </a:endParaRPr>
          </a:p>
          <a:p>
            <a:pPr marL="756285" lvl="1" indent="-293370">
              <a:lnSpc>
                <a:spcPct val="100000"/>
              </a:lnSpc>
              <a:spcBef>
                <a:spcPts val="765"/>
              </a:spcBef>
              <a:buAutoNum type="alphaUcPeriod"/>
              <a:tabLst>
                <a:tab pos="756920" algn="l"/>
              </a:tabLst>
            </a:pPr>
            <a:r>
              <a:rPr sz="1600" spc="30" dirty="0">
                <a:latin typeface="Trebuchet MS"/>
                <a:cs typeface="Trebuchet MS"/>
              </a:rPr>
              <a:t>Online </a:t>
            </a:r>
            <a:r>
              <a:rPr sz="1600" spc="-10" dirty="0">
                <a:latin typeface="Trebuchet MS"/>
                <a:cs typeface="Trebuchet MS"/>
              </a:rPr>
              <a:t>real-time </a:t>
            </a:r>
            <a:r>
              <a:rPr sz="1600" spc="10" dirty="0">
                <a:latin typeface="Trebuchet MS"/>
                <a:cs typeface="Trebuchet MS"/>
              </a:rPr>
              <a:t>data</a:t>
            </a:r>
            <a:r>
              <a:rPr sz="1600" spc="114" dirty="0">
                <a:latin typeface="Trebuchet MS"/>
                <a:cs typeface="Trebuchet MS"/>
              </a:rPr>
              <a:t> </a:t>
            </a:r>
            <a:r>
              <a:rPr sz="1600" spc="10" dirty="0">
                <a:latin typeface="Trebuchet MS"/>
                <a:cs typeface="Trebuchet MS"/>
              </a:rPr>
              <a:t>analysis</a:t>
            </a:r>
            <a:endParaRPr sz="1600" dirty="0">
              <a:latin typeface="Trebuchet MS"/>
              <a:cs typeface="Trebuchet MS"/>
            </a:endParaRPr>
          </a:p>
          <a:p>
            <a:pPr marL="756285" lvl="1" indent="-293370">
              <a:lnSpc>
                <a:spcPct val="100000"/>
              </a:lnSpc>
              <a:spcBef>
                <a:spcPts val="765"/>
              </a:spcBef>
              <a:buAutoNum type="alphaUcPeriod"/>
              <a:tabLst>
                <a:tab pos="756920" algn="l"/>
              </a:tabLst>
            </a:pPr>
            <a:r>
              <a:rPr sz="1600" spc="45" dirty="0">
                <a:latin typeface="Trebuchet MS"/>
                <a:cs typeface="Trebuchet MS"/>
              </a:rPr>
              <a:t>Data </a:t>
            </a:r>
            <a:r>
              <a:rPr sz="1600" spc="40" dirty="0">
                <a:latin typeface="Trebuchet MS"/>
                <a:cs typeface="Trebuchet MS"/>
              </a:rPr>
              <a:t>mining </a:t>
            </a:r>
            <a:r>
              <a:rPr sz="1600" spc="15" dirty="0">
                <a:latin typeface="Trebuchet MS"/>
                <a:cs typeface="Trebuchet MS"/>
              </a:rPr>
              <a:t>(including </a:t>
            </a:r>
            <a:r>
              <a:rPr sz="1600" spc="5" dirty="0">
                <a:latin typeface="Trebuchet MS"/>
                <a:cs typeface="Trebuchet MS"/>
              </a:rPr>
              <a:t>user behavior </a:t>
            </a:r>
            <a:r>
              <a:rPr sz="1600" spc="-15" dirty="0">
                <a:latin typeface="Trebuchet MS"/>
                <a:cs typeface="Trebuchet MS"/>
              </a:rPr>
              <a:t>analysis, </a:t>
            </a:r>
            <a:r>
              <a:rPr sz="1600" spc="20" dirty="0">
                <a:latin typeface="Trebuchet MS"/>
                <a:cs typeface="Trebuchet MS"/>
              </a:rPr>
              <a:t>region </a:t>
            </a:r>
            <a:r>
              <a:rPr sz="1600" spc="15" dirty="0">
                <a:latin typeface="Trebuchet MS"/>
                <a:cs typeface="Trebuchet MS"/>
              </a:rPr>
              <a:t>of </a:t>
            </a:r>
            <a:r>
              <a:rPr sz="1600" spc="-45" dirty="0">
                <a:latin typeface="Trebuchet MS"/>
                <a:cs typeface="Trebuchet MS"/>
              </a:rPr>
              <a:t>interest, </a:t>
            </a:r>
            <a:r>
              <a:rPr sz="1600" spc="40" dirty="0">
                <a:latin typeface="Trebuchet MS"/>
                <a:cs typeface="Trebuchet MS"/>
              </a:rPr>
              <a:t>and </a:t>
            </a:r>
            <a:r>
              <a:rPr sz="1600" spc="15" dirty="0">
                <a:latin typeface="Trebuchet MS"/>
                <a:cs typeface="Trebuchet MS"/>
              </a:rPr>
              <a:t>regional</a:t>
            </a:r>
            <a:r>
              <a:rPr sz="1600" spc="420" dirty="0">
                <a:latin typeface="Trebuchet MS"/>
                <a:cs typeface="Trebuchet MS"/>
              </a:rPr>
              <a:t> </a:t>
            </a:r>
            <a:r>
              <a:rPr sz="1600" spc="10" dirty="0">
                <a:latin typeface="Trebuchet MS"/>
                <a:cs typeface="Trebuchet MS"/>
              </a:rPr>
              <a:t>display)</a:t>
            </a:r>
            <a:endParaRPr sz="1600" dirty="0">
              <a:latin typeface="Trebuchet MS"/>
              <a:cs typeface="Trebuchet MS"/>
            </a:endParaRPr>
          </a:p>
          <a:p>
            <a:pPr marL="756285" lvl="1" indent="-293370">
              <a:lnSpc>
                <a:spcPct val="100000"/>
              </a:lnSpc>
              <a:spcBef>
                <a:spcPts val="770"/>
              </a:spcBef>
              <a:buAutoNum type="alphaUcPeriod"/>
              <a:tabLst>
                <a:tab pos="756920" algn="l"/>
              </a:tabLst>
            </a:pPr>
            <a:r>
              <a:rPr sz="1600" spc="45" dirty="0">
                <a:latin typeface="Trebuchet MS"/>
                <a:cs typeface="Trebuchet MS"/>
              </a:rPr>
              <a:t>Data summary </a:t>
            </a:r>
            <a:r>
              <a:rPr sz="1600" spc="-15" dirty="0">
                <a:latin typeface="Trebuchet MS"/>
                <a:cs typeface="Trebuchet MS"/>
              </a:rPr>
              <a:t>(daily/weekly </a:t>
            </a:r>
            <a:r>
              <a:rPr sz="1600" spc="5" dirty="0">
                <a:latin typeface="Trebuchet MS"/>
                <a:cs typeface="Trebuchet MS"/>
              </a:rPr>
              <a:t>user </a:t>
            </a:r>
            <a:r>
              <a:rPr sz="1600" spc="-25" dirty="0">
                <a:latin typeface="Trebuchet MS"/>
                <a:cs typeface="Trebuchet MS"/>
              </a:rPr>
              <a:t>clicks </a:t>
            </a:r>
            <a:r>
              <a:rPr sz="1600" spc="40" dirty="0">
                <a:latin typeface="Trebuchet MS"/>
                <a:cs typeface="Trebuchet MS"/>
              </a:rPr>
              <a:t>and </a:t>
            </a:r>
            <a:r>
              <a:rPr sz="1600" spc="-35" dirty="0">
                <a:latin typeface="Trebuchet MS"/>
                <a:cs typeface="Trebuchet MS"/>
              </a:rPr>
              <a:t>click</a:t>
            </a:r>
            <a:r>
              <a:rPr sz="1600" spc="215" dirty="0">
                <a:latin typeface="Trebuchet MS"/>
                <a:cs typeface="Trebuchet MS"/>
              </a:rPr>
              <a:t> </a:t>
            </a:r>
            <a:r>
              <a:rPr sz="1600" spc="35" dirty="0">
                <a:latin typeface="Trebuchet MS"/>
                <a:cs typeface="Trebuchet MS"/>
              </a:rPr>
              <a:t>ranking)</a:t>
            </a:r>
            <a:endParaRPr sz="1600" dirty="0">
              <a:latin typeface="Trebuchet MS"/>
              <a:cs typeface="Trebuchet MS"/>
            </a:endParaRPr>
          </a:p>
          <a:p>
            <a:pPr marL="756285" lvl="1" indent="-293370">
              <a:lnSpc>
                <a:spcPct val="100000"/>
              </a:lnSpc>
              <a:spcBef>
                <a:spcPts val="770"/>
              </a:spcBef>
              <a:buAutoNum type="alphaUcPeriod"/>
              <a:tabLst>
                <a:tab pos="756920" algn="l"/>
              </a:tabLst>
            </a:pPr>
            <a:r>
              <a:rPr sz="1600" spc="20" dirty="0">
                <a:latin typeface="Trebuchet MS"/>
                <a:cs typeface="Trebuchet MS"/>
              </a:rPr>
              <a:t>Non-real-time </a:t>
            </a:r>
            <a:r>
              <a:rPr sz="1600" spc="10" dirty="0">
                <a:latin typeface="Trebuchet MS"/>
                <a:cs typeface="Trebuchet MS"/>
              </a:rPr>
              <a:t>analysis </a:t>
            </a:r>
            <a:r>
              <a:rPr sz="1600" spc="45" dirty="0">
                <a:latin typeface="Trebuchet MS"/>
                <a:cs typeface="Trebuchet MS"/>
              </a:rPr>
              <a:t>(log </a:t>
            </a:r>
            <a:r>
              <a:rPr sz="1600" spc="10" dirty="0">
                <a:latin typeface="Trebuchet MS"/>
                <a:cs typeface="Trebuchet MS"/>
              </a:rPr>
              <a:t>analysis </a:t>
            </a:r>
            <a:r>
              <a:rPr sz="1600" spc="40" dirty="0">
                <a:latin typeface="Trebuchet MS"/>
                <a:cs typeface="Trebuchet MS"/>
              </a:rPr>
              <a:t>and </a:t>
            </a:r>
            <a:r>
              <a:rPr sz="1600" spc="-25" dirty="0">
                <a:latin typeface="Trebuchet MS"/>
                <a:cs typeface="Trebuchet MS"/>
              </a:rPr>
              <a:t>statistical</a:t>
            </a:r>
            <a:r>
              <a:rPr sz="1600" spc="120" dirty="0">
                <a:latin typeface="Trebuchet MS"/>
                <a:cs typeface="Trebuchet MS"/>
              </a:rPr>
              <a:t> </a:t>
            </a:r>
            <a:r>
              <a:rPr sz="1600" spc="15" dirty="0">
                <a:latin typeface="Trebuchet MS"/>
                <a:cs typeface="Trebuchet MS"/>
              </a:rPr>
              <a:t>analysis)</a:t>
            </a:r>
            <a:endParaRPr sz="1600" dirty="0">
              <a:latin typeface="Trebuchet MS"/>
              <a:cs typeface="Trebuchet MS"/>
            </a:endParaRPr>
          </a:p>
          <a:p>
            <a:pPr marL="469900" indent="-457834">
              <a:lnSpc>
                <a:spcPct val="100000"/>
              </a:lnSpc>
              <a:spcBef>
                <a:spcPts val="870"/>
              </a:spcBef>
              <a:buAutoNum type="arabicPeriod"/>
              <a:tabLst>
                <a:tab pos="469265" algn="l"/>
                <a:tab pos="470534" algn="l"/>
                <a:tab pos="9185910" algn="l"/>
              </a:tabLst>
            </a:pPr>
            <a:r>
              <a:rPr sz="1800" spc="40" dirty="0">
                <a:latin typeface="Trebuchet MS"/>
                <a:cs typeface="Trebuchet MS"/>
              </a:rPr>
              <a:t>Which </a:t>
            </a:r>
            <a:r>
              <a:rPr sz="1800" spc="15" dirty="0">
                <a:latin typeface="Trebuchet MS"/>
                <a:cs typeface="Trebuchet MS"/>
              </a:rPr>
              <a:t>of </a:t>
            </a:r>
            <a:r>
              <a:rPr sz="1800" spc="-15" dirty="0">
                <a:latin typeface="Trebuchet MS"/>
                <a:cs typeface="Trebuchet MS"/>
              </a:rPr>
              <a:t>the </a:t>
            </a:r>
            <a:r>
              <a:rPr sz="1800" spc="25" dirty="0">
                <a:latin typeface="Trebuchet MS"/>
                <a:cs typeface="Trebuchet MS"/>
              </a:rPr>
              <a:t>following </a:t>
            </a:r>
            <a:r>
              <a:rPr sz="1800" dirty="0">
                <a:latin typeface="Trebuchet MS"/>
                <a:cs typeface="Trebuchet MS"/>
              </a:rPr>
              <a:t>statements </a:t>
            </a:r>
            <a:r>
              <a:rPr sz="1800" spc="25" dirty="0">
                <a:latin typeface="Trebuchet MS"/>
                <a:cs typeface="Trebuchet MS"/>
              </a:rPr>
              <a:t>about </a:t>
            </a:r>
            <a:r>
              <a:rPr sz="1800" spc="-10" dirty="0">
                <a:latin typeface="Trebuchet MS"/>
                <a:cs typeface="Trebuchet MS"/>
              </a:rPr>
              <a:t>basic </a:t>
            </a:r>
            <a:r>
              <a:rPr sz="1800" spc="20" dirty="0">
                <a:latin typeface="Trebuchet MS"/>
                <a:cs typeface="Trebuchet MS"/>
              </a:rPr>
              <a:t>Hive </a:t>
            </a:r>
            <a:r>
              <a:rPr sz="1800" spc="95" dirty="0">
                <a:latin typeface="Trebuchet MS"/>
                <a:cs typeface="Trebuchet MS"/>
              </a:rPr>
              <a:t>SQL </a:t>
            </a:r>
            <a:r>
              <a:rPr sz="1800" spc="10" dirty="0">
                <a:latin typeface="Trebuchet MS"/>
                <a:cs typeface="Trebuchet MS"/>
              </a:rPr>
              <a:t>operations </a:t>
            </a:r>
            <a:r>
              <a:rPr sz="1800" spc="-15" dirty="0">
                <a:latin typeface="Trebuchet MS"/>
                <a:cs typeface="Trebuchet MS"/>
              </a:rPr>
              <a:t>is</a:t>
            </a:r>
            <a:r>
              <a:rPr sz="1800" spc="175" dirty="0">
                <a:latin typeface="Trebuchet MS"/>
                <a:cs typeface="Trebuchet MS"/>
              </a:rPr>
              <a:t> </a:t>
            </a:r>
            <a:r>
              <a:rPr sz="1800" spc="-5" dirty="0">
                <a:latin typeface="Trebuchet MS"/>
                <a:cs typeface="Trebuchet MS"/>
              </a:rPr>
              <a:t>correct?</a:t>
            </a:r>
            <a:r>
              <a:rPr sz="1800" spc="40" dirty="0">
                <a:latin typeface="Trebuchet MS"/>
                <a:cs typeface="Trebuchet MS"/>
              </a:rPr>
              <a:t> </a:t>
            </a:r>
            <a:r>
              <a:rPr sz="1800" spc="80" dirty="0">
                <a:latin typeface="Trebuchet MS"/>
                <a:cs typeface="Trebuchet MS"/>
              </a:rPr>
              <a:t>(	)</a:t>
            </a:r>
            <a:endParaRPr sz="1800" dirty="0">
              <a:latin typeface="Trebuchet MS"/>
              <a:cs typeface="Trebuchet MS"/>
            </a:endParaRPr>
          </a:p>
          <a:p>
            <a:pPr marL="756285" marR="5080" lvl="1" indent="-292735">
              <a:lnSpc>
                <a:spcPts val="2690"/>
              </a:lnSpc>
              <a:spcBef>
                <a:spcPts val="210"/>
              </a:spcBef>
              <a:buAutoNum type="alphaUcPeriod"/>
              <a:tabLst>
                <a:tab pos="756920" algn="l"/>
              </a:tabLst>
            </a:pPr>
            <a:r>
              <a:rPr sz="1600" spc="35" dirty="0">
                <a:latin typeface="Trebuchet MS"/>
                <a:cs typeface="Trebuchet MS"/>
              </a:rPr>
              <a:t>You </a:t>
            </a:r>
            <a:r>
              <a:rPr sz="1600" dirty="0">
                <a:latin typeface="Trebuchet MS"/>
                <a:cs typeface="Trebuchet MS"/>
              </a:rPr>
              <a:t>need to </a:t>
            </a:r>
            <a:r>
              <a:rPr sz="1600" spc="15" dirty="0">
                <a:latin typeface="Trebuchet MS"/>
                <a:cs typeface="Trebuchet MS"/>
              </a:rPr>
              <a:t>use </a:t>
            </a:r>
            <a:r>
              <a:rPr sz="1600" spc="-15" dirty="0">
                <a:latin typeface="Trebuchet MS"/>
                <a:cs typeface="Trebuchet MS"/>
              </a:rPr>
              <a:t>the </a:t>
            </a:r>
            <a:r>
              <a:rPr sz="1600" spc="15" dirty="0">
                <a:latin typeface="Trebuchet MS"/>
                <a:cs typeface="Trebuchet MS"/>
              </a:rPr>
              <a:t>keyword </a:t>
            </a:r>
            <a:r>
              <a:rPr sz="1600" spc="20" dirty="0">
                <a:latin typeface="Trebuchet MS"/>
                <a:cs typeface="Trebuchet MS"/>
              </a:rPr>
              <a:t>"external" </a:t>
            </a:r>
            <a:r>
              <a:rPr sz="1600" dirty="0">
                <a:latin typeface="Trebuchet MS"/>
                <a:cs typeface="Trebuchet MS"/>
              </a:rPr>
              <a:t>to </a:t>
            </a:r>
            <a:r>
              <a:rPr sz="1600" spc="-30" dirty="0">
                <a:latin typeface="Trebuchet MS"/>
                <a:cs typeface="Trebuchet MS"/>
              </a:rPr>
              <a:t>create </a:t>
            </a:r>
            <a:r>
              <a:rPr sz="1600" spc="50" dirty="0">
                <a:latin typeface="Trebuchet MS"/>
                <a:cs typeface="Trebuchet MS"/>
              </a:rPr>
              <a:t>an </a:t>
            </a:r>
            <a:r>
              <a:rPr sz="1600" spc="-20" dirty="0">
                <a:latin typeface="Trebuchet MS"/>
                <a:cs typeface="Trebuchet MS"/>
              </a:rPr>
              <a:t>external </a:t>
            </a:r>
            <a:r>
              <a:rPr sz="1600" spc="-15" dirty="0">
                <a:latin typeface="Trebuchet MS"/>
                <a:cs typeface="Trebuchet MS"/>
              </a:rPr>
              <a:t>table </a:t>
            </a:r>
            <a:r>
              <a:rPr sz="1600" spc="40" dirty="0">
                <a:latin typeface="Trebuchet MS"/>
                <a:cs typeface="Trebuchet MS"/>
              </a:rPr>
              <a:t>and </a:t>
            </a:r>
            <a:r>
              <a:rPr sz="1600" spc="-20" dirty="0">
                <a:latin typeface="Trebuchet MS"/>
                <a:cs typeface="Trebuchet MS"/>
              </a:rPr>
              <a:t>specify </a:t>
            </a:r>
            <a:r>
              <a:rPr sz="1600" spc="-15" dirty="0">
                <a:latin typeface="Trebuchet MS"/>
                <a:cs typeface="Trebuchet MS"/>
              </a:rPr>
              <a:t>the </a:t>
            </a:r>
            <a:r>
              <a:rPr sz="1600" spc="15" dirty="0">
                <a:latin typeface="Trebuchet MS"/>
                <a:cs typeface="Trebuchet MS"/>
              </a:rPr>
              <a:t>keyword  </a:t>
            </a:r>
            <a:r>
              <a:rPr sz="1600" spc="30" dirty="0">
                <a:latin typeface="Trebuchet MS"/>
                <a:cs typeface="Trebuchet MS"/>
              </a:rPr>
              <a:t>"internal" </a:t>
            </a:r>
            <a:r>
              <a:rPr sz="1600" dirty="0">
                <a:latin typeface="Trebuchet MS"/>
                <a:cs typeface="Trebuchet MS"/>
              </a:rPr>
              <a:t>to </a:t>
            </a:r>
            <a:r>
              <a:rPr sz="1600" spc="-30" dirty="0">
                <a:latin typeface="Trebuchet MS"/>
                <a:cs typeface="Trebuchet MS"/>
              </a:rPr>
              <a:t>create </a:t>
            </a:r>
            <a:r>
              <a:rPr sz="1600" spc="40" dirty="0">
                <a:latin typeface="Trebuchet MS"/>
                <a:cs typeface="Trebuchet MS"/>
              </a:rPr>
              <a:t>a </a:t>
            </a:r>
            <a:r>
              <a:rPr sz="1600" spc="35" dirty="0">
                <a:latin typeface="Trebuchet MS"/>
                <a:cs typeface="Trebuchet MS"/>
              </a:rPr>
              <a:t>normal</a:t>
            </a:r>
            <a:r>
              <a:rPr sz="1600" spc="135" dirty="0">
                <a:latin typeface="Trebuchet MS"/>
                <a:cs typeface="Trebuchet MS"/>
              </a:rPr>
              <a:t> </a:t>
            </a:r>
            <a:r>
              <a:rPr sz="1600" spc="-55" dirty="0">
                <a:latin typeface="Trebuchet MS"/>
                <a:cs typeface="Trebuchet MS"/>
              </a:rPr>
              <a:t>table.</a:t>
            </a:r>
            <a:endParaRPr sz="1600" dirty="0">
              <a:latin typeface="Trebuchet MS"/>
              <a:cs typeface="Trebuchet MS"/>
            </a:endParaRPr>
          </a:p>
          <a:p>
            <a:pPr marL="756285" lvl="1" indent="-293370">
              <a:lnSpc>
                <a:spcPct val="100000"/>
              </a:lnSpc>
              <a:spcBef>
                <a:spcPts val="550"/>
              </a:spcBef>
              <a:buAutoNum type="alphaUcPeriod"/>
              <a:tabLst>
                <a:tab pos="756920" algn="l"/>
              </a:tabLst>
            </a:pPr>
            <a:r>
              <a:rPr sz="1600" spc="-5" dirty="0">
                <a:latin typeface="Trebuchet MS"/>
                <a:cs typeface="Trebuchet MS"/>
              </a:rPr>
              <a:t>The </a:t>
            </a:r>
            <a:r>
              <a:rPr sz="1600" dirty="0">
                <a:latin typeface="Trebuchet MS"/>
                <a:cs typeface="Trebuchet MS"/>
              </a:rPr>
              <a:t>location </a:t>
            </a:r>
            <a:r>
              <a:rPr sz="1600" spc="15" dirty="0">
                <a:latin typeface="Trebuchet MS"/>
                <a:cs typeface="Trebuchet MS"/>
              </a:rPr>
              <a:t>information </a:t>
            </a:r>
            <a:r>
              <a:rPr sz="1600" spc="30" dirty="0">
                <a:latin typeface="Trebuchet MS"/>
                <a:cs typeface="Trebuchet MS"/>
              </a:rPr>
              <a:t>must </a:t>
            </a:r>
            <a:r>
              <a:rPr sz="1600" spc="-5" dirty="0">
                <a:latin typeface="Trebuchet MS"/>
                <a:cs typeface="Trebuchet MS"/>
              </a:rPr>
              <a:t>be </a:t>
            </a:r>
            <a:r>
              <a:rPr sz="1600" spc="-20" dirty="0">
                <a:latin typeface="Trebuchet MS"/>
                <a:cs typeface="Trebuchet MS"/>
              </a:rPr>
              <a:t>specified </a:t>
            </a:r>
            <a:r>
              <a:rPr sz="1600" spc="35" dirty="0">
                <a:latin typeface="Trebuchet MS"/>
                <a:cs typeface="Trebuchet MS"/>
              </a:rPr>
              <a:t>when </a:t>
            </a:r>
            <a:r>
              <a:rPr sz="1600" spc="50" dirty="0">
                <a:latin typeface="Trebuchet MS"/>
                <a:cs typeface="Trebuchet MS"/>
              </a:rPr>
              <a:t>an </a:t>
            </a:r>
            <a:r>
              <a:rPr sz="1600" spc="-20" dirty="0">
                <a:latin typeface="Trebuchet MS"/>
                <a:cs typeface="Trebuchet MS"/>
              </a:rPr>
              <a:t>external </a:t>
            </a:r>
            <a:r>
              <a:rPr sz="1600" spc="-15" dirty="0">
                <a:latin typeface="Trebuchet MS"/>
                <a:cs typeface="Trebuchet MS"/>
              </a:rPr>
              <a:t>table is</a:t>
            </a:r>
            <a:r>
              <a:rPr sz="1600" spc="415" dirty="0">
                <a:latin typeface="Trebuchet MS"/>
                <a:cs typeface="Trebuchet MS"/>
              </a:rPr>
              <a:t> </a:t>
            </a:r>
            <a:r>
              <a:rPr sz="1600" spc="-50" dirty="0">
                <a:latin typeface="Trebuchet MS"/>
                <a:cs typeface="Trebuchet MS"/>
              </a:rPr>
              <a:t>created.</a:t>
            </a:r>
            <a:endParaRPr sz="1600" dirty="0">
              <a:latin typeface="Trebuchet MS"/>
              <a:cs typeface="Trebuchet MS"/>
            </a:endParaRPr>
          </a:p>
          <a:p>
            <a:pPr marL="756285" lvl="1" indent="-293370">
              <a:lnSpc>
                <a:spcPct val="100000"/>
              </a:lnSpc>
              <a:spcBef>
                <a:spcPts val="770"/>
              </a:spcBef>
              <a:buAutoNum type="alphaUcPeriod"/>
              <a:tabLst>
                <a:tab pos="756920" algn="l"/>
              </a:tabLst>
            </a:pPr>
            <a:r>
              <a:rPr sz="1600" spc="65" dirty="0">
                <a:latin typeface="Trebuchet MS"/>
                <a:cs typeface="Trebuchet MS"/>
              </a:rPr>
              <a:t>When </a:t>
            </a:r>
            <a:r>
              <a:rPr sz="1600" spc="15" dirty="0">
                <a:latin typeface="Trebuchet MS"/>
                <a:cs typeface="Trebuchet MS"/>
              </a:rPr>
              <a:t>data </a:t>
            </a:r>
            <a:r>
              <a:rPr sz="1600" spc="-15" dirty="0">
                <a:latin typeface="Trebuchet MS"/>
                <a:cs typeface="Trebuchet MS"/>
              </a:rPr>
              <a:t>is </a:t>
            </a:r>
            <a:r>
              <a:rPr sz="1600" spc="15" dirty="0">
                <a:latin typeface="Trebuchet MS"/>
                <a:cs typeface="Trebuchet MS"/>
              </a:rPr>
              <a:t>loaded </a:t>
            </a:r>
            <a:r>
              <a:rPr sz="1600" dirty="0">
                <a:latin typeface="Trebuchet MS"/>
                <a:cs typeface="Trebuchet MS"/>
              </a:rPr>
              <a:t>to </a:t>
            </a:r>
            <a:r>
              <a:rPr sz="1600" spc="-25" dirty="0">
                <a:latin typeface="Trebuchet MS"/>
                <a:cs typeface="Trebuchet MS"/>
              </a:rPr>
              <a:t>Hive, </a:t>
            </a:r>
            <a:r>
              <a:rPr sz="1600" spc="-15" dirty="0">
                <a:latin typeface="Trebuchet MS"/>
                <a:cs typeface="Trebuchet MS"/>
              </a:rPr>
              <a:t>the </a:t>
            </a:r>
            <a:r>
              <a:rPr sz="1600" spc="5" dirty="0">
                <a:latin typeface="Trebuchet MS"/>
                <a:cs typeface="Trebuchet MS"/>
              </a:rPr>
              <a:t>source </a:t>
            </a:r>
            <a:r>
              <a:rPr sz="1600" spc="15" dirty="0">
                <a:latin typeface="Trebuchet MS"/>
                <a:cs typeface="Trebuchet MS"/>
              </a:rPr>
              <a:t>data </a:t>
            </a:r>
            <a:r>
              <a:rPr sz="1600" spc="30" dirty="0">
                <a:latin typeface="Trebuchet MS"/>
                <a:cs typeface="Trebuchet MS"/>
              </a:rPr>
              <a:t>must </a:t>
            </a:r>
            <a:r>
              <a:rPr sz="1600" spc="-5" dirty="0">
                <a:latin typeface="Trebuchet MS"/>
                <a:cs typeface="Trebuchet MS"/>
              </a:rPr>
              <a:t>be </a:t>
            </a:r>
            <a:r>
              <a:rPr sz="1600" spc="40" dirty="0">
                <a:latin typeface="Trebuchet MS"/>
                <a:cs typeface="Trebuchet MS"/>
              </a:rPr>
              <a:t>a </a:t>
            </a:r>
            <a:r>
              <a:rPr sz="1600" spc="15" dirty="0">
                <a:latin typeface="Trebuchet MS"/>
                <a:cs typeface="Trebuchet MS"/>
              </a:rPr>
              <a:t>path </a:t>
            </a:r>
            <a:r>
              <a:rPr sz="1600" spc="5" dirty="0">
                <a:latin typeface="Trebuchet MS"/>
                <a:cs typeface="Trebuchet MS"/>
              </a:rPr>
              <a:t>in</a:t>
            </a:r>
            <a:r>
              <a:rPr sz="1600" spc="330" dirty="0">
                <a:latin typeface="Trebuchet MS"/>
                <a:cs typeface="Trebuchet MS"/>
              </a:rPr>
              <a:t> </a:t>
            </a:r>
            <a:r>
              <a:rPr sz="1600" spc="35" dirty="0">
                <a:latin typeface="Trebuchet MS"/>
                <a:cs typeface="Trebuchet MS"/>
              </a:rPr>
              <a:t>HDFS.</a:t>
            </a:r>
            <a:endParaRPr sz="1600" dirty="0">
              <a:latin typeface="Trebuchet MS"/>
              <a:cs typeface="Trebuchet MS"/>
            </a:endParaRPr>
          </a:p>
          <a:p>
            <a:pPr marL="756285" lvl="1" indent="-293370">
              <a:lnSpc>
                <a:spcPct val="100000"/>
              </a:lnSpc>
              <a:spcBef>
                <a:spcPts val="770"/>
              </a:spcBef>
              <a:buAutoNum type="alphaUcPeriod"/>
              <a:tabLst>
                <a:tab pos="756920" algn="l"/>
              </a:tabLst>
            </a:pPr>
            <a:r>
              <a:rPr sz="1600" spc="45" dirty="0">
                <a:latin typeface="Trebuchet MS"/>
                <a:cs typeface="Trebuchet MS"/>
              </a:rPr>
              <a:t>Column </a:t>
            </a:r>
            <a:r>
              <a:rPr sz="1600" spc="5" dirty="0">
                <a:latin typeface="Trebuchet MS"/>
                <a:cs typeface="Trebuchet MS"/>
              </a:rPr>
              <a:t>separators </a:t>
            </a:r>
            <a:r>
              <a:rPr sz="1600" spc="15" dirty="0">
                <a:latin typeface="Trebuchet MS"/>
                <a:cs typeface="Trebuchet MS"/>
              </a:rPr>
              <a:t>can </a:t>
            </a:r>
            <a:r>
              <a:rPr sz="1600" spc="-5" dirty="0">
                <a:latin typeface="Trebuchet MS"/>
                <a:cs typeface="Trebuchet MS"/>
              </a:rPr>
              <a:t>be </a:t>
            </a:r>
            <a:r>
              <a:rPr sz="1600" spc="-20" dirty="0">
                <a:latin typeface="Trebuchet MS"/>
                <a:cs typeface="Trebuchet MS"/>
              </a:rPr>
              <a:t>specified </a:t>
            </a:r>
            <a:r>
              <a:rPr sz="1600" spc="35" dirty="0">
                <a:latin typeface="Trebuchet MS"/>
                <a:cs typeface="Trebuchet MS"/>
              </a:rPr>
              <a:t>when </a:t>
            </a:r>
            <a:r>
              <a:rPr sz="1600" spc="40" dirty="0">
                <a:latin typeface="Trebuchet MS"/>
                <a:cs typeface="Trebuchet MS"/>
              </a:rPr>
              <a:t>a </a:t>
            </a:r>
            <a:r>
              <a:rPr sz="1600" spc="-15" dirty="0">
                <a:latin typeface="Trebuchet MS"/>
                <a:cs typeface="Trebuchet MS"/>
              </a:rPr>
              <a:t>table is</a:t>
            </a:r>
            <a:r>
              <a:rPr sz="1600" spc="250" dirty="0">
                <a:latin typeface="Trebuchet MS"/>
                <a:cs typeface="Trebuchet MS"/>
              </a:rPr>
              <a:t> </a:t>
            </a:r>
            <a:r>
              <a:rPr sz="1600" spc="-50" dirty="0">
                <a:latin typeface="Trebuchet MS"/>
                <a:cs typeface="Trebuchet MS"/>
              </a:rPr>
              <a:t>created.</a:t>
            </a:r>
            <a:endParaRPr sz="1600" dirty="0">
              <a:latin typeface="Trebuchet MS"/>
              <a:cs typeface="Trebuchet MS"/>
            </a:endParaRP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EBEBEB"/>
          </a:solidFill>
        </p:spPr>
        <p:txBody>
          <a:bodyPr wrap="square" lIns="0" tIns="0" rIns="0" bIns="0" rtlCol="0"/>
          <a:lstStyle/>
          <a:p>
            <a:endParaRPr/>
          </a:p>
        </p:txBody>
      </p:sp>
      <p:sp>
        <p:nvSpPr>
          <p:cNvPr id="3" name="object 3"/>
          <p:cNvSpPr/>
          <p:nvPr/>
        </p:nvSpPr>
        <p:spPr>
          <a:xfrm>
            <a:off x="10195559" y="6320028"/>
            <a:ext cx="1269492" cy="271272"/>
          </a:xfrm>
          <a:prstGeom prst="rect">
            <a:avLst/>
          </a:prstGeom>
          <a:blipFill>
            <a:blip r:embed="rId2" cstate="print"/>
            <a:stretch>
              <a:fillRect/>
            </a:stretch>
          </a:blipFill>
        </p:spPr>
        <p:txBody>
          <a:bodyPr wrap="square" lIns="0" tIns="0" rIns="0" bIns="0" rtlCol="0"/>
          <a:lstStyle/>
          <a:p>
            <a:endParaRPr/>
          </a:p>
        </p:txBody>
      </p:sp>
      <p:sp>
        <p:nvSpPr>
          <p:cNvPr id="4" name="object 4"/>
          <p:cNvSpPr/>
          <p:nvPr/>
        </p:nvSpPr>
        <p:spPr>
          <a:xfrm>
            <a:off x="1030986" y="1349502"/>
            <a:ext cx="4248150" cy="0"/>
          </a:xfrm>
          <a:custGeom>
            <a:avLst/>
            <a:gdLst/>
            <a:ahLst/>
            <a:cxnLst/>
            <a:rect l="l" t="t" r="r" b="b"/>
            <a:pathLst>
              <a:path w="4248150">
                <a:moveTo>
                  <a:pt x="4248023" y="0"/>
                </a:moveTo>
                <a:lnTo>
                  <a:pt x="0" y="0"/>
                </a:lnTo>
              </a:path>
            </a:pathLst>
          </a:custGeom>
          <a:ln w="28956">
            <a:solidFill>
              <a:srgbClr val="C6000A"/>
            </a:solidFill>
          </a:ln>
        </p:spPr>
        <p:txBody>
          <a:bodyPr wrap="square" lIns="0" tIns="0" rIns="0" bIns="0" rtlCol="0"/>
          <a:lstStyle/>
          <a:p>
            <a:endParaRPr/>
          </a:p>
        </p:txBody>
      </p:sp>
      <p:sp>
        <p:nvSpPr>
          <p:cNvPr id="5" name="object 5"/>
          <p:cNvSpPr txBox="1">
            <a:spLocks noGrp="1"/>
          </p:cNvSpPr>
          <p:nvPr>
            <p:ph type="title"/>
          </p:nvPr>
        </p:nvSpPr>
        <p:spPr>
          <a:xfrm>
            <a:off x="997711" y="657301"/>
            <a:ext cx="7003289" cy="635000"/>
          </a:xfrm>
          <a:prstGeom prst="rect">
            <a:avLst/>
          </a:prstGeom>
        </p:spPr>
        <p:txBody>
          <a:bodyPr vert="horz" wrap="square" lIns="0" tIns="12065" rIns="0" bIns="0" rtlCol="0">
            <a:spAutoFit/>
          </a:bodyPr>
          <a:lstStyle/>
          <a:p>
            <a:pPr marL="12700">
              <a:lnSpc>
                <a:spcPct val="100000"/>
              </a:lnSpc>
              <a:spcBef>
                <a:spcPts val="95"/>
              </a:spcBef>
            </a:pPr>
            <a:r>
              <a:rPr sz="4000" spc="60" dirty="0">
                <a:solidFill>
                  <a:srgbClr val="404040"/>
                </a:solidFill>
              </a:rPr>
              <a:t>Recommendations</a:t>
            </a:r>
            <a:endParaRPr sz="4000" dirty="0"/>
          </a:p>
        </p:txBody>
      </p:sp>
      <p:sp>
        <p:nvSpPr>
          <p:cNvPr id="6" name="object 6"/>
          <p:cNvSpPr txBox="1"/>
          <p:nvPr/>
        </p:nvSpPr>
        <p:spPr>
          <a:xfrm>
            <a:off x="1097991" y="2088642"/>
            <a:ext cx="130175" cy="193675"/>
          </a:xfrm>
          <a:prstGeom prst="rect">
            <a:avLst/>
          </a:prstGeom>
        </p:spPr>
        <p:txBody>
          <a:bodyPr vert="horz" wrap="square" lIns="0" tIns="13335" rIns="0" bIns="0" rtlCol="0">
            <a:spAutoFit/>
          </a:bodyPr>
          <a:lstStyle/>
          <a:p>
            <a:pPr marL="12700">
              <a:lnSpc>
                <a:spcPct val="100000"/>
              </a:lnSpc>
              <a:spcBef>
                <a:spcPts val="105"/>
              </a:spcBef>
            </a:pPr>
            <a:r>
              <a:rPr sz="1100" dirty="0">
                <a:latin typeface="Wingdings"/>
                <a:cs typeface="Wingdings"/>
              </a:rPr>
              <a:t></a:t>
            </a:r>
            <a:endParaRPr sz="1100">
              <a:latin typeface="Wingdings"/>
              <a:cs typeface="Wingdings"/>
            </a:endParaRPr>
          </a:p>
        </p:txBody>
      </p:sp>
      <p:sp>
        <p:nvSpPr>
          <p:cNvPr id="7" name="object 7"/>
          <p:cNvSpPr txBox="1"/>
          <p:nvPr/>
        </p:nvSpPr>
        <p:spPr>
          <a:xfrm>
            <a:off x="1097991" y="3175507"/>
            <a:ext cx="130175" cy="193675"/>
          </a:xfrm>
          <a:prstGeom prst="rect">
            <a:avLst/>
          </a:prstGeom>
        </p:spPr>
        <p:txBody>
          <a:bodyPr vert="horz" wrap="square" lIns="0" tIns="13335" rIns="0" bIns="0" rtlCol="0">
            <a:spAutoFit/>
          </a:bodyPr>
          <a:lstStyle/>
          <a:p>
            <a:pPr marL="12700">
              <a:lnSpc>
                <a:spcPct val="100000"/>
              </a:lnSpc>
              <a:spcBef>
                <a:spcPts val="105"/>
              </a:spcBef>
            </a:pPr>
            <a:r>
              <a:rPr sz="1100" dirty="0">
                <a:latin typeface="Wingdings"/>
                <a:cs typeface="Wingdings"/>
              </a:rPr>
              <a:t></a:t>
            </a:r>
            <a:endParaRPr sz="1100">
              <a:latin typeface="Wingdings"/>
              <a:cs typeface="Wingdings"/>
            </a:endParaRPr>
          </a:p>
        </p:txBody>
      </p:sp>
      <p:sp>
        <p:nvSpPr>
          <p:cNvPr id="8" name="object 8"/>
          <p:cNvSpPr txBox="1"/>
          <p:nvPr/>
        </p:nvSpPr>
        <p:spPr>
          <a:xfrm>
            <a:off x="1097991" y="4260850"/>
            <a:ext cx="130175" cy="193675"/>
          </a:xfrm>
          <a:prstGeom prst="rect">
            <a:avLst/>
          </a:prstGeom>
        </p:spPr>
        <p:txBody>
          <a:bodyPr vert="horz" wrap="square" lIns="0" tIns="12700" rIns="0" bIns="0" rtlCol="0">
            <a:spAutoFit/>
          </a:bodyPr>
          <a:lstStyle/>
          <a:p>
            <a:pPr marL="12700">
              <a:lnSpc>
                <a:spcPct val="100000"/>
              </a:lnSpc>
              <a:spcBef>
                <a:spcPts val="100"/>
              </a:spcBef>
            </a:pPr>
            <a:r>
              <a:rPr sz="1100" dirty="0">
                <a:latin typeface="Wingdings"/>
                <a:cs typeface="Wingdings"/>
              </a:rPr>
              <a:t></a:t>
            </a:r>
            <a:endParaRPr sz="1100">
              <a:latin typeface="Wingdings"/>
              <a:cs typeface="Wingdings"/>
            </a:endParaRPr>
          </a:p>
        </p:txBody>
      </p:sp>
      <p:sp>
        <p:nvSpPr>
          <p:cNvPr id="9" name="object 9"/>
          <p:cNvSpPr txBox="1"/>
          <p:nvPr/>
        </p:nvSpPr>
        <p:spPr>
          <a:xfrm>
            <a:off x="1323594" y="2009393"/>
            <a:ext cx="7346950" cy="3050540"/>
          </a:xfrm>
          <a:prstGeom prst="rect">
            <a:avLst/>
          </a:prstGeom>
        </p:spPr>
        <p:txBody>
          <a:bodyPr vert="horz" wrap="square" lIns="0" tIns="12065" rIns="0" bIns="0" rtlCol="0">
            <a:spAutoFit/>
          </a:bodyPr>
          <a:lstStyle/>
          <a:p>
            <a:pPr marL="88900">
              <a:lnSpc>
                <a:spcPct val="100000"/>
              </a:lnSpc>
              <a:spcBef>
                <a:spcPts val="95"/>
              </a:spcBef>
            </a:pPr>
            <a:r>
              <a:rPr sz="2200" spc="50" dirty="0">
                <a:latin typeface="Trebuchet MS"/>
                <a:cs typeface="Trebuchet MS"/>
              </a:rPr>
              <a:t>Huawei </a:t>
            </a:r>
            <a:r>
              <a:rPr sz="2200" spc="30" dirty="0">
                <a:latin typeface="Trebuchet MS"/>
                <a:cs typeface="Trebuchet MS"/>
              </a:rPr>
              <a:t>Cloud </a:t>
            </a:r>
            <a:r>
              <a:rPr sz="2200" spc="-10" dirty="0">
                <a:latin typeface="Trebuchet MS"/>
                <a:cs typeface="Trebuchet MS"/>
              </a:rPr>
              <a:t>Official </a:t>
            </a:r>
            <a:r>
              <a:rPr sz="2200" spc="75" dirty="0">
                <a:latin typeface="Trebuchet MS"/>
                <a:cs typeface="Trebuchet MS"/>
              </a:rPr>
              <a:t>Web</a:t>
            </a:r>
            <a:r>
              <a:rPr sz="2200" spc="50" dirty="0">
                <a:latin typeface="Trebuchet MS"/>
                <a:cs typeface="Trebuchet MS"/>
              </a:rPr>
              <a:t> </a:t>
            </a:r>
            <a:r>
              <a:rPr sz="2200" spc="-50" dirty="0">
                <a:latin typeface="Trebuchet MS"/>
                <a:cs typeface="Trebuchet MS"/>
              </a:rPr>
              <a:t>Link:</a:t>
            </a:r>
            <a:endParaRPr sz="2200">
              <a:latin typeface="Trebuchet MS"/>
              <a:cs typeface="Trebuchet MS"/>
            </a:endParaRPr>
          </a:p>
          <a:p>
            <a:pPr marL="441959" indent="-252095">
              <a:lnSpc>
                <a:spcPct val="100000"/>
              </a:lnSpc>
              <a:spcBef>
                <a:spcPts val="1664"/>
              </a:spcBef>
              <a:buClr>
                <a:srgbClr val="000000"/>
              </a:buClr>
              <a:buSzPct val="50000"/>
              <a:buFont typeface="Wingdings"/>
              <a:buChar char=""/>
              <a:tabLst>
                <a:tab pos="441959" algn="l"/>
                <a:tab pos="442595" algn="l"/>
              </a:tabLst>
            </a:pPr>
            <a:r>
              <a:rPr sz="2000" u="sng" spc="-40" dirty="0">
                <a:solidFill>
                  <a:srgbClr val="0462C1"/>
                </a:solidFill>
                <a:uFill>
                  <a:solidFill>
                    <a:srgbClr val="0462C1"/>
                  </a:solidFill>
                </a:uFill>
                <a:latin typeface="Trebuchet MS"/>
                <a:cs typeface="Trebuchet MS"/>
                <a:hlinkClick r:id="rId3"/>
              </a:rPr>
              <a:t>https://www.huaweicloud.com/intl/en-us/</a:t>
            </a:r>
            <a:endParaRPr sz="2000">
              <a:latin typeface="Trebuchet MS"/>
              <a:cs typeface="Trebuchet MS"/>
            </a:endParaRPr>
          </a:p>
          <a:p>
            <a:pPr marL="88900">
              <a:lnSpc>
                <a:spcPct val="100000"/>
              </a:lnSpc>
              <a:spcBef>
                <a:spcPts val="1855"/>
              </a:spcBef>
            </a:pPr>
            <a:r>
              <a:rPr sz="2200" spc="50" dirty="0">
                <a:latin typeface="Trebuchet MS"/>
                <a:cs typeface="Trebuchet MS"/>
              </a:rPr>
              <a:t>Huawei </a:t>
            </a:r>
            <a:r>
              <a:rPr sz="2200" spc="215" dirty="0">
                <a:latin typeface="Trebuchet MS"/>
                <a:cs typeface="Trebuchet MS"/>
              </a:rPr>
              <a:t>MRS</a:t>
            </a:r>
            <a:r>
              <a:rPr sz="2200" spc="-5" dirty="0">
                <a:latin typeface="Trebuchet MS"/>
                <a:cs typeface="Trebuchet MS"/>
              </a:rPr>
              <a:t> </a:t>
            </a:r>
            <a:r>
              <a:rPr sz="2200" spc="10" dirty="0">
                <a:latin typeface="Trebuchet MS"/>
                <a:cs typeface="Trebuchet MS"/>
              </a:rPr>
              <a:t>Documentation:</a:t>
            </a:r>
            <a:endParaRPr sz="2200">
              <a:latin typeface="Trebuchet MS"/>
              <a:cs typeface="Trebuchet MS"/>
            </a:endParaRPr>
          </a:p>
          <a:p>
            <a:pPr marL="441959" indent="-252095">
              <a:lnSpc>
                <a:spcPct val="100000"/>
              </a:lnSpc>
              <a:spcBef>
                <a:spcPts val="1660"/>
              </a:spcBef>
              <a:buClr>
                <a:srgbClr val="000000"/>
              </a:buClr>
              <a:buSzPct val="50000"/>
              <a:buFont typeface="Wingdings"/>
              <a:buChar char=""/>
              <a:tabLst>
                <a:tab pos="441959" algn="l"/>
                <a:tab pos="442595" algn="l"/>
              </a:tabLst>
            </a:pPr>
            <a:r>
              <a:rPr sz="2000" u="sng" spc="-35" dirty="0">
                <a:solidFill>
                  <a:srgbClr val="0462C1"/>
                </a:solidFill>
                <a:uFill>
                  <a:solidFill>
                    <a:srgbClr val="0462C1"/>
                  </a:solidFill>
                </a:uFill>
                <a:latin typeface="Trebuchet MS"/>
                <a:cs typeface="Trebuchet MS"/>
                <a:hlinkClick r:id="rId4"/>
              </a:rPr>
              <a:t>https://www.huaweicloud.com/intl/en-us/product/mrs.html</a:t>
            </a:r>
            <a:endParaRPr sz="2000">
              <a:latin typeface="Trebuchet MS"/>
              <a:cs typeface="Trebuchet MS"/>
            </a:endParaRPr>
          </a:p>
          <a:p>
            <a:pPr marL="88900">
              <a:lnSpc>
                <a:spcPct val="100000"/>
              </a:lnSpc>
              <a:spcBef>
                <a:spcPts val="1845"/>
              </a:spcBef>
            </a:pPr>
            <a:r>
              <a:rPr sz="2200" spc="50" dirty="0">
                <a:latin typeface="Trebuchet MS"/>
                <a:cs typeface="Trebuchet MS"/>
              </a:rPr>
              <a:t>Huawei </a:t>
            </a:r>
            <a:r>
              <a:rPr sz="2200" spc="55" dirty="0">
                <a:latin typeface="Trebuchet MS"/>
                <a:cs typeface="Trebuchet MS"/>
              </a:rPr>
              <a:t>TALENT</a:t>
            </a:r>
            <a:r>
              <a:rPr sz="2200" dirty="0">
                <a:latin typeface="Trebuchet MS"/>
                <a:cs typeface="Trebuchet MS"/>
              </a:rPr>
              <a:t> </a:t>
            </a:r>
            <a:r>
              <a:rPr sz="2200" spc="70" dirty="0">
                <a:latin typeface="Trebuchet MS"/>
                <a:cs typeface="Trebuchet MS"/>
              </a:rPr>
              <a:t>ONLINE:</a:t>
            </a:r>
            <a:endParaRPr sz="2200">
              <a:latin typeface="Trebuchet MS"/>
              <a:cs typeface="Trebuchet MS"/>
            </a:endParaRPr>
          </a:p>
          <a:p>
            <a:pPr marL="441959" indent="-252095">
              <a:lnSpc>
                <a:spcPct val="100000"/>
              </a:lnSpc>
              <a:spcBef>
                <a:spcPts val="1675"/>
              </a:spcBef>
              <a:buClr>
                <a:srgbClr val="000000"/>
              </a:buClr>
              <a:buSzPct val="50000"/>
              <a:buFont typeface="Wingdings"/>
              <a:buChar char=""/>
              <a:tabLst>
                <a:tab pos="441959" algn="l"/>
                <a:tab pos="442595" algn="l"/>
              </a:tabLst>
            </a:pPr>
            <a:r>
              <a:rPr sz="2000" u="sng" spc="-65" dirty="0">
                <a:solidFill>
                  <a:srgbClr val="0462C1"/>
                </a:solidFill>
                <a:uFill>
                  <a:solidFill>
                    <a:srgbClr val="0462C1"/>
                  </a:solidFill>
                </a:uFill>
                <a:latin typeface="Trebuchet MS"/>
                <a:cs typeface="Trebuchet MS"/>
                <a:hlinkClick r:id="rId5"/>
              </a:rPr>
              <a:t>https://e.huawei.com/en/talent/#/</a:t>
            </a:r>
            <a:endParaRPr sz="2000">
              <a:latin typeface="Trebuchet MS"/>
              <a:cs typeface="Trebuchet MS"/>
            </a:endParaRPr>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838200" y="2514600"/>
            <a:ext cx="10394315" cy="2845523"/>
          </a:xfrm>
          <a:prstGeom prst="rect">
            <a:avLst/>
          </a:prstGeom>
        </p:spPr>
        <p:txBody>
          <a:bodyPr vert="horz" wrap="square" lIns="0" tIns="33020" rIns="0" bIns="0" rtlCol="0">
            <a:spAutoFit/>
          </a:bodyPr>
          <a:lstStyle/>
          <a:p>
            <a:pPr marL="12700" marR="461645">
              <a:lnSpc>
                <a:spcPts val="1300"/>
              </a:lnSpc>
              <a:spcBef>
                <a:spcPts val="260"/>
              </a:spcBef>
            </a:pPr>
            <a:r>
              <a:rPr spc="15" dirty="0">
                <a:solidFill>
                  <a:srgbClr val="1D1D1B"/>
                </a:solidFill>
                <a:latin typeface="Trebuchet MS"/>
                <a:cs typeface="Trebuchet MS"/>
              </a:rPr>
              <a:t>Bring </a:t>
            </a:r>
            <a:r>
              <a:rPr spc="-5" dirty="0">
                <a:solidFill>
                  <a:srgbClr val="1D1D1B"/>
                </a:solidFill>
                <a:latin typeface="Trebuchet MS"/>
                <a:cs typeface="Trebuchet MS"/>
              </a:rPr>
              <a:t>digital to </a:t>
            </a:r>
            <a:r>
              <a:rPr spc="-20" dirty="0">
                <a:solidFill>
                  <a:srgbClr val="1D1D1B"/>
                </a:solidFill>
                <a:latin typeface="Trebuchet MS"/>
                <a:cs typeface="Trebuchet MS"/>
              </a:rPr>
              <a:t>every </a:t>
            </a:r>
            <a:r>
              <a:rPr spc="-15" dirty="0">
                <a:solidFill>
                  <a:srgbClr val="1D1D1B"/>
                </a:solidFill>
                <a:latin typeface="Trebuchet MS"/>
                <a:cs typeface="Trebuchet MS"/>
              </a:rPr>
              <a:t>person, </a:t>
            </a:r>
            <a:r>
              <a:rPr spc="-5" dirty="0">
                <a:solidFill>
                  <a:srgbClr val="1D1D1B"/>
                </a:solidFill>
                <a:latin typeface="Trebuchet MS"/>
                <a:cs typeface="Trebuchet MS"/>
              </a:rPr>
              <a:t>home, </a:t>
            </a:r>
            <a:r>
              <a:rPr spc="25" dirty="0">
                <a:solidFill>
                  <a:srgbClr val="1D1D1B"/>
                </a:solidFill>
                <a:latin typeface="Trebuchet MS"/>
                <a:cs typeface="Trebuchet MS"/>
              </a:rPr>
              <a:t>and  </a:t>
            </a:r>
            <a:r>
              <a:rPr spc="10" dirty="0">
                <a:solidFill>
                  <a:srgbClr val="1D1D1B"/>
                </a:solidFill>
                <a:latin typeface="Trebuchet MS"/>
                <a:cs typeface="Trebuchet MS"/>
              </a:rPr>
              <a:t>organization </a:t>
            </a:r>
            <a:r>
              <a:rPr spc="-5" dirty="0">
                <a:solidFill>
                  <a:srgbClr val="1D1D1B"/>
                </a:solidFill>
                <a:latin typeface="Trebuchet MS"/>
                <a:cs typeface="Trebuchet MS"/>
              </a:rPr>
              <a:t>for </a:t>
            </a:r>
            <a:r>
              <a:rPr spc="30" dirty="0">
                <a:solidFill>
                  <a:srgbClr val="1D1D1B"/>
                </a:solidFill>
                <a:latin typeface="Trebuchet MS"/>
                <a:cs typeface="Trebuchet MS"/>
              </a:rPr>
              <a:t>a </a:t>
            </a:r>
            <a:r>
              <a:rPr spc="-15" dirty="0">
                <a:solidFill>
                  <a:srgbClr val="1D1D1B"/>
                </a:solidFill>
                <a:latin typeface="Trebuchet MS"/>
                <a:cs typeface="Trebuchet MS"/>
              </a:rPr>
              <a:t>fully </a:t>
            </a:r>
            <a:r>
              <a:rPr spc="-25" dirty="0">
                <a:solidFill>
                  <a:srgbClr val="1D1D1B"/>
                </a:solidFill>
                <a:latin typeface="Trebuchet MS"/>
                <a:cs typeface="Trebuchet MS"/>
              </a:rPr>
              <a:t>connected,  </a:t>
            </a:r>
            <a:r>
              <a:rPr spc="-15" dirty="0">
                <a:solidFill>
                  <a:srgbClr val="1D1D1B"/>
                </a:solidFill>
                <a:latin typeface="Trebuchet MS"/>
                <a:cs typeface="Trebuchet MS"/>
              </a:rPr>
              <a:t>intelligent</a:t>
            </a:r>
            <a:r>
              <a:rPr spc="20" dirty="0">
                <a:solidFill>
                  <a:srgbClr val="1D1D1B"/>
                </a:solidFill>
                <a:latin typeface="Trebuchet MS"/>
                <a:cs typeface="Trebuchet MS"/>
              </a:rPr>
              <a:t> </a:t>
            </a:r>
            <a:r>
              <a:rPr spc="-20" dirty="0">
                <a:solidFill>
                  <a:srgbClr val="1D1D1B"/>
                </a:solidFill>
                <a:latin typeface="Trebuchet MS"/>
                <a:cs typeface="Trebuchet MS"/>
              </a:rPr>
              <a:t>world.</a:t>
            </a:r>
            <a:endParaRPr dirty="0">
              <a:latin typeface="Trebuchet MS"/>
              <a:cs typeface="Trebuchet MS"/>
            </a:endParaRPr>
          </a:p>
          <a:p>
            <a:pPr>
              <a:lnSpc>
                <a:spcPct val="100000"/>
              </a:lnSpc>
              <a:spcBef>
                <a:spcPts val="10"/>
              </a:spcBef>
            </a:pPr>
            <a:endParaRPr dirty="0">
              <a:latin typeface="Trebuchet MS"/>
              <a:cs typeface="Trebuchet MS"/>
            </a:endParaRPr>
          </a:p>
          <a:p>
            <a:pPr marL="13970" marR="809625">
              <a:lnSpc>
                <a:spcPct val="107100"/>
              </a:lnSpc>
            </a:pPr>
            <a:r>
              <a:rPr b="1" spc="10" dirty="0">
                <a:solidFill>
                  <a:srgbClr val="1D1D1B"/>
                </a:solidFill>
                <a:latin typeface="Trebuchet MS"/>
                <a:cs typeface="Trebuchet MS"/>
              </a:rPr>
              <a:t>Copyright©2020 </a:t>
            </a:r>
            <a:r>
              <a:rPr b="1" spc="30" dirty="0">
                <a:solidFill>
                  <a:srgbClr val="1D1D1B"/>
                </a:solidFill>
                <a:latin typeface="Trebuchet MS"/>
                <a:cs typeface="Trebuchet MS"/>
              </a:rPr>
              <a:t>Huawei </a:t>
            </a:r>
            <a:r>
              <a:rPr b="1" spc="10" dirty="0">
                <a:solidFill>
                  <a:srgbClr val="1D1D1B"/>
                </a:solidFill>
                <a:latin typeface="Trebuchet MS"/>
                <a:cs typeface="Trebuchet MS"/>
              </a:rPr>
              <a:t>Technologies </a:t>
            </a:r>
            <a:r>
              <a:rPr b="1" spc="-40" dirty="0">
                <a:solidFill>
                  <a:srgbClr val="1D1D1B"/>
                </a:solidFill>
                <a:latin typeface="Trebuchet MS"/>
                <a:cs typeface="Trebuchet MS"/>
              </a:rPr>
              <a:t>Co., </a:t>
            </a:r>
            <a:r>
              <a:rPr b="1" spc="-25" dirty="0">
                <a:solidFill>
                  <a:srgbClr val="1D1D1B"/>
                </a:solidFill>
                <a:latin typeface="Trebuchet MS"/>
                <a:cs typeface="Trebuchet MS"/>
              </a:rPr>
              <a:t>Ltd.  </a:t>
            </a:r>
            <a:r>
              <a:rPr b="1" spc="30" dirty="0">
                <a:solidFill>
                  <a:srgbClr val="1D1D1B"/>
                </a:solidFill>
                <a:latin typeface="Trebuchet MS"/>
                <a:cs typeface="Trebuchet MS"/>
              </a:rPr>
              <a:t>All </a:t>
            </a:r>
            <a:r>
              <a:rPr b="1" spc="25" dirty="0">
                <a:solidFill>
                  <a:srgbClr val="1D1D1B"/>
                </a:solidFill>
                <a:latin typeface="Trebuchet MS"/>
                <a:cs typeface="Trebuchet MS"/>
              </a:rPr>
              <a:t>Rights</a:t>
            </a:r>
            <a:r>
              <a:rPr b="1" spc="-40" dirty="0">
                <a:solidFill>
                  <a:srgbClr val="1D1D1B"/>
                </a:solidFill>
                <a:latin typeface="Trebuchet MS"/>
                <a:cs typeface="Trebuchet MS"/>
              </a:rPr>
              <a:t> </a:t>
            </a:r>
            <a:r>
              <a:rPr b="1" spc="-10" dirty="0">
                <a:solidFill>
                  <a:srgbClr val="1D1D1B"/>
                </a:solidFill>
                <a:latin typeface="Trebuchet MS"/>
                <a:cs typeface="Trebuchet MS"/>
              </a:rPr>
              <a:t>Reserved.</a:t>
            </a:r>
            <a:endParaRPr dirty="0">
              <a:latin typeface="Trebuchet MS"/>
              <a:cs typeface="Trebuchet MS"/>
            </a:endParaRPr>
          </a:p>
          <a:p>
            <a:pPr>
              <a:lnSpc>
                <a:spcPct val="100000"/>
              </a:lnSpc>
              <a:spcBef>
                <a:spcPts val="5"/>
              </a:spcBef>
            </a:pPr>
            <a:endParaRPr dirty="0">
              <a:latin typeface="Trebuchet MS"/>
              <a:cs typeface="Trebuchet MS"/>
            </a:endParaRPr>
          </a:p>
          <a:p>
            <a:pPr marL="13970" marR="5080">
              <a:lnSpc>
                <a:spcPct val="107800"/>
              </a:lnSpc>
            </a:pPr>
            <a:r>
              <a:rPr dirty="0">
                <a:solidFill>
                  <a:srgbClr val="1D1D1B"/>
                </a:solidFill>
                <a:latin typeface="Trebuchet MS"/>
                <a:cs typeface="Trebuchet MS"/>
              </a:rPr>
              <a:t>The </a:t>
            </a:r>
            <a:r>
              <a:rPr spc="5" dirty="0">
                <a:solidFill>
                  <a:srgbClr val="1D1D1B"/>
                </a:solidFill>
                <a:latin typeface="Trebuchet MS"/>
                <a:cs typeface="Trebuchet MS"/>
              </a:rPr>
              <a:t>information </a:t>
            </a:r>
            <a:r>
              <a:rPr dirty="0">
                <a:solidFill>
                  <a:srgbClr val="1D1D1B"/>
                </a:solidFill>
                <a:latin typeface="Trebuchet MS"/>
                <a:cs typeface="Trebuchet MS"/>
              </a:rPr>
              <a:t>in </a:t>
            </a:r>
            <a:r>
              <a:rPr spc="-5" dirty="0">
                <a:solidFill>
                  <a:srgbClr val="1D1D1B"/>
                </a:solidFill>
                <a:latin typeface="Trebuchet MS"/>
                <a:cs typeface="Trebuchet MS"/>
              </a:rPr>
              <a:t>this </a:t>
            </a:r>
            <a:r>
              <a:rPr spc="10" dirty="0">
                <a:solidFill>
                  <a:srgbClr val="1D1D1B"/>
                </a:solidFill>
                <a:latin typeface="Trebuchet MS"/>
                <a:cs typeface="Trebuchet MS"/>
              </a:rPr>
              <a:t>document </a:t>
            </a:r>
            <a:r>
              <a:rPr spc="25" dirty="0">
                <a:solidFill>
                  <a:srgbClr val="1D1D1B"/>
                </a:solidFill>
                <a:latin typeface="Trebuchet MS"/>
                <a:cs typeface="Trebuchet MS"/>
              </a:rPr>
              <a:t>may </a:t>
            </a:r>
            <a:r>
              <a:rPr dirty="0">
                <a:solidFill>
                  <a:srgbClr val="1D1D1B"/>
                </a:solidFill>
                <a:latin typeface="Trebuchet MS"/>
                <a:cs typeface="Trebuchet MS"/>
              </a:rPr>
              <a:t>contain </a:t>
            </a:r>
            <a:r>
              <a:rPr spc="-15" dirty="0">
                <a:solidFill>
                  <a:srgbClr val="1D1D1B"/>
                </a:solidFill>
                <a:latin typeface="Trebuchet MS"/>
                <a:cs typeface="Trebuchet MS"/>
              </a:rPr>
              <a:t>predictive  </a:t>
            </a:r>
            <a:r>
              <a:rPr dirty="0">
                <a:solidFill>
                  <a:srgbClr val="1D1D1B"/>
                </a:solidFill>
                <a:latin typeface="Trebuchet MS"/>
                <a:cs typeface="Trebuchet MS"/>
              </a:rPr>
              <a:t>statements </a:t>
            </a:r>
            <a:r>
              <a:rPr spc="-10" dirty="0">
                <a:solidFill>
                  <a:srgbClr val="1D1D1B"/>
                </a:solidFill>
                <a:latin typeface="Trebuchet MS"/>
                <a:cs typeface="Trebuchet MS"/>
              </a:rPr>
              <a:t>including, </a:t>
            </a:r>
            <a:r>
              <a:rPr spc="5" dirty="0">
                <a:solidFill>
                  <a:srgbClr val="1D1D1B"/>
                </a:solidFill>
                <a:latin typeface="Trebuchet MS"/>
                <a:cs typeface="Trebuchet MS"/>
              </a:rPr>
              <a:t>without </a:t>
            </a:r>
            <a:r>
              <a:rPr spc="-15" dirty="0">
                <a:solidFill>
                  <a:srgbClr val="1D1D1B"/>
                </a:solidFill>
                <a:latin typeface="Trebuchet MS"/>
                <a:cs typeface="Trebuchet MS"/>
              </a:rPr>
              <a:t>limitation, </a:t>
            </a:r>
            <a:r>
              <a:rPr dirty="0">
                <a:solidFill>
                  <a:srgbClr val="1D1D1B"/>
                </a:solidFill>
                <a:latin typeface="Trebuchet MS"/>
                <a:cs typeface="Trebuchet MS"/>
              </a:rPr>
              <a:t>statements </a:t>
            </a:r>
            <a:r>
              <a:rPr spc="10" dirty="0">
                <a:solidFill>
                  <a:srgbClr val="1D1D1B"/>
                </a:solidFill>
                <a:latin typeface="Trebuchet MS"/>
                <a:cs typeface="Trebuchet MS"/>
              </a:rPr>
              <a:t>regarding  </a:t>
            </a:r>
            <a:r>
              <a:rPr spc="-5" dirty="0">
                <a:solidFill>
                  <a:srgbClr val="1D1D1B"/>
                </a:solidFill>
                <a:latin typeface="Trebuchet MS"/>
                <a:cs typeface="Trebuchet MS"/>
              </a:rPr>
              <a:t>the </a:t>
            </a:r>
            <a:r>
              <a:rPr dirty="0">
                <a:solidFill>
                  <a:srgbClr val="1D1D1B"/>
                </a:solidFill>
                <a:latin typeface="Trebuchet MS"/>
                <a:cs typeface="Trebuchet MS"/>
              </a:rPr>
              <a:t>future </a:t>
            </a:r>
            <a:r>
              <a:rPr spc="-10" dirty="0">
                <a:solidFill>
                  <a:srgbClr val="1D1D1B"/>
                </a:solidFill>
                <a:latin typeface="Trebuchet MS"/>
                <a:cs typeface="Trebuchet MS"/>
              </a:rPr>
              <a:t>financial </a:t>
            </a:r>
            <a:r>
              <a:rPr spc="15" dirty="0">
                <a:solidFill>
                  <a:srgbClr val="1D1D1B"/>
                </a:solidFill>
                <a:latin typeface="Trebuchet MS"/>
                <a:cs typeface="Trebuchet MS"/>
              </a:rPr>
              <a:t>and </a:t>
            </a:r>
            <a:r>
              <a:rPr spc="5" dirty="0">
                <a:solidFill>
                  <a:srgbClr val="1D1D1B"/>
                </a:solidFill>
                <a:latin typeface="Trebuchet MS"/>
                <a:cs typeface="Trebuchet MS"/>
              </a:rPr>
              <a:t>operating </a:t>
            </a:r>
            <a:r>
              <a:rPr spc="-20" dirty="0">
                <a:solidFill>
                  <a:srgbClr val="1D1D1B"/>
                </a:solidFill>
                <a:latin typeface="Trebuchet MS"/>
                <a:cs typeface="Trebuchet MS"/>
              </a:rPr>
              <a:t>results, </a:t>
            </a:r>
            <a:r>
              <a:rPr dirty="0">
                <a:solidFill>
                  <a:srgbClr val="1D1D1B"/>
                </a:solidFill>
                <a:latin typeface="Trebuchet MS"/>
                <a:cs typeface="Trebuchet MS"/>
              </a:rPr>
              <a:t>future product  </a:t>
            </a:r>
            <a:r>
              <a:rPr spc="-10" dirty="0">
                <a:solidFill>
                  <a:srgbClr val="1D1D1B"/>
                </a:solidFill>
                <a:latin typeface="Trebuchet MS"/>
                <a:cs typeface="Trebuchet MS"/>
              </a:rPr>
              <a:t>portfolio, </a:t>
            </a:r>
            <a:r>
              <a:rPr spc="10" dirty="0">
                <a:solidFill>
                  <a:srgbClr val="1D1D1B"/>
                </a:solidFill>
                <a:latin typeface="Trebuchet MS"/>
                <a:cs typeface="Trebuchet MS"/>
              </a:rPr>
              <a:t>new </a:t>
            </a:r>
            <a:r>
              <a:rPr spc="-5" dirty="0">
                <a:solidFill>
                  <a:srgbClr val="1D1D1B"/>
                </a:solidFill>
                <a:latin typeface="Trebuchet MS"/>
                <a:cs typeface="Trebuchet MS"/>
              </a:rPr>
              <a:t>technology, </a:t>
            </a:r>
            <a:r>
              <a:rPr spc="-55" dirty="0">
                <a:solidFill>
                  <a:srgbClr val="1D1D1B"/>
                </a:solidFill>
                <a:latin typeface="Trebuchet MS"/>
                <a:cs typeface="Trebuchet MS"/>
              </a:rPr>
              <a:t>etc. </a:t>
            </a:r>
            <a:r>
              <a:rPr spc="-10" dirty="0">
                <a:solidFill>
                  <a:srgbClr val="1D1D1B"/>
                </a:solidFill>
                <a:latin typeface="Trebuchet MS"/>
                <a:cs typeface="Trebuchet MS"/>
              </a:rPr>
              <a:t>There </a:t>
            </a:r>
            <a:r>
              <a:rPr spc="-5" dirty="0">
                <a:solidFill>
                  <a:srgbClr val="1D1D1B"/>
                </a:solidFill>
                <a:latin typeface="Trebuchet MS"/>
                <a:cs typeface="Trebuchet MS"/>
              </a:rPr>
              <a:t>are </a:t>
            </a:r>
            <a:r>
              <a:rPr spc="20" dirty="0">
                <a:solidFill>
                  <a:srgbClr val="1D1D1B"/>
                </a:solidFill>
                <a:latin typeface="Trebuchet MS"/>
                <a:cs typeface="Trebuchet MS"/>
              </a:rPr>
              <a:t>a </a:t>
            </a:r>
            <a:r>
              <a:rPr spc="15" dirty="0">
                <a:solidFill>
                  <a:srgbClr val="1D1D1B"/>
                </a:solidFill>
                <a:latin typeface="Trebuchet MS"/>
                <a:cs typeface="Trebuchet MS"/>
              </a:rPr>
              <a:t>number </a:t>
            </a:r>
            <a:r>
              <a:rPr spc="5" dirty="0">
                <a:solidFill>
                  <a:srgbClr val="1D1D1B"/>
                </a:solidFill>
                <a:latin typeface="Trebuchet MS"/>
                <a:cs typeface="Trebuchet MS"/>
              </a:rPr>
              <a:t>of </a:t>
            </a:r>
            <a:r>
              <a:rPr spc="-5" dirty="0">
                <a:solidFill>
                  <a:srgbClr val="1D1D1B"/>
                </a:solidFill>
                <a:latin typeface="Trebuchet MS"/>
                <a:cs typeface="Trebuchet MS"/>
              </a:rPr>
              <a:t>factors that  </a:t>
            </a:r>
            <a:r>
              <a:rPr dirty="0">
                <a:solidFill>
                  <a:srgbClr val="1D1D1B"/>
                </a:solidFill>
                <a:latin typeface="Trebuchet MS"/>
                <a:cs typeface="Trebuchet MS"/>
              </a:rPr>
              <a:t>could cause </a:t>
            </a:r>
            <a:r>
              <a:rPr spc="-5" dirty="0">
                <a:solidFill>
                  <a:srgbClr val="1D1D1B"/>
                </a:solidFill>
                <a:latin typeface="Trebuchet MS"/>
                <a:cs typeface="Trebuchet MS"/>
              </a:rPr>
              <a:t>actual results </a:t>
            </a:r>
            <a:r>
              <a:rPr spc="15" dirty="0">
                <a:solidFill>
                  <a:srgbClr val="1D1D1B"/>
                </a:solidFill>
                <a:latin typeface="Trebuchet MS"/>
                <a:cs typeface="Trebuchet MS"/>
              </a:rPr>
              <a:t>and </a:t>
            </a:r>
            <a:r>
              <a:rPr dirty="0">
                <a:solidFill>
                  <a:srgbClr val="1D1D1B"/>
                </a:solidFill>
                <a:latin typeface="Trebuchet MS"/>
                <a:cs typeface="Trebuchet MS"/>
              </a:rPr>
              <a:t>developments to </a:t>
            </a:r>
            <a:r>
              <a:rPr spc="-15" dirty="0">
                <a:solidFill>
                  <a:srgbClr val="1D1D1B"/>
                </a:solidFill>
                <a:latin typeface="Trebuchet MS"/>
                <a:cs typeface="Trebuchet MS"/>
              </a:rPr>
              <a:t>differ </a:t>
            </a:r>
            <a:r>
              <a:rPr spc="-5" dirty="0">
                <a:solidFill>
                  <a:srgbClr val="1D1D1B"/>
                </a:solidFill>
                <a:latin typeface="Trebuchet MS"/>
                <a:cs typeface="Trebuchet MS"/>
              </a:rPr>
              <a:t>materially  </a:t>
            </a:r>
            <a:r>
              <a:rPr spc="15" dirty="0">
                <a:solidFill>
                  <a:srgbClr val="1D1D1B"/>
                </a:solidFill>
                <a:latin typeface="Trebuchet MS"/>
                <a:cs typeface="Trebuchet MS"/>
              </a:rPr>
              <a:t>from </a:t>
            </a:r>
            <a:r>
              <a:rPr spc="5" dirty="0">
                <a:solidFill>
                  <a:srgbClr val="1D1D1B"/>
                </a:solidFill>
                <a:latin typeface="Trebuchet MS"/>
                <a:cs typeface="Trebuchet MS"/>
              </a:rPr>
              <a:t>those </a:t>
            </a:r>
            <a:r>
              <a:rPr spc="-5" dirty="0">
                <a:solidFill>
                  <a:srgbClr val="1D1D1B"/>
                </a:solidFill>
                <a:latin typeface="Trebuchet MS"/>
                <a:cs typeface="Trebuchet MS"/>
              </a:rPr>
              <a:t>expressed </a:t>
            </a:r>
            <a:r>
              <a:rPr spc="5" dirty="0">
                <a:solidFill>
                  <a:srgbClr val="1D1D1B"/>
                </a:solidFill>
                <a:latin typeface="Trebuchet MS"/>
                <a:cs typeface="Trebuchet MS"/>
              </a:rPr>
              <a:t>or </a:t>
            </a:r>
            <a:r>
              <a:rPr spc="-5" dirty="0">
                <a:solidFill>
                  <a:srgbClr val="1D1D1B"/>
                </a:solidFill>
                <a:latin typeface="Trebuchet MS"/>
                <a:cs typeface="Trebuchet MS"/>
              </a:rPr>
              <a:t>implied </a:t>
            </a:r>
            <a:r>
              <a:rPr dirty="0">
                <a:solidFill>
                  <a:srgbClr val="1D1D1B"/>
                </a:solidFill>
                <a:latin typeface="Trebuchet MS"/>
                <a:cs typeface="Trebuchet MS"/>
              </a:rPr>
              <a:t>in </a:t>
            </a:r>
            <a:r>
              <a:rPr spc="-5" dirty="0">
                <a:solidFill>
                  <a:srgbClr val="1D1D1B"/>
                </a:solidFill>
                <a:latin typeface="Trebuchet MS"/>
                <a:cs typeface="Trebuchet MS"/>
              </a:rPr>
              <a:t>the </a:t>
            </a:r>
            <a:r>
              <a:rPr spc="-15" dirty="0">
                <a:solidFill>
                  <a:srgbClr val="1D1D1B"/>
                </a:solidFill>
                <a:latin typeface="Trebuchet MS"/>
                <a:cs typeface="Trebuchet MS"/>
              </a:rPr>
              <a:t>predictive</a:t>
            </a:r>
            <a:r>
              <a:rPr spc="-30" dirty="0">
                <a:solidFill>
                  <a:srgbClr val="1D1D1B"/>
                </a:solidFill>
                <a:latin typeface="Trebuchet MS"/>
                <a:cs typeface="Trebuchet MS"/>
              </a:rPr>
              <a:t> </a:t>
            </a:r>
            <a:r>
              <a:rPr spc="-10" dirty="0">
                <a:solidFill>
                  <a:srgbClr val="1D1D1B"/>
                </a:solidFill>
                <a:latin typeface="Trebuchet MS"/>
                <a:cs typeface="Trebuchet MS"/>
              </a:rPr>
              <a:t>statements.</a:t>
            </a:r>
            <a:endParaRPr dirty="0">
              <a:latin typeface="Trebuchet MS"/>
              <a:cs typeface="Trebuchet MS"/>
            </a:endParaRPr>
          </a:p>
          <a:p>
            <a:pPr marL="13970" marR="74295">
              <a:lnSpc>
                <a:spcPct val="107600"/>
              </a:lnSpc>
              <a:spcBef>
                <a:spcPts val="10"/>
              </a:spcBef>
            </a:pPr>
            <a:r>
              <a:rPr spc="-20" dirty="0">
                <a:solidFill>
                  <a:srgbClr val="1D1D1B"/>
                </a:solidFill>
                <a:latin typeface="Trebuchet MS"/>
                <a:cs typeface="Trebuchet MS"/>
              </a:rPr>
              <a:t>Therefore, </a:t>
            </a:r>
            <a:r>
              <a:rPr spc="10" dirty="0">
                <a:solidFill>
                  <a:srgbClr val="1D1D1B"/>
                </a:solidFill>
                <a:latin typeface="Trebuchet MS"/>
                <a:cs typeface="Trebuchet MS"/>
              </a:rPr>
              <a:t>such </a:t>
            </a:r>
            <a:r>
              <a:rPr spc="5" dirty="0">
                <a:solidFill>
                  <a:srgbClr val="1D1D1B"/>
                </a:solidFill>
                <a:latin typeface="Trebuchet MS"/>
                <a:cs typeface="Trebuchet MS"/>
              </a:rPr>
              <a:t>information </a:t>
            </a:r>
            <a:r>
              <a:rPr spc="-5" dirty="0">
                <a:solidFill>
                  <a:srgbClr val="1D1D1B"/>
                </a:solidFill>
                <a:latin typeface="Trebuchet MS"/>
                <a:cs typeface="Trebuchet MS"/>
              </a:rPr>
              <a:t>is </a:t>
            </a:r>
            <a:r>
              <a:rPr dirty="0">
                <a:solidFill>
                  <a:srgbClr val="1D1D1B"/>
                </a:solidFill>
                <a:latin typeface="Trebuchet MS"/>
                <a:cs typeface="Trebuchet MS"/>
              </a:rPr>
              <a:t>provided for </a:t>
            </a:r>
            <a:r>
              <a:rPr spc="-20" dirty="0">
                <a:solidFill>
                  <a:srgbClr val="1D1D1B"/>
                </a:solidFill>
                <a:latin typeface="Trebuchet MS"/>
                <a:cs typeface="Trebuchet MS"/>
              </a:rPr>
              <a:t>reference </a:t>
            </a:r>
            <a:r>
              <a:rPr spc="10" dirty="0">
                <a:solidFill>
                  <a:srgbClr val="1D1D1B"/>
                </a:solidFill>
                <a:latin typeface="Trebuchet MS"/>
                <a:cs typeface="Trebuchet MS"/>
              </a:rPr>
              <a:t>purpose  </a:t>
            </a:r>
            <a:r>
              <a:rPr spc="5" dirty="0">
                <a:solidFill>
                  <a:srgbClr val="1D1D1B"/>
                </a:solidFill>
                <a:latin typeface="Trebuchet MS"/>
                <a:cs typeface="Trebuchet MS"/>
              </a:rPr>
              <a:t>only </a:t>
            </a:r>
            <a:r>
              <a:rPr spc="15" dirty="0">
                <a:solidFill>
                  <a:srgbClr val="1D1D1B"/>
                </a:solidFill>
                <a:latin typeface="Trebuchet MS"/>
                <a:cs typeface="Trebuchet MS"/>
              </a:rPr>
              <a:t>and </a:t>
            </a:r>
            <a:r>
              <a:rPr spc="-5" dirty="0">
                <a:solidFill>
                  <a:srgbClr val="1D1D1B"/>
                </a:solidFill>
                <a:latin typeface="Trebuchet MS"/>
                <a:cs typeface="Trebuchet MS"/>
              </a:rPr>
              <a:t>constitutes </a:t>
            </a:r>
            <a:r>
              <a:rPr spc="-10" dirty="0">
                <a:solidFill>
                  <a:srgbClr val="1D1D1B"/>
                </a:solidFill>
                <a:latin typeface="Trebuchet MS"/>
                <a:cs typeface="Trebuchet MS"/>
              </a:rPr>
              <a:t>neither </a:t>
            </a:r>
            <a:r>
              <a:rPr spc="20" dirty="0">
                <a:solidFill>
                  <a:srgbClr val="1D1D1B"/>
                </a:solidFill>
                <a:latin typeface="Trebuchet MS"/>
                <a:cs typeface="Trebuchet MS"/>
              </a:rPr>
              <a:t>an </a:t>
            </a:r>
            <a:r>
              <a:rPr spc="-10" dirty="0">
                <a:solidFill>
                  <a:srgbClr val="1D1D1B"/>
                </a:solidFill>
                <a:latin typeface="Trebuchet MS"/>
                <a:cs typeface="Trebuchet MS"/>
              </a:rPr>
              <a:t>offer </a:t>
            </a:r>
            <a:r>
              <a:rPr spc="10" dirty="0">
                <a:solidFill>
                  <a:srgbClr val="1D1D1B"/>
                </a:solidFill>
                <a:latin typeface="Trebuchet MS"/>
                <a:cs typeface="Trebuchet MS"/>
              </a:rPr>
              <a:t>nor </a:t>
            </a:r>
            <a:r>
              <a:rPr spc="25" dirty="0">
                <a:solidFill>
                  <a:srgbClr val="1D1D1B"/>
                </a:solidFill>
                <a:latin typeface="Trebuchet MS"/>
                <a:cs typeface="Trebuchet MS"/>
              </a:rPr>
              <a:t>an </a:t>
            </a:r>
            <a:r>
              <a:rPr spc="-25" dirty="0">
                <a:solidFill>
                  <a:srgbClr val="1D1D1B"/>
                </a:solidFill>
                <a:latin typeface="Trebuchet MS"/>
                <a:cs typeface="Trebuchet MS"/>
              </a:rPr>
              <a:t>acceptance. </a:t>
            </a:r>
            <a:r>
              <a:rPr spc="20" dirty="0">
                <a:solidFill>
                  <a:srgbClr val="1D1D1B"/>
                </a:solidFill>
                <a:latin typeface="Trebuchet MS"/>
                <a:cs typeface="Trebuchet MS"/>
              </a:rPr>
              <a:t>Huawei  </a:t>
            </a:r>
            <a:r>
              <a:rPr spc="25" dirty="0">
                <a:solidFill>
                  <a:srgbClr val="1D1D1B"/>
                </a:solidFill>
                <a:latin typeface="Trebuchet MS"/>
                <a:cs typeface="Trebuchet MS"/>
              </a:rPr>
              <a:t>may </a:t>
            </a:r>
            <a:r>
              <a:rPr spc="10" dirty="0">
                <a:solidFill>
                  <a:srgbClr val="1D1D1B"/>
                </a:solidFill>
                <a:latin typeface="Trebuchet MS"/>
                <a:cs typeface="Trebuchet MS"/>
              </a:rPr>
              <a:t>change </a:t>
            </a:r>
            <a:r>
              <a:rPr spc="-5" dirty="0">
                <a:solidFill>
                  <a:srgbClr val="1D1D1B"/>
                </a:solidFill>
                <a:latin typeface="Trebuchet MS"/>
                <a:cs typeface="Trebuchet MS"/>
              </a:rPr>
              <a:t>the </a:t>
            </a:r>
            <a:r>
              <a:rPr spc="5" dirty="0">
                <a:solidFill>
                  <a:srgbClr val="1D1D1B"/>
                </a:solidFill>
                <a:latin typeface="Trebuchet MS"/>
                <a:cs typeface="Trebuchet MS"/>
              </a:rPr>
              <a:t>information </a:t>
            </a:r>
            <a:r>
              <a:rPr spc="-5" dirty="0">
                <a:solidFill>
                  <a:srgbClr val="1D1D1B"/>
                </a:solidFill>
                <a:latin typeface="Trebuchet MS"/>
                <a:cs typeface="Trebuchet MS"/>
              </a:rPr>
              <a:t>at </a:t>
            </a:r>
            <a:r>
              <a:rPr spc="10" dirty="0">
                <a:solidFill>
                  <a:srgbClr val="1D1D1B"/>
                </a:solidFill>
                <a:latin typeface="Trebuchet MS"/>
                <a:cs typeface="Trebuchet MS"/>
              </a:rPr>
              <a:t>any </a:t>
            </a:r>
            <a:r>
              <a:rPr spc="-5" dirty="0">
                <a:solidFill>
                  <a:srgbClr val="1D1D1B"/>
                </a:solidFill>
                <a:latin typeface="Trebuchet MS"/>
                <a:cs typeface="Trebuchet MS"/>
              </a:rPr>
              <a:t>time </a:t>
            </a:r>
            <a:r>
              <a:rPr spc="5" dirty="0">
                <a:solidFill>
                  <a:srgbClr val="1D1D1B"/>
                </a:solidFill>
                <a:latin typeface="Trebuchet MS"/>
                <a:cs typeface="Trebuchet MS"/>
              </a:rPr>
              <a:t>without</a:t>
            </a:r>
            <a:r>
              <a:rPr spc="15" dirty="0">
                <a:solidFill>
                  <a:srgbClr val="1D1D1B"/>
                </a:solidFill>
                <a:latin typeface="Trebuchet MS"/>
                <a:cs typeface="Trebuchet MS"/>
              </a:rPr>
              <a:t> </a:t>
            </a:r>
            <a:r>
              <a:rPr spc="-30" dirty="0">
                <a:solidFill>
                  <a:srgbClr val="1D1D1B"/>
                </a:solidFill>
                <a:latin typeface="Trebuchet MS"/>
                <a:cs typeface="Trebuchet MS"/>
              </a:rPr>
              <a:t>notice.</a:t>
            </a:r>
            <a:endParaRPr dirty="0">
              <a:latin typeface="Trebuchet MS"/>
              <a:cs typeface="Trebuchet MS"/>
            </a:endParaRPr>
          </a:p>
        </p:txBody>
      </p:sp>
      <p:sp>
        <p:nvSpPr>
          <p:cNvPr id="3" name="object 3"/>
          <p:cNvSpPr/>
          <p:nvPr/>
        </p:nvSpPr>
        <p:spPr>
          <a:xfrm>
            <a:off x="9677400" y="6172200"/>
            <a:ext cx="1869948" cy="399288"/>
          </a:xfrm>
          <a:prstGeom prst="rect">
            <a:avLst/>
          </a:prstGeom>
          <a:blipFill>
            <a:blip r:embed="rId2" cstate="print"/>
            <a:stretch>
              <a:fillRect/>
            </a:stretch>
          </a:blipFill>
        </p:spPr>
        <p:txBody>
          <a:bodyPr wrap="square" lIns="0" tIns="0" rIns="0" bIns="0" rtlCol="0"/>
          <a:lstStyle/>
          <a:p>
            <a:endParaRPr/>
          </a:p>
        </p:txBody>
      </p:sp>
      <p:sp>
        <p:nvSpPr>
          <p:cNvPr id="4" name="object 4"/>
          <p:cNvSpPr txBox="1">
            <a:spLocks noGrp="1"/>
          </p:cNvSpPr>
          <p:nvPr>
            <p:ph type="title"/>
          </p:nvPr>
        </p:nvSpPr>
        <p:spPr>
          <a:xfrm>
            <a:off x="838200" y="762000"/>
            <a:ext cx="4648200" cy="779145"/>
          </a:xfrm>
          <a:prstGeom prst="rect">
            <a:avLst/>
          </a:prstGeom>
        </p:spPr>
        <p:txBody>
          <a:bodyPr vert="horz" wrap="square" lIns="0" tIns="11430" rIns="0" bIns="0" rtlCol="0">
            <a:spAutoFit/>
          </a:bodyPr>
          <a:lstStyle/>
          <a:p>
            <a:pPr marL="12700">
              <a:lnSpc>
                <a:spcPct val="100000"/>
              </a:lnSpc>
              <a:spcBef>
                <a:spcPts val="90"/>
              </a:spcBef>
            </a:pPr>
            <a:r>
              <a:rPr sz="4950" spc="100" dirty="0">
                <a:solidFill>
                  <a:srgbClr val="1D1D1A"/>
                </a:solidFill>
              </a:rPr>
              <a:t>Thank</a:t>
            </a:r>
            <a:r>
              <a:rPr sz="4950" spc="-15" dirty="0">
                <a:solidFill>
                  <a:srgbClr val="1D1D1A"/>
                </a:solidFill>
              </a:rPr>
              <a:t> </a:t>
            </a:r>
            <a:r>
              <a:rPr sz="4950" spc="-80" dirty="0">
                <a:solidFill>
                  <a:srgbClr val="1D1D1A"/>
                </a:solidFill>
              </a:rPr>
              <a:t>you.</a:t>
            </a:r>
            <a:endParaRPr sz="4950"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Wisp</Template>
  <TotalTime>4429</TotalTime>
  <Words>3023</Words>
  <Application>Microsoft Office PowerPoint</Application>
  <PresentationFormat>Widescreen</PresentationFormat>
  <Paragraphs>465</Paragraphs>
  <Slides>36</Slides>
  <Notes>5</Notes>
  <HiddenSlides>1</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36</vt:i4>
      </vt:variant>
    </vt:vector>
  </HeadingPairs>
  <TitlesOfParts>
    <vt:vector size="47" baseType="lpstr">
      <vt:lpstr>Arial</vt:lpstr>
      <vt:lpstr>Calibri</vt:lpstr>
      <vt:lpstr>Century Gothic</vt:lpstr>
      <vt:lpstr>Consolas</vt:lpstr>
      <vt:lpstr>inherit</vt:lpstr>
      <vt:lpstr>Times New Roman</vt:lpstr>
      <vt:lpstr>Trebuchet MS</vt:lpstr>
      <vt:lpstr>UKIJ CJK</vt:lpstr>
      <vt:lpstr>Wingdings</vt:lpstr>
      <vt:lpstr>Wingdings 3</vt:lpstr>
      <vt:lpstr>Wisp</vt:lpstr>
      <vt:lpstr>Apache Hive </vt:lpstr>
      <vt:lpstr>Foreword</vt:lpstr>
      <vt:lpstr>Objectives</vt:lpstr>
      <vt:lpstr>Contents</vt:lpstr>
      <vt:lpstr>Introduction to Hive</vt:lpstr>
      <vt:lpstr>Application Scenarios of Hive</vt:lpstr>
      <vt:lpstr>Application Scenarios of Hive</vt:lpstr>
      <vt:lpstr>Comparison Between Hive and Traditional Data  Warehouses (1)</vt:lpstr>
      <vt:lpstr>Comparison Between Hive and Traditional Data  Warehouses (2)</vt:lpstr>
      <vt:lpstr>Advantages of Hive</vt:lpstr>
      <vt:lpstr>Advantages of Hive</vt:lpstr>
      <vt:lpstr>Contents</vt:lpstr>
      <vt:lpstr>Hive Architecture</vt:lpstr>
      <vt:lpstr>Hive Architecture</vt:lpstr>
      <vt:lpstr>Hive Architecture</vt:lpstr>
      <vt:lpstr>Hive Running Process</vt:lpstr>
      <vt:lpstr>Data Storage Model of Hive</vt:lpstr>
      <vt:lpstr>PowerPoint Presentation</vt:lpstr>
      <vt:lpstr>PowerPoint Presentation</vt:lpstr>
      <vt:lpstr>PowerPoint Presentation</vt:lpstr>
      <vt:lpstr>Partition and Bucket</vt:lpstr>
      <vt:lpstr>Partition and Bucket</vt:lpstr>
      <vt:lpstr>Managed Table and External Table</vt:lpstr>
      <vt:lpstr>Managed Table and External Table</vt:lpstr>
      <vt:lpstr>Functions Supported by Hive</vt:lpstr>
      <vt:lpstr>Contents</vt:lpstr>
      <vt:lpstr>Hive SQL Overview</vt:lpstr>
      <vt:lpstr>DDL Operations</vt:lpstr>
      <vt:lpstr>DML Operations</vt:lpstr>
      <vt:lpstr>DQL Operations (1)</vt:lpstr>
      <vt:lpstr>DQL Operations (2)</vt:lpstr>
      <vt:lpstr>PowerPoint Presentation</vt:lpstr>
      <vt:lpstr>Summary</vt:lpstr>
      <vt:lpstr>Quiz</vt:lpstr>
      <vt:lpstr>Recommendations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3 Hive - Distributed Data Warehouse</dc:title>
  <cp:lastModifiedBy>randa</cp:lastModifiedBy>
  <cp:revision>72</cp:revision>
  <dcterms:created xsi:type="dcterms:W3CDTF">2021-12-30T07:32:33Z</dcterms:created>
  <dcterms:modified xsi:type="dcterms:W3CDTF">2023-03-13T08:03:23Z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2020-12-28T00:00:00Z</vt:filetime>
  </property>
  <property fmtid="{D5CDD505-2E9C-101B-9397-08002B2CF9AE}" pid="3" name="Creator">
    <vt:lpwstr>Microsoft® PowerPoint® 2013</vt:lpwstr>
  </property>
  <property fmtid="{D5CDD505-2E9C-101B-9397-08002B2CF9AE}" pid="4" name="LastSaved">
    <vt:filetime>2021-12-30T00:00:00Z</vt:filetime>
  </property>
</Properties>
</file>